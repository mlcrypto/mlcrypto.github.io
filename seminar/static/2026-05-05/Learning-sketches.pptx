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94" r:id="rId3"/>
    <p:sldId id="356" r:id="rId4"/>
    <p:sldId id="357" r:id="rId5"/>
    <p:sldId id="355" r:id="rId6"/>
    <p:sldId id="359" r:id="rId7"/>
    <p:sldId id="297" r:id="rId8"/>
    <p:sldId id="311" r:id="rId9"/>
    <p:sldId id="361" r:id="rId10"/>
    <p:sldId id="312" r:id="rId11"/>
    <p:sldId id="366" r:id="rId12"/>
    <p:sldId id="303" r:id="rId13"/>
    <p:sldId id="364" r:id="rId14"/>
    <p:sldId id="336" r:id="rId15"/>
    <p:sldId id="360" r:id="rId16"/>
    <p:sldId id="365" r:id="rId17"/>
    <p:sldId id="313" r:id="rId18"/>
    <p:sldId id="340" r:id="rId19"/>
    <p:sldId id="367" r:id="rId20"/>
    <p:sldId id="314" r:id="rId21"/>
    <p:sldId id="369" r:id="rId22"/>
    <p:sldId id="347" r:id="rId23"/>
    <p:sldId id="346" r:id="rId24"/>
    <p:sldId id="339" r:id="rId25"/>
    <p:sldId id="338" r:id="rId26"/>
    <p:sldId id="368" r:id="rId27"/>
    <p:sldId id="335" r:id="rId28"/>
    <p:sldId id="343" r:id="rId29"/>
    <p:sldId id="268" r:id="rId30"/>
    <p:sldId id="315" r:id="rId31"/>
    <p:sldId id="258" r:id="rId32"/>
    <p:sldId id="350" r:id="rId33"/>
    <p:sldId id="270" r:id="rId34"/>
    <p:sldId id="316" r:id="rId35"/>
    <p:sldId id="317" r:id="rId36"/>
    <p:sldId id="318" r:id="rId37"/>
    <p:sldId id="371" r:id="rId38"/>
    <p:sldId id="324" r:id="rId39"/>
    <p:sldId id="325" r:id="rId40"/>
    <p:sldId id="332" r:id="rId41"/>
    <p:sldId id="333" r:id="rId42"/>
    <p:sldId id="326" r:id="rId43"/>
    <p:sldId id="329" r:id="rId44"/>
    <p:sldId id="352" r:id="rId45"/>
    <p:sldId id="351" r:id="rId46"/>
    <p:sldId id="334" r:id="rId47"/>
    <p:sldId id="342" r:id="rId48"/>
    <p:sldId id="345" r:id="rId49"/>
    <p:sldId id="348" r:id="rId50"/>
    <p:sldId id="331" r:id="rId51"/>
    <p:sldId id="260" r:id="rId52"/>
    <p:sldId id="370"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181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13"/>
    <p:restoredTop sz="81250"/>
  </p:normalViewPr>
  <p:slideViewPr>
    <p:cSldViewPr snapToGrid="0">
      <p:cViewPr varScale="1">
        <p:scale>
          <a:sx n="130" d="100"/>
          <a:sy n="130" d="100"/>
        </p:scale>
        <p:origin x="1176" y="192"/>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F0B891-C6DC-6C40-9118-710EB14EF4E6}" type="datetimeFigureOut">
              <a:rPr lang="en-US" smtClean="0"/>
              <a:t>5/5/26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8B86EC-0FC4-1E4F-BA5A-3796EE209339}" type="slidenum">
              <a:rPr lang="en-US" smtClean="0"/>
              <a:t>‹#›</a:t>
            </a:fld>
            <a:endParaRPr lang="en-US"/>
          </a:p>
        </p:txBody>
      </p:sp>
    </p:spTree>
    <p:extLst>
      <p:ext uri="{BB962C8B-B14F-4D97-AF65-F5344CB8AC3E}">
        <p14:creationId xmlns:p14="http://schemas.microsoft.com/office/powerpoint/2010/main" val="152173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1</a:t>
            </a:fld>
            <a:endParaRPr lang="en-US"/>
          </a:p>
        </p:txBody>
      </p:sp>
    </p:spTree>
    <p:extLst>
      <p:ext uri="{BB962C8B-B14F-4D97-AF65-F5344CB8AC3E}">
        <p14:creationId xmlns:p14="http://schemas.microsoft.com/office/powerpoint/2010/main" val="299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talk is going to be about AI, so let’s start by recalling how AI works.</a:t>
            </a:r>
          </a:p>
        </p:txBody>
      </p:sp>
      <p:sp>
        <p:nvSpPr>
          <p:cNvPr id="4" name="Slide Number Placeholder 3"/>
          <p:cNvSpPr>
            <a:spLocks noGrp="1"/>
          </p:cNvSpPr>
          <p:nvPr>
            <p:ph type="sldNum" sz="quarter" idx="5"/>
          </p:nvPr>
        </p:nvSpPr>
        <p:spPr/>
        <p:txBody>
          <a:bodyPr/>
          <a:lstStyle/>
          <a:p>
            <a:fld id="{AA8B86EC-0FC4-1E4F-BA5A-3796EE209339}" type="slidenum">
              <a:rPr lang="en-US" smtClean="0"/>
              <a:t>2</a:t>
            </a:fld>
            <a:endParaRPr lang="en-US"/>
          </a:p>
        </p:txBody>
      </p:sp>
    </p:spTree>
    <p:extLst>
      <p:ext uri="{BB962C8B-B14F-4D97-AF65-F5344CB8AC3E}">
        <p14:creationId xmlns:p14="http://schemas.microsoft.com/office/powerpoint/2010/main" val="2282031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3</a:t>
            </a:fld>
            <a:endParaRPr lang="en-US"/>
          </a:p>
        </p:txBody>
      </p:sp>
    </p:spTree>
    <p:extLst>
      <p:ext uri="{BB962C8B-B14F-4D97-AF65-F5344CB8AC3E}">
        <p14:creationId xmlns:p14="http://schemas.microsoft.com/office/powerpoint/2010/main" val="3862260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4</a:t>
            </a:fld>
            <a:endParaRPr lang="en-US"/>
          </a:p>
        </p:txBody>
      </p:sp>
    </p:spTree>
    <p:extLst>
      <p:ext uri="{BB962C8B-B14F-4D97-AF65-F5344CB8AC3E}">
        <p14:creationId xmlns:p14="http://schemas.microsoft.com/office/powerpoint/2010/main" val="1885145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5</a:t>
            </a:fld>
            <a:endParaRPr lang="en-US"/>
          </a:p>
        </p:txBody>
      </p:sp>
    </p:spTree>
    <p:extLst>
      <p:ext uri="{BB962C8B-B14F-4D97-AF65-F5344CB8AC3E}">
        <p14:creationId xmlns:p14="http://schemas.microsoft.com/office/powerpoint/2010/main" val="1942100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6</a:t>
            </a:fld>
            <a:endParaRPr lang="en-US"/>
          </a:p>
        </p:txBody>
      </p:sp>
    </p:spTree>
    <p:extLst>
      <p:ext uri="{BB962C8B-B14F-4D97-AF65-F5344CB8AC3E}">
        <p14:creationId xmlns:p14="http://schemas.microsoft.com/office/powerpoint/2010/main" val="3413829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7</a:t>
            </a:fld>
            <a:endParaRPr lang="en-US"/>
          </a:p>
        </p:txBody>
      </p:sp>
    </p:spTree>
    <p:extLst>
      <p:ext uri="{BB962C8B-B14F-4D97-AF65-F5344CB8AC3E}">
        <p14:creationId xmlns:p14="http://schemas.microsoft.com/office/powerpoint/2010/main" val="101066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8</a:t>
            </a:fld>
            <a:endParaRPr lang="en-US"/>
          </a:p>
        </p:txBody>
      </p:sp>
    </p:spTree>
    <p:extLst>
      <p:ext uri="{BB962C8B-B14F-4D97-AF65-F5344CB8AC3E}">
        <p14:creationId xmlns:p14="http://schemas.microsoft.com/office/powerpoint/2010/main" val="3118459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9</a:t>
            </a:fld>
            <a:endParaRPr lang="en-US"/>
          </a:p>
        </p:txBody>
      </p:sp>
    </p:spTree>
    <p:extLst>
      <p:ext uri="{BB962C8B-B14F-4D97-AF65-F5344CB8AC3E}">
        <p14:creationId xmlns:p14="http://schemas.microsoft.com/office/powerpoint/2010/main" val="961927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“template”</a:t>
            </a:r>
          </a:p>
          <a:p>
            <a:endParaRPr lang="en-US" dirty="0"/>
          </a:p>
          <a:p>
            <a:endParaRPr lang="en-US" dirty="0"/>
          </a:p>
          <a:p>
            <a:r>
              <a:rPr lang="en-US" dirty="0"/>
              <a:t>… </a:t>
            </a:r>
          </a:p>
        </p:txBody>
      </p:sp>
      <p:sp>
        <p:nvSpPr>
          <p:cNvPr id="4" name="Slide Number Placeholder 3"/>
          <p:cNvSpPr>
            <a:spLocks noGrp="1"/>
          </p:cNvSpPr>
          <p:nvPr>
            <p:ph type="sldNum" sz="quarter" idx="5"/>
          </p:nvPr>
        </p:nvSpPr>
        <p:spPr/>
        <p:txBody>
          <a:bodyPr/>
          <a:lstStyle/>
          <a:p>
            <a:fld id="{AA8B86EC-0FC4-1E4F-BA5A-3796EE209339}" type="slidenum">
              <a:rPr lang="en-US" smtClean="0"/>
              <a:t>10</a:t>
            </a:fld>
            <a:endParaRPr lang="en-US"/>
          </a:p>
        </p:txBody>
      </p:sp>
    </p:spTree>
    <p:extLst>
      <p:ext uri="{BB962C8B-B14F-4D97-AF65-F5344CB8AC3E}">
        <p14:creationId xmlns:p14="http://schemas.microsoft.com/office/powerpoint/2010/main" val="134565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endParaRPr lang="en-US" dirty="0"/>
          </a:p>
          <a:p>
            <a:r>
              <a:rPr lang="en-US" dirty="0"/>
              <a:t>... It has immediate applications to all of these settings.</a:t>
            </a:r>
          </a:p>
        </p:txBody>
      </p:sp>
      <p:sp>
        <p:nvSpPr>
          <p:cNvPr id="4" name="Slide Number Placeholder 3"/>
          <p:cNvSpPr>
            <a:spLocks noGrp="1"/>
          </p:cNvSpPr>
          <p:nvPr>
            <p:ph type="sldNum" sz="quarter" idx="5"/>
          </p:nvPr>
        </p:nvSpPr>
        <p:spPr/>
        <p:txBody>
          <a:bodyPr/>
          <a:lstStyle/>
          <a:p>
            <a:fld id="{AA8B86EC-0FC4-1E4F-BA5A-3796EE209339}" type="slidenum">
              <a:rPr lang="en-US" smtClean="0"/>
              <a:t>11</a:t>
            </a:fld>
            <a:endParaRPr lang="en-US"/>
          </a:p>
        </p:txBody>
      </p:sp>
    </p:spTree>
    <p:extLst>
      <p:ext uri="{BB962C8B-B14F-4D97-AF65-F5344CB8AC3E}">
        <p14:creationId xmlns:p14="http://schemas.microsoft.com/office/powerpoint/2010/main" val="2539986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Just like regular AI, my scheme has two phases…</a:t>
            </a:r>
          </a:p>
        </p:txBody>
      </p:sp>
      <p:sp>
        <p:nvSpPr>
          <p:cNvPr id="4" name="Slide Number Placeholder 3"/>
          <p:cNvSpPr>
            <a:spLocks noGrp="1"/>
          </p:cNvSpPr>
          <p:nvPr>
            <p:ph type="sldNum" sz="quarter" idx="5"/>
          </p:nvPr>
        </p:nvSpPr>
        <p:spPr/>
        <p:txBody>
          <a:bodyPr/>
          <a:lstStyle/>
          <a:p>
            <a:fld id="{AA8B86EC-0FC4-1E4F-BA5A-3796EE209339}" type="slidenum">
              <a:rPr lang="en-US" smtClean="0"/>
              <a:t>12</a:t>
            </a:fld>
            <a:endParaRPr lang="en-US"/>
          </a:p>
        </p:txBody>
      </p:sp>
    </p:spTree>
    <p:extLst>
      <p:ext uri="{BB962C8B-B14F-4D97-AF65-F5344CB8AC3E}">
        <p14:creationId xmlns:p14="http://schemas.microsoft.com/office/powerpoint/2010/main" val="2595740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32DB-778F-FB86-5ED0-A5418B056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930D7-B777-2272-F202-63BE041078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5809554-9D99-3738-AFDB-9EC68B0300DC}"/>
              </a:ext>
            </a:extLst>
          </p:cNvPr>
          <p:cNvSpPr>
            <a:spLocks noGrp="1"/>
          </p:cNvSpPr>
          <p:nvPr>
            <p:ph type="body" idx="1"/>
          </p:nvPr>
        </p:nvSpPr>
        <p:spPr/>
        <p:txBody>
          <a:bodyPr/>
          <a:lstStyle/>
          <a:p>
            <a:endParaRPr lang="en-US" dirty="0"/>
          </a:p>
          <a:p>
            <a:endParaRPr lang="en-US" dirty="0"/>
          </a:p>
          <a:p>
            <a:r>
              <a:rPr lang="en-US" dirty="0"/>
              <a:t>… PAUSE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I’m going to solve data deletion.</a:t>
            </a:r>
          </a:p>
          <a:p>
            <a:endParaRPr lang="en-US" dirty="0"/>
          </a:p>
        </p:txBody>
      </p:sp>
      <p:sp>
        <p:nvSpPr>
          <p:cNvPr id="4" name="Slide Number Placeholder 3">
            <a:extLst>
              <a:ext uri="{FF2B5EF4-FFF2-40B4-BE49-F238E27FC236}">
                <a16:creationId xmlns:a16="http://schemas.microsoft.com/office/drawing/2014/main" id="{ABEC9409-7DF0-2027-25C6-25BCA2C3BDF2}"/>
              </a:ext>
            </a:extLst>
          </p:cNvPr>
          <p:cNvSpPr>
            <a:spLocks noGrp="1"/>
          </p:cNvSpPr>
          <p:nvPr>
            <p:ph type="sldNum" sz="quarter" idx="5"/>
          </p:nvPr>
        </p:nvSpPr>
        <p:spPr/>
        <p:txBody>
          <a:bodyPr/>
          <a:lstStyle/>
          <a:p>
            <a:fld id="{AA8B86EC-0FC4-1E4F-BA5A-3796EE209339}" type="slidenum">
              <a:rPr lang="en-US" smtClean="0"/>
              <a:t>13</a:t>
            </a:fld>
            <a:endParaRPr lang="en-US"/>
          </a:p>
        </p:txBody>
      </p:sp>
    </p:spTree>
    <p:extLst>
      <p:ext uri="{BB962C8B-B14F-4D97-AF65-F5344CB8AC3E}">
        <p14:creationId xmlns:p14="http://schemas.microsoft.com/office/powerpoint/2010/main" val="1585809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8918-956B-1706-1EC0-6BB6A4188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E961A-33E2-2C67-1FCB-5A4434A66A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766987-7372-BE0A-9254-6165A91A7F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3B1DAD-D57A-C6E8-8623-9C5342445DDF}"/>
              </a:ext>
            </a:extLst>
          </p:cNvPr>
          <p:cNvSpPr>
            <a:spLocks noGrp="1"/>
          </p:cNvSpPr>
          <p:nvPr>
            <p:ph type="sldNum" sz="quarter" idx="5"/>
          </p:nvPr>
        </p:nvSpPr>
        <p:spPr/>
        <p:txBody>
          <a:bodyPr/>
          <a:lstStyle/>
          <a:p>
            <a:fld id="{AA8B86EC-0FC4-1E4F-BA5A-3796EE209339}" type="slidenum">
              <a:rPr lang="en-US" smtClean="0"/>
              <a:t>14</a:t>
            </a:fld>
            <a:endParaRPr lang="en-US"/>
          </a:p>
        </p:txBody>
      </p:sp>
    </p:spTree>
    <p:extLst>
      <p:ext uri="{BB962C8B-B14F-4D97-AF65-F5344CB8AC3E}">
        <p14:creationId xmlns:p14="http://schemas.microsoft.com/office/powerpoint/2010/main" val="423760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702D3-E78E-A849-02CF-5C191EE71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E6B1C-2E53-1176-CBC0-317B169482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A4B6E3-1625-D652-44CA-7C0000B07D0E}"/>
              </a:ext>
            </a:extLst>
          </p:cNvPr>
          <p:cNvSpPr>
            <a:spLocks noGrp="1"/>
          </p:cNvSpPr>
          <p:nvPr>
            <p:ph type="body" idx="1"/>
          </p:nvPr>
        </p:nvSpPr>
        <p:spPr/>
        <p:txBody>
          <a:bodyPr/>
          <a:lstStyle/>
          <a:p>
            <a:r>
              <a:rPr lang="en-US" dirty="0"/>
              <a:t>”the form it takes”</a:t>
            </a:r>
          </a:p>
          <a:p>
            <a:r>
              <a:rPr lang="en-US" dirty="0"/>
              <a:t>“not transparent”</a:t>
            </a:r>
          </a:p>
          <a:p>
            <a:endParaRPr lang="en-US" dirty="0"/>
          </a:p>
          <a:p>
            <a:r>
              <a:rPr lang="en-US" dirty="0"/>
              <a:t>… Seems crazy! </a:t>
            </a:r>
          </a:p>
        </p:txBody>
      </p:sp>
      <p:sp>
        <p:nvSpPr>
          <p:cNvPr id="4" name="Slide Number Placeholder 3">
            <a:extLst>
              <a:ext uri="{FF2B5EF4-FFF2-40B4-BE49-F238E27FC236}">
                <a16:creationId xmlns:a16="http://schemas.microsoft.com/office/drawing/2014/main" id="{B2E06FD2-8C15-5E7F-059B-0BB82D5ADC55}"/>
              </a:ext>
            </a:extLst>
          </p:cNvPr>
          <p:cNvSpPr>
            <a:spLocks noGrp="1"/>
          </p:cNvSpPr>
          <p:nvPr>
            <p:ph type="sldNum" sz="quarter" idx="5"/>
          </p:nvPr>
        </p:nvSpPr>
        <p:spPr/>
        <p:txBody>
          <a:bodyPr/>
          <a:lstStyle/>
          <a:p>
            <a:fld id="{AA8B86EC-0FC4-1E4F-BA5A-3796EE209339}" type="slidenum">
              <a:rPr lang="en-US" smtClean="0"/>
              <a:t>15</a:t>
            </a:fld>
            <a:endParaRPr lang="en-US"/>
          </a:p>
        </p:txBody>
      </p:sp>
    </p:spTree>
    <p:extLst>
      <p:ext uri="{BB962C8B-B14F-4D97-AF65-F5344CB8AC3E}">
        <p14:creationId xmlns:p14="http://schemas.microsoft.com/office/powerpoint/2010/main" val="1116176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16</a:t>
            </a:fld>
            <a:endParaRPr lang="en-US"/>
          </a:p>
        </p:txBody>
      </p:sp>
    </p:spTree>
    <p:extLst>
      <p:ext uri="{BB962C8B-B14F-4D97-AF65-F5344CB8AC3E}">
        <p14:creationId xmlns:p14="http://schemas.microsoft.com/office/powerpoint/2010/main" val="1074243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PAUSE</a:t>
            </a:r>
          </a:p>
          <a:p>
            <a:endParaRPr lang="en-US" dirty="0"/>
          </a:p>
          <a:p>
            <a:r>
              <a:rPr lang="en-US" dirty="0"/>
              <a:t>Let’s see how we’re going to represent the problem.</a:t>
            </a:r>
          </a:p>
        </p:txBody>
      </p:sp>
      <p:sp>
        <p:nvSpPr>
          <p:cNvPr id="4" name="Slide Number Placeholder 3"/>
          <p:cNvSpPr>
            <a:spLocks noGrp="1"/>
          </p:cNvSpPr>
          <p:nvPr>
            <p:ph type="sldNum" sz="quarter" idx="5"/>
          </p:nvPr>
        </p:nvSpPr>
        <p:spPr/>
        <p:txBody>
          <a:bodyPr/>
          <a:lstStyle/>
          <a:p>
            <a:fld id="{AA8B86EC-0FC4-1E4F-BA5A-3796EE209339}" type="slidenum">
              <a:rPr lang="en-US" smtClean="0"/>
              <a:t>17</a:t>
            </a:fld>
            <a:endParaRPr lang="en-US"/>
          </a:p>
        </p:txBody>
      </p:sp>
    </p:spTree>
    <p:extLst>
      <p:ext uri="{BB962C8B-B14F-4D97-AF65-F5344CB8AC3E}">
        <p14:creationId xmlns:p14="http://schemas.microsoft.com/office/powerpoint/2010/main" val="3179277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18</a:t>
            </a:fld>
            <a:endParaRPr lang="en-US"/>
          </a:p>
        </p:txBody>
      </p:sp>
    </p:spTree>
    <p:extLst>
      <p:ext uri="{BB962C8B-B14F-4D97-AF65-F5344CB8AC3E}">
        <p14:creationId xmlns:p14="http://schemas.microsoft.com/office/powerpoint/2010/main" val="564173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71FBE-BF4E-B220-C731-FE5DB985F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22FCA-4AF5-B593-20A0-CA7A7683A6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2FEE5E-1E1A-9723-8E53-DFE368D9D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0DC3E7-41A1-DE55-EB15-05F051EC948B}"/>
              </a:ext>
            </a:extLst>
          </p:cNvPr>
          <p:cNvSpPr>
            <a:spLocks noGrp="1"/>
          </p:cNvSpPr>
          <p:nvPr>
            <p:ph type="sldNum" sz="quarter" idx="5"/>
          </p:nvPr>
        </p:nvSpPr>
        <p:spPr/>
        <p:txBody>
          <a:bodyPr/>
          <a:lstStyle/>
          <a:p>
            <a:fld id="{AA8B86EC-0FC4-1E4F-BA5A-3796EE209339}" type="slidenum">
              <a:rPr lang="en-US" smtClean="0"/>
              <a:t>19</a:t>
            </a:fld>
            <a:endParaRPr lang="en-US"/>
          </a:p>
        </p:txBody>
      </p:sp>
    </p:spTree>
    <p:extLst>
      <p:ext uri="{BB962C8B-B14F-4D97-AF65-F5344CB8AC3E}">
        <p14:creationId xmlns:p14="http://schemas.microsoft.com/office/powerpoint/2010/main" val="2335373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“framework” or “formalism”</a:t>
            </a:r>
          </a:p>
          <a:p>
            <a:r>
              <a:rPr lang="en-US" dirty="0"/>
              <a:t>Fixed randomness is from Ilyas &amp; Engstrom.</a:t>
            </a:r>
          </a:p>
        </p:txBody>
      </p:sp>
      <p:sp>
        <p:nvSpPr>
          <p:cNvPr id="4" name="Slide Number Placeholder 3"/>
          <p:cNvSpPr>
            <a:spLocks noGrp="1"/>
          </p:cNvSpPr>
          <p:nvPr>
            <p:ph type="sldNum" sz="quarter" idx="5"/>
          </p:nvPr>
        </p:nvSpPr>
        <p:spPr/>
        <p:txBody>
          <a:bodyPr/>
          <a:lstStyle/>
          <a:p>
            <a:fld id="{AA8B86EC-0FC4-1E4F-BA5A-3796EE209339}" type="slidenum">
              <a:rPr lang="en-US" smtClean="0"/>
              <a:t>20</a:t>
            </a:fld>
            <a:endParaRPr lang="en-US"/>
          </a:p>
        </p:txBody>
      </p:sp>
    </p:spTree>
    <p:extLst>
      <p:ext uri="{BB962C8B-B14F-4D97-AF65-F5344CB8AC3E}">
        <p14:creationId xmlns:p14="http://schemas.microsoft.com/office/powerpoint/2010/main" val="1878909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59AE4-EDAA-5A06-591D-88EBE8387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9762D-3C9B-394A-D3A9-7F40BD07B4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DFF673-15CA-BCC1-EC4B-46D4A31F8EC6}"/>
              </a:ext>
            </a:extLst>
          </p:cNvPr>
          <p:cNvSpPr>
            <a:spLocks noGrp="1"/>
          </p:cNvSpPr>
          <p:nvPr>
            <p:ph type="body" idx="1"/>
          </p:nvPr>
        </p:nvSpPr>
        <p:spPr/>
        <p:txBody>
          <a:bodyPr/>
          <a:lstStyle/>
          <a:p>
            <a:r>
              <a:rPr lang="en-US" dirty="0"/>
              <a:t>What does f do with w?</a:t>
            </a:r>
          </a:p>
        </p:txBody>
      </p:sp>
      <p:sp>
        <p:nvSpPr>
          <p:cNvPr id="4" name="Slide Number Placeholder 3">
            <a:extLst>
              <a:ext uri="{FF2B5EF4-FFF2-40B4-BE49-F238E27FC236}">
                <a16:creationId xmlns:a16="http://schemas.microsoft.com/office/drawing/2014/main" id="{4BDF9CEC-9E17-3024-9EBD-D4E0F6D957CF}"/>
              </a:ext>
            </a:extLst>
          </p:cNvPr>
          <p:cNvSpPr>
            <a:spLocks noGrp="1"/>
          </p:cNvSpPr>
          <p:nvPr>
            <p:ph type="sldNum" sz="quarter" idx="5"/>
          </p:nvPr>
        </p:nvSpPr>
        <p:spPr/>
        <p:txBody>
          <a:bodyPr/>
          <a:lstStyle/>
          <a:p>
            <a:fld id="{AA8B86EC-0FC4-1E4F-BA5A-3796EE209339}" type="slidenum">
              <a:rPr lang="en-US" smtClean="0"/>
              <a:t>21</a:t>
            </a:fld>
            <a:endParaRPr lang="en-US"/>
          </a:p>
        </p:txBody>
      </p:sp>
    </p:spTree>
    <p:extLst>
      <p:ext uri="{BB962C8B-B14F-4D97-AF65-F5344CB8AC3E}">
        <p14:creationId xmlns:p14="http://schemas.microsoft.com/office/powerpoint/2010/main" val="1855805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22</a:t>
            </a:fld>
            <a:endParaRPr lang="en-US"/>
          </a:p>
        </p:txBody>
      </p:sp>
    </p:spTree>
    <p:extLst>
      <p:ext uri="{BB962C8B-B14F-4D97-AF65-F5344CB8AC3E}">
        <p14:creationId xmlns:p14="http://schemas.microsoft.com/office/powerpoint/2010/main" val="31775419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23</a:t>
            </a:fld>
            <a:endParaRPr lang="en-US"/>
          </a:p>
        </p:txBody>
      </p:sp>
    </p:spTree>
    <p:extLst>
      <p:ext uri="{BB962C8B-B14F-4D97-AF65-F5344CB8AC3E}">
        <p14:creationId xmlns:p14="http://schemas.microsoft.com/office/powerpoint/2010/main" val="2793961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24</a:t>
            </a:fld>
            <a:endParaRPr lang="en-US"/>
          </a:p>
        </p:txBody>
      </p:sp>
    </p:spTree>
    <p:extLst>
      <p:ext uri="{BB962C8B-B14F-4D97-AF65-F5344CB8AC3E}">
        <p14:creationId xmlns:p14="http://schemas.microsoft.com/office/powerpoint/2010/main" val="3507322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One final point about the model we’re using. How should we think about this function f? ...</a:t>
            </a:r>
          </a:p>
          <a:p>
            <a:endParaRPr lang="en-US" dirty="0"/>
          </a:p>
          <a:p>
            <a:endParaRPr lang="en-US" dirty="0"/>
          </a:p>
          <a:p>
            <a:r>
              <a:rPr lang="en-US" dirty="0"/>
              <a:t>… “abstraction can break slightly”</a:t>
            </a:r>
          </a:p>
          <a:p>
            <a:r>
              <a:rPr lang="en-US" dirty="0"/>
              <a:t>“captures the essential aspects”</a:t>
            </a:r>
          </a:p>
        </p:txBody>
      </p:sp>
      <p:sp>
        <p:nvSpPr>
          <p:cNvPr id="4" name="Slide Number Placeholder 3"/>
          <p:cNvSpPr>
            <a:spLocks noGrp="1"/>
          </p:cNvSpPr>
          <p:nvPr>
            <p:ph type="sldNum" sz="quarter" idx="5"/>
          </p:nvPr>
        </p:nvSpPr>
        <p:spPr/>
        <p:txBody>
          <a:bodyPr/>
          <a:lstStyle/>
          <a:p>
            <a:fld id="{AA8B86EC-0FC4-1E4F-BA5A-3796EE209339}" type="slidenum">
              <a:rPr lang="en-US" smtClean="0"/>
              <a:t>25</a:t>
            </a:fld>
            <a:endParaRPr lang="en-US"/>
          </a:p>
        </p:txBody>
      </p:sp>
    </p:spTree>
    <p:extLst>
      <p:ext uri="{BB962C8B-B14F-4D97-AF65-F5344CB8AC3E}">
        <p14:creationId xmlns:p14="http://schemas.microsoft.com/office/powerpoint/2010/main" val="3555729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7641F-550C-C6A0-5A65-05E90A17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FB5E9-C7D9-2984-AD43-4BC7BBAC8D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AB9CF26-F2E7-8581-4C7B-A08994771C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7A7C1B-7195-5AF7-E60F-ED473E3716FD}"/>
              </a:ext>
            </a:extLst>
          </p:cNvPr>
          <p:cNvSpPr>
            <a:spLocks noGrp="1"/>
          </p:cNvSpPr>
          <p:nvPr>
            <p:ph type="sldNum" sz="quarter" idx="5"/>
          </p:nvPr>
        </p:nvSpPr>
        <p:spPr/>
        <p:txBody>
          <a:bodyPr/>
          <a:lstStyle/>
          <a:p>
            <a:fld id="{AA8B86EC-0FC4-1E4F-BA5A-3796EE209339}" type="slidenum">
              <a:rPr lang="en-US" smtClean="0"/>
              <a:t>26</a:t>
            </a:fld>
            <a:endParaRPr lang="en-US"/>
          </a:p>
        </p:txBody>
      </p:sp>
    </p:spTree>
    <p:extLst>
      <p:ext uri="{BB962C8B-B14F-4D97-AF65-F5344CB8AC3E}">
        <p14:creationId xmlns:p14="http://schemas.microsoft.com/office/powerpoint/2010/main" val="27905337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PAUSE</a:t>
            </a:r>
          </a:p>
        </p:txBody>
      </p:sp>
      <p:sp>
        <p:nvSpPr>
          <p:cNvPr id="4" name="Slide Number Placeholder 3"/>
          <p:cNvSpPr>
            <a:spLocks noGrp="1"/>
          </p:cNvSpPr>
          <p:nvPr>
            <p:ph type="sldNum" sz="quarter" idx="5"/>
          </p:nvPr>
        </p:nvSpPr>
        <p:spPr/>
        <p:txBody>
          <a:bodyPr/>
          <a:lstStyle/>
          <a:p>
            <a:fld id="{AA8B86EC-0FC4-1E4F-BA5A-3796EE209339}" type="slidenum">
              <a:rPr lang="en-US" smtClean="0"/>
              <a:t>27</a:t>
            </a:fld>
            <a:endParaRPr lang="en-US"/>
          </a:p>
        </p:txBody>
      </p:sp>
    </p:spTree>
    <p:extLst>
      <p:ext uri="{BB962C8B-B14F-4D97-AF65-F5344CB8AC3E}">
        <p14:creationId xmlns:p14="http://schemas.microsoft.com/office/powerpoint/2010/main" val="32095017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assumption is about the Taylor series of the </a:t>
            </a:r>
            <a:r>
              <a:rPr lang="en-US" dirty="0" err="1"/>
              <a:t>datamodel</a:t>
            </a:r>
            <a:r>
              <a:rPr lang="en-US" dirty="0"/>
              <a:t> function.</a:t>
            </a:r>
          </a:p>
        </p:txBody>
      </p:sp>
      <p:sp>
        <p:nvSpPr>
          <p:cNvPr id="4" name="Slide Number Placeholder 3"/>
          <p:cNvSpPr>
            <a:spLocks noGrp="1"/>
          </p:cNvSpPr>
          <p:nvPr>
            <p:ph type="sldNum" sz="quarter" idx="5"/>
          </p:nvPr>
        </p:nvSpPr>
        <p:spPr/>
        <p:txBody>
          <a:bodyPr/>
          <a:lstStyle/>
          <a:p>
            <a:fld id="{AA8B86EC-0FC4-1E4F-BA5A-3796EE209339}" type="slidenum">
              <a:rPr lang="en-US" smtClean="0"/>
              <a:t>28</a:t>
            </a:fld>
            <a:endParaRPr lang="en-US"/>
          </a:p>
        </p:txBody>
      </p:sp>
    </p:spTree>
    <p:extLst>
      <p:ext uri="{BB962C8B-B14F-4D97-AF65-F5344CB8AC3E}">
        <p14:creationId xmlns:p14="http://schemas.microsoft.com/office/powerpoint/2010/main" val="32009441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29</a:t>
            </a:fld>
            <a:endParaRPr lang="en-US"/>
          </a:p>
        </p:txBody>
      </p:sp>
    </p:spTree>
    <p:extLst>
      <p:ext uri="{BB962C8B-B14F-4D97-AF65-F5344CB8AC3E}">
        <p14:creationId xmlns:p14="http://schemas.microsoft.com/office/powerpoint/2010/main" val="23093291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30</a:t>
            </a:fld>
            <a:endParaRPr lang="en-US"/>
          </a:p>
        </p:txBody>
      </p:sp>
    </p:spTree>
    <p:extLst>
      <p:ext uri="{BB962C8B-B14F-4D97-AF65-F5344CB8AC3E}">
        <p14:creationId xmlns:p14="http://schemas.microsoft.com/office/powerpoint/2010/main" val="131892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8B86EC-0FC4-1E4F-BA5A-3796EE209339}" type="slidenum">
              <a:rPr lang="en-US" smtClean="0"/>
              <a:t>31</a:t>
            </a:fld>
            <a:endParaRPr lang="en-US"/>
          </a:p>
        </p:txBody>
      </p:sp>
    </p:spTree>
    <p:extLst>
      <p:ext uri="{BB962C8B-B14F-4D97-AF65-F5344CB8AC3E}">
        <p14:creationId xmlns:p14="http://schemas.microsoft.com/office/powerpoint/2010/main" val="3064936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“completely specified”</a:t>
            </a:r>
          </a:p>
        </p:txBody>
      </p:sp>
      <p:sp>
        <p:nvSpPr>
          <p:cNvPr id="4" name="Slide Number Placeholder 3"/>
          <p:cNvSpPr>
            <a:spLocks noGrp="1"/>
          </p:cNvSpPr>
          <p:nvPr>
            <p:ph type="sldNum" sz="quarter" idx="5"/>
          </p:nvPr>
        </p:nvSpPr>
        <p:spPr/>
        <p:txBody>
          <a:bodyPr/>
          <a:lstStyle/>
          <a:p>
            <a:fld id="{AA8B86EC-0FC4-1E4F-BA5A-3796EE209339}" type="slidenum">
              <a:rPr lang="en-US" smtClean="0"/>
              <a:t>32</a:t>
            </a:fld>
            <a:endParaRPr lang="en-US"/>
          </a:p>
        </p:txBody>
      </p:sp>
    </p:spTree>
    <p:extLst>
      <p:ext uri="{BB962C8B-B14F-4D97-AF65-F5344CB8AC3E}">
        <p14:creationId xmlns:p14="http://schemas.microsoft.com/office/powerpoint/2010/main" val="20682507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It will be simple, if strange!</a:t>
            </a:r>
          </a:p>
        </p:txBody>
      </p:sp>
      <p:sp>
        <p:nvSpPr>
          <p:cNvPr id="4" name="Slide Number Placeholder 3"/>
          <p:cNvSpPr>
            <a:spLocks noGrp="1"/>
          </p:cNvSpPr>
          <p:nvPr>
            <p:ph type="sldNum" sz="quarter" idx="5"/>
          </p:nvPr>
        </p:nvSpPr>
        <p:spPr/>
        <p:txBody>
          <a:bodyPr/>
          <a:lstStyle/>
          <a:p>
            <a:fld id="{AA8B86EC-0FC4-1E4F-BA5A-3796EE209339}" type="slidenum">
              <a:rPr lang="en-US" smtClean="0"/>
              <a:t>33</a:t>
            </a:fld>
            <a:endParaRPr lang="en-US"/>
          </a:p>
        </p:txBody>
      </p:sp>
    </p:spTree>
    <p:extLst>
      <p:ext uri="{BB962C8B-B14F-4D97-AF65-F5344CB8AC3E}">
        <p14:creationId xmlns:p14="http://schemas.microsoft.com/office/powerpoint/2010/main" val="2702499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7D39-5F0F-FED4-A173-C50A9DE94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D3D15-FBD4-B0EF-1BD2-F0620B9290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3EBD60-03FB-282E-F6BB-7667E3A77E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DF064D-CA85-CF52-CFBB-C20688BFEB32}"/>
              </a:ext>
            </a:extLst>
          </p:cNvPr>
          <p:cNvSpPr>
            <a:spLocks noGrp="1"/>
          </p:cNvSpPr>
          <p:nvPr>
            <p:ph type="sldNum" sz="quarter" idx="5"/>
          </p:nvPr>
        </p:nvSpPr>
        <p:spPr/>
        <p:txBody>
          <a:bodyPr/>
          <a:lstStyle/>
          <a:p>
            <a:fld id="{AA8B86EC-0FC4-1E4F-BA5A-3796EE209339}" type="slidenum">
              <a:rPr lang="en-US" smtClean="0"/>
              <a:t>34</a:t>
            </a:fld>
            <a:endParaRPr lang="en-US"/>
          </a:p>
        </p:txBody>
      </p:sp>
    </p:spTree>
    <p:extLst>
      <p:ext uri="{BB962C8B-B14F-4D97-AF65-F5344CB8AC3E}">
        <p14:creationId xmlns:p14="http://schemas.microsoft.com/office/powerpoint/2010/main" val="2478715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C5D7-455D-2F27-5C63-DC436F3AA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830DC-376C-1BB1-640E-9068B68A84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9D16FD-07E7-EE6A-068E-71FA54F1ED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BED4CF-4FBF-CC65-5F99-473F53CADD23}"/>
              </a:ext>
            </a:extLst>
          </p:cNvPr>
          <p:cNvSpPr>
            <a:spLocks noGrp="1"/>
          </p:cNvSpPr>
          <p:nvPr>
            <p:ph type="sldNum" sz="quarter" idx="5"/>
          </p:nvPr>
        </p:nvSpPr>
        <p:spPr/>
        <p:txBody>
          <a:bodyPr/>
          <a:lstStyle/>
          <a:p>
            <a:fld id="{AA8B86EC-0FC4-1E4F-BA5A-3796EE209339}" type="slidenum">
              <a:rPr lang="en-US" smtClean="0"/>
              <a:t>35</a:t>
            </a:fld>
            <a:endParaRPr lang="en-US"/>
          </a:p>
        </p:txBody>
      </p:sp>
    </p:spTree>
    <p:extLst>
      <p:ext uri="{BB962C8B-B14F-4D97-AF65-F5344CB8AC3E}">
        <p14:creationId xmlns:p14="http://schemas.microsoft.com/office/powerpoint/2010/main" val="37220466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2455D-F7A5-DDA1-3CBB-7D9B0BCD0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A7A07-7592-37FC-8927-F3557D26D7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6E53717-313E-8A6B-B08F-CEAB949D3D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B9B4ED-2B4E-570D-F10C-29F2F08CC339}"/>
              </a:ext>
            </a:extLst>
          </p:cNvPr>
          <p:cNvSpPr>
            <a:spLocks noGrp="1"/>
          </p:cNvSpPr>
          <p:nvPr>
            <p:ph type="sldNum" sz="quarter" idx="5"/>
          </p:nvPr>
        </p:nvSpPr>
        <p:spPr/>
        <p:txBody>
          <a:bodyPr/>
          <a:lstStyle/>
          <a:p>
            <a:fld id="{AA8B86EC-0FC4-1E4F-BA5A-3796EE209339}" type="slidenum">
              <a:rPr lang="en-US" smtClean="0"/>
              <a:t>36</a:t>
            </a:fld>
            <a:endParaRPr lang="en-US"/>
          </a:p>
        </p:txBody>
      </p:sp>
    </p:spTree>
    <p:extLst>
      <p:ext uri="{BB962C8B-B14F-4D97-AF65-F5344CB8AC3E}">
        <p14:creationId xmlns:p14="http://schemas.microsoft.com/office/powerpoint/2010/main" val="7351027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BDEB6-E2D0-F397-AFFF-3665244EA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A9276-9C1C-8E6D-B515-BA15FF889E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DBB1C5-4D25-8F69-5471-1F6B1BC371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76CC1F-237F-D543-FC92-4328EF287843}"/>
              </a:ext>
            </a:extLst>
          </p:cNvPr>
          <p:cNvSpPr>
            <a:spLocks noGrp="1"/>
          </p:cNvSpPr>
          <p:nvPr>
            <p:ph type="sldNum" sz="quarter" idx="5"/>
          </p:nvPr>
        </p:nvSpPr>
        <p:spPr/>
        <p:txBody>
          <a:bodyPr/>
          <a:lstStyle/>
          <a:p>
            <a:fld id="{AA8B86EC-0FC4-1E4F-BA5A-3796EE209339}" type="slidenum">
              <a:rPr lang="en-US" smtClean="0"/>
              <a:t>37</a:t>
            </a:fld>
            <a:endParaRPr lang="en-US"/>
          </a:p>
        </p:txBody>
      </p:sp>
    </p:spTree>
    <p:extLst>
      <p:ext uri="{BB962C8B-B14F-4D97-AF65-F5344CB8AC3E}">
        <p14:creationId xmlns:p14="http://schemas.microsoft.com/office/powerpoint/2010/main" val="26618066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20D55-7037-12D7-D61D-9AC9AB127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3BC7E-9E64-D437-641A-889E9AB769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5E2AE5-0B0A-57FA-2628-CEEFE7A125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776E3D-7C72-21C1-7825-CD7ACC4EDB01}"/>
              </a:ext>
            </a:extLst>
          </p:cNvPr>
          <p:cNvSpPr>
            <a:spLocks noGrp="1"/>
          </p:cNvSpPr>
          <p:nvPr>
            <p:ph type="sldNum" sz="quarter" idx="5"/>
          </p:nvPr>
        </p:nvSpPr>
        <p:spPr/>
        <p:txBody>
          <a:bodyPr/>
          <a:lstStyle/>
          <a:p>
            <a:fld id="{AA8B86EC-0FC4-1E4F-BA5A-3796EE209339}" type="slidenum">
              <a:rPr lang="en-US" smtClean="0"/>
              <a:t>38</a:t>
            </a:fld>
            <a:endParaRPr lang="en-US"/>
          </a:p>
        </p:txBody>
      </p:sp>
    </p:spTree>
    <p:extLst>
      <p:ext uri="{BB962C8B-B14F-4D97-AF65-F5344CB8AC3E}">
        <p14:creationId xmlns:p14="http://schemas.microsoft.com/office/powerpoint/2010/main" val="101628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8150F-B587-F307-1041-2D49BC096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D2D02-1FAF-5062-C56C-107212C06B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0E245F-2770-1B3A-E0FA-FFA32B6FF0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083F5-B6DA-FA5C-87D4-3770E0C3840C}"/>
              </a:ext>
            </a:extLst>
          </p:cNvPr>
          <p:cNvSpPr>
            <a:spLocks noGrp="1"/>
          </p:cNvSpPr>
          <p:nvPr>
            <p:ph type="sldNum" sz="quarter" idx="5"/>
          </p:nvPr>
        </p:nvSpPr>
        <p:spPr/>
        <p:txBody>
          <a:bodyPr/>
          <a:lstStyle/>
          <a:p>
            <a:fld id="{AA8B86EC-0FC4-1E4F-BA5A-3796EE209339}" type="slidenum">
              <a:rPr lang="en-US" smtClean="0"/>
              <a:t>39</a:t>
            </a:fld>
            <a:endParaRPr lang="en-US"/>
          </a:p>
        </p:txBody>
      </p:sp>
    </p:spTree>
    <p:extLst>
      <p:ext uri="{BB962C8B-B14F-4D97-AF65-F5344CB8AC3E}">
        <p14:creationId xmlns:p14="http://schemas.microsoft.com/office/powerpoint/2010/main" val="18836423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352B-BD6A-4276-65E2-A68C7BED3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E14F3-849E-451A-B95C-6DCB0A36DC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D36E85-C15D-7B07-D0DC-74BF2387AF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F2E069-56D2-1977-DCA1-3AE1F11ECA20}"/>
              </a:ext>
            </a:extLst>
          </p:cNvPr>
          <p:cNvSpPr>
            <a:spLocks noGrp="1"/>
          </p:cNvSpPr>
          <p:nvPr>
            <p:ph type="sldNum" sz="quarter" idx="5"/>
          </p:nvPr>
        </p:nvSpPr>
        <p:spPr/>
        <p:txBody>
          <a:bodyPr/>
          <a:lstStyle/>
          <a:p>
            <a:fld id="{AA8B86EC-0FC4-1E4F-BA5A-3796EE209339}" type="slidenum">
              <a:rPr lang="en-US" smtClean="0"/>
              <a:t>40</a:t>
            </a:fld>
            <a:endParaRPr lang="en-US"/>
          </a:p>
        </p:txBody>
      </p:sp>
    </p:spTree>
    <p:extLst>
      <p:ext uri="{BB962C8B-B14F-4D97-AF65-F5344CB8AC3E}">
        <p14:creationId xmlns:p14="http://schemas.microsoft.com/office/powerpoint/2010/main" val="20021126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13CA3-E516-E651-36C2-CF32310AD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6ADDA-19BE-63AA-328F-6744573AD8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E7CF46-783F-E520-8D19-8713104AFE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96F67C-02BA-98FD-6E38-6A3B1DC6770B}"/>
              </a:ext>
            </a:extLst>
          </p:cNvPr>
          <p:cNvSpPr>
            <a:spLocks noGrp="1"/>
          </p:cNvSpPr>
          <p:nvPr>
            <p:ph type="sldNum" sz="quarter" idx="5"/>
          </p:nvPr>
        </p:nvSpPr>
        <p:spPr/>
        <p:txBody>
          <a:bodyPr/>
          <a:lstStyle/>
          <a:p>
            <a:fld id="{AA8B86EC-0FC4-1E4F-BA5A-3796EE209339}" type="slidenum">
              <a:rPr lang="en-US" smtClean="0"/>
              <a:t>41</a:t>
            </a:fld>
            <a:endParaRPr lang="en-US"/>
          </a:p>
        </p:txBody>
      </p:sp>
    </p:spTree>
    <p:extLst>
      <p:ext uri="{BB962C8B-B14F-4D97-AF65-F5344CB8AC3E}">
        <p14:creationId xmlns:p14="http://schemas.microsoft.com/office/powerpoint/2010/main" val="900052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1D132-3B59-AE2A-3BDC-7745E82AA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11ECD-C45D-F474-18A0-B6910E25DF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A3FC44-25BF-7EFB-6D90-EE75D66486AA}"/>
              </a:ext>
            </a:extLst>
          </p:cNvPr>
          <p:cNvSpPr>
            <a:spLocks noGrp="1"/>
          </p:cNvSpPr>
          <p:nvPr>
            <p:ph type="body" idx="1"/>
          </p:nvPr>
        </p:nvSpPr>
        <p:spPr/>
        <p:txBody>
          <a:bodyPr/>
          <a:lstStyle/>
          <a:p>
            <a:r>
              <a:rPr lang="en-US" dirty="0"/>
              <a:t>“order-dependent normalization”</a:t>
            </a:r>
          </a:p>
          <a:p>
            <a:endParaRPr lang="en-US" dirty="0"/>
          </a:p>
          <a:p>
            <a:r>
              <a:rPr lang="en-US" dirty="0"/>
              <a:t>- For quantum people: r copies of a Haar-random state</a:t>
            </a:r>
          </a:p>
          <a:p>
            <a:endParaRPr lang="en-US" dirty="0"/>
          </a:p>
          <a:p>
            <a:r>
              <a:rPr lang="en-US" dirty="0"/>
              <a:t>- psi has to be complex!</a:t>
            </a:r>
          </a:p>
        </p:txBody>
      </p:sp>
      <p:sp>
        <p:nvSpPr>
          <p:cNvPr id="4" name="Slide Number Placeholder 3">
            <a:extLst>
              <a:ext uri="{FF2B5EF4-FFF2-40B4-BE49-F238E27FC236}">
                <a16:creationId xmlns:a16="http://schemas.microsoft.com/office/drawing/2014/main" id="{999F8C06-8909-7792-72BB-3331E135C89C}"/>
              </a:ext>
            </a:extLst>
          </p:cNvPr>
          <p:cNvSpPr>
            <a:spLocks noGrp="1"/>
          </p:cNvSpPr>
          <p:nvPr>
            <p:ph type="sldNum" sz="quarter" idx="5"/>
          </p:nvPr>
        </p:nvSpPr>
        <p:spPr/>
        <p:txBody>
          <a:bodyPr/>
          <a:lstStyle/>
          <a:p>
            <a:fld id="{AA8B86EC-0FC4-1E4F-BA5A-3796EE209339}" type="slidenum">
              <a:rPr lang="en-US" smtClean="0"/>
              <a:t>42</a:t>
            </a:fld>
            <a:endParaRPr lang="en-US"/>
          </a:p>
        </p:txBody>
      </p:sp>
    </p:spTree>
    <p:extLst>
      <p:ext uri="{BB962C8B-B14F-4D97-AF65-F5344CB8AC3E}">
        <p14:creationId xmlns:p14="http://schemas.microsoft.com/office/powerpoint/2010/main" val="23392942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3A14D-BB64-5800-AAF4-1E66BDDBE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1A7056-5569-C657-F001-BFA2F7EEEA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BB2510-81A7-5B3A-5056-C285724B2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DC45DA-A5BF-4D9D-635F-551E67241BBC}"/>
              </a:ext>
            </a:extLst>
          </p:cNvPr>
          <p:cNvSpPr>
            <a:spLocks noGrp="1"/>
          </p:cNvSpPr>
          <p:nvPr>
            <p:ph type="sldNum" sz="quarter" idx="5"/>
          </p:nvPr>
        </p:nvSpPr>
        <p:spPr/>
        <p:txBody>
          <a:bodyPr/>
          <a:lstStyle/>
          <a:p>
            <a:fld id="{AA8B86EC-0FC4-1E4F-BA5A-3796EE209339}" type="slidenum">
              <a:rPr lang="en-US" smtClean="0"/>
              <a:t>43</a:t>
            </a:fld>
            <a:endParaRPr lang="en-US"/>
          </a:p>
        </p:txBody>
      </p:sp>
    </p:spTree>
    <p:extLst>
      <p:ext uri="{BB962C8B-B14F-4D97-AF65-F5344CB8AC3E}">
        <p14:creationId xmlns:p14="http://schemas.microsoft.com/office/powerpoint/2010/main" val="27047464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18FE-6638-A514-E6A3-8FAF7E149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E0778-2B8D-856A-CB89-51B3DC67F7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6970BF-7AA5-8A69-9AF3-49D7F7394E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A88C36-2AB9-CF30-5299-14C482EAED2A}"/>
              </a:ext>
            </a:extLst>
          </p:cNvPr>
          <p:cNvSpPr>
            <a:spLocks noGrp="1"/>
          </p:cNvSpPr>
          <p:nvPr>
            <p:ph type="sldNum" sz="quarter" idx="5"/>
          </p:nvPr>
        </p:nvSpPr>
        <p:spPr/>
        <p:txBody>
          <a:bodyPr/>
          <a:lstStyle/>
          <a:p>
            <a:fld id="{AA8B86EC-0FC4-1E4F-BA5A-3796EE209339}" type="slidenum">
              <a:rPr lang="en-US" smtClean="0"/>
              <a:t>44</a:t>
            </a:fld>
            <a:endParaRPr lang="en-US"/>
          </a:p>
        </p:txBody>
      </p:sp>
    </p:spTree>
    <p:extLst>
      <p:ext uri="{BB962C8B-B14F-4D97-AF65-F5344CB8AC3E}">
        <p14:creationId xmlns:p14="http://schemas.microsoft.com/office/powerpoint/2010/main" val="587375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5F27F-F164-8274-1EB5-4DADDB139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FE4B2-18C2-A15E-525D-78865B4C85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CA4F8CD-2814-29C8-10E0-6A468556D348}"/>
              </a:ext>
            </a:extLst>
          </p:cNvPr>
          <p:cNvSpPr>
            <a:spLocks noGrp="1"/>
          </p:cNvSpPr>
          <p:nvPr>
            <p:ph type="body" idx="1"/>
          </p:nvPr>
        </p:nvSpPr>
        <p:spPr/>
        <p:txBody>
          <a:bodyPr/>
          <a:lstStyle/>
          <a:p>
            <a:r>
              <a:rPr lang="en-US" dirty="0"/>
              <a:t>Glossing over main, essential issue</a:t>
            </a:r>
          </a:p>
          <a:p>
            <a:endParaRPr lang="en-US" dirty="0"/>
          </a:p>
          <a:p>
            <a:endParaRPr lang="en-US" dirty="0"/>
          </a:p>
          <a:p>
            <a:r>
              <a:rPr lang="en-US" dirty="0"/>
              <a:t>PAUSE</a:t>
            </a:r>
          </a:p>
        </p:txBody>
      </p:sp>
      <p:sp>
        <p:nvSpPr>
          <p:cNvPr id="4" name="Slide Number Placeholder 3">
            <a:extLst>
              <a:ext uri="{FF2B5EF4-FFF2-40B4-BE49-F238E27FC236}">
                <a16:creationId xmlns:a16="http://schemas.microsoft.com/office/drawing/2014/main" id="{AD93BF2C-9D89-911E-28F5-3EFB3BAAAEEE}"/>
              </a:ext>
            </a:extLst>
          </p:cNvPr>
          <p:cNvSpPr>
            <a:spLocks noGrp="1"/>
          </p:cNvSpPr>
          <p:nvPr>
            <p:ph type="sldNum" sz="quarter" idx="5"/>
          </p:nvPr>
        </p:nvSpPr>
        <p:spPr/>
        <p:txBody>
          <a:bodyPr/>
          <a:lstStyle/>
          <a:p>
            <a:fld id="{AA8B86EC-0FC4-1E4F-BA5A-3796EE209339}" type="slidenum">
              <a:rPr lang="en-US" smtClean="0"/>
              <a:t>45</a:t>
            </a:fld>
            <a:endParaRPr lang="en-US"/>
          </a:p>
        </p:txBody>
      </p:sp>
    </p:spTree>
    <p:extLst>
      <p:ext uri="{BB962C8B-B14F-4D97-AF65-F5344CB8AC3E}">
        <p14:creationId xmlns:p14="http://schemas.microsoft.com/office/powerpoint/2010/main" val="28581389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AAAD6-C480-9011-2E36-8C755B13C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B0F26-4DEB-5ED5-8CCE-FAFD22CDA4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18AF52-E7F7-F801-0124-2A87F2141D94}"/>
              </a:ext>
            </a:extLst>
          </p:cNvPr>
          <p:cNvSpPr>
            <a:spLocks noGrp="1"/>
          </p:cNvSpPr>
          <p:nvPr>
            <p:ph type="body" idx="1"/>
          </p:nvPr>
        </p:nvSpPr>
        <p:spPr/>
        <p:txBody>
          <a:bodyPr/>
          <a:lstStyle/>
          <a:p>
            <a:r>
              <a:rPr lang="en-US" dirty="0"/>
              <a:t>Finally come to polys</a:t>
            </a:r>
          </a:p>
        </p:txBody>
      </p:sp>
      <p:sp>
        <p:nvSpPr>
          <p:cNvPr id="4" name="Slide Number Placeholder 3">
            <a:extLst>
              <a:ext uri="{FF2B5EF4-FFF2-40B4-BE49-F238E27FC236}">
                <a16:creationId xmlns:a16="http://schemas.microsoft.com/office/drawing/2014/main" id="{1A3FE395-26BE-F85F-A910-7A957983A38E}"/>
              </a:ext>
            </a:extLst>
          </p:cNvPr>
          <p:cNvSpPr>
            <a:spLocks noGrp="1"/>
          </p:cNvSpPr>
          <p:nvPr>
            <p:ph type="sldNum" sz="quarter" idx="5"/>
          </p:nvPr>
        </p:nvSpPr>
        <p:spPr/>
        <p:txBody>
          <a:bodyPr/>
          <a:lstStyle/>
          <a:p>
            <a:fld id="{AA8B86EC-0FC4-1E4F-BA5A-3796EE209339}" type="slidenum">
              <a:rPr lang="en-US" smtClean="0"/>
              <a:t>46</a:t>
            </a:fld>
            <a:endParaRPr lang="en-US"/>
          </a:p>
        </p:txBody>
      </p:sp>
    </p:spTree>
    <p:extLst>
      <p:ext uri="{BB962C8B-B14F-4D97-AF65-F5344CB8AC3E}">
        <p14:creationId xmlns:p14="http://schemas.microsoft.com/office/powerpoint/2010/main" val="19165390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70C59-4B7B-142D-8D69-465D01A11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01F4E-510B-9116-B77A-7455E8B3C2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4FF978E-97E5-2E23-302D-BCC1FE2FD5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1CFC85-F846-EA98-D930-0C12BF8CEFA0}"/>
              </a:ext>
            </a:extLst>
          </p:cNvPr>
          <p:cNvSpPr>
            <a:spLocks noGrp="1"/>
          </p:cNvSpPr>
          <p:nvPr>
            <p:ph type="sldNum" sz="quarter" idx="5"/>
          </p:nvPr>
        </p:nvSpPr>
        <p:spPr/>
        <p:txBody>
          <a:bodyPr/>
          <a:lstStyle/>
          <a:p>
            <a:fld id="{AA8B86EC-0FC4-1E4F-BA5A-3796EE209339}" type="slidenum">
              <a:rPr lang="en-US" smtClean="0"/>
              <a:t>47</a:t>
            </a:fld>
            <a:endParaRPr lang="en-US"/>
          </a:p>
        </p:txBody>
      </p:sp>
    </p:spTree>
    <p:extLst>
      <p:ext uri="{BB962C8B-B14F-4D97-AF65-F5344CB8AC3E}">
        <p14:creationId xmlns:p14="http://schemas.microsoft.com/office/powerpoint/2010/main" val="12732335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E552-B0EE-3323-C699-4375CF4DC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0296B-8275-42B8-A01B-229C297722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F45992-F8D4-7009-30C8-9A4AA0611C5F}"/>
              </a:ext>
            </a:extLst>
          </p:cNvPr>
          <p:cNvSpPr>
            <a:spLocks noGrp="1"/>
          </p:cNvSpPr>
          <p:nvPr>
            <p:ph type="body" idx="1"/>
          </p:nvPr>
        </p:nvSpPr>
        <p:spPr/>
        <p:txBody>
          <a:bodyPr/>
          <a:lstStyle/>
          <a:p>
            <a:r>
              <a:rPr lang="en-US" dirty="0"/>
              <a:t>f is some scary complicated training + inference algorithm</a:t>
            </a:r>
          </a:p>
        </p:txBody>
      </p:sp>
      <p:sp>
        <p:nvSpPr>
          <p:cNvPr id="4" name="Slide Number Placeholder 3">
            <a:extLst>
              <a:ext uri="{FF2B5EF4-FFF2-40B4-BE49-F238E27FC236}">
                <a16:creationId xmlns:a16="http://schemas.microsoft.com/office/drawing/2014/main" id="{5F5684EA-322D-85F2-0BF1-778D0E8F74ED}"/>
              </a:ext>
            </a:extLst>
          </p:cNvPr>
          <p:cNvSpPr>
            <a:spLocks noGrp="1"/>
          </p:cNvSpPr>
          <p:nvPr>
            <p:ph type="sldNum" sz="quarter" idx="5"/>
          </p:nvPr>
        </p:nvSpPr>
        <p:spPr/>
        <p:txBody>
          <a:bodyPr/>
          <a:lstStyle/>
          <a:p>
            <a:fld id="{AA8B86EC-0FC4-1E4F-BA5A-3796EE209339}" type="slidenum">
              <a:rPr lang="en-US" smtClean="0"/>
              <a:t>48</a:t>
            </a:fld>
            <a:endParaRPr lang="en-US"/>
          </a:p>
        </p:txBody>
      </p:sp>
    </p:spTree>
    <p:extLst>
      <p:ext uri="{BB962C8B-B14F-4D97-AF65-F5344CB8AC3E}">
        <p14:creationId xmlns:p14="http://schemas.microsoft.com/office/powerpoint/2010/main" val="42030630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61939-3AC4-E508-34BC-82C3CC763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99D1F-07EA-2E26-3F5D-B32CEF334E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8DAED9-FFD8-8CF7-45F8-5EA93B3CE2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495A90A-9722-84EE-767C-E0848098EF25}"/>
              </a:ext>
            </a:extLst>
          </p:cNvPr>
          <p:cNvSpPr>
            <a:spLocks noGrp="1"/>
          </p:cNvSpPr>
          <p:nvPr>
            <p:ph type="sldNum" sz="quarter" idx="5"/>
          </p:nvPr>
        </p:nvSpPr>
        <p:spPr/>
        <p:txBody>
          <a:bodyPr/>
          <a:lstStyle/>
          <a:p>
            <a:fld id="{AA8B86EC-0FC4-1E4F-BA5A-3796EE209339}" type="slidenum">
              <a:rPr lang="en-US" smtClean="0"/>
              <a:t>49</a:t>
            </a:fld>
            <a:endParaRPr lang="en-US"/>
          </a:p>
        </p:txBody>
      </p:sp>
    </p:spTree>
    <p:extLst>
      <p:ext uri="{BB962C8B-B14F-4D97-AF65-F5344CB8AC3E}">
        <p14:creationId xmlns:p14="http://schemas.microsoft.com/office/powerpoint/2010/main" val="12248334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10219-B340-8888-6C43-6AA8ABCD3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F283C-D788-8E2B-C6BF-656E9B0D12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DBAB48-2218-5E20-F724-A2ACF926B0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CCA8AA-5292-8167-1FFB-010699D92BFA}"/>
              </a:ext>
            </a:extLst>
          </p:cNvPr>
          <p:cNvSpPr>
            <a:spLocks noGrp="1"/>
          </p:cNvSpPr>
          <p:nvPr>
            <p:ph type="sldNum" sz="quarter" idx="5"/>
          </p:nvPr>
        </p:nvSpPr>
        <p:spPr/>
        <p:txBody>
          <a:bodyPr/>
          <a:lstStyle/>
          <a:p>
            <a:fld id="{AA8B86EC-0FC4-1E4F-BA5A-3796EE209339}" type="slidenum">
              <a:rPr lang="en-US" smtClean="0"/>
              <a:t>50</a:t>
            </a:fld>
            <a:endParaRPr lang="en-US"/>
          </a:p>
        </p:txBody>
      </p:sp>
    </p:spTree>
    <p:extLst>
      <p:ext uri="{BB962C8B-B14F-4D97-AF65-F5344CB8AC3E}">
        <p14:creationId xmlns:p14="http://schemas.microsoft.com/office/powerpoint/2010/main" val="35817002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Tx/>
              <a:buChar char="-"/>
            </a:pPr>
            <a:r>
              <a:rPr lang="en-US" dirty="0"/>
              <a:t>5% of 50,000, all same class</a:t>
            </a:r>
          </a:p>
          <a:p>
            <a:pPr marL="171450" indent="-171450">
              <a:buFontTx/>
              <a:buChar char="-"/>
            </a:pPr>
            <a:r>
              <a:rPr lang="en-US" dirty="0"/>
              <a:t>test function = loss on test example of the same class as the deleted data</a:t>
            </a:r>
          </a:p>
          <a:p>
            <a:pPr marL="171450" indent="-171450">
              <a:buFontTx/>
              <a:buChar char="-"/>
            </a:pPr>
            <a:r>
              <a:rPr lang="en-US" dirty="0"/>
              <a:t>ResNet-9 trained for 1 epoch</a:t>
            </a:r>
          </a:p>
        </p:txBody>
      </p:sp>
      <p:sp>
        <p:nvSpPr>
          <p:cNvPr id="4" name="Slide Number Placeholder 3"/>
          <p:cNvSpPr>
            <a:spLocks noGrp="1"/>
          </p:cNvSpPr>
          <p:nvPr>
            <p:ph type="sldNum" sz="quarter" idx="5"/>
          </p:nvPr>
        </p:nvSpPr>
        <p:spPr/>
        <p:txBody>
          <a:bodyPr/>
          <a:lstStyle/>
          <a:p>
            <a:fld id="{AA8B86EC-0FC4-1E4F-BA5A-3796EE209339}" type="slidenum">
              <a:rPr lang="en-US" smtClean="0"/>
              <a:t>51</a:t>
            </a:fld>
            <a:endParaRPr lang="en-US"/>
          </a:p>
        </p:txBody>
      </p:sp>
    </p:spTree>
    <p:extLst>
      <p:ext uri="{BB962C8B-B14F-4D97-AF65-F5344CB8AC3E}">
        <p14:creationId xmlns:p14="http://schemas.microsoft.com/office/powerpoint/2010/main" val="1548712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B512C-D5F3-4833-8022-C7DE9FC762D2}"/>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096F144D-0650-F0C5-43E9-56DB2FC015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FE5C244-2701-C3F2-8A82-3B8E7653FD62}"/>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5" name="Footer Placeholder 4">
            <a:extLst>
              <a:ext uri="{FF2B5EF4-FFF2-40B4-BE49-F238E27FC236}">
                <a16:creationId xmlns:a16="http://schemas.microsoft.com/office/drawing/2014/main" id="{E62F1733-B9C0-1274-CCF4-DEB56C38D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7E0132-3F1B-7E5F-C0B0-A0BC29B28E24}"/>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466692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1CD9B-8AE4-2F77-253B-F984C27E6C1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8064A2C-8353-FCD8-0B61-B70B3E5B95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4843CB-F867-6F14-D5B5-DFD116A03836}"/>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5" name="Footer Placeholder 4">
            <a:extLst>
              <a:ext uri="{FF2B5EF4-FFF2-40B4-BE49-F238E27FC236}">
                <a16:creationId xmlns:a16="http://schemas.microsoft.com/office/drawing/2014/main" id="{F38CBBA9-C3DC-4F43-D7CD-35EE0746E9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D1F7F-D774-7B60-099C-E47E9B72E8F7}"/>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425148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51F54-350C-98A3-DE23-0F6B9D09F2AC}"/>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4C204F7B-8A47-519A-FE3B-A2239569B7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D05646-6C89-5FAE-EC53-A3188DB9C8B0}"/>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5" name="Footer Placeholder 4">
            <a:extLst>
              <a:ext uri="{FF2B5EF4-FFF2-40B4-BE49-F238E27FC236}">
                <a16:creationId xmlns:a16="http://schemas.microsoft.com/office/drawing/2014/main" id="{DD09A801-D0EF-6B93-84CF-8E19829791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A9D6-0162-5CBC-C65B-3104D70C8AAE}"/>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2821940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C3DF-0ED4-0EE6-18BA-6B27758F21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96BC02-97B2-9737-EA1A-396814628D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851825-C04B-D9A5-9846-7311E204E3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2783FA-FE6F-E134-86A0-41C72329EEFF}"/>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6" name="Footer Placeholder 5">
            <a:extLst>
              <a:ext uri="{FF2B5EF4-FFF2-40B4-BE49-F238E27FC236}">
                <a16:creationId xmlns:a16="http://schemas.microsoft.com/office/drawing/2014/main" id="{F22A6AD3-E06B-F780-9AAD-F5DFD5E8DB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269B06-BF18-1B5B-F317-B53B9BAC08B1}"/>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1844617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05D9-EBD2-97ED-BB5D-B0CC32D3E3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E80F15-6868-362E-C4C0-408B1C164B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A301FA-38EE-D95B-102D-740FF69F90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1AA08D-A231-BE52-7055-EA7DE8352F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12DA91-7C00-BBD0-6624-776866E052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4F913C-DABE-435A-6A22-1DB3115796F5}"/>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8" name="Footer Placeholder 7">
            <a:extLst>
              <a:ext uri="{FF2B5EF4-FFF2-40B4-BE49-F238E27FC236}">
                <a16:creationId xmlns:a16="http://schemas.microsoft.com/office/drawing/2014/main" id="{E45D9D90-6F13-7C24-D8F5-80D2608008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AE1933-E97F-45D2-C19E-59074A60E07F}"/>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404987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CC14B-53D3-94E5-FB73-0975168C833C}"/>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C82776DC-81C9-4093-739F-5F4FCD3B798D}"/>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4" name="Footer Placeholder 3">
            <a:extLst>
              <a:ext uri="{FF2B5EF4-FFF2-40B4-BE49-F238E27FC236}">
                <a16:creationId xmlns:a16="http://schemas.microsoft.com/office/drawing/2014/main" id="{FC2B94F8-E15E-9A5D-B65F-1956917B2C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7FB2DE-95D2-DAAC-0008-BFD00B4EBF25}"/>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548892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5FFD1-EE38-5717-8E04-2B3BD2AD16F8}"/>
              </a:ext>
            </a:extLst>
          </p:cNvPr>
          <p:cNvSpPr>
            <a:spLocks noGrp="1"/>
          </p:cNvSpPr>
          <p:nvPr>
            <p:ph type="dt" sz="half" idx="10"/>
          </p:nvPr>
        </p:nvSpPr>
        <p:spPr/>
        <p:txBody>
          <a:bodyPr/>
          <a:lstStyle>
            <a:lvl1pPr>
              <a:defRPr>
                <a:latin typeface="Garamond" panose="02020404030301010803" pitchFamily="18" charset="0"/>
              </a:defRPr>
            </a:lvl1pPr>
          </a:lstStyle>
          <a:p>
            <a:fld id="{0925E906-78E6-1A41-A3E9-32CA31413900}" type="datetimeFigureOut">
              <a:rPr lang="en-US" smtClean="0"/>
              <a:pPr/>
              <a:t>5/5/26</a:t>
            </a:fld>
            <a:endParaRPr lang="en-US" dirty="0">
              <a:latin typeface="Garamond" panose="02020404030301010803" pitchFamily="18" charset="0"/>
            </a:endParaRPr>
          </a:p>
        </p:txBody>
      </p:sp>
      <p:sp>
        <p:nvSpPr>
          <p:cNvPr id="3" name="Footer Placeholder 2">
            <a:extLst>
              <a:ext uri="{FF2B5EF4-FFF2-40B4-BE49-F238E27FC236}">
                <a16:creationId xmlns:a16="http://schemas.microsoft.com/office/drawing/2014/main" id="{FDC85180-5BB1-CB6B-496D-E96223D59F70}"/>
              </a:ext>
            </a:extLst>
          </p:cNvPr>
          <p:cNvSpPr>
            <a:spLocks noGrp="1"/>
          </p:cNvSpPr>
          <p:nvPr>
            <p:ph type="ftr" sz="quarter" idx="11"/>
          </p:nvPr>
        </p:nvSpPr>
        <p:spPr/>
        <p:txBody>
          <a:bodyPr/>
          <a:lstStyle>
            <a:lvl1pPr>
              <a:defRPr>
                <a:latin typeface="Garamond" panose="02020404030301010803" pitchFamily="18" charset="0"/>
              </a:defRPr>
            </a:lvl1pPr>
          </a:lstStyle>
          <a:p>
            <a:endParaRPr lang="en-US" dirty="0">
              <a:latin typeface="Garamond" panose="02020404030301010803" pitchFamily="18" charset="0"/>
            </a:endParaRPr>
          </a:p>
        </p:txBody>
      </p:sp>
      <p:sp>
        <p:nvSpPr>
          <p:cNvPr id="4" name="Slide Number Placeholder 3">
            <a:extLst>
              <a:ext uri="{FF2B5EF4-FFF2-40B4-BE49-F238E27FC236}">
                <a16:creationId xmlns:a16="http://schemas.microsoft.com/office/drawing/2014/main" id="{0FB14116-BCBE-1623-8703-A76C0B9A7A36}"/>
              </a:ext>
            </a:extLst>
          </p:cNvPr>
          <p:cNvSpPr>
            <a:spLocks noGrp="1"/>
          </p:cNvSpPr>
          <p:nvPr>
            <p:ph type="sldNum" sz="quarter" idx="12"/>
          </p:nvPr>
        </p:nvSpPr>
        <p:spPr/>
        <p:txBody>
          <a:bodyPr/>
          <a:lstStyle>
            <a:lvl1pPr>
              <a:defRPr>
                <a:latin typeface="Garamond" panose="02020404030301010803" pitchFamily="18" charset="0"/>
              </a:defRPr>
            </a:lvl1pPr>
          </a:lstStyle>
          <a:p>
            <a:fld id="{C391A915-84A8-174B-833C-FAC956AFB565}" type="slidenum">
              <a:rPr lang="en-US" smtClean="0"/>
              <a:pPr/>
              <a:t>‹#›</a:t>
            </a:fld>
            <a:endParaRPr lang="en-US" dirty="0">
              <a:latin typeface="Garamond" panose="02020404030301010803" pitchFamily="18" charset="0"/>
            </a:endParaRPr>
          </a:p>
        </p:txBody>
      </p:sp>
    </p:spTree>
    <p:extLst>
      <p:ext uri="{BB962C8B-B14F-4D97-AF65-F5344CB8AC3E}">
        <p14:creationId xmlns:p14="http://schemas.microsoft.com/office/powerpoint/2010/main" val="1627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6D44-A62B-D9C1-4E4A-7C8B74F8D8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6D86BB-1BF1-5BBB-CA63-3AFE1B3D8C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F80235-AEAB-A1F4-2446-9D033B7146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400C23-2F76-004B-32A5-252D485E7A32}"/>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6" name="Footer Placeholder 5">
            <a:extLst>
              <a:ext uri="{FF2B5EF4-FFF2-40B4-BE49-F238E27FC236}">
                <a16:creationId xmlns:a16="http://schemas.microsoft.com/office/drawing/2014/main" id="{DD7B1A72-58A6-D2E5-FE01-C0047BAADF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56B995-A6AC-643B-34A6-668213809C3E}"/>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2795244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F069-3C93-9189-91EE-FCACA9B49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8C9B36-527F-0C0E-130E-83C53C242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41780D-FB7D-259B-A0A7-A728DF1159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14189-A53E-C53D-7192-F50E1E92593E}"/>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6" name="Footer Placeholder 5">
            <a:extLst>
              <a:ext uri="{FF2B5EF4-FFF2-40B4-BE49-F238E27FC236}">
                <a16:creationId xmlns:a16="http://schemas.microsoft.com/office/drawing/2014/main" id="{CAD8F4C8-CB33-4B04-AA44-928FFD8A9E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1213AF-E655-CBD3-126F-D9F9FF9F2FF1}"/>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3936526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6A617-FEB8-CE3F-B3BA-AA5FE7206D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1EB210-D3F8-02FD-58E3-12CD83275E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75ADDB-F0C1-05CB-8B04-1820A2E3CB97}"/>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5" name="Footer Placeholder 4">
            <a:extLst>
              <a:ext uri="{FF2B5EF4-FFF2-40B4-BE49-F238E27FC236}">
                <a16:creationId xmlns:a16="http://schemas.microsoft.com/office/drawing/2014/main" id="{CCC3F3AA-7303-346E-BC47-4F97F33612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9ECAF5-893E-7409-74A3-98BE9D8820BD}"/>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3703795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3D2B12-82A6-EC7D-0AFC-DC87F58D4F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245A4C-99F5-7CFE-5A0D-936043AD2C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78B827-F266-E794-9986-EFCEA56CBC9D}"/>
              </a:ext>
            </a:extLst>
          </p:cNvPr>
          <p:cNvSpPr>
            <a:spLocks noGrp="1"/>
          </p:cNvSpPr>
          <p:nvPr>
            <p:ph type="dt" sz="half" idx="10"/>
          </p:nvPr>
        </p:nvSpPr>
        <p:spPr/>
        <p:txBody>
          <a:bodyPr/>
          <a:lstStyle/>
          <a:p>
            <a:fld id="{0925E906-78E6-1A41-A3E9-32CA31413900}" type="datetimeFigureOut">
              <a:rPr lang="en-US" smtClean="0"/>
              <a:t>5/5/26</a:t>
            </a:fld>
            <a:endParaRPr lang="en-US"/>
          </a:p>
        </p:txBody>
      </p:sp>
      <p:sp>
        <p:nvSpPr>
          <p:cNvPr id="5" name="Footer Placeholder 4">
            <a:extLst>
              <a:ext uri="{FF2B5EF4-FFF2-40B4-BE49-F238E27FC236}">
                <a16:creationId xmlns:a16="http://schemas.microsoft.com/office/drawing/2014/main" id="{2D723D71-48EE-0B9C-6C6A-FCB2184DF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FD951D-4C9A-95BE-60AC-591DEC232A63}"/>
              </a:ext>
            </a:extLst>
          </p:cNvPr>
          <p:cNvSpPr>
            <a:spLocks noGrp="1"/>
          </p:cNvSpPr>
          <p:nvPr>
            <p:ph type="sldNum" sz="quarter" idx="12"/>
          </p:nvPr>
        </p:nvSpPr>
        <p:spPr/>
        <p:txBody>
          <a:bodyPr/>
          <a:lstStyle/>
          <a:p>
            <a:fld id="{C391A915-84A8-174B-833C-FAC956AFB565}" type="slidenum">
              <a:rPr lang="en-US" smtClean="0"/>
              <a:t>‹#›</a:t>
            </a:fld>
            <a:endParaRPr lang="en-US"/>
          </a:p>
        </p:txBody>
      </p:sp>
    </p:spTree>
    <p:extLst>
      <p:ext uri="{BB962C8B-B14F-4D97-AF65-F5344CB8AC3E}">
        <p14:creationId xmlns:p14="http://schemas.microsoft.com/office/powerpoint/2010/main" val="3687103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2BAC9A-9A91-59F3-03B3-59F5FB19ED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4CB32A4-1059-B065-D913-05394D280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70FE79-1CC8-612E-B7CB-CF6C5C3F0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Garamond" panose="02020404030301010803" pitchFamily="18" charset="0"/>
              </a:defRPr>
            </a:lvl1pPr>
          </a:lstStyle>
          <a:p>
            <a:fld id="{0925E906-78E6-1A41-A3E9-32CA31413900}" type="datetimeFigureOut">
              <a:rPr lang="en-US" smtClean="0"/>
              <a:pPr/>
              <a:t>5/5/26</a:t>
            </a:fld>
            <a:endParaRPr lang="en-US" dirty="0">
              <a:latin typeface="Garamond" panose="02020404030301010803" pitchFamily="18" charset="0"/>
            </a:endParaRPr>
          </a:p>
        </p:txBody>
      </p:sp>
      <p:sp>
        <p:nvSpPr>
          <p:cNvPr id="5" name="Footer Placeholder 4">
            <a:extLst>
              <a:ext uri="{FF2B5EF4-FFF2-40B4-BE49-F238E27FC236}">
                <a16:creationId xmlns:a16="http://schemas.microsoft.com/office/drawing/2014/main" id="{7D01DD84-586A-2B19-9D27-E3AFF1A38F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Garamond" panose="02020404030301010803" pitchFamily="18" charset="0"/>
              </a:defRPr>
            </a:lvl1pPr>
          </a:lstStyle>
          <a:p>
            <a:endParaRPr lang="en-US" dirty="0">
              <a:latin typeface="Garamond" panose="02020404030301010803" pitchFamily="18" charset="0"/>
            </a:endParaRPr>
          </a:p>
        </p:txBody>
      </p:sp>
      <p:sp>
        <p:nvSpPr>
          <p:cNvPr id="6" name="Slide Number Placeholder 5">
            <a:extLst>
              <a:ext uri="{FF2B5EF4-FFF2-40B4-BE49-F238E27FC236}">
                <a16:creationId xmlns:a16="http://schemas.microsoft.com/office/drawing/2014/main" id="{AE8C186A-03DA-38AB-63D9-068A33971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Garamond" panose="02020404030301010803" pitchFamily="18" charset="0"/>
              </a:defRPr>
            </a:lvl1pPr>
          </a:lstStyle>
          <a:p>
            <a:fld id="{C391A915-84A8-174B-833C-FAC956AFB565}" type="slidenum">
              <a:rPr lang="en-US" smtClean="0"/>
              <a:pPr/>
              <a:t>‹#›</a:t>
            </a:fld>
            <a:endParaRPr lang="en-US" dirty="0">
              <a:latin typeface="Garamond" panose="02020404030301010803" pitchFamily="18" charset="0"/>
            </a:endParaRPr>
          </a:p>
        </p:txBody>
      </p:sp>
    </p:spTree>
    <p:extLst>
      <p:ext uri="{BB962C8B-B14F-4D97-AF65-F5344CB8AC3E}">
        <p14:creationId xmlns:p14="http://schemas.microsoft.com/office/powerpoint/2010/main" val="2114328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rxiv.org/pdf/2604.07328"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svg"/><Relationship Id="rId7"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0.jpeg"/><Relationship Id="rId9" Type="http://schemas.openxmlformats.org/officeDocument/2006/relationships/image" Target="../media/image7.jpe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4.png"/><Relationship Id="rId3" Type="http://schemas.openxmlformats.org/officeDocument/2006/relationships/image" Target="../media/image2.svg"/><Relationship Id="rId7" Type="http://schemas.openxmlformats.org/officeDocument/2006/relationships/image" Target="../media/image5.jpeg"/><Relationship Id="rId12"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jpeg"/><Relationship Id="rId11" Type="http://schemas.openxmlformats.org/officeDocument/2006/relationships/image" Target="../media/image12.svg"/><Relationship Id="rId5" Type="http://schemas.openxmlformats.org/officeDocument/2006/relationships/image" Target="../media/image3.jpeg"/><Relationship Id="rId10" Type="http://schemas.openxmlformats.org/officeDocument/2006/relationships/image" Target="../media/image11.jpeg"/><Relationship Id="rId4" Type="http://schemas.openxmlformats.org/officeDocument/2006/relationships/image" Target="../media/image10.jpeg"/><Relationship Id="rId9" Type="http://schemas.openxmlformats.org/officeDocument/2006/relationships/image" Target="../media/image7.jpe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4.png"/><Relationship Id="rId3" Type="http://schemas.openxmlformats.org/officeDocument/2006/relationships/image" Target="../media/image2.svg"/><Relationship Id="rId7" Type="http://schemas.openxmlformats.org/officeDocument/2006/relationships/image" Target="../media/image5.jpeg"/><Relationship Id="rId12"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jpeg"/><Relationship Id="rId11" Type="http://schemas.openxmlformats.org/officeDocument/2006/relationships/image" Target="../media/image12.svg"/><Relationship Id="rId5" Type="http://schemas.openxmlformats.org/officeDocument/2006/relationships/image" Target="../media/image3.jpeg"/><Relationship Id="rId10" Type="http://schemas.openxmlformats.org/officeDocument/2006/relationships/image" Target="../media/image11.jpeg"/><Relationship Id="rId4" Type="http://schemas.openxmlformats.org/officeDocument/2006/relationships/image" Target="../media/image10.jpeg"/><Relationship Id="rId9" Type="http://schemas.openxmlformats.org/officeDocument/2006/relationships/image" Target="../media/image7.jpe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svg"/><Relationship Id="rId7"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14.png"/><Relationship Id="rId4" Type="http://schemas.openxmlformats.org/officeDocument/2006/relationships/image" Target="../media/image10.jpeg"/><Relationship Id="rId9" Type="http://schemas.openxmlformats.org/officeDocument/2006/relationships/image" Target="../media/image7.jpeg"/></Relationships>
</file>

<file path=ppt/slides/_rels/slide8.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jpeg"/><Relationship Id="rId12"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1.png"/><Relationship Id="rId5" Type="http://schemas.openxmlformats.org/officeDocument/2006/relationships/image" Target="../media/image4.jpeg"/><Relationship Id="rId15" Type="http://schemas.openxmlformats.org/officeDocument/2006/relationships/image" Target="../media/image14.png"/><Relationship Id="rId10" Type="http://schemas.openxmlformats.org/officeDocument/2006/relationships/image" Target="../media/image16.png"/><Relationship Id="rId4" Type="http://schemas.openxmlformats.org/officeDocument/2006/relationships/image" Target="../media/image3.jpeg"/><Relationship Id="rId9" Type="http://schemas.openxmlformats.org/officeDocument/2006/relationships/image" Target="../media/image15.png"/><Relationship Id="rId14" Type="http://schemas.openxmlformats.org/officeDocument/2006/relationships/image" Target="../media/image13.svg"/></Relationships>
</file>

<file path=ppt/slides/_rels/slide9.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13.svg"/><Relationship Id="rId4" Type="http://schemas.openxmlformats.org/officeDocument/2006/relationships/image" Target="../media/image3.jpeg"/><Relationship Id="rId9"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40.png"/><Relationship Id="rId5" Type="http://schemas.openxmlformats.org/officeDocument/2006/relationships/image" Target="../media/image4.jpeg"/><Relationship Id="rId10" Type="http://schemas.openxmlformats.org/officeDocument/2006/relationships/image" Target="../media/image130.png"/><Relationship Id="rId4" Type="http://schemas.openxmlformats.org/officeDocument/2006/relationships/image" Target="../media/image3.jpeg"/><Relationship Id="rId9" Type="http://schemas.openxmlformats.org/officeDocument/2006/relationships/image" Target="../media/image18.svg"/></Relationships>
</file>

<file path=ppt/slides/_rels/slide13.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3.svg"/><Relationship Id="rId3" Type="http://schemas.openxmlformats.org/officeDocument/2006/relationships/image" Target="../media/image2.svg"/><Relationship Id="rId7" Type="http://schemas.openxmlformats.org/officeDocument/2006/relationships/image" Target="../media/image6.jpeg"/><Relationship Id="rId12"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9.png"/><Relationship Id="rId5" Type="http://schemas.openxmlformats.org/officeDocument/2006/relationships/image" Target="../media/image4.jpeg"/><Relationship Id="rId10" Type="http://schemas.openxmlformats.org/officeDocument/2006/relationships/image" Target="../media/image18.png"/><Relationship Id="rId4" Type="http://schemas.openxmlformats.org/officeDocument/2006/relationships/image" Target="../media/image3.jpeg"/><Relationship Id="rId9" Type="http://schemas.openxmlformats.org/officeDocument/2006/relationships/image" Target="../media/image18.svg"/><Relationship Id="rId1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180.png"/></Relationships>
</file>

<file path=ppt/slides/_rels/slide19.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23.png"/><Relationship Id="rId3" Type="http://schemas.openxmlformats.org/officeDocument/2006/relationships/image" Target="../media/image2.svg"/><Relationship Id="rId7" Type="http://schemas.openxmlformats.org/officeDocument/2006/relationships/image" Target="../media/image6.jpeg"/><Relationship Id="rId12" Type="http://schemas.openxmlformats.org/officeDocument/2006/relationships/image" Target="../media/image22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200.png"/><Relationship Id="rId4" Type="http://schemas.openxmlformats.org/officeDocument/2006/relationships/image" Target="../media/image3.jpeg"/><Relationship Id="rId9" Type="http://schemas.openxmlformats.org/officeDocument/2006/relationships/image" Target="../media/image190.png"/></Relationships>
</file>

<file path=ppt/slides/_rels/slide2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23.png"/><Relationship Id="rId3" Type="http://schemas.openxmlformats.org/officeDocument/2006/relationships/image" Target="../media/image2.svg"/><Relationship Id="rId7" Type="http://schemas.openxmlformats.org/officeDocument/2006/relationships/image" Target="../media/image6.jpeg"/><Relationship Id="rId12" Type="http://schemas.openxmlformats.org/officeDocument/2006/relationships/image" Target="../media/image22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24.png"/><Relationship Id="rId5" Type="http://schemas.openxmlformats.org/officeDocument/2006/relationships/image" Target="../media/image4.jpeg"/><Relationship Id="rId10" Type="http://schemas.openxmlformats.org/officeDocument/2006/relationships/image" Target="../media/image200.png"/><Relationship Id="rId4" Type="http://schemas.openxmlformats.org/officeDocument/2006/relationships/image" Target="../media/image3.jpeg"/><Relationship Id="rId9" Type="http://schemas.openxmlformats.org/officeDocument/2006/relationships/image" Target="../media/image190.png"/><Relationship Id="rId14" Type="http://schemas.openxmlformats.org/officeDocument/2006/relationships/image" Target="../media/image25.png"/></Relationships>
</file>

<file path=ppt/slides/_rels/slide22.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25.png"/><Relationship Id="rId3" Type="http://schemas.openxmlformats.org/officeDocument/2006/relationships/image" Target="../media/image2.svg"/><Relationship Id="rId7" Type="http://schemas.openxmlformats.org/officeDocument/2006/relationships/image" Target="../media/image6.jpeg"/><Relationship Id="rId12" Type="http://schemas.openxmlformats.org/officeDocument/2006/relationships/image" Target="../media/image22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26.png"/><Relationship Id="rId5" Type="http://schemas.openxmlformats.org/officeDocument/2006/relationships/image" Target="../media/image4.jpeg"/><Relationship Id="rId10" Type="http://schemas.openxmlformats.org/officeDocument/2006/relationships/image" Target="../media/image200.png"/><Relationship Id="rId4" Type="http://schemas.openxmlformats.org/officeDocument/2006/relationships/image" Target="../media/image3.jpeg"/><Relationship Id="rId9" Type="http://schemas.openxmlformats.org/officeDocument/2006/relationships/image" Target="../media/image190.png"/></Relationships>
</file>

<file path=ppt/slides/_rels/slide23.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260.pn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241.png"/><Relationship Id="rId5" Type="http://schemas.openxmlformats.org/officeDocument/2006/relationships/image" Target="../media/image4.jpeg"/><Relationship Id="rId15" Type="http://schemas.openxmlformats.org/officeDocument/2006/relationships/image" Target="../media/image27.png"/><Relationship Id="rId10" Type="http://schemas.openxmlformats.org/officeDocument/2006/relationships/image" Target="../media/image200.png"/><Relationship Id="rId4" Type="http://schemas.openxmlformats.org/officeDocument/2006/relationships/image" Target="../media/image3.jpeg"/><Relationship Id="rId9" Type="http://schemas.openxmlformats.org/officeDocument/2006/relationships/image" Target="../media/image190.png"/><Relationship Id="rId14" Type="http://schemas.openxmlformats.org/officeDocument/2006/relationships/image" Target="../media/image220.png"/></Relationships>
</file>

<file path=ppt/slides/_rels/slide2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notesSlide" Target="../notesSlides/notesSlide24.xml"/><Relationship Id="rId16"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15" Type="http://schemas.openxmlformats.org/officeDocument/2006/relationships/image" Target="../media/image32.png"/><Relationship Id="rId4" Type="http://schemas.openxmlformats.org/officeDocument/2006/relationships/image" Target="../media/image3.jpeg"/><Relationship Id="rId14" Type="http://schemas.openxmlformats.org/officeDocument/2006/relationships/image" Target="../media/image190.png"/></Relationships>
</file>

<file path=ppt/slides/_rels/slide2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27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61.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20.png"/><Relationship Id="rId7"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4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9.png"/><Relationship Id="rId7"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250.png"/><Relationship Id="rId4" Type="http://schemas.openxmlformats.org/officeDocument/2006/relationships/image" Target="../media/image240.png"/><Relationship Id="rId9"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18.sv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1.png"/><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29.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6.xml.rels><?xml version="1.0" encoding="UTF-8" standalone="yes"?>
<Relationships xmlns="http://schemas.openxmlformats.org/package/2006/relationships"><Relationship Id="rId8" Type="http://schemas.openxmlformats.org/officeDocument/2006/relationships/image" Target="../media/image67.png"/><Relationship Id="rId7"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4.png"/><Relationship Id="rId7"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3.png"/><Relationship Id="rId4" Type="http://schemas.openxmlformats.org/officeDocument/2006/relationships/image" Target="../media/image30.svg"/><Relationship Id="rId9" Type="http://schemas.openxmlformats.org/officeDocument/2006/relationships/image" Target="../media/image67.png"/></Relationships>
</file>

<file path=ppt/slides/_rels/slide39.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3.png"/><Relationship Id="rId7" Type="http://schemas.openxmlformats.org/officeDocument/2006/relationships/image" Target="../media/image30.sv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80.png"/><Relationship Id="rId10" Type="http://schemas.openxmlformats.org/officeDocument/2006/relationships/image" Target="../media/image67.png"/><Relationship Id="rId4" Type="http://schemas.openxmlformats.org/officeDocument/2006/relationships/image" Target="../media/image310.png"/><Relationship Id="rId9" Type="http://schemas.openxmlformats.org/officeDocument/2006/relationships/image" Target="../media/image82.png"/></Relationships>
</file>

<file path=ppt/slides/_rels/slide4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73.png"/><Relationship Id="rId7" Type="http://schemas.openxmlformats.org/officeDocument/2006/relationships/image" Target="../media/image84.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30.svg"/><Relationship Id="rId4" Type="http://schemas.openxmlformats.org/officeDocument/2006/relationships/image" Target="../media/image76.png"/><Relationship Id="rId9" Type="http://schemas.openxmlformats.org/officeDocument/2006/relationships/image" Target="../media/image79.png"/></Relationships>
</file>

<file path=ppt/slides/_rels/slide4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73.png"/><Relationship Id="rId7" Type="http://schemas.openxmlformats.org/officeDocument/2006/relationships/image" Target="../media/image84.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5.png"/><Relationship Id="rId4" Type="http://schemas.openxmlformats.org/officeDocument/2006/relationships/image" Target="../media/image30.svg"/></Relationships>
</file>

<file path=ppt/slides/_rels/slide42.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73.png"/><Relationship Id="rId7" Type="http://schemas.openxmlformats.org/officeDocument/2006/relationships/image" Target="../media/image88.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67.png"/><Relationship Id="rId5" Type="http://schemas.openxmlformats.org/officeDocument/2006/relationships/image" Target="../media/image86.png"/><Relationship Id="rId10" Type="http://schemas.openxmlformats.org/officeDocument/2006/relationships/image" Target="../media/image84.png"/><Relationship Id="rId4" Type="http://schemas.openxmlformats.org/officeDocument/2006/relationships/image" Target="../media/image30.svg"/><Relationship Id="rId9" Type="http://schemas.openxmlformats.org/officeDocument/2006/relationships/image" Target="../media/image83.png"/></Relationships>
</file>

<file path=ppt/slides/_rels/slide4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34.png"/><Relationship Id="rId7" Type="http://schemas.openxmlformats.org/officeDocument/2006/relationships/image" Target="../media/image8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30.svg"/><Relationship Id="rId4" Type="http://schemas.openxmlformats.org/officeDocument/2006/relationships/image" Target="../media/image53.png"/><Relationship Id="rId9" Type="http://schemas.openxmlformats.org/officeDocument/2006/relationships/image" Target="../media/image82.png"/></Relationships>
</file>

<file path=ppt/slides/_rels/slide4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34.png"/><Relationship Id="rId7" Type="http://schemas.openxmlformats.org/officeDocument/2006/relationships/image" Target="../media/image93.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82.png"/><Relationship Id="rId5" Type="http://schemas.openxmlformats.org/officeDocument/2006/relationships/image" Target="../media/image30.svg"/><Relationship Id="rId10" Type="http://schemas.openxmlformats.org/officeDocument/2006/relationships/image" Target="../media/image62.png"/><Relationship Id="rId4" Type="http://schemas.openxmlformats.org/officeDocument/2006/relationships/image" Target="../media/image53.png"/><Relationship Id="rId9" Type="http://schemas.openxmlformats.org/officeDocument/2006/relationships/image" Target="../media/image54.png"/></Relationships>
</file>

<file path=ppt/slides/_rels/slide4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34.png"/><Relationship Id="rId7" Type="http://schemas.openxmlformats.org/officeDocument/2006/relationships/image" Target="../media/image87.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98.png"/><Relationship Id="rId5" Type="http://schemas.openxmlformats.org/officeDocument/2006/relationships/image" Target="../media/image30.svg"/><Relationship Id="rId10" Type="http://schemas.openxmlformats.org/officeDocument/2006/relationships/image" Target="../media/image82.png"/><Relationship Id="rId4" Type="http://schemas.openxmlformats.org/officeDocument/2006/relationships/image" Target="../media/image53.png"/><Relationship Id="rId9" Type="http://schemas.openxmlformats.org/officeDocument/2006/relationships/image" Target="../media/image67.png"/></Relationships>
</file>

<file path=ppt/slides/_rels/slide46.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2.png"/><Relationship Id="rId7" Type="http://schemas.openxmlformats.org/officeDocument/2006/relationships/image" Target="../media/image10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94.png"/><Relationship Id="rId5" Type="http://schemas.openxmlformats.org/officeDocument/2006/relationships/image" Target="../media/image30.svg"/><Relationship Id="rId10" Type="http://schemas.openxmlformats.org/officeDocument/2006/relationships/image" Target="../media/image103.png"/><Relationship Id="rId4" Type="http://schemas.openxmlformats.org/officeDocument/2006/relationships/image" Target="../media/image980.png"/><Relationship Id="rId9" Type="http://schemas.openxmlformats.org/officeDocument/2006/relationships/image" Target="../media/image102.png"/></Relationships>
</file>

<file path=ppt/slides/_rels/slide47.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2.png"/><Relationship Id="rId7" Type="http://schemas.openxmlformats.org/officeDocument/2006/relationships/image" Target="../media/image104.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94.png"/><Relationship Id="rId5" Type="http://schemas.openxmlformats.org/officeDocument/2006/relationships/image" Target="../media/image30.svg"/><Relationship Id="rId10" Type="http://schemas.openxmlformats.org/officeDocument/2006/relationships/image" Target="../media/image103.png"/><Relationship Id="rId4" Type="http://schemas.openxmlformats.org/officeDocument/2006/relationships/image" Target="../media/image980.png"/><Relationship Id="rId9" Type="http://schemas.openxmlformats.org/officeDocument/2006/relationships/image" Target="../media/image105.png"/></Relationships>
</file>

<file path=ppt/slides/_rels/slide48.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31.sv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notesSlide" Target="../notesSlides/notesSlide48.xml"/><Relationship Id="rId16"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6.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7.png"/><Relationship Id="rId9" Type="http://schemas.openxmlformats.org/officeDocument/2006/relationships/image" Target="../media/image111.png"/><Relationship Id="rId14" Type="http://schemas.openxmlformats.org/officeDocument/2006/relationships/image" Target="../media/image116.png"/></Relationships>
</file>

<file path=ppt/slides/_rels/slide49.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31.sv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notesSlide" Target="../notesSlides/notesSlide49.xml"/><Relationship Id="rId16"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6.png"/><Relationship Id="rId15" Type="http://schemas.openxmlformats.org/officeDocument/2006/relationships/image" Target="../media/image119.png"/><Relationship Id="rId10" Type="http://schemas.openxmlformats.org/officeDocument/2006/relationships/image" Target="../media/image112.png"/><Relationship Id="rId4" Type="http://schemas.openxmlformats.org/officeDocument/2006/relationships/image" Target="../media/image107.png"/><Relationship Id="rId9" Type="http://schemas.openxmlformats.org/officeDocument/2006/relationships/image" Target="../media/image111.png"/><Relationship Id="rId14" Type="http://schemas.openxmlformats.org/officeDocument/2006/relationships/image" Target="../media/image116.png"/></Relationships>
</file>

<file path=ppt/slides/_rels/slide50.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73.png"/><Relationship Id="rId7"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121.png"/><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52.xml.rels><?xml version="1.0" encoding="UTF-8" standalone="yes"?>
<Relationships xmlns="http://schemas.openxmlformats.org/package/2006/relationships"><Relationship Id="rId3" Type="http://schemas.openxmlformats.org/officeDocument/2006/relationships/hyperlink" Target="https://arxiv.org/pdf/2604.07328"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7125D-D3B7-9494-D229-4A8671FEBA0A}"/>
              </a:ext>
            </a:extLst>
          </p:cNvPr>
          <p:cNvSpPr>
            <a:spLocks noGrp="1"/>
          </p:cNvSpPr>
          <p:nvPr>
            <p:ph type="ctrTitle"/>
          </p:nvPr>
        </p:nvSpPr>
        <p:spPr>
          <a:xfrm>
            <a:off x="1355888" y="1131790"/>
            <a:ext cx="9480223" cy="2387600"/>
          </a:xfrm>
        </p:spPr>
        <p:txBody>
          <a:bodyPr>
            <a:normAutofit/>
          </a:bodyPr>
          <a:lstStyle/>
          <a:p>
            <a:r>
              <a:rPr lang="en-US" sz="4800" dirty="0"/>
              <a:t>How to sketch a learning algorithm</a:t>
            </a:r>
          </a:p>
        </p:txBody>
      </p:sp>
      <p:sp>
        <p:nvSpPr>
          <p:cNvPr id="3" name="Subtitle 2">
            <a:extLst>
              <a:ext uri="{FF2B5EF4-FFF2-40B4-BE49-F238E27FC236}">
                <a16:creationId xmlns:a16="http://schemas.microsoft.com/office/drawing/2014/main" id="{D03794A2-3D5B-3B3D-902E-113151695F10}"/>
              </a:ext>
            </a:extLst>
          </p:cNvPr>
          <p:cNvSpPr>
            <a:spLocks noGrp="1"/>
          </p:cNvSpPr>
          <p:nvPr>
            <p:ph type="subTitle" idx="1"/>
          </p:nvPr>
        </p:nvSpPr>
        <p:spPr>
          <a:xfrm>
            <a:off x="1524000" y="3752603"/>
            <a:ext cx="9144000" cy="570015"/>
          </a:xfrm>
        </p:spPr>
        <p:txBody>
          <a:bodyPr>
            <a:noAutofit/>
          </a:bodyPr>
          <a:lstStyle/>
          <a:p>
            <a:r>
              <a:rPr lang="en-US" sz="3600" dirty="0"/>
              <a:t>Sam Gunn</a:t>
            </a:r>
          </a:p>
        </p:txBody>
      </p:sp>
      <p:pic>
        <p:nvPicPr>
          <p:cNvPr id="5" name="Picture 4">
            <a:extLst>
              <a:ext uri="{FF2B5EF4-FFF2-40B4-BE49-F238E27FC236}">
                <a16:creationId xmlns:a16="http://schemas.microsoft.com/office/drawing/2014/main" id="{4EBCE9D3-753E-FE3A-32A4-1BC4DF693937}"/>
              </a:ext>
            </a:extLst>
          </p:cNvPr>
          <p:cNvPicPr>
            <a:picLocks noChangeAspect="1"/>
          </p:cNvPicPr>
          <p:nvPr/>
        </p:nvPicPr>
        <p:blipFill>
          <a:blip r:embed="rId3"/>
          <a:stretch>
            <a:fillRect/>
          </a:stretch>
        </p:blipFill>
        <p:spPr>
          <a:xfrm>
            <a:off x="9388312" y="3912816"/>
            <a:ext cx="2272645" cy="2272645"/>
          </a:xfrm>
          <a:prstGeom prst="rect">
            <a:avLst/>
          </a:prstGeom>
        </p:spPr>
      </p:pic>
      <p:sp>
        <p:nvSpPr>
          <p:cNvPr id="7" name="TextBox 6">
            <a:extLst>
              <a:ext uri="{FF2B5EF4-FFF2-40B4-BE49-F238E27FC236}">
                <a16:creationId xmlns:a16="http://schemas.microsoft.com/office/drawing/2014/main" id="{2F4FA750-47AF-6D4A-681F-AD50B3136204}"/>
              </a:ext>
            </a:extLst>
          </p:cNvPr>
          <p:cNvSpPr txBox="1"/>
          <p:nvPr/>
        </p:nvSpPr>
        <p:spPr>
          <a:xfrm>
            <a:off x="9059703" y="6038291"/>
            <a:ext cx="2934838" cy="523220"/>
          </a:xfrm>
          <a:prstGeom prst="rect">
            <a:avLst/>
          </a:prstGeom>
          <a:noFill/>
        </p:spPr>
        <p:txBody>
          <a:bodyPr wrap="square">
            <a:spAutoFit/>
          </a:bodyPr>
          <a:lstStyle/>
          <a:p>
            <a:r>
              <a:rPr lang="en-US" sz="2800" dirty="0"/>
              <a:t>arXiv: </a:t>
            </a:r>
            <a:r>
              <a:rPr lang="en-US" sz="2800" dirty="0">
                <a:hlinkClick r:id="rId4"/>
              </a:rPr>
              <a:t>2604.07328</a:t>
            </a:r>
            <a:endParaRPr lang="en-US" sz="2800" dirty="0"/>
          </a:p>
        </p:txBody>
      </p:sp>
    </p:spTree>
    <p:extLst>
      <p:ext uri="{BB962C8B-B14F-4D97-AF65-F5344CB8AC3E}">
        <p14:creationId xmlns:p14="http://schemas.microsoft.com/office/powerpoint/2010/main" val="2146872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DAFFD-4BB5-2450-0D35-BE5BA130B8A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8D57017-3ED2-7B90-AD19-EB8FF4FEE373}"/>
              </a:ext>
            </a:extLst>
          </p:cNvPr>
          <p:cNvSpPr>
            <a:spLocks noGrp="1"/>
          </p:cNvSpPr>
          <p:nvPr>
            <p:ph type="title"/>
          </p:nvPr>
        </p:nvSpPr>
        <p:spPr>
          <a:xfrm>
            <a:off x="838200" y="365125"/>
            <a:ext cx="5149906" cy="1325563"/>
          </a:xfrm>
        </p:spPr>
        <p:txBody>
          <a:bodyPr/>
          <a:lstStyle/>
          <a:p>
            <a:r>
              <a:rPr lang="en-US" dirty="0"/>
              <a:t>The AI workflow</a:t>
            </a:r>
          </a:p>
        </p:txBody>
      </p:sp>
      <p:sp>
        <p:nvSpPr>
          <p:cNvPr id="14" name="Right Arrow 13">
            <a:extLst>
              <a:ext uri="{FF2B5EF4-FFF2-40B4-BE49-F238E27FC236}">
                <a16:creationId xmlns:a16="http://schemas.microsoft.com/office/drawing/2014/main" id="{F9020B2B-ACD2-96F6-5E28-4F5F907F8A28}"/>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Robot with solid fill">
            <a:extLst>
              <a:ext uri="{FF2B5EF4-FFF2-40B4-BE49-F238E27FC236}">
                <a16:creationId xmlns:a16="http://schemas.microsoft.com/office/drawing/2014/main" id="{117766AF-45EF-6AFF-A6B4-BF2E80E4D1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16" name="Right Arrow 15">
            <a:extLst>
              <a:ext uri="{FF2B5EF4-FFF2-40B4-BE49-F238E27FC236}">
                <a16:creationId xmlns:a16="http://schemas.microsoft.com/office/drawing/2014/main" id="{17F95328-4F64-7DD2-616E-BD4EB6923335}"/>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22167D5-B160-A4F6-E2D7-4675D9CF094F}"/>
              </a:ext>
            </a:extLst>
          </p:cNvPr>
          <p:cNvSpPr txBox="1"/>
          <p:nvPr/>
        </p:nvSpPr>
        <p:spPr>
          <a:xfrm>
            <a:off x="8198854" y="4201125"/>
            <a:ext cx="3001469" cy="461665"/>
          </a:xfrm>
          <a:prstGeom prst="rect">
            <a:avLst/>
          </a:prstGeom>
          <a:noFill/>
        </p:spPr>
        <p:txBody>
          <a:bodyPr wrap="square" rtlCol="0">
            <a:spAutoFit/>
          </a:bodyPr>
          <a:lstStyle/>
          <a:p>
            <a:r>
              <a:rPr lang="en-US" sz="2400" dirty="0"/>
              <a:t>“Paint a portrait.”</a:t>
            </a:r>
          </a:p>
        </p:txBody>
      </p:sp>
      <p:grpSp>
        <p:nvGrpSpPr>
          <p:cNvPr id="30" name="Group 29">
            <a:extLst>
              <a:ext uri="{FF2B5EF4-FFF2-40B4-BE49-F238E27FC236}">
                <a16:creationId xmlns:a16="http://schemas.microsoft.com/office/drawing/2014/main" id="{C6FAFB7D-C8CE-8262-0133-33628D5ECE14}"/>
              </a:ext>
            </a:extLst>
          </p:cNvPr>
          <p:cNvGrpSpPr/>
          <p:nvPr/>
        </p:nvGrpSpPr>
        <p:grpSpPr>
          <a:xfrm>
            <a:off x="6468406" y="932962"/>
            <a:ext cx="2810755" cy="524405"/>
            <a:chOff x="6468406" y="932962"/>
            <a:chExt cx="2810755" cy="524405"/>
          </a:xfrm>
        </p:grpSpPr>
        <p:pic>
          <p:nvPicPr>
            <p:cNvPr id="25" name="Picture 24" descr="10 most famous paintings: Masterpieces we all know and love | CNN">
              <a:extLst>
                <a:ext uri="{FF2B5EF4-FFF2-40B4-BE49-F238E27FC236}">
                  <a16:creationId xmlns:a16="http://schemas.microsoft.com/office/drawing/2014/main" id="{8CBDEC64-D4D2-FD2A-D110-F30ECA738743}"/>
                </a:ext>
              </a:extLst>
            </p:cNvPr>
            <p:cNvPicPr>
              <a:picLocks noChangeAspect="1"/>
            </p:cNvPicPr>
            <p:nvPr/>
          </p:nvPicPr>
          <p:blipFill>
            <a:blip r:embed="rId4"/>
            <a:stretch>
              <a:fillRect/>
            </a:stretch>
          </p:blipFill>
          <p:spPr>
            <a:xfrm>
              <a:off x="6468406" y="932962"/>
              <a:ext cx="351006" cy="522694"/>
            </a:xfrm>
            <a:prstGeom prst="rect">
              <a:avLst/>
            </a:prstGeom>
          </p:spPr>
        </p:pic>
        <p:pic>
          <p:nvPicPr>
            <p:cNvPr id="26" name="Picture 25"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242A3C29-44FC-3529-823F-F5BC87380C9C}"/>
                </a:ext>
              </a:extLst>
            </p:cNvPr>
            <p:cNvPicPr>
              <a:picLocks noChangeAspect="1"/>
            </p:cNvPicPr>
            <p:nvPr/>
          </p:nvPicPr>
          <p:blipFill>
            <a:blip r:embed="rId5"/>
            <a:srcRect l="10463"/>
            <a:stretch>
              <a:fillRect/>
            </a:stretch>
          </p:blipFill>
          <p:spPr>
            <a:xfrm>
              <a:off x="7698281" y="932962"/>
              <a:ext cx="351006" cy="522694"/>
            </a:xfrm>
            <a:prstGeom prst="rect">
              <a:avLst/>
            </a:prstGeom>
          </p:spPr>
        </p:pic>
        <p:pic>
          <p:nvPicPr>
            <p:cNvPr id="27" name="Picture 26" descr="Amazon.com: INVIN ART Framed Canvas ...">
              <a:extLst>
                <a:ext uri="{FF2B5EF4-FFF2-40B4-BE49-F238E27FC236}">
                  <a16:creationId xmlns:a16="http://schemas.microsoft.com/office/drawing/2014/main" id="{937C04B4-6ADC-0977-C8F1-F618F585EDC9}"/>
                </a:ext>
              </a:extLst>
            </p:cNvPr>
            <p:cNvPicPr>
              <a:picLocks noChangeAspect="1"/>
            </p:cNvPicPr>
            <p:nvPr/>
          </p:nvPicPr>
          <p:blipFill>
            <a:blip r:embed="rId6"/>
            <a:srcRect l="12290"/>
            <a:stretch>
              <a:fillRect/>
            </a:stretch>
          </p:blipFill>
          <p:spPr>
            <a:xfrm>
              <a:off x="7083343" y="932962"/>
              <a:ext cx="351007" cy="522694"/>
            </a:xfrm>
            <a:prstGeom prst="rect">
              <a:avLst/>
            </a:prstGeom>
          </p:spPr>
        </p:pic>
        <p:pic>
          <p:nvPicPr>
            <p:cNvPr id="28" name="Picture 27" descr="Jackson Pollock, Manner of: Drip Painting for sale at auction on 15th March  | Bidsquare">
              <a:extLst>
                <a:ext uri="{FF2B5EF4-FFF2-40B4-BE49-F238E27FC236}">
                  <a16:creationId xmlns:a16="http://schemas.microsoft.com/office/drawing/2014/main" id="{1F03E520-E625-7D48-0A9B-FEA08B0EA345}"/>
                </a:ext>
              </a:extLst>
            </p:cNvPr>
            <p:cNvPicPr>
              <a:picLocks noChangeAspect="1"/>
            </p:cNvPicPr>
            <p:nvPr/>
          </p:nvPicPr>
          <p:blipFill>
            <a:blip r:embed="rId7"/>
            <a:srcRect r="18039"/>
            <a:stretch>
              <a:fillRect/>
            </a:stretch>
          </p:blipFill>
          <p:spPr>
            <a:xfrm>
              <a:off x="8928155" y="932962"/>
              <a:ext cx="351006" cy="524405"/>
            </a:xfrm>
            <a:prstGeom prst="rect">
              <a:avLst/>
            </a:prstGeom>
          </p:spPr>
        </p:pic>
        <p:pic>
          <p:nvPicPr>
            <p:cNvPr id="29" name="Picture 28" descr="Girl with a Pearl Earring - Wikipedia">
              <a:extLst>
                <a:ext uri="{FF2B5EF4-FFF2-40B4-BE49-F238E27FC236}">
                  <a16:creationId xmlns:a16="http://schemas.microsoft.com/office/drawing/2014/main" id="{E88D95BA-F709-EEDA-97C3-B09876C336E9}"/>
                </a:ext>
              </a:extLst>
            </p:cNvPr>
            <p:cNvPicPr>
              <a:picLocks noChangeAspect="1"/>
            </p:cNvPicPr>
            <p:nvPr/>
          </p:nvPicPr>
          <p:blipFill>
            <a:blip r:embed="rId8"/>
            <a:srcRect l="20362"/>
            <a:stretch>
              <a:fillRect/>
            </a:stretch>
          </p:blipFill>
          <p:spPr>
            <a:xfrm>
              <a:off x="8313218" y="934765"/>
              <a:ext cx="351006" cy="520891"/>
            </a:xfrm>
            <a:prstGeom prst="rect">
              <a:avLst/>
            </a:prstGeom>
          </p:spPr>
        </p:pic>
      </p:grpSp>
      <p:grpSp>
        <p:nvGrpSpPr>
          <p:cNvPr id="34" name="Group 33">
            <a:extLst>
              <a:ext uri="{FF2B5EF4-FFF2-40B4-BE49-F238E27FC236}">
                <a16:creationId xmlns:a16="http://schemas.microsoft.com/office/drawing/2014/main" id="{6E1F53B1-1502-2787-884F-8BF024813526}"/>
              </a:ext>
            </a:extLst>
          </p:cNvPr>
          <p:cNvGrpSpPr/>
          <p:nvPr/>
        </p:nvGrpSpPr>
        <p:grpSpPr>
          <a:xfrm>
            <a:off x="6337979" y="127644"/>
            <a:ext cx="3001468" cy="805318"/>
            <a:chOff x="6337979" y="127644"/>
            <a:chExt cx="3001468" cy="805318"/>
          </a:xfrm>
        </p:grpSpPr>
        <p:sp>
          <p:nvSpPr>
            <p:cNvPr id="31" name="TextBox 30">
              <a:extLst>
                <a:ext uri="{FF2B5EF4-FFF2-40B4-BE49-F238E27FC236}">
                  <a16:creationId xmlns:a16="http://schemas.microsoft.com/office/drawing/2014/main" id="{D5CBB1AF-A6A8-5101-28AA-D322DB5780DA}"/>
                </a:ext>
              </a:extLst>
            </p:cNvPr>
            <p:cNvSpPr txBox="1"/>
            <p:nvPr/>
          </p:nvSpPr>
          <p:spPr>
            <a:xfrm>
              <a:off x="7074557" y="127644"/>
              <a:ext cx="1784525" cy="646331"/>
            </a:xfrm>
            <a:prstGeom prst="rect">
              <a:avLst/>
            </a:prstGeom>
            <a:noFill/>
          </p:spPr>
          <p:txBody>
            <a:bodyPr wrap="square" rtlCol="0">
              <a:spAutoFit/>
            </a:bodyPr>
            <a:lstStyle/>
            <a:p>
              <a:pPr algn="ctr"/>
              <a:r>
                <a:rPr lang="en-US" sz="3600" dirty="0">
                  <a:latin typeface="Garamond" panose="02020404030301010803" pitchFamily="18" charset="0"/>
                </a:rPr>
                <a:t>Dataset</a:t>
              </a:r>
            </a:p>
          </p:txBody>
        </p:sp>
        <p:sp>
          <p:nvSpPr>
            <p:cNvPr id="33" name="Left Brace 32">
              <a:extLst>
                <a:ext uri="{FF2B5EF4-FFF2-40B4-BE49-F238E27FC236}">
                  <a16:creationId xmlns:a16="http://schemas.microsoft.com/office/drawing/2014/main" id="{A4508D45-413C-87C2-9C62-3685F5CEB817}"/>
                </a:ext>
              </a:extLst>
            </p:cNvPr>
            <p:cNvSpPr/>
            <p:nvPr/>
          </p:nvSpPr>
          <p:spPr>
            <a:xfrm rot="5400000">
              <a:off x="7705412" y="-701072"/>
              <a:ext cx="266601" cy="3001468"/>
            </a:xfrm>
            <a:prstGeom prst="leftBrace">
              <a:avLst>
                <a:gd name="adj1" fmla="val 160677"/>
                <a:gd name="adj2" fmla="val 48926"/>
              </a:avLst>
            </a:prstGeom>
            <a:noFill/>
            <a:ln>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p:sp>
        <p:nvSpPr>
          <p:cNvPr id="5" name="TextBox 4">
            <a:extLst>
              <a:ext uri="{FF2B5EF4-FFF2-40B4-BE49-F238E27FC236}">
                <a16:creationId xmlns:a16="http://schemas.microsoft.com/office/drawing/2014/main" id="{28DCC9A0-76A8-8402-E1C0-F02624E48DA8}"/>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6" name="TextBox 5">
            <a:extLst>
              <a:ext uri="{FF2B5EF4-FFF2-40B4-BE49-F238E27FC236}">
                <a16:creationId xmlns:a16="http://schemas.microsoft.com/office/drawing/2014/main" id="{89DD979E-BCEE-FAE4-CBCF-63E01A0ADC4F}"/>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pic>
        <p:nvPicPr>
          <p:cNvPr id="2" name="Picture 1">
            <a:extLst>
              <a:ext uri="{FF2B5EF4-FFF2-40B4-BE49-F238E27FC236}">
                <a16:creationId xmlns:a16="http://schemas.microsoft.com/office/drawing/2014/main" id="{5E3F0212-6C22-C67C-D639-C24A772459A6}"/>
              </a:ext>
            </a:extLst>
          </p:cNvPr>
          <p:cNvPicPr>
            <a:picLocks noChangeAspect="1"/>
          </p:cNvPicPr>
          <p:nvPr/>
        </p:nvPicPr>
        <p:blipFill>
          <a:blip r:embed="rId9"/>
          <a:stretch>
            <a:fillRect/>
          </a:stretch>
        </p:blipFill>
        <p:spPr>
          <a:xfrm>
            <a:off x="7564878" y="5291468"/>
            <a:ext cx="572476" cy="770240"/>
          </a:xfrm>
          <a:prstGeom prst="rect">
            <a:avLst/>
          </a:prstGeom>
        </p:spPr>
      </p:pic>
    </p:spTree>
    <p:extLst>
      <p:ext uri="{BB962C8B-B14F-4D97-AF65-F5344CB8AC3E}">
        <p14:creationId xmlns:p14="http://schemas.microsoft.com/office/powerpoint/2010/main" val="100036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9"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D27B3-682A-0D85-A0FE-04C939D66A2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4DF4EED-C976-EBF5-6368-EE3C897C19E2}"/>
              </a:ext>
            </a:extLst>
          </p:cNvPr>
          <p:cNvSpPr>
            <a:spLocks noGrp="1"/>
          </p:cNvSpPr>
          <p:nvPr>
            <p:ph type="title"/>
          </p:nvPr>
        </p:nvSpPr>
        <p:spPr>
          <a:xfrm>
            <a:off x="838200" y="365125"/>
            <a:ext cx="5149906" cy="1325563"/>
          </a:xfrm>
        </p:spPr>
        <p:txBody>
          <a:bodyPr/>
          <a:lstStyle/>
          <a:p>
            <a:r>
              <a:rPr lang="en-US" dirty="0"/>
              <a:t>The AI workflow</a:t>
            </a:r>
          </a:p>
        </p:txBody>
      </p:sp>
      <p:sp>
        <p:nvSpPr>
          <p:cNvPr id="14" name="Right Arrow 13">
            <a:extLst>
              <a:ext uri="{FF2B5EF4-FFF2-40B4-BE49-F238E27FC236}">
                <a16:creationId xmlns:a16="http://schemas.microsoft.com/office/drawing/2014/main" id="{DD828965-686D-3609-B95A-90010149E9AC}"/>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Robot with solid fill">
            <a:extLst>
              <a:ext uri="{FF2B5EF4-FFF2-40B4-BE49-F238E27FC236}">
                <a16:creationId xmlns:a16="http://schemas.microsoft.com/office/drawing/2014/main" id="{EFD33A19-D6D0-8807-D67A-05F10F5819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16" name="Right Arrow 15">
            <a:extLst>
              <a:ext uri="{FF2B5EF4-FFF2-40B4-BE49-F238E27FC236}">
                <a16:creationId xmlns:a16="http://schemas.microsoft.com/office/drawing/2014/main" id="{5799022E-E15C-D304-D953-C6C1793C57FF}"/>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A384C09-0716-930F-A81B-3576DF88EF9C}"/>
              </a:ext>
            </a:extLst>
          </p:cNvPr>
          <p:cNvSpPr txBox="1"/>
          <p:nvPr/>
        </p:nvSpPr>
        <p:spPr>
          <a:xfrm>
            <a:off x="8198854" y="4201125"/>
            <a:ext cx="2883275" cy="461665"/>
          </a:xfrm>
          <a:prstGeom prst="rect">
            <a:avLst/>
          </a:prstGeom>
          <a:noFill/>
        </p:spPr>
        <p:txBody>
          <a:bodyPr wrap="square" rtlCol="0">
            <a:spAutoFit/>
          </a:bodyPr>
          <a:lstStyle/>
          <a:p>
            <a:r>
              <a:rPr lang="en-US" sz="2400" dirty="0"/>
              <a:t>“Paint a starry night”</a:t>
            </a:r>
          </a:p>
        </p:txBody>
      </p:sp>
      <p:grpSp>
        <p:nvGrpSpPr>
          <p:cNvPr id="30" name="Group 29">
            <a:extLst>
              <a:ext uri="{FF2B5EF4-FFF2-40B4-BE49-F238E27FC236}">
                <a16:creationId xmlns:a16="http://schemas.microsoft.com/office/drawing/2014/main" id="{FC3E6F13-97D8-2107-214E-5444722BE10B}"/>
              </a:ext>
            </a:extLst>
          </p:cNvPr>
          <p:cNvGrpSpPr/>
          <p:nvPr/>
        </p:nvGrpSpPr>
        <p:grpSpPr>
          <a:xfrm>
            <a:off x="6468406" y="932962"/>
            <a:ext cx="2810755" cy="524405"/>
            <a:chOff x="6468406" y="932962"/>
            <a:chExt cx="2810755" cy="524405"/>
          </a:xfrm>
        </p:grpSpPr>
        <p:pic>
          <p:nvPicPr>
            <p:cNvPr id="25" name="Picture 24" descr="10 most famous paintings: Masterpieces we all know and love | CNN">
              <a:extLst>
                <a:ext uri="{FF2B5EF4-FFF2-40B4-BE49-F238E27FC236}">
                  <a16:creationId xmlns:a16="http://schemas.microsoft.com/office/drawing/2014/main" id="{B82CC5FA-8284-3F2E-2980-C33BE04608E4}"/>
                </a:ext>
              </a:extLst>
            </p:cNvPr>
            <p:cNvPicPr>
              <a:picLocks noChangeAspect="1"/>
            </p:cNvPicPr>
            <p:nvPr/>
          </p:nvPicPr>
          <p:blipFill>
            <a:blip r:embed="rId4"/>
            <a:stretch>
              <a:fillRect/>
            </a:stretch>
          </p:blipFill>
          <p:spPr>
            <a:xfrm>
              <a:off x="6468406" y="932962"/>
              <a:ext cx="351006" cy="522694"/>
            </a:xfrm>
            <a:prstGeom prst="rect">
              <a:avLst/>
            </a:prstGeom>
          </p:spPr>
        </p:pic>
        <p:pic>
          <p:nvPicPr>
            <p:cNvPr id="26" name="Picture 25"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4C69EA3F-3542-8035-684A-A69427354264}"/>
                </a:ext>
              </a:extLst>
            </p:cNvPr>
            <p:cNvPicPr>
              <a:picLocks noChangeAspect="1"/>
            </p:cNvPicPr>
            <p:nvPr/>
          </p:nvPicPr>
          <p:blipFill>
            <a:blip r:embed="rId5"/>
            <a:srcRect l="10463"/>
            <a:stretch>
              <a:fillRect/>
            </a:stretch>
          </p:blipFill>
          <p:spPr>
            <a:xfrm>
              <a:off x="7698281" y="932962"/>
              <a:ext cx="351006" cy="522694"/>
            </a:xfrm>
            <a:prstGeom prst="rect">
              <a:avLst/>
            </a:prstGeom>
          </p:spPr>
        </p:pic>
        <p:pic>
          <p:nvPicPr>
            <p:cNvPr id="27" name="Picture 26" descr="Amazon.com: INVIN ART Framed Canvas ...">
              <a:extLst>
                <a:ext uri="{FF2B5EF4-FFF2-40B4-BE49-F238E27FC236}">
                  <a16:creationId xmlns:a16="http://schemas.microsoft.com/office/drawing/2014/main" id="{56E141EF-7009-DAD3-594A-9430557BFC99}"/>
                </a:ext>
              </a:extLst>
            </p:cNvPr>
            <p:cNvPicPr>
              <a:picLocks noChangeAspect="1"/>
            </p:cNvPicPr>
            <p:nvPr/>
          </p:nvPicPr>
          <p:blipFill>
            <a:blip r:embed="rId6"/>
            <a:srcRect l="12290"/>
            <a:stretch>
              <a:fillRect/>
            </a:stretch>
          </p:blipFill>
          <p:spPr>
            <a:xfrm>
              <a:off x="7083343" y="932962"/>
              <a:ext cx="351007" cy="522694"/>
            </a:xfrm>
            <a:prstGeom prst="rect">
              <a:avLst/>
            </a:prstGeom>
          </p:spPr>
        </p:pic>
        <p:pic>
          <p:nvPicPr>
            <p:cNvPr id="28" name="Picture 27" descr="Jackson Pollock, Manner of: Drip Painting for sale at auction on 15th March  | Bidsquare">
              <a:extLst>
                <a:ext uri="{FF2B5EF4-FFF2-40B4-BE49-F238E27FC236}">
                  <a16:creationId xmlns:a16="http://schemas.microsoft.com/office/drawing/2014/main" id="{E8065387-C933-E058-0E57-6EEEEF5F8294}"/>
                </a:ext>
              </a:extLst>
            </p:cNvPr>
            <p:cNvPicPr>
              <a:picLocks noChangeAspect="1"/>
            </p:cNvPicPr>
            <p:nvPr/>
          </p:nvPicPr>
          <p:blipFill>
            <a:blip r:embed="rId7"/>
            <a:srcRect r="18039"/>
            <a:stretch>
              <a:fillRect/>
            </a:stretch>
          </p:blipFill>
          <p:spPr>
            <a:xfrm>
              <a:off x="8928155" y="932962"/>
              <a:ext cx="351006" cy="524405"/>
            </a:xfrm>
            <a:prstGeom prst="rect">
              <a:avLst/>
            </a:prstGeom>
          </p:spPr>
        </p:pic>
        <p:pic>
          <p:nvPicPr>
            <p:cNvPr id="29" name="Picture 28" descr="Girl with a Pearl Earring - Wikipedia">
              <a:extLst>
                <a:ext uri="{FF2B5EF4-FFF2-40B4-BE49-F238E27FC236}">
                  <a16:creationId xmlns:a16="http://schemas.microsoft.com/office/drawing/2014/main" id="{2AC16826-D5B2-EAD2-60A2-AF429EB500F1}"/>
                </a:ext>
              </a:extLst>
            </p:cNvPr>
            <p:cNvPicPr>
              <a:picLocks noChangeAspect="1"/>
            </p:cNvPicPr>
            <p:nvPr/>
          </p:nvPicPr>
          <p:blipFill>
            <a:blip r:embed="rId8"/>
            <a:srcRect l="20362"/>
            <a:stretch>
              <a:fillRect/>
            </a:stretch>
          </p:blipFill>
          <p:spPr>
            <a:xfrm>
              <a:off x="8313218" y="934765"/>
              <a:ext cx="351006" cy="520891"/>
            </a:xfrm>
            <a:prstGeom prst="rect">
              <a:avLst/>
            </a:prstGeom>
          </p:spPr>
        </p:pic>
      </p:grpSp>
      <p:pic>
        <p:nvPicPr>
          <p:cNvPr id="2" name="Picture 1" descr="Vincent van Gogh | Paintings, Starry Night, Sunflowers, Self-Portrait,  Artwork, Ear, Death, Museum, Biography, &amp; Facts | Britannica">
            <a:extLst>
              <a:ext uri="{FF2B5EF4-FFF2-40B4-BE49-F238E27FC236}">
                <a16:creationId xmlns:a16="http://schemas.microsoft.com/office/drawing/2014/main" id="{4B6494BB-DC41-F7F5-EC4C-3CD37907252B}"/>
              </a:ext>
            </a:extLst>
          </p:cNvPr>
          <p:cNvPicPr>
            <a:picLocks noChangeAspect="1"/>
          </p:cNvPicPr>
          <p:nvPr/>
        </p:nvPicPr>
        <p:blipFill>
          <a:blip r:embed="rId9"/>
          <a:stretch>
            <a:fillRect/>
          </a:stretch>
        </p:blipFill>
        <p:spPr>
          <a:xfrm>
            <a:off x="7371397" y="5338320"/>
            <a:ext cx="959438" cy="757956"/>
          </a:xfrm>
          <a:prstGeom prst="rect">
            <a:avLst/>
          </a:prstGeom>
        </p:spPr>
      </p:pic>
      <p:sp>
        <p:nvSpPr>
          <p:cNvPr id="8" name="TextBox 7">
            <a:extLst>
              <a:ext uri="{FF2B5EF4-FFF2-40B4-BE49-F238E27FC236}">
                <a16:creationId xmlns:a16="http://schemas.microsoft.com/office/drawing/2014/main" id="{A67D4C64-D88B-388F-AA34-27E1AAC2153D}"/>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9" name="TextBox 8">
            <a:extLst>
              <a:ext uri="{FF2B5EF4-FFF2-40B4-BE49-F238E27FC236}">
                <a16:creationId xmlns:a16="http://schemas.microsoft.com/office/drawing/2014/main" id="{3753D7CE-0873-6AF8-2666-8790BB46BCB1}"/>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spTree>
    <p:extLst>
      <p:ext uri="{BB962C8B-B14F-4D97-AF65-F5344CB8AC3E}">
        <p14:creationId xmlns:p14="http://schemas.microsoft.com/office/powerpoint/2010/main" val="2362621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BB46F-2979-D725-1CEB-58C04927856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382C13D-0984-27B7-0898-46DDA3789B39}"/>
              </a:ext>
            </a:extLst>
          </p:cNvPr>
          <p:cNvSpPr>
            <a:spLocks noGrp="1"/>
          </p:cNvSpPr>
          <p:nvPr>
            <p:ph type="title"/>
          </p:nvPr>
        </p:nvSpPr>
        <p:spPr>
          <a:xfrm>
            <a:off x="838200" y="365125"/>
            <a:ext cx="5149906" cy="1325563"/>
          </a:xfrm>
        </p:spPr>
        <p:txBody>
          <a:bodyPr/>
          <a:lstStyle/>
          <a:p>
            <a:r>
              <a:rPr lang="en-US" dirty="0"/>
              <a:t>The AI workflow</a:t>
            </a:r>
          </a:p>
        </p:txBody>
      </p:sp>
      <p:sp>
        <p:nvSpPr>
          <p:cNvPr id="14" name="Right Arrow 13">
            <a:extLst>
              <a:ext uri="{FF2B5EF4-FFF2-40B4-BE49-F238E27FC236}">
                <a16:creationId xmlns:a16="http://schemas.microsoft.com/office/drawing/2014/main" id="{42308E6D-716E-5082-2116-5B519C0A35CE}"/>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Robot with solid fill">
            <a:extLst>
              <a:ext uri="{FF2B5EF4-FFF2-40B4-BE49-F238E27FC236}">
                <a16:creationId xmlns:a16="http://schemas.microsoft.com/office/drawing/2014/main" id="{435CA36F-B017-7E9D-B9B5-99B7E0BD09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16" name="Right Arrow 15">
            <a:extLst>
              <a:ext uri="{FF2B5EF4-FFF2-40B4-BE49-F238E27FC236}">
                <a16:creationId xmlns:a16="http://schemas.microsoft.com/office/drawing/2014/main" id="{C1A9E343-65C1-14F2-6821-A72C728E3DF0}"/>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ORIGINAL abstract Jackson Pollock style medium contemporary street art  urban pop art drip painting by Chris Riggs">
            <a:extLst>
              <a:ext uri="{FF2B5EF4-FFF2-40B4-BE49-F238E27FC236}">
                <a16:creationId xmlns:a16="http://schemas.microsoft.com/office/drawing/2014/main" id="{1C0D5C91-E552-EAB3-DB50-17773C8FDBB5}"/>
              </a:ext>
            </a:extLst>
          </p:cNvPr>
          <p:cNvPicPr>
            <a:picLocks noChangeAspect="1"/>
          </p:cNvPicPr>
          <p:nvPr/>
        </p:nvPicPr>
        <p:blipFill>
          <a:blip r:embed="rId4"/>
          <a:stretch>
            <a:fillRect/>
          </a:stretch>
        </p:blipFill>
        <p:spPr>
          <a:xfrm>
            <a:off x="7382980" y="5272093"/>
            <a:ext cx="901373" cy="919546"/>
          </a:xfrm>
          <a:prstGeom prst="rect">
            <a:avLst/>
          </a:prstGeom>
        </p:spPr>
      </p:pic>
      <p:sp>
        <p:nvSpPr>
          <p:cNvPr id="19" name="TextBox 18">
            <a:extLst>
              <a:ext uri="{FF2B5EF4-FFF2-40B4-BE49-F238E27FC236}">
                <a16:creationId xmlns:a16="http://schemas.microsoft.com/office/drawing/2014/main" id="{E4D11C51-093F-2DBB-F100-6ECEF52E3E30}"/>
              </a:ext>
            </a:extLst>
          </p:cNvPr>
          <p:cNvSpPr txBox="1"/>
          <p:nvPr/>
        </p:nvSpPr>
        <p:spPr>
          <a:xfrm>
            <a:off x="8198854" y="4051837"/>
            <a:ext cx="2634797" cy="830997"/>
          </a:xfrm>
          <a:prstGeom prst="rect">
            <a:avLst/>
          </a:prstGeom>
          <a:noFill/>
        </p:spPr>
        <p:txBody>
          <a:bodyPr wrap="square" rtlCol="0">
            <a:spAutoFit/>
          </a:bodyPr>
          <a:lstStyle/>
          <a:p>
            <a:r>
              <a:rPr lang="en-US" sz="2400" dirty="0"/>
              <a:t>“Give me an abstract painting”</a:t>
            </a:r>
          </a:p>
        </p:txBody>
      </p:sp>
      <p:sp>
        <p:nvSpPr>
          <p:cNvPr id="23" name="TextBox 22">
            <a:extLst>
              <a:ext uri="{FF2B5EF4-FFF2-40B4-BE49-F238E27FC236}">
                <a16:creationId xmlns:a16="http://schemas.microsoft.com/office/drawing/2014/main" id="{F75E0157-8CAF-5BDA-838E-AFEDFF537948}"/>
              </a:ext>
            </a:extLst>
          </p:cNvPr>
          <p:cNvSpPr txBox="1"/>
          <p:nvPr/>
        </p:nvSpPr>
        <p:spPr>
          <a:xfrm>
            <a:off x="5784094" y="2290515"/>
            <a:ext cx="1467989" cy="646331"/>
          </a:xfrm>
          <a:prstGeom prst="rect">
            <a:avLst/>
          </a:prstGeom>
          <a:noFill/>
        </p:spPr>
        <p:txBody>
          <a:bodyPr wrap="square" rtlCol="0">
            <a:spAutoFit/>
          </a:bodyPr>
          <a:lstStyle/>
          <a:p>
            <a:pPr algn="r"/>
            <a:r>
              <a:rPr lang="en-US" sz="3600" dirty="0">
                <a:latin typeface="Garamond" panose="02020404030301010803" pitchFamily="18" charset="0"/>
              </a:rPr>
              <a:t>(slow)</a:t>
            </a:r>
          </a:p>
        </p:txBody>
      </p:sp>
      <p:sp>
        <p:nvSpPr>
          <p:cNvPr id="24" name="TextBox 23">
            <a:extLst>
              <a:ext uri="{FF2B5EF4-FFF2-40B4-BE49-F238E27FC236}">
                <a16:creationId xmlns:a16="http://schemas.microsoft.com/office/drawing/2014/main" id="{0651298B-B278-714A-1E25-E2D92643CCC6}"/>
              </a:ext>
            </a:extLst>
          </p:cNvPr>
          <p:cNvSpPr txBox="1"/>
          <p:nvPr/>
        </p:nvSpPr>
        <p:spPr>
          <a:xfrm>
            <a:off x="5784094" y="4467336"/>
            <a:ext cx="1467989" cy="646331"/>
          </a:xfrm>
          <a:prstGeom prst="rect">
            <a:avLst/>
          </a:prstGeom>
          <a:noFill/>
        </p:spPr>
        <p:txBody>
          <a:bodyPr wrap="square" rtlCol="0">
            <a:spAutoFit/>
          </a:bodyPr>
          <a:lstStyle/>
          <a:p>
            <a:pPr algn="r"/>
            <a:r>
              <a:rPr lang="en-US" sz="3600" dirty="0">
                <a:latin typeface="Garamond" panose="02020404030301010803" pitchFamily="18" charset="0"/>
              </a:rPr>
              <a:t>(fast)</a:t>
            </a:r>
          </a:p>
        </p:txBody>
      </p:sp>
      <p:grpSp>
        <p:nvGrpSpPr>
          <p:cNvPr id="30" name="Group 29">
            <a:extLst>
              <a:ext uri="{FF2B5EF4-FFF2-40B4-BE49-F238E27FC236}">
                <a16:creationId xmlns:a16="http://schemas.microsoft.com/office/drawing/2014/main" id="{81632AFF-ABC5-6272-42D1-4D8035934458}"/>
              </a:ext>
            </a:extLst>
          </p:cNvPr>
          <p:cNvGrpSpPr/>
          <p:nvPr/>
        </p:nvGrpSpPr>
        <p:grpSpPr>
          <a:xfrm>
            <a:off x="6468406" y="932962"/>
            <a:ext cx="2810755" cy="524405"/>
            <a:chOff x="6468406" y="932962"/>
            <a:chExt cx="2810755" cy="524405"/>
          </a:xfrm>
        </p:grpSpPr>
        <p:pic>
          <p:nvPicPr>
            <p:cNvPr id="25" name="Picture 24" descr="10 most famous paintings: Masterpieces we all know and love | CNN">
              <a:extLst>
                <a:ext uri="{FF2B5EF4-FFF2-40B4-BE49-F238E27FC236}">
                  <a16:creationId xmlns:a16="http://schemas.microsoft.com/office/drawing/2014/main" id="{52F80679-4FFD-AE66-C1D9-7FD3E0092269}"/>
                </a:ext>
              </a:extLst>
            </p:cNvPr>
            <p:cNvPicPr>
              <a:picLocks noChangeAspect="1"/>
            </p:cNvPicPr>
            <p:nvPr/>
          </p:nvPicPr>
          <p:blipFill>
            <a:blip r:embed="rId5"/>
            <a:stretch>
              <a:fillRect/>
            </a:stretch>
          </p:blipFill>
          <p:spPr>
            <a:xfrm>
              <a:off x="6468406" y="932962"/>
              <a:ext cx="351006" cy="522694"/>
            </a:xfrm>
            <a:prstGeom prst="rect">
              <a:avLst/>
            </a:prstGeom>
          </p:spPr>
        </p:pic>
        <p:pic>
          <p:nvPicPr>
            <p:cNvPr id="26" name="Picture 25"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3AEEAFE1-5C91-6170-0B99-F72634F37FD7}"/>
                </a:ext>
              </a:extLst>
            </p:cNvPr>
            <p:cNvPicPr>
              <a:picLocks noChangeAspect="1"/>
            </p:cNvPicPr>
            <p:nvPr/>
          </p:nvPicPr>
          <p:blipFill>
            <a:blip r:embed="rId6"/>
            <a:srcRect l="10463"/>
            <a:stretch>
              <a:fillRect/>
            </a:stretch>
          </p:blipFill>
          <p:spPr>
            <a:xfrm>
              <a:off x="7698281" y="932962"/>
              <a:ext cx="351006" cy="522694"/>
            </a:xfrm>
            <a:prstGeom prst="rect">
              <a:avLst/>
            </a:prstGeom>
          </p:spPr>
        </p:pic>
        <p:pic>
          <p:nvPicPr>
            <p:cNvPr id="27" name="Picture 26" descr="Amazon.com: INVIN ART Framed Canvas ...">
              <a:extLst>
                <a:ext uri="{FF2B5EF4-FFF2-40B4-BE49-F238E27FC236}">
                  <a16:creationId xmlns:a16="http://schemas.microsoft.com/office/drawing/2014/main" id="{B10F0B4A-FC1A-314C-D01D-4AF354FCA6C7}"/>
                </a:ext>
              </a:extLst>
            </p:cNvPr>
            <p:cNvPicPr>
              <a:picLocks noChangeAspect="1"/>
            </p:cNvPicPr>
            <p:nvPr/>
          </p:nvPicPr>
          <p:blipFill>
            <a:blip r:embed="rId7"/>
            <a:srcRect l="12290"/>
            <a:stretch>
              <a:fillRect/>
            </a:stretch>
          </p:blipFill>
          <p:spPr>
            <a:xfrm>
              <a:off x="7083343" y="932962"/>
              <a:ext cx="351007" cy="522694"/>
            </a:xfrm>
            <a:prstGeom prst="rect">
              <a:avLst/>
            </a:prstGeom>
          </p:spPr>
        </p:pic>
        <p:pic>
          <p:nvPicPr>
            <p:cNvPr id="28" name="Picture 27" descr="Jackson Pollock, Manner of: Drip Painting for sale at auction on 15th March  | Bidsquare">
              <a:extLst>
                <a:ext uri="{FF2B5EF4-FFF2-40B4-BE49-F238E27FC236}">
                  <a16:creationId xmlns:a16="http://schemas.microsoft.com/office/drawing/2014/main" id="{66208DB7-897D-A467-246A-EBEEB1447880}"/>
                </a:ext>
              </a:extLst>
            </p:cNvPr>
            <p:cNvPicPr>
              <a:picLocks noChangeAspect="1"/>
            </p:cNvPicPr>
            <p:nvPr/>
          </p:nvPicPr>
          <p:blipFill>
            <a:blip r:embed="rId8"/>
            <a:srcRect r="18039"/>
            <a:stretch>
              <a:fillRect/>
            </a:stretch>
          </p:blipFill>
          <p:spPr>
            <a:xfrm>
              <a:off x="8928155" y="932962"/>
              <a:ext cx="351006" cy="524405"/>
            </a:xfrm>
            <a:prstGeom prst="rect">
              <a:avLst/>
            </a:prstGeom>
          </p:spPr>
        </p:pic>
        <p:pic>
          <p:nvPicPr>
            <p:cNvPr id="29" name="Picture 28" descr="Girl with a Pearl Earring - Wikipedia">
              <a:extLst>
                <a:ext uri="{FF2B5EF4-FFF2-40B4-BE49-F238E27FC236}">
                  <a16:creationId xmlns:a16="http://schemas.microsoft.com/office/drawing/2014/main" id="{72104226-9C21-B935-AA85-9A9702C392B8}"/>
                </a:ext>
              </a:extLst>
            </p:cNvPr>
            <p:cNvPicPr>
              <a:picLocks noChangeAspect="1"/>
            </p:cNvPicPr>
            <p:nvPr/>
          </p:nvPicPr>
          <p:blipFill>
            <a:blip r:embed="rId9"/>
            <a:srcRect l="20362"/>
            <a:stretch>
              <a:fillRect/>
            </a:stretch>
          </p:blipFill>
          <p:spPr>
            <a:xfrm>
              <a:off x="8313218" y="934765"/>
              <a:ext cx="351006" cy="520891"/>
            </a:xfrm>
            <a:prstGeom prst="rect">
              <a:avLst/>
            </a:prstGeom>
          </p:spPr>
        </p:pic>
      </p:grpSp>
      <p:sp>
        <p:nvSpPr>
          <p:cNvPr id="4" name="Rectangle 3">
            <a:extLst>
              <a:ext uri="{FF2B5EF4-FFF2-40B4-BE49-F238E27FC236}">
                <a16:creationId xmlns:a16="http://schemas.microsoft.com/office/drawing/2014/main" id="{7219A1A9-99FE-CBFC-6A9C-AB5E48AD3FCC}"/>
              </a:ext>
            </a:extLst>
          </p:cNvPr>
          <p:cNvSpPr/>
          <p:nvPr/>
        </p:nvSpPr>
        <p:spPr>
          <a:xfrm>
            <a:off x="356430" y="2483103"/>
            <a:ext cx="4800600" cy="1709530"/>
          </a:xfrm>
          <a:prstGeom prst="rect">
            <a:avLst/>
          </a:prstGeom>
          <a:solidFill>
            <a:srgbClr val="FF0000">
              <a:alpha val="50000"/>
            </a:srgb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Garamond" panose="02020404030301010803" pitchFamily="18" charset="0"/>
              </a:rPr>
              <a:t>Changing the training data requires </a:t>
            </a:r>
            <a:r>
              <a:rPr lang="en-US" sz="3600" b="1" dirty="0">
                <a:solidFill>
                  <a:schemeClr val="tx1"/>
                </a:solidFill>
                <a:latin typeface="Garamond" panose="02020404030301010803" pitchFamily="18" charset="0"/>
              </a:rPr>
              <a:t>re-training</a:t>
            </a:r>
            <a:r>
              <a:rPr lang="en-US" sz="3600" dirty="0">
                <a:solidFill>
                  <a:schemeClr val="tx1"/>
                </a:solidFill>
                <a:latin typeface="Garamond" panose="02020404030301010803" pitchFamily="18" charset="0"/>
              </a:rPr>
              <a:t> the model.</a:t>
            </a:r>
          </a:p>
        </p:txBody>
      </p:sp>
      <p:sp>
        <p:nvSpPr>
          <p:cNvPr id="7" name="TextBox 6">
            <a:extLst>
              <a:ext uri="{FF2B5EF4-FFF2-40B4-BE49-F238E27FC236}">
                <a16:creationId xmlns:a16="http://schemas.microsoft.com/office/drawing/2014/main" id="{3380E162-939A-7CD1-7DAC-D96182A2309E}"/>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8" name="TextBox 7">
            <a:extLst>
              <a:ext uri="{FF2B5EF4-FFF2-40B4-BE49-F238E27FC236}">
                <a16:creationId xmlns:a16="http://schemas.microsoft.com/office/drawing/2014/main" id="{012C0ADB-BC2A-D3E9-DE66-371C918A1546}"/>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sp>
        <p:nvSpPr>
          <p:cNvPr id="9" name="Rounded Rectangular Callout 8">
            <a:extLst>
              <a:ext uri="{FF2B5EF4-FFF2-40B4-BE49-F238E27FC236}">
                <a16:creationId xmlns:a16="http://schemas.microsoft.com/office/drawing/2014/main" id="{FDBCF7C7-1619-D52C-FB54-CC6B054F88BC}"/>
              </a:ext>
            </a:extLst>
          </p:cNvPr>
          <p:cNvSpPr/>
          <p:nvPr/>
        </p:nvSpPr>
        <p:spPr>
          <a:xfrm>
            <a:off x="374719" y="4747892"/>
            <a:ext cx="4146166" cy="1967948"/>
          </a:xfrm>
          <a:prstGeom prst="wedgeRoundRectCallout">
            <a:avLst>
              <a:gd name="adj1" fmla="val -15119"/>
              <a:gd name="adj2" fmla="val -74281"/>
              <a:gd name="adj3" fmla="val 16667"/>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Garamond" panose="02020404030301010803" pitchFamily="18" charset="0"/>
              </a:rPr>
              <a:t>This is the source of many important problems in AI…</a:t>
            </a:r>
          </a:p>
        </p:txBody>
      </p:sp>
      <p:sp>
        <p:nvSpPr>
          <p:cNvPr id="2" name="Rectangle 1">
            <a:extLst>
              <a:ext uri="{FF2B5EF4-FFF2-40B4-BE49-F238E27FC236}">
                <a16:creationId xmlns:a16="http://schemas.microsoft.com/office/drawing/2014/main" id="{DFFEECC8-3234-C0CA-1595-6641EDEA3135}"/>
              </a:ext>
            </a:extLst>
          </p:cNvPr>
          <p:cNvSpPr/>
          <p:nvPr/>
        </p:nvSpPr>
        <p:spPr>
          <a:xfrm>
            <a:off x="374719" y="1559142"/>
            <a:ext cx="4782311" cy="646332"/>
          </a:xfrm>
          <a:prstGeom prst="rect">
            <a:avLst/>
          </a:prstGeom>
          <a:solidFill>
            <a:srgbClr val="00B050">
              <a:alpha val="75000"/>
            </a:srgb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solidFill>
                  <a:schemeClr val="tx1"/>
                </a:solidFill>
                <a:latin typeface="Garamond" panose="02020404030301010803" pitchFamily="18" charset="0"/>
              </a:rPr>
              <a:t>Changing the query is easy…</a:t>
            </a:r>
          </a:p>
        </p:txBody>
      </p:sp>
    </p:spTree>
    <p:extLst>
      <p:ext uri="{BB962C8B-B14F-4D97-AF65-F5344CB8AC3E}">
        <p14:creationId xmlns:p14="http://schemas.microsoft.com/office/powerpoint/2010/main" val="420382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p:bldP spid="23" grpId="0"/>
      <p:bldP spid="24" grpId="0"/>
      <p:bldP spid="4" grpId="0" animBg="1"/>
      <p:bldP spid="9"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906E-543E-ACED-66B2-8816181DE74C}"/>
            </a:ext>
          </a:extLst>
        </p:cNvPr>
        <p:cNvGrpSpPr/>
        <p:nvPr/>
      </p:nvGrpSpPr>
      <p:grpSpPr>
        <a:xfrm>
          <a:off x="0" y="0"/>
          <a:ext cx="0" cy="0"/>
          <a:chOff x="0" y="0"/>
          <a:chExt cx="0" cy="0"/>
        </a:xfrm>
      </p:grpSpPr>
      <p:sp>
        <p:nvSpPr>
          <p:cNvPr id="14" name="Right Arrow 13">
            <a:extLst>
              <a:ext uri="{FF2B5EF4-FFF2-40B4-BE49-F238E27FC236}">
                <a16:creationId xmlns:a16="http://schemas.microsoft.com/office/drawing/2014/main" id="{A898934B-7081-9871-0600-162A645B99A5}"/>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Robot with solid fill">
            <a:extLst>
              <a:ext uri="{FF2B5EF4-FFF2-40B4-BE49-F238E27FC236}">
                <a16:creationId xmlns:a16="http://schemas.microsoft.com/office/drawing/2014/main" id="{4564185D-18E2-44C3-1AD5-5C800E286B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16" name="Right Arrow 15">
            <a:extLst>
              <a:ext uri="{FF2B5EF4-FFF2-40B4-BE49-F238E27FC236}">
                <a16:creationId xmlns:a16="http://schemas.microsoft.com/office/drawing/2014/main" id="{7042A4B8-D208-265E-6D62-272A12175EF5}"/>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ORIGINAL abstract Jackson Pollock style medium contemporary street art  urban pop art drip painting by Chris Riggs">
            <a:extLst>
              <a:ext uri="{FF2B5EF4-FFF2-40B4-BE49-F238E27FC236}">
                <a16:creationId xmlns:a16="http://schemas.microsoft.com/office/drawing/2014/main" id="{2EF3834F-B086-D8E9-8F17-DA5D1EF30B11}"/>
              </a:ext>
            </a:extLst>
          </p:cNvPr>
          <p:cNvPicPr>
            <a:picLocks noChangeAspect="1"/>
          </p:cNvPicPr>
          <p:nvPr/>
        </p:nvPicPr>
        <p:blipFill>
          <a:blip r:embed="rId4"/>
          <a:stretch>
            <a:fillRect/>
          </a:stretch>
        </p:blipFill>
        <p:spPr>
          <a:xfrm>
            <a:off x="7382980" y="5272093"/>
            <a:ext cx="901373" cy="919546"/>
          </a:xfrm>
          <a:prstGeom prst="rect">
            <a:avLst/>
          </a:prstGeom>
        </p:spPr>
      </p:pic>
      <p:grpSp>
        <p:nvGrpSpPr>
          <p:cNvPr id="30" name="Group 29">
            <a:extLst>
              <a:ext uri="{FF2B5EF4-FFF2-40B4-BE49-F238E27FC236}">
                <a16:creationId xmlns:a16="http://schemas.microsoft.com/office/drawing/2014/main" id="{C26ABD5E-7F11-F69A-CD8B-29C72A13E65C}"/>
              </a:ext>
            </a:extLst>
          </p:cNvPr>
          <p:cNvGrpSpPr/>
          <p:nvPr/>
        </p:nvGrpSpPr>
        <p:grpSpPr>
          <a:xfrm>
            <a:off x="6468406" y="932962"/>
            <a:ext cx="2810755" cy="524405"/>
            <a:chOff x="6468406" y="932962"/>
            <a:chExt cx="2810755" cy="524405"/>
          </a:xfrm>
        </p:grpSpPr>
        <p:pic>
          <p:nvPicPr>
            <p:cNvPr id="25" name="Picture 24" descr="10 most famous paintings: Masterpieces we all know and love | CNN">
              <a:extLst>
                <a:ext uri="{FF2B5EF4-FFF2-40B4-BE49-F238E27FC236}">
                  <a16:creationId xmlns:a16="http://schemas.microsoft.com/office/drawing/2014/main" id="{1D96E31E-806D-4A88-119F-899928475EE2}"/>
                </a:ext>
              </a:extLst>
            </p:cNvPr>
            <p:cNvPicPr>
              <a:picLocks noChangeAspect="1"/>
            </p:cNvPicPr>
            <p:nvPr/>
          </p:nvPicPr>
          <p:blipFill>
            <a:blip r:embed="rId5"/>
            <a:stretch>
              <a:fillRect/>
            </a:stretch>
          </p:blipFill>
          <p:spPr>
            <a:xfrm>
              <a:off x="6468406" y="932962"/>
              <a:ext cx="351006" cy="522694"/>
            </a:xfrm>
            <a:prstGeom prst="rect">
              <a:avLst/>
            </a:prstGeom>
          </p:spPr>
        </p:pic>
        <p:pic>
          <p:nvPicPr>
            <p:cNvPr id="26" name="Picture 25"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67C1A267-3474-C382-2B20-84DA1F41C6ED}"/>
                </a:ext>
              </a:extLst>
            </p:cNvPr>
            <p:cNvPicPr>
              <a:picLocks noChangeAspect="1"/>
            </p:cNvPicPr>
            <p:nvPr/>
          </p:nvPicPr>
          <p:blipFill>
            <a:blip r:embed="rId6"/>
            <a:srcRect l="10463"/>
            <a:stretch>
              <a:fillRect/>
            </a:stretch>
          </p:blipFill>
          <p:spPr>
            <a:xfrm>
              <a:off x="7698281" y="932962"/>
              <a:ext cx="351006" cy="522694"/>
            </a:xfrm>
            <a:prstGeom prst="rect">
              <a:avLst/>
            </a:prstGeom>
          </p:spPr>
        </p:pic>
        <p:pic>
          <p:nvPicPr>
            <p:cNvPr id="27" name="Picture 26" descr="Amazon.com: INVIN ART Framed Canvas ...">
              <a:extLst>
                <a:ext uri="{FF2B5EF4-FFF2-40B4-BE49-F238E27FC236}">
                  <a16:creationId xmlns:a16="http://schemas.microsoft.com/office/drawing/2014/main" id="{5178D098-E66A-57C6-DDDD-2BCB4C08E870}"/>
                </a:ext>
              </a:extLst>
            </p:cNvPr>
            <p:cNvPicPr>
              <a:picLocks noChangeAspect="1"/>
            </p:cNvPicPr>
            <p:nvPr/>
          </p:nvPicPr>
          <p:blipFill>
            <a:blip r:embed="rId7"/>
            <a:srcRect l="12290"/>
            <a:stretch>
              <a:fillRect/>
            </a:stretch>
          </p:blipFill>
          <p:spPr>
            <a:xfrm>
              <a:off x="7083343" y="932962"/>
              <a:ext cx="351007" cy="522694"/>
            </a:xfrm>
            <a:prstGeom prst="rect">
              <a:avLst/>
            </a:prstGeom>
          </p:spPr>
        </p:pic>
        <p:pic>
          <p:nvPicPr>
            <p:cNvPr id="28" name="Picture 27" descr="Jackson Pollock, Manner of: Drip Painting for sale at auction on 15th March  | Bidsquare">
              <a:extLst>
                <a:ext uri="{FF2B5EF4-FFF2-40B4-BE49-F238E27FC236}">
                  <a16:creationId xmlns:a16="http://schemas.microsoft.com/office/drawing/2014/main" id="{77FD03C5-1726-210C-4E7F-DFA6120E14FF}"/>
                </a:ext>
              </a:extLst>
            </p:cNvPr>
            <p:cNvPicPr>
              <a:picLocks noChangeAspect="1"/>
            </p:cNvPicPr>
            <p:nvPr/>
          </p:nvPicPr>
          <p:blipFill>
            <a:blip r:embed="rId8"/>
            <a:srcRect r="18039"/>
            <a:stretch>
              <a:fillRect/>
            </a:stretch>
          </p:blipFill>
          <p:spPr>
            <a:xfrm>
              <a:off x="8928155" y="932962"/>
              <a:ext cx="351006" cy="524405"/>
            </a:xfrm>
            <a:prstGeom prst="rect">
              <a:avLst/>
            </a:prstGeom>
          </p:spPr>
        </p:pic>
        <p:pic>
          <p:nvPicPr>
            <p:cNvPr id="29" name="Picture 28" descr="Girl with a Pearl Earring - Wikipedia">
              <a:extLst>
                <a:ext uri="{FF2B5EF4-FFF2-40B4-BE49-F238E27FC236}">
                  <a16:creationId xmlns:a16="http://schemas.microsoft.com/office/drawing/2014/main" id="{117C70C3-4BB6-157B-EA31-069994C16CC2}"/>
                </a:ext>
              </a:extLst>
            </p:cNvPr>
            <p:cNvPicPr>
              <a:picLocks noChangeAspect="1"/>
            </p:cNvPicPr>
            <p:nvPr/>
          </p:nvPicPr>
          <p:blipFill>
            <a:blip r:embed="rId9"/>
            <a:srcRect l="20362"/>
            <a:stretch>
              <a:fillRect/>
            </a:stretch>
          </p:blipFill>
          <p:spPr>
            <a:xfrm>
              <a:off x="8313218" y="934765"/>
              <a:ext cx="351006" cy="520891"/>
            </a:xfrm>
            <a:prstGeom prst="rect">
              <a:avLst/>
            </a:prstGeom>
          </p:spPr>
        </p:pic>
      </p:grpSp>
      <p:grpSp>
        <p:nvGrpSpPr>
          <p:cNvPr id="6" name="Group 5">
            <a:extLst>
              <a:ext uri="{FF2B5EF4-FFF2-40B4-BE49-F238E27FC236}">
                <a16:creationId xmlns:a16="http://schemas.microsoft.com/office/drawing/2014/main" id="{87B98387-2A22-E519-4618-9A41C561E712}"/>
              </a:ext>
            </a:extLst>
          </p:cNvPr>
          <p:cNvGrpSpPr/>
          <p:nvPr/>
        </p:nvGrpSpPr>
        <p:grpSpPr>
          <a:xfrm>
            <a:off x="6736152" y="666361"/>
            <a:ext cx="2890200" cy="1045388"/>
            <a:chOff x="6736152" y="666361"/>
            <a:chExt cx="2890200" cy="1045388"/>
          </a:xfrm>
        </p:grpSpPr>
        <p:sp>
          <p:nvSpPr>
            <p:cNvPr id="7" name="Multiply 6">
              <a:extLst>
                <a:ext uri="{FF2B5EF4-FFF2-40B4-BE49-F238E27FC236}">
                  <a16:creationId xmlns:a16="http://schemas.microsoft.com/office/drawing/2014/main" id="{9348DD86-48DF-CEB6-988E-03D8D67BDE1A}"/>
                </a:ext>
              </a:extLst>
            </p:cNvPr>
            <p:cNvSpPr/>
            <p:nvPr/>
          </p:nvSpPr>
          <p:spPr>
            <a:xfrm>
              <a:off x="8580964"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y 7">
              <a:extLst>
                <a:ext uri="{FF2B5EF4-FFF2-40B4-BE49-F238E27FC236}">
                  <a16:creationId xmlns:a16="http://schemas.microsoft.com/office/drawing/2014/main" id="{A16388B9-32C7-3546-D83F-A5DB7D83BEE7}"/>
                </a:ext>
              </a:extLst>
            </p:cNvPr>
            <p:cNvSpPr/>
            <p:nvPr/>
          </p:nvSpPr>
          <p:spPr>
            <a:xfrm>
              <a:off x="6736152"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8CCF427F-C9D8-DEB5-C81A-30F14EE968A3}"/>
              </a:ext>
            </a:extLst>
          </p:cNvPr>
          <p:cNvGrpSpPr/>
          <p:nvPr/>
        </p:nvGrpSpPr>
        <p:grpSpPr>
          <a:xfrm>
            <a:off x="7069685" y="5171241"/>
            <a:ext cx="2768692" cy="1100060"/>
            <a:chOff x="7069685" y="5171241"/>
            <a:chExt cx="2768692" cy="1100060"/>
          </a:xfrm>
        </p:grpSpPr>
        <p:cxnSp>
          <p:nvCxnSpPr>
            <p:cNvPr id="10" name="Straight Connector 9">
              <a:extLst>
                <a:ext uri="{FF2B5EF4-FFF2-40B4-BE49-F238E27FC236}">
                  <a16:creationId xmlns:a16="http://schemas.microsoft.com/office/drawing/2014/main" id="{CEFD161C-67C3-8E9E-84B9-69E1570839E4}"/>
                </a:ext>
              </a:extLst>
            </p:cNvPr>
            <p:cNvCxnSpPr>
              <a:cxnSpLocks/>
            </p:cNvCxnSpPr>
            <p:nvPr/>
          </p:nvCxnSpPr>
          <p:spPr>
            <a:xfrm flipH="1">
              <a:off x="7069685" y="5171241"/>
              <a:ext cx="1476015" cy="1100060"/>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pic>
          <p:nvPicPr>
            <p:cNvPr id="11" name="Picture 10">
              <a:extLst>
                <a:ext uri="{FF2B5EF4-FFF2-40B4-BE49-F238E27FC236}">
                  <a16:creationId xmlns:a16="http://schemas.microsoft.com/office/drawing/2014/main" id="{D05B2CDC-FAB5-5C27-C16A-27BE59711222}"/>
                </a:ext>
              </a:extLst>
            </p:cNvPr>
            <p:cNvPicPr>
              <a:picLocks noChangeAspect="1"/>
            </p:cNvPicPr>
            <p:nvPr/>
          </p:nvPicPr>
          <p:blipFill>
            <a:blip r:embed="rId10"/>
            <a:stretch>
              <a:fillRect/>
            </a:stretch>
          </p:blipFill>
          <p:spPr>
            <a:xfrm>
              <a:off x="8787658" y="5346602"/>
              <a:ext cx="1050719" cy="770527"/>
            </a:xfrm>
            <a:prstGeom prst="rect">
              <a:avLst/>
            </a:prstGeom>
          </p:spPr>
        </p:pic>
      </p:grpSp>
      <p:cxnSp>
        <p:nvCxnSpPr>
          <p:cNvPr id="12" name="Straight Connector 11">
            <a:extLst>
              <a:ext uri="{FF2B5EF4-FFF2-40B4-BE49-F238E27FC236}">
                <a16:creationId xmlns:a16="http://schemas.microsoft.com/office/drawing/2014/main" id="{256271B0-F7BF-DF13-5271-A0A2A7FF283D}"/>
              </a:ext>
            </a:extLst>
          </p:cNvPr>
          <p:cNvCxnSpPr>
            <a:cxnSpLocks/>
          </p:cNvCxnSpPr>
          <p:nvPr/>
        </p:nvCxnSpPr>
        <p:spPr>
          <a:xfrm flipH="1">
            <a:off x="7258846" y="2816230"/>
            <a:ext cx="1054372" cy="907185"/>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grpSp>
        <p:nvGrpSpPr>
          <p:cNvPr id="13" name="Group 12">
            <a:extLst>
              <a:ext uri="{FF2B5EF4-FFF2-40B4-BE49-F238E27FC236}">
                <a16:creationId xmlns:a16="http://schemas.microsoft.com/office/drawing/2014/main" id="{8173D1CA-81D6-580E-0467-D4C421823537}"/>
              </a:ext>
            </a:extLst>
          </p:cNvPr>
          <p:cNvGrpSpPr/>
          <p:nvPr/>
        </p:nvGrpSpPr>
        <p:grpSpPr>
          <a:xfrm>
            <a:off x="8403324" y="2564891"/>
            <a:ext cx="1437980" cy="1312449"/>
            <a:chOff x="8403324" y="2564891"/>
            <a:chExt cx="1437980" cy="1312449"/>
          </a:xfrm>
        </p:grpSpPr>
        <p:pic>
          <p:nvPicPr>
            <p:cNvPr id="18" name="Graphic 17" descr="Robot with solid fill">
              <a:extLst>
                <a:ext uri="{FF2B5EF4-FFF2-40B4-BE49-F238E27FC236}">
                  <a16:creationId xmlns:a16="http://schemas.microsoft.com/office/drawing/2014/main" id="{252049D4-90D4-B5A7-57F9-A767C24346D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403324" y="2564891"/>
              <a:ext cx="1312449" cy="1312449"/>
            </a:xfrm>
            <a:prstGeom prst="rect">
              <a:avLst/>
            </a:prstGeom>
          </p:spPr>
        </p:pic>
        <p:sp>
          <p:nvSpPr>
            <p:cNvPr id="20" name="Rectangle 19">
              <a:extLst>
                <a:ext uri="{FF2B5EF4-FFF2-40B4-BE49-F238E27FC236}">
                  <a16:creationId xmlns:a16="http://schemas.microsoft.com/office/drawing/2014/main" id="{7BD418B4-D1CF-F3B5-19B0-E3A43452456D}"/>
                </a:ext>
              </a:extLst>
            </p:cNvPr>
            <p:cNvSpPr/>
            <p:nvPr/>
          </p:nvSpPr>
          <p:spPr>
            <a:xfrm>
              <a:off x="9278800" y="3116426"/>
              <a:ext cx="562504" cy="398417"/>
            </a:xfrm>
            <a:prstGeom prst="rect">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2" name="Graphic 31" descr="Robot Hand with solid fill">
              <a:extLst>
                <a:ext uri="{FF2B5EF4-FFF2-40B4-BE49-F238E27FC236}">
                  <a16:creationId xmlns:a16="http://schemas.microsoft.com/office/drawing/2014/main" id="{29615844-E893-9BEB-1AE1-118BF173D5D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5400000" flipH="1">
              <a:off x="9191899" y="2847451"/>
              <a:ext cx="562504" cy="562504"/>
            </a:xfrm>
            <a:prstGeom prst="rect">
              <a:avLst/>
            </a:prstGeom>
          </p:spPr>
        </p:pic>
      </p:grpSp>
      <p:grpSp>
        <p:nvGrpSpPr>
          <p:cNvPr id="35" name="Group 34">
            <a:extLst>
              <a:ext uri="{FF2B5EF4-FFF2-40B4-BE49-F238E27FC236}">
                <a16:creationId xmlns:a16="http://schemas.microsoft.com/office/drawing/2014/main" id="{E385C3E8-7A3A-C07E-FCB1-C584B0BCB04C}"/>
              </a:ext>
            </a:extLst>
          </p:cNvPr>
          <p:cNvGrpSpPr/>
          <p:nvPr/>
        </p:nvGrpSpPr>
        <p:grpSpPr>
          <a:xfrm>
            <a:off x="1229818" y="2226365"/>
            <a:ext cx="3852014" cy="3728598"/>
            <a:chOff x="1309695" y="635294"/>
            <a:chExt cx="3947144" cy="4200235"/>
          </a:xfrm>
        </p:grpSpPr>
        <p:pic>
          <p:nvPicPr>
            <p:cNvPr id="36" name="Picture 35" descr="The Myth and Genius of Jackson Pollock – ARTDEX">
              <a:extLst>
                <a:ext uri="{FF2B5EF4-FFF2-40B4-BE49-F238E27FC236}">
                  <a16:creationId xmlns:a16="http://schemas.microsoft.com/office/drawing/2014/main" id="{BF57D93D-8FA7-377A-FDA2-3EB63B03CAB3}"/>
                </a:ext>
              </a:extLst>
            </p:cNvPr>
            <p:cNvPicPr>
              <a:picLocks noChangeAspect="1"/>
            </p:cNvPicPr>
            <p:nvPr/>
          </p:nvPicPr>
          <p:blipFill>
            <a:blip r:embed="rId13"/>
            <a:stretch>
              <a:fillRect/>
            </a:stretch>
          </p:blipFill>
          <p:spPr>
            <a:xfrm>
              <a:off x="1309695" y="2657720"/>
              <a:ext cx="3198857" cy="2177809"/>
            </a:xfrm>
            <a:prstGeom prst="rect">
              <a:avLst/>
            </a:prstGeom>
          </p:spPr>
        </p:pic>
        <p:sp>
          <p:nvSpPr>
            <p:cNvPr id="37" name="Oval Callout 36">
              <a:extLst>
                <a:ext uri="{FF2B5EF4-FFF2-40B4-BE49-F238E27FC236}">
                  <a16:creationId xmlns:a16="http://schemas.microsoft.com/office/drawing/2014/main" id="{9F1BB291-AD2F-2556-F283-19CDF4042C33}"/>
                </a:ext>
              </a:extLst>
            </p:cNvPr>
            <p:cNvSpPr/>
            <p:nvPr/>
          </p:nvSpPr>
          <p:spPr>
            <a:xfrm>
              <a:off x="2458254" y="635294"/>
              <a:ext cx="2798585" cy="1847809"/>
            </a:xfrm>
            <a:prstGeom prst="wedgeEllipseCallout">
              <a:avLst>
                <a:gd name="adj1" fmla="val -50254"/>
                <a:gd name="adj2" fmla="val 62958"/>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“Please delete all my data.”</a:t>
              </a:r>
            </a:p>
          </p:txBody>
        </p:sp>
      </p:grpSp>
      <p:sp>
        <p:nvSpPr>
          <p:cNvPr id="46" name="TextBox 45">
            <a:extLst>
              <a:ext uri="{FF2B5EF4-FFF2-40B4-BE49-F238E27FC236}">
                <a16:creationId xmlns:a16="http://schemas.microsoft.com/office/drawing/2014/main" id="{CBEF9240-3F27-795F-A56D-DEC39792A314}"/>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47" name="TextBox 46">
            <a:extLst>
              <a:ext uri="{FF2B5EF4-FFF2-40B4-BE49-F238E27FC236}">
                <a16:creationId xmlns:a16="http://schemas.microsoft.com/office/drawing/2014/main" id="{7B696D0F-0339-2AFE-102A-6740133D1F56}"/>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sp>
        <p:nvSpPr>
          <p:cNvPr id="49" name="TextBox 48">
            <a:extLst>
              <a:ext uri="{FF2B5EF4-FFF2-40B4-BE49-F238E27FC236}">
                <a16:creationId xmlns:a16="http://schemas.microsoft.com/office/drawing/2014/main" id="{1964DB8F-EEC6-9C40-A9CC-A5413C28E5CF}"/>
              </a:ext>
            </a:extLst>
          </p:cNvPr>
          <p:cNvSpPr txBox="1"/>
          <p:nvPr/>
        </p:nvSpPr>
        <p:spPr>
          <a:xfrm>
            <a:off x="8198854" y="4051837"/>
            <a:ext cx="2634797" cy="830997"/>
          </a:xfrm>
          <a:prstGeom prst="rect">
            <a:avLst/>
          </a:prstGeom>
          <a:noFill/>
        </p:spPr>
        <p:txBody>
          <a:bodyPr wrap="square" rtlCol="0">
            <a:spAutoFit/>
          </a:bodyPr>
          <a:lstStyle/>
          <a:p>
            <a:r>
              <a:rPr lang="en-US" sz="2400" dirty="0"/>
              <a:t>“Give me an abstract painting”</a:t>
            </a:r>
          </a:p>
        </p:txBody>
      </p:sp>
    </p:spTree>
    <p:extLst>
      <p:ext uri="{BB962C8B-B14F-4D97-AF65-F5344CB8AC3E}">
        <p14:creationId xmlns:p14="http://schemas.microsoft.com/office/powerpoint/2010/main" val="307794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2E6A5-DC4E-259E-5398-CD4DA2E093BF}"/>
            </a:ext>
          </a:extLst>
        </p:cNvPr>
        <p:cNvGrpSpPr/>
        <p:nvPr/>
      </p:nvGrpSpPr>
      <p:grpSpPr>
        <a:xfrm>
          <a:off x="0" y="0"/>
          <a:ext cx="0" cy="0"/>
          <a:chOff x="0" y="0"/>
          <a:chExt cx="0" cy="0"/>
        </a:xfrm>
      </p:grpSpPr>
      <p:sp>
        <p:nvSpPr>
          <p:cNvPr id="14" name="Right Arrow 13">
            <a:extLst>
              <a:ext uri="{FF2B5EF4-FFF2-40B4-BE49-F238E27FC236}">
                <a16:creationId xmlns:a16="http://schemas.microsoft.com/office/drawing/2014/main" id="{BADAE3D1-26A5-41EF-9F27-73FC01F78992}"/>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Robot with solid fill">
            <a:extLst>
              <a:ext uri="{FF2B5EF4-FFF2-40B4-BE49-F238E27FC236}">
                <a16:creationId xmlns:a16="http://schemas.microsoft.com/office/drawing/2014/main" id="{37C53ED9-D6F6-7661-FDB7-C1B09C60CB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16" name="Right Arrow 15">
            <a:extLst>
              <a:ext uri="{FF2B5EF4-FFF2-40B4-BE49-F238E27FC236}">
                <a16:creationId xmlns:a16="http://schemas.microsoft.com/office/drawing/2014/main" id="{20AA4AFD-5E8D-93BF-3FB3-983746050F9A}"/>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ORIGINAL abstract Jackson Pollock style medium contemporary street art  urban pop art drip painting by Chris Riggs">
            <a:extLst>
              <a:ext uri="{FF2B5EF4-FFF2-40B4-BE49-F238E27FC236}">
                <a16:creationId xmlns:a16="http://schemas.microsoft.com/office/drawing/2014/main" id="{23ED5EC1-820A-EA0D-1F06-C8BFD8DDE43E}"/>
              </a:ext>
            </a:extLst>
          </p:cNvPr>
          <p:cNvPicPr>
            <a:picLocks noChangeAspect="1"/>
          </p:cNvPicPr>
          <p:nvPr/>
        </p:nvPicPr>
        <p:blipFill>
          <a:blip r:embed="rId4"/>
          <a:stretch>
            <a:fillRect/>
          </a:stretch>
        </p:blipFill>
        <p:spPr>
          <a:xfrm>
            <a:off x="7382980" y="5272093"/>
            <a:ext cx="901373" cy="919546"/>
          </a:xfrm>
          <a:prstGeom prst="rect">
            <a:avLst/>
          </a:prstGeom>
        </p:spPr>
      </p:pic>
      <p:grpSp>
        <p:nvGrpSpPr>
          <p:cNvPr id="30" name="Group 29">
            <a:extLst>
              <a:ext uri="{FF2B5EF4-FFF2-40B4-BE49-F238E27FC236}">
                <a16:creationId xmlns:a16="http://schemas.microsoft.com/office/drawing/2014/main" id="{4C765FFA-7EC0-9776-2315-2C4A491725EF}"/>
              </a:ext>
            </a:extLst>
          </p:cNvPr>
          <p:cNvGrpSpPr/>
          <p:nvPr/>
        </p:nvGrpSpPr>
        <p:grpSpPr>
          <a:xfrm>
            <a:off x="6468406" y="932962"/>
            <a:ext cx="2810755" cy="524405"/>
            <a:chOff x="6468406" y="932962"/>
            <a:chExt cx="2810755" cy="524405"/>
          </a:xfrm>
        </p:grpSpPr>
        <p:pic>
          <p:nvPicPr>
            <p:cNvPr id="25" name="Picture 24" descr="10 most famous paintings: Masterpieces we all know and love | CNN">
              <a:extLst>
                <a:ext uri="{FF2B5EF4-FFF2-40B4-BE49-F238E27FC236}">
                  <a16:creationId xmlns:a16="http://schemas.microsoft.com/office/drawing/2014/main" id="{763F5DF3-5118-2684-EE7D-7084E59FDF6C}"/>
                </a:ext>
              </a:extLst>
            </p:cNvPr>
            <p:cNvPicPr>
              <a:picLocks noChangeAspect="1"/>
            </p:cNvPicPr>
            <p:nvPr/>
          </p:nvPicPr>
          <p:blipFill>
            <a:blip r:embed="rId5"/>
            <a:stretch>
              <a:fillRect/>
            </a:stretch>
          </p:blipFill>
          <p:spPr>
            <a:xfrm>
              <a:off x="6468406" y="932962"/>
              <a:ext cx="351006" cy="522694"/>
            </a:xfrm>
            <a:prstGeom prst="rect">
              <a:avLst/>
            </a:prstGeom>
          </p:spPr>
        </p:pic>
        <p:pic>
          <p:nvPicPr>
            <p:cNvPr id="26" name="Picture 25"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6A5B982D-4948-CB80-F917-BA9ED9BD9AA0}"/>
                </a:ext>
              </a:extLst>
            </p:cNvPr>
            <p:cNvPicPr>
              <a:picLocks noChangeAspect="1"/>
            </p:cNvPicPr>
            <p:nvPr/>
          </p:nvPicPr>
          <p:blipFill>
            <a:blip r:embed="rId6"/>
            <a:srcRect l="10463"/>
            <a:stretch>
              <a:fillRect/>
            </a:stretch>
          </p:blipFill>
          <p:spPr>
            <a:xfrm>
              <a:off x="7698281" y="932962"/>
              <a:ext cx="351006" cy="522694"/>
            </a:xfrm>
            <a:prstGeom prst="rect">
              <a:avLst/>
            </a:prstGeom>
          </p:spPr>
        </p:pic>
        <p:pic>
          <p:nvPicPr>
            <p:cNvPr id="27" name="Picture 26" descr="Amazon.com: INVIN ART Framed Canvas ...">
              <a:extLst>
                <a:ext uri="{FF2B5EF4-FFF2-40B4-BE49-F238E27FC236}">
                  <a16:creationId xmlns:a16="http://schemas.microsoft.com/office/drawing/2014/main" id="{28F8C958-3A1B-9BFF-D5D7-8443F2948667}"/>
                </a:ext>
              </a:extLst>
            </p:cNvPr>
            <p:cNvPicPr>
              <a:picLocks noChangeAspect="1"/>
            </p:cNvPicPr>
            <p:nvPr/>
          </p:nvPicPr>
          <p:blipFill>
            <a:blip r:embed="rId7"/>
            <a:srcRect l="12290"/>
            <a:stretch>
              <a:fillRect/>
            </a:stretch>
          </p:blipFill>
          <p:spPr>
            <a:xfrm>
              <a:off x="7083343" y="932962"/>
              <a:ext cx="351007" cy="522694"/>
            </a:xfrm>
            <a:prstGeom prst="rect">
              <a:avLst/>
            </a:prstGeom>
          </p:spPr>
        </p:pic>
        <p:pic>
          <p:nvPicPr>
            <p:cNvPr id="28" name="Picture 27" descr="Jackson Pollock, Manner of: Drip Painting for sale at auction on 15th March  | Bidsquare">
              <a:extLst>
                <a:ext uri="{FF2B5EF4-FFF2-40B4-BE49-F238E27FC236}">
                  <a16:creationId xmlns:a16="http://schemas.microsoft.com/office/drawing/2014/main" id="{8F1A7643-C9F4-BCA1-FFC0-294EB386C1B3}"/>
                </a:ext>
              </a:extLst>
            </p:cNvPr>
            <p:cNvPicPr>
              <a:picLocks noChangeAspect="1"/>
            </p:cNvPicPr>
            <p:nvPr/>
          </p:nvPicPr>
          <p:blipFill>
            <a:blip r:embed="rId8"/>
            <a:srcRect r="18039"/>
            <a:stretch>
              <a:fillRect/>
            </a:stretch>
          </p:blipFill>
          <p:spPr>
            <a:xfrm>
              <a:off x="8928155" y="932962"/>
              <a:ext cx="351006" cy="524405"/>
            </a:xfrm>
            <a:prstGeom prst="rect">
              <a:avLst/>
            </a:prstGeom>
          </p:spPr>
        </p:pic>
        <p:pic>
          <p:nvPicPr>
            <p:cNvPr id="29" name="Picture 28" descr="Girl with a Pearl Earring - Wikipedia">
              <a:extLst>
                <a:ext uri="{FF2B5EF4-FFF2-40B4-BE49-F238E27FC236}">
                  <a16:creationId xmlns:a16="http://schemas.microsoft.com/office/drawing/2014/main" id="{882DFD4A-ED2B-F9C0-A7A2-AB9E01D1AA1D}"/>
                </a:ext>
              </a:extLst>
            </p:cNvPr>
            <p:cNvPicPr>
              <a:picLocks noChangeAspect="1"/>
            </p:cNvPicPr>
            <p:nvPr/>
          </p:nvPicPr>
          <p:blipFill>
            <a:blip r:embed="rId9"/>
            <a:srcRect l="20362"/>
            <a:stretch>
              <a:fillRect/>
            </a:stretch>
          </p:blipFill>
          <p:spPr>
            <a:xfrm>
              <a:off x="8313218" y="934765"/>
              <a:ext cx="351006" cy="520891"/>
            </a:xfrm>
            <a:prstGeom prst="rect">
              <a:avLst/>
            </a:prstGeom>
          </p:spPr>
        </p:pic>
      </p:grpSp>
      <p:grpSp>
        <p:nvGrpSpPr>
          <p:cNvPr id="6" name="Group 5">
            <a:extLst>
              <a:ext uri="{FF2B5EF4-FFF2-40B4-BE49-F238E27FC236}">
                <a16:creationId xmlns:a16="http://schemas.microsoft.com/office/drawing/2014/main" id="{39D1A2F2-6456-6399-8DBF-2A756EAC83A2}"/>
              </a:ext>
            </a:extLst>
          </p:cNvPr>
          <p:cNvGrpSpPr/>
          <p:nvPr/>
        </p:nvGrpSpPr>
        <p:grpSpPr>
          <a:xfrm>
            <a:off x="6736152" y="666361"/>
            <a:ext cx="2890200" cy="1045388"/>
            <a:chOff x="6736152" y="666361"/>
            <a:chExt cx="2890200" cy="1045388"/>
          </a:xfrm>
        </p:grpSpPr>
        <p:sp>
          <p:nvSpPr>
            <p:cNvPr id="7" name="Multiply 6">
              <a:extLst>
                <a:ext uri="{FF2B5EF4-FFF2-40B4-BE49-F238E27FC236}">
                  <a16:creationId xmlns:a16="http://schemas.microsoft.com/office/drawing/2014/main" id="{02BF1AFB-5CA4-EEFF-3B53-04E5610E8382}"/>
                </a:ext>
              </a:extLst>
            </p:cNvPr>
            <p:cNvSpPr/>
            <p:nvPr/>
          </p:nvSpPr>
          <p:spPr>
            <a:xfrm>
              <a:off x="8580964"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y 7">
              <a:extLst>
                <a:ext uri="{FF2B5EF4-FFF2-40B4-BE49-F238E27FC236}">
                  <a16:creationId xmlns:a16="http://schemas.microsoft.com/office/drawing/2014/main" id="{0E9E5F88-9F9E-E857-6F43-BD33872D33A7}"/>
                </a:ext>
              </a:extLst>
            </p:cNvPr>
            <p:cNvSpPr/>
            <p:nvPr/>
          </p:nvSpPr>
          <p:spPr>
            <a:xfrm>
              <a:off x="6736152"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DFCCDDDA-A30F-0C80-6375-0A7771A3EB58}"/>
              </a:ext>
            </a:extLst>
          </p:cNvPr>
          <p:cNvGrpSpPr/>
          <p:nvPr/>
        </p:nvGrpSpPr>
        <p:grpSpPr>
          <a:xfrm>
            <a:off x="7069685" y="5171241"/>
            <a:ext cx="2768692" cy="1100060"/>
            <a:chOff x="7069685" y="5171241"/>
            <a:chExt cx="2768692" cy="1100060"/>
          </a:xfrm>
        </p:grpSpPr>
        <p:cxnSp>
          <p:nvCxnSpPr>
            <p:cNvPr id="10" name="Straight Connector 9">
              <a:extLst>
                <a:ext uri="{FF2B5EF4-FFF2-40B4-BE49-F238E27FC236}">
                  <a16:creationId xmlns:a16="http://schemas.microsoft.com/office/drawing/2014/main" id="{4284823F-77C8-FCDB-A367-ACD88152CF0F}"/>
                </a:ext>
              </a:extLst>
            </p:cNvPr>
            <p:cNvCxnSpPr>
              <a:cxnSpLocks/>
            </p:cNvCxnSpPr>
            <p:nvPr/>
          </p:nvCxnSpPr>
          <p:spPr>
            <a:xfrm flipH="1">
              <a:off x="7069685" y="5171241"/>
              <a:ext cx="1476015" cy="1100060"/>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pic>
          <p:nvPicPr>
            <p:cNvPr id="11" name="Picture 10">
              <a:extLst>
                <a:ext uri="{FF2B5EF4-FFF2-40B4-BE49-F238E27FC236}">
                  <a16:creationId xmlns:a16="http://schemas.microsoft.com/office/drawing/2014/main" id="{BCA5C429-18F5-E72A-E535-228B1FF4D55E}"/>
                </a:ext>
              </a:extLst>
            </p:cNvPr>
            <p:cNvPicPr>
              <a:picLocks noChangeAspect="1"/>
            </p:cNvPicPr>
            <p:nvPr/>
          </p:nvPicPr>
          <p:blipFill>
            <a:blip r:embed="rId10"/>
            <a:stretch>
              <a:fillRect/>
            </a:stretch>
          </p:blipFill>
          <p:spPr>
            <a:xfrm>
              <a:off x="8787658" y="5346602"/>
              <a:ext cx="1050719" cy="770527"/>
            </a:xfrm>
            <a:prstGeom prst="rect">
              <a:avLst/>
            </a:prstGeom>
          </p:spPr>
        </p:pic>
      </p:grpSp>
      <p:cxnSp>
        <p:nvCxnSpPr>
          <p:cNvPr id="12" name="Straight Connector 11">
            <a:extLst>
              <a:ext uri="{FF2B5EF4-FFF2-40B4-BE49-F238E27FC236}">
                <a16:creationId xmlns:a16="http://schemas.microsoft.com/office/drawing/2014/main" id="{74020F7C-E93B-F37F-7723-F93F0BB3FA6F}"/>
              </a:ext>
            </a:extLst>
          </p:cNvPr>
          <p:cNvCxnSpPr>
            <a:cxnSpLocks/>
          </p:cNvCxnSpPr>
          <p:nvPr/>
        </p:nvCxnSpPr>
        <p:spPr>
          <a:xfrm flipH="1">
            <a:off x="7258846" y="2816230"/>
            <a:ext cx="1054372" cy="907185"/>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grpSp>
        <p:nvGrpSpPr>
          <p:cNvPr id="13" name="Group 12">
            <a:extLst>
              <a:ext uri="{FF2B5EF4-FFF2-40B4-BE49-F238E27FC236}">
                <a16:creationId xmlns:a16="http://schemas.microsoft.com/office/drawing/2014/main" id="{6703E7FB-E6B7-3059-DDD7-0FC90E00A828}"/>
              </a:ext>
            </a:extLst>
          </p:cNvPr>
          <p:cNvGrpSpPr/>
          <p:nvPr/>
        </p:nvGrpSpPr>
        <p:grpSpPr>
          <a:xfrm>
            <a:off x="8403324" y="2564891"/>
            <a:ext cx="1437980" cy="1312449"/>
            <a:chOff x="8403324" y="2564891"/>
            <a:chExt cx="1437980" cy="1312449"/>
          </a:xfrm>
        </p:grpSpPr>
        <p:pic>
          <p:nvPicPr>
            <p:cNvPr id="18" name="Graphic 17" descr="Robot with solid fill">
              <a:extLst>
                <a:ext uri="{FF2B5EF4-FFF2-40B4-BE49-F238E27FC236}">
                  <a16:creationId xmlns:a16="http://schemas.microsoft.com/office/drawing/2014/main" id="{214BB05A-9830-B978-FD9B-C21ABA71CE8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403324" y="2564891"/>
              <a:ext cx="1312449" cy="1312449"/>
            </a:xfrm>
            <a:prstGeom prst="rect">
              <a:avLst/>
            </a:prstGeom>
          </p:spPr>
        </p:pic>
        <p:sp>
          <p:nvSpPr>
            <p:cNvPr id="20" name="Rectangle 19">
              <a:extLst>
                <a:ext uri="{FF2B5EF4-FFF2-40B4-BE49-F238E27FC236}">
                  <a16:creationId xmlns:a16="http://schemas.microsoft.com/office/drawing/2014/main" id="{9574D3CB-6BDB-9477-75A1-2DD742E3B244}"/>
                </a:ext>
              </a:extLst>
            </p:cNvPr>
            <p:cNvSpPr/>
            <p:nvPr/>
          </p:nvSpPr>
          <p:spPr>
            <a:xfrm>
              <a:off x="9278800" y="3116426"/>
              <a:ext cx="562504" cy="398417"/>
            </a:xfrm>
            <a:prstGeom prst="rect">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2" name="Graphic 31" descr="Robot Hand with solid fill">
              <a:extLst>
                <a:ext uri="{FF2B5EF4-FFF2-40B4-BE49-F238E27FC236}">
                  <a16:creationId xmlns:a16="http://schemas.microsoft.com/office/drawing/2014/main" id="{20EBE6EB-D726-DB03-4553-6EEEFFBDA3F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5400000" flipH="1">
              <a:off x="9191899" y="2847451"/>
              <a:ext cx="562504" cy="562504"/>
            </a:xfrm>
            <a:prstGeom prst="rect">
              <a:avLst/>
            </a:prstGeom>
          </p:spPr>
        </p:pic>
      </p:grpSp>
      <p:sp>
        <p:nvSpPr>
          <p:cNvPr id="31" name="TextBox 30">
            <a:extLst>
              <a:ext uri="{FF2B5EF4-FFF2-40B4-BE49-F238E27FC236}">
                <a16:creationId xmlns:a16="http://schemas.microsoft.com/office/drawing/2014/main" id="{CFBA0F56-259A-B368-3123-223339FEE5EB}"/>
              </a:ext>
            </a:extLst>
          </p:cNvPr>
          <p:cNvSpPr txBox="1"/>
          <p:nvPr/>
        </p:nvSpPr>
        <p:spPr>
          <a:xfrm>
            <a:off x="729813" y="510159"/>
            <a:ext cx="4876755" cy="1754326"/>
          </a:xfrm>
          <a:prstGeom prst="rect">
            <a:avLst/>
          </a:prstGeom>
          <a:noFill/>
        </p:spPr>
        <p:txBody>
          <a:bodyPr wrap="square" rtlCol="0">
            <a:spAutoFit/>
          </a:bodyPr>
          <a:lstStyle/>
          <a:p>
            <a:r>
              <a:rPr lang="en-US" sz="3600" dirty="0">
                <a:latin typeface="Garamond" panose="02020404030301010803" pitchFamily="18" charset="0"/>
              </a:rPr>
              <a:t>“</a:t>
            </a:r>
            <a:r>
              <a:rPr lang="en-US" sz="3600" u="sng" dirty="0">
                <a:latin typeface="Garamond" panose="02020404030301010803" pitchFamily="18" charset="0"/>
              </a:rPr>
              <a:t>Machine unlearning</a:t>
            </a:r>
            <a:r>
              <a:rPr lang="en-US" sz="3600" dirty="0">
                <a:latin typeface="Garamond" panose="02020404030301010803" pitchFamily="18" charset="0"/>
              </a:rPr>
              <a:t>”:</a:t>
            </a:r>
          </a:p>
          <a:p>
            <a:r>
              <a:rPr lang="en-US" sz="3600" dirty="0">
                <a:latin typeface="Garamond" panose="02020404030301010803" pitchFamily="18" charset="0"/>
              </a:rPr>
              <a:t>Accommodate requests like this </a:t>
            </a:r>
            <a:r>
              <a:rPr lang="en-US" sz="3600" b="1" dirty="0">
                <a:latin typeface="Garamond" panose="02020404030301010803" pitchFamily="18" charset="0"/>
              </a:rPr>
              <a:t>efficiently</a:t>
            </a:r>
            <a:r>
              <a:rPr lang="en-US" sz="3600" dirty="0">
                <a:latin typeface="Garamond" panose="02020404030301010803" pitchFamily="18" charset="0"/>
              </a:rPr>
              <a:t>.</a:t>
            </a:r>
          </a:p>
        </p:txBody>
      </p:sp>
      <p:sp>
        <p:nvSpPr>
          <p:cNvPr id="35" name="TextBox 34">
            <a:extLst>
              <a:ext uri="{FF2B5EF4-FFF2-40B4-BE49-F238E27FC236}">
                <a16:creationId xmlns:a16="http://schemas.microsoft.com/office/drawing/2014/main" id="{352DB7A8-B972-A56B-7065-8869060F53CA}"/>
              </a:ext>
            </a:extLst>
          </p:cNvPr>
          <p:cNvSpPr txBox="1"/>
          <p:nvPr/>
        </p:nvSpPr>
        <p:spPr>
          <a:xfrm>
            <a:off x="5784094" y="2290515"/>
            <a:ext cx="1467989" cy="646331"/>
          </a:xfrm>
          <a:prstGeom prst="rect">
            <a:avLst/>
          </a:prstGeom>
          <a:noFill/>
        </p:spPr>
        <p:txBody>
          <a:bodyPr wrap="square" rtlCol="0">
            <a:spAutoFit/>
          </a:bodyPr>
          <a:lstStyle/>
          <a:p>
            <a:pPr algn="r"/>
            <a:r>
              <a:rPr lang="en-US" sz="3600" dirty="0">
                <a:latin typeface="Garamond" panose="02020404030301010803" pitchFamily="18" charset="0"/>
              </a:rPr>
              <a:t>(</a:t>
            </a:r>
            <a:r>
              <a:rPr lang="en-US" sz="3600" b="1" dirty="0">
                <a:solidFill>
                  <a:srgbClr val="FF0000"/>
                </a:solidFill>
                <a:latin typeface="Garamond" panose="02020404030301010803" pitchFamily="18" charset="0"/>
              </a:rPr>
              <a:t>slow</a:t>
            </a:r>
            <a:r>
              <a:rPr lang="en-US" sz="3600" dirty="0">
                <a:latin typeface="Garamond" panose="02020404030301010803" pitchFamily="18" charset="0"/>
              </a:rPr>
              <a:t>)</a:t>
            </a:r>
          </a:p>
        </p:txBody>
      </p:sp>
      <p:sp>
        <p:nvSpPr>
          <p:cNvPr id="36" name="TextBox 35">
            <a:extLst>
              <a:ext uri="{FF2B5EF4-FFF2-40B4-BE49-F238E27FC236}">
                <a16:creationId xmlns:a16="http://schemas.microsoft.com/office/drawing/2014/main" id="{899E57FA-0736-42BC-563F-AD1D64133F10}"/>
              </a:ext>
            </a:extLst>
          </p:cNvPr>
          <p:cNvSpPr txBox="1"/>
          <p:nvPr/>
        </p:nvSpPr>
        <p:spPr>
          <a:xfrm>
            <a:off x="5784094" y="4467336"/>
            <a:ext cx="1467989" cy="646331"/>
          </a:xfrm>
          <a:prstGeom prst="rect">
            <a:avLst/>
          </a:prstGeom>
          <a:noFill/>
        </p:spPr>
        <p:txBody>
          <a:bodyPr wrap="square" rtlCol="0">
            <a:spAutoFit/>
          </a:bodyPr>
          <a:lstStyle/>
          <a:p>
            <a:pPr algn="r"/>
            <a:r>
              <a:rPr lang="en-US" sz="3600" dirty="0">
                <a:latin typeface="Garamond" panose="02020404030301010803" pitchFamily="18" charset="0"/>
              </a:rPr>
              <a:t>(fast)</a:t>
            </a:r>
          </a:p>
        </p:txBody>
      </p:sp>
      <p:sp>
        <p:nvSpPr>
          <p:cNvPr id="37" name="TextBox 36">
            <a:extLst>
              <a:ext uri="{FF2B5EF4-FFF2-40B4-BE49-F238E27FC236}">
                <a16:creationId xmlns:a16="http://schemas.microsoft.com/office/drawing/2014/main" id="{AAF447BC-67DC-67A8-034A-817E83DCD72E}"/>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38" name="TextBox 37">
            <a:extLst>
              <a:ext uri="{FF2B5EF4-FFF2-40B4-BE49-F238E27FC236}">
                <a16:creationId xmlns:a16="http://schemas.microsoft.com/office/drawing/2014/main" id="{53886DE9-6054-3672-F780-4A85D81E6348}"/>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sp>
        <p:nvSpPr>
          <p:cNvPr id="39" name="TextBox 38">
            <a:extLst>
              <a:ext uri="{FF2B5EF4-FFF2-40B4-BE49-F238E27FC236}">
                <a16:creationId xmlns:a16="http://schemas.microsoft.com/office/drawing/2014/main" id="{05991176-A88E-AE58-6FD1-218B62909CD8}"/>
              </a:ext>
            </a:extLst>
          </p:cNvPr>
          <p:cNvSpPr txBox="1"/>
          <p:nvPr/>
        </p:nvSpPr>
        <p:spPr>
          <a:xfrm>
            <a:off x="8198854" y="4051837"/>
            <a:ext cx="2634797" cy="830997"/>
          </a:xfrm>
          <a:prstGeom prst="rect">
            <a:avLst/>
          </a:prstGeom>
          <a:noFill/>
        </p:spPr>
        <p:txBody>
          <a:bodyPr wrap="square" rtlCol="0">
            <a:spAutoFit/>
          </a:bodyPr>
          <a:lstStyle/>
          <a:p>
            <a:r>
              <a:rPr lang="en-US" sz="2400" dirty="0"/>
              <a:t>“Give me an abstract painting”</a:t>
            </a:r>
          </a:p>
        </p:txBody>
      </p:sp>
      <p:grpSp>
        <p:nvGrpSpPr>
          <p:cNvPr id="40" name="Group 39">
            <a:extLst>
              <a:ext uri="{FF2B5EF4-FFF2-40B4-BE49-F238E27FC236}">
                <a16:creationId xmlns:a16="http://schemas.microsoft.com/office/drawing/2014/main" id="{9B3F7BC4-30E7-B8DF-E4EA-F9F98EA0CA94}"/>
              </a:ext>
            </a:extLst>
          </p:cNvPr>
          <p:cNvGrpSpPr/>
          <p:nvPr/>
        </p:nvGrpSpPr>
        <p:grpSpPr>
          <a:xfrm>
            <a:off x="1229818" y="2226365"/>
            <a:ext cx="3852014" cy="3728598"/>
            <a:chOff x="1309695" y="635294"/>
            <a:chExt cx="3947144" cy="4200235"/>
          </a:xfrm>
        </p:grpSpPr>
        <p:pic>
          <p:nvPicPr>
            <p:cNvPr id="41" name="Picture 40" descr="The Myth and Genius of Jackson Pollock – ARTDEX">
              <a:extLst>
                <a:ext uri="{FF2B5EF4-FFF2-40B4-BE49-F238E27FC236}">
                  <a16:creationId xmlns:a16="http://schemas.microsoft.com/office/drawing/2014/main" id="{A6B85B0E-5AC0-7E91-66C2-244388B91EC1}"/>
                </a:ext>
              </a:extLst>
            </p:cNvPr>
            <p:cNvPicPr>
              <a:picLocks noChangeAspect="1"/>
            </p:cNvPicPr>
            <p:nvPr/>
          </p:nvPicPr>
          <p:blipFill>
            <a:blip r:embed="rId13"/>
            <a:stretch>
              <a:fillRect/>
            </a:stretch>
          </p:blipFill>
          <p:spPr>
            <a:xfrm>
              <a:off x="1309695" y="2657720"/>
              <a:ext cx="3198857" cy="2177809"/>
            </a:xfrm>
            <a:prstGeom prst="rect">
              <a:avLst/>
            </a:prstGeom>
          </p:spPr>
        </p:pic>
        <p:sp>
          <p:nvSpPr>
            <p:cNvPr id="42" name="Oval Callout 41">
              <a:extLst>
                <a:ext uri="{FF2B5EF4-FFF2-40B4-BE49-F238E27FC236}">
                  <a16:creationId xmlns:a16="http://schemas.microsoft.com/office/drawing/2014/main" id="{02B28B20-68C1-6902-8407-A86B5A6E4CE2}"/>
                </a:ext>
              </a:extLst>
            </p:cNvPr>
            <p:cNvSpPr/>
            <p:nvPr/>
          </p:nvSpPr>
          <p:spPr>
            <a:xfrm>
              <a:off x="2458254" y="635294"/>
              <a:ext cx="2798585" cy="1847809"/>
            </a:xfrm>
            <a:prstGeom prst="wedgeEllipseCallout">
              <a:avLst>
                <a:gd name="adj1" fmla="val -50254"/>
                <a:gd name="adj2" fmla="val 62958"/>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“Please delete all my data.”</a:t>
              </a:r>
            </a:p>
          </p:txBody>
        </p:sp>
      </p:grpSp>
    </p:spTree>
    <p:extLst>
      <p:ext uri="{BB962C8B-B14F-4D97-AF65-F5344CB8AC3E}">
        <p14:creationId xmlns:p14="http://schemas.microsoft.com/office/powerpoint/2010/main" val="2724278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AA5BB-91D5-403D-6AD0-3F5C70EA66E0}"/>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F0FE95EF-1CA4-7BD2-EEC9-3E14AF785CA0}"/>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2F26F176-6573-DDC9-46BC-ADBD3F3A4F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30" name="Right Arrow 29">
            <a:extLst>
              <a:ext uri="{FF2B5EF4-FFF2-40B4-BE49-F238E27FC236}">
                <a16:creationId xmlns:a16="http://schemas.microsoft.com/office/drawing/2014/main" id="{33301735-8D16-1B3C-2759-0069BCC97975}"/>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descr="ORIGINAL abstract Jackson Pollock style medium contemporary street art  urban pop art drip painting by Chris Riggs">
            <a:extLst>
              <a:ext uri="{FF2B5EF4-FFF2-40B4-BE49-F238E27FC236}">
                <a16:creationId xmlns:a16="http://schemas.microsoft.com/office/drawing/2014/main" id="{EC6BFBFF-1B85-35AF-DC24-A629E23D165C}"/>
              </a:ext>
            </a:extLst>
          </p:cNvPr>
          <p:cNvPicPr>
            <a:picLocks noChangeAspect="1"/>
          </p:cNvPicPr>
          <p:nvPr/>
        </p:nvPicPr>
        <p:blipFill>
          <a:blip r:embed="rId4"/>
          <a:stretch>
            <a:fillRect/>
          </a:stretch>
        </p:blipFill>
        <p:spPr>
          <a:xfrm>
            <a:off x="7382980" y="5272093"/>
            <a:ext cx="901373" cy="919546"/>
          </a:xfrm>
          <a:prstGeom prst="rect">
            <a:avLst/>
          </a:prstGeom>
        </p:spPr>
      </p:pic>
      <p:pic>
        <p:nvPicPr>
          <p:cNvPr id="40" name="Picture 39" descr="10 most famous paintings: Masterpieces we all know and love | CNN">
            <a:extLst>
              <a:ext uri="{FF2B5EF4-FFF2-40B4-BE49-F238E27FC236}">
                <a16:creationId xmlns:a16="http://schemas.microsoft.com/office/drawing/2014/main" id="{6FC0CBB9-35A5-5F11-959C-AD0346E55C37}"/>
              </a:ext>
            </a:extLst>
          </p:cNvPr>
          <p:cNvPicPr>
            <a:picLocks noChangeAspect="1"/>
          </p:cNvPicPr>
          <p:nvPr/>
        </p:nvPicPr>
        <p:blipFill>
          <a:blip r:embed="rId5"/>
          <a:stretch>
            <a:fillRect/>
          </a:stretch>
        </p:blipFill>
        <p:spPr>
          <a:xfrm>
            <a:off x="6468406" y="932962"/>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AE2F76CE-0BCA-BC78-77D9-9A14A80D59A3}"/>
              </a:ext>
            </a:extLst>
          </p:cNvPr>
          <p:cNvPicPr>
            <a:picLocks noChangeAspect="1"/>
          </p:cNvPicPr>
          <p:nvPr/>
        </p:nvPicPr>
        <p:blipFill>
          <a:blip r:embed="rId6"/>
          <a:srcRect l="10463"/>
          <a:stretch>
            <a:fillRect/>
          </a:stretch>
        </p:blipFill>
        <p:spPr>
          <a:xfrm>
            <a:off x="7698281" y="932962"/>
            <a:ext cx="351006" cy="522694"/>
          </a:xfrm>
          <a:prstGeom prst="rect">
            <a:avLst/>
          </a:prstGeom>
        </p:spPr>
      </p:pic>
      <p:pic>
        <p:nvPicPr>
          <p:cNvPr id="42" name="Picture 41" descr="Amazon.com: INVIN ART Framed Canvas ...">
            <a:extLst>
              <a:ext uri="{FF2B5EF4-FFF2-40B4-BE49-F238E27FC236}">
                <a16:creationId xmlns:a16="http://schemas.microsoft.com/office/drawing/2014/main" id="{6511DB48-9B31-9834-EA6E-D27506F0FB9B}"/>
              </a:ext>
            </a:extLst>
          </p:cNvPr>
          <p:cNvPicPr>
            <a:picLocks noChangeAspect="1"/>
          </p:cNvPicPr>
          <p:nvPr/>
        </p:nvPicPr>
        <p:blipFill>
          <a:blip r:embed="rId7"/>
          <a:srcRect l="12290"/>
          <a:stretch>
            <a:fillRect/>
          </a:stretch>
        </p:blipFill>
        <p:spPr>
          <a:xfrm>
            <a:off x="7083343" y="932962"/>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36E50EA5-2626-96CF-DE58-E1C213C3FCB1}"/>
              </a:ext>
            </a:extLst>
          </p:cNvPr>
          <p:cNvPicPr>
            <a:picLocks noChangeAspect="1"/>
          </p:cNvPicPr>
          <p:nvPr/>
        </p:nvPicPr>
        <p:blipFill>
          <a:blip r:embed="rId8"/>
          <a:srcRect r="18039"/>
          <a:stretch>
            <a:fillRect/>
          </a:stretch>
        </p:blipFill>
        <p:spPr>
          <a:xfrm>
            <a:off x="8928155" y="932962"/>
            <a:ext cx="351006" cy="524405"/>
          </a:xfrm>
          <a:prstGeom prst="rect">
            <a:avLst/>
          </a:prstGeom>
        </p:spPr>
      </p:pic>
      <p:pic>
        <p:nvPicPr>
          <p:cNvPr id="44" name="Picture 43" descr="Girl with a Pearl Earring - Wikipedia">
            <a:extLst>
              <a:ext uri="{FF2B5EF4-FFF2-40B4-BE49-F238E27FC236}">
                <a16:creationId xmlns:a16="http://schemas.microsoft.com/office/drawing/2014/main" id="{72C21B1E-D95F-F0BD-4117-7D669B098650}"/>
              </a:ext>
            </a:extLst>
          </p:cNvPr>
          <p:cNvPicPr>
            <a:picLocks noChangeAspect="1"/>
          </p:cNvPicPr>
          <p:nvPr/>
        </p:nvPicPr>
        <p:blipFill>
          <a:blip r:embed="rId9"/>
          <a:srcRect l="20362"/>
          <a:stretch>
            <a:fillRect/>
          </a:stretch>
        </p:blipFill>
        <p:spPr>
          <a:xfrm>
            <a:off x="8313218" y="934765"/>
            <a:ext cx="351006" cy="520891"/>
          </a:xfrm>
          <a:prstGeom prst="rect">
            <a:avLst/>
          </a:prstGeom>
        </p:spPr>
      </p:pic>
      <p:sp>
        <p:nvSpPr>
          <p:cNvPr id="7" name="TextBox 6">
            <a:extLst>
              <a:ext uri="{FF2B5EF4-FFF2-40B4-BE49-F238E27FC236}">
                <a16:creationId xmlns:a16="http://schemas.microsoft.com/office/drawing/2014/main" id="{370501E3-FCD4-5F75-B694-F7C1790A73A1}"/>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8" name="TextBox 7">
            <a:extLst>
              <a:ext uri="{FF2B5EF4-FFF2-40B4-BE49-F238E27FC236}">
                <a16:creationId xmlns:a16="http://schemas.microsoft.com/office/drawing/2014/main" id="{7298E525-667E-FD64-B1C6-08A0EA7D3E57}"/>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sp>
        <p:nvSpPr>
          <p:cNvPr id="9" name="TextBox 8">
            <a:extLst>
              <a:ext uri="{FF2B5EF4-FFF2-40B4-BE49-F238E27FC236}">
                <a16:creationId xmlns:a16="http://schemas.microsoft.com/office/drawing/2014/main" id="{82C5EBFB-0EAA-E767-52F3-19C74A93EA18}"/>
              </a:ext>
            </a:extLst>
          </p:cNvPr>
          <p:cNvSpPr txBox="1"/>
          <p:nvPr/>
        </p:nvSpPr>
        <p:spPr>
          <a:xfrm>
            <a:off x="8198854" y="4051837"/>
            <a:ext cx="2634797" cy="830997"/>
          </a:xfrm>
          <a:prstGeom prst="rect">
            <a:avLst/>
          </a:prstGeom>
          <a:noFill/>
        </p:spPr>
        <p:txBody>
          <a:bodyPr wrap="square" rtlCol="0">
            <a:spAutoFit/>
          </a:bodyPr>
          <a:lstStyle/>
          <a:p>
            <a:r>
              <a:rPr lang="en-US" sz="2400" dirty="0"/>
              <a:t>“Give me an abstract painting”</a:t>
            </a:r>
          </a:p>
        </p:txBody>
      </p:sp>
      <p:grpSp>
        <p:nvGrpSpPr>
          <p:cNvPr id="20" name="Group 19">
            <a:extLst>
              <a:ext uri="{FF2B5EF4-FFF2-40B4-BE49-F238E27FC236}">
                <a16:creationId xmlns:a16="http://schemas.microsoft.com/office/drawing/2014/main" id="{87AA12F5-2CA2-8ED0-4DDE-E4410C3311D0}"/>
              </a:ext>
            </a:extLst>
          </p:cNvPr>
          <p:cNvGrpSpPr/>
          <p:nvPr/>
        </p:nvGrpSpPr>
        <p:grpSpPr>
          <a:xfrm>
            <a:off x="1229818" y="2226365"/>
            <a:ext cx="4465304" cy="3728598"/>
            <a:chOff x="1309695" y="635294"/>
            <a:chExt cx="4575580" cy="4200235"/>
          </a:xfrm>
        </p:grpSpPr>
        <p:pic>
          <p:nvPicPr>
            <p:cNvPr id="21" name="Picture 20" descr="The Myth and Genius of Jackson Pollock – ARTDEX">
              <a:extLst>
                <a:ext uri="{FF2B5EF4-FFF2-40B4-BE49-F238E27FC236}">
                  <a16:creationId xmlns:a16="http://schemas.microsoft.com/office/drawing/2014/main" id="{94204136-8CF9-969E-6894-AAF4F8818453}"/>
                </a:ext>
              </a:extLst>
            </p:cNvPr>
            <p:cNvPicPr>
              <a:picLocks noChangeAspect="1"/>
            </p:cNvPicPr>
            <p:nvPr/>
          </p:nvPicPr>
          <p:blipFill>
            <a:blip r:embed="rId10"/>
            <a:stretch>
              <a:fillRect/>
            </a:stretch>
          </p:blipFill>
          <p:spPr>
            <a:xfrm>
              <a:off x="1309695" y="2657720"/>
              <a:ext cx="3198857" cy="2177809"/>
            </a:xfrm>
            <a:prstGeom prst="rect">
              <a:avLst/>
            </a:prstGeom>
          </p:spPr>
        </p:pic>
        <p:sp>
          <p:nvSpPr>
            <p:cNvPr id="22" name="Oval Callout 21">
              <a:extLst>
                <a:ext uri="{FF2B5EF4-FFF2-40B4-BE49-F238E27FC236}">
                  <a16:creationId xmlns:a16="http://schemas.microsoft.com/office/drawing/2014/main" id="{81D25FBA-543F-339D-40BB-1EA30FCB74B2}"/>
                </a:ext>
              </a:extLst>
            </p:cNvPr>
            <p:cNvSpPr/>
            <p:nvPr/>
          </p:nvSpPr>
          <p:spPr>
            <a:xfrm>
              <a:off x="2422514" y="635294"/>
              <a:ext cx="3462761" cy="1847809"/>
            </a:xfrm>
            <a:prstGeom prst="wedgeEllipseCallout">
              <a:avLst>
                <a:gd name="adj1" fmla="val -50254"/>
                <a:gd name="adj2" fmla="val 62958"/>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“That looks like my work.”</a:t>
              </a:r>
            </a:p>
          </p:txBody>
        </p:sp>
      </p:grpSp>
      <p:sp>
        <p:nvSpPr>
          <p:cNvPr id="14" name="Rounded Rectangle 13">
            <a:extLst>
              <a:ext uri="{FF2B5EF4-FFF2-40B4-BE49-F238E27FC236}">
                <a16:creationId xmlns:a16="http://schemas.microsoft.com/office/drawing/2014/main" id="{0A681644-9E56-9645-38C2-A4B8A78BB659}"/>
              </a:ext>
            </a:extLst>
          </p:cNvPr>
          <p:cNvSpPr/>
          <p:nvPr/>
        </p:nvSpPr>
        <p:spPr>
          <a:xfrm>
            <a:off x="3736089" y="5408700"/>
            <a:ext cx="4022917" cy="646331"/>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2800" dirty="0">
                <a:solidFill>
                  <a:schemeClr val="tx1"/>
                </a:solidFill>
                <a:latin typeface="Garamond" panose="02020404030301010803" pitchFamily="18" charset="0"/>
              </a:rPr>
              <a:t>Is the relationship causal?</a:t>
            </a:r>
          </a:p>
        </p:txBody>
      </p:sp>
    </p:spTree>
    <p:extLst>
      <p:ext uri="{BB962C8B-B14F-4D97-AF65-F5344CB8AC3E}">
        <p14:creationId xmlns:p14="http://schemas.microsoft.com/office/powerpoint/2010/main" val="229740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C8762-4F5C-C06F-3FC4-A0DF317C551B}"/>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0AD95033-737C-311F-DD4B-9261E29275A4}"/>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45C67195-F36E-40E1-E099-F3647FDA80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30" name="Right Arrow 29">
            <a:extLst>
              <a:ext uri="{FF2B5EF4-FFF2-40B4-BE49-F238E27FC236}">
                <a16:creationId xmlns:a16="http://schemas.microsoft.com/office/drawing/2014/main" id="{E30F43B4-EE44-45C2-9738-E5F4B2F788B5}"/>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D190BDF3-F129-A18C-2B02-AF6BC52054FD}"/>
              </a:ext>
            </a:extLst>
          </p:cNvPr>
          <p:cNvPicPr>
            <a:picLocks noChangeAspect="1"/>
          </p:cNvPicPr>
          <p:nvPr/>
        </p:nvPicPr>
        <p:blipFill>
          <a:blip r:embed="rId4"/>
          <a:stretch>
            <a:fillRect/>
          </a:stretch>
        </p:blipFill>
        <p:spPr>
          <a:xfrm>
            <a:off x="6468406" y="932962"/>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FE86B219-F5F1-2EAD-2497-EF289AA19427}"/>
              </a:ext>
            </a:extLst>
          </p:cNvPr>
          <p:cNvPicPr>
            <a:picLocks noChangeAspect="1"/>
          </p:cNvPicPr>
          <p:nvPr/>
        </p:nvPicPr>
        <p:blipFill>
          <a:blip r:embed="rId5"/>
          <a:srcRect l="10463"/>
          <a:stretch>
            <a:fillRect/>
          </a:stretch>
        </p:blipFill>
        <p:spPr>
          <a:xfrm>
            <a:off x="7698281" y="932962"/>
            <a:ext cx="351006" cy="522694"/>
          </a:xfrm>
          <a:prstGeom prst="rect">
            <a:avLst/>
          </a:prstGeom>
        </p:spPr>
      </p:pic>
      <p:pic>
        <p:nvPicPr>
          <p:cNvPr id="42" name="Picture 41" descr="Amazon.com: INVIN ART Framed Canvas ...">
            <a:extLst>
              <a:ext uri="{FF2B5EF4-FFF2-40B4-BE49-F238E27FC236}">
                <a16:creationId xmlns:a16="http://schemas.microsoft.com/office/drawing/2014/main" id="{7801D925-02D6-62C1-F0C4-742742A2A44C}"/>
              </a:ext>
            </a:extLst>
          </p:cNvPr>
          <p:cNvPicPr>
            <a:picLocks noChangeAspect="1"/>
          </p:cNvPicPr>
          <p:nvPr/>
        </p:nvPicPr>
        <p:blipFill>
          <a:blip r:embed="rId6"/>
          <a:srcRect l="12290"/>
          <a:stretch>
            <a:fillRect/>
          </a:stretch>
        </p:blipFill>
        <p:spPr>
          <a:xfrm>
            <a:off x="7083343" y="932962"/>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149B4380-9C39-1A42-CBDF-E3FD15001172}"/>
              </a:ext>
            </a:extLst>
          </p:cNvPr>
          <p:cNvPicPr>
            <a:picLocks noChangeAspect="1"/>
          </p:cNvPicPr>
          <p:nvPr/>
        </p:nvPicPr>
        <p:blipFill>
          <a:blip r:embed="rId7"/>
          <a:srcRect r="18039"/>
          <a:stretch>
            <a:fillRect/>
          </a:stretch>
        </p:blipFill>
        <p:spPr>
          <a:xfrm>
            <a:off x="8928155" y="932962"/>
            <a:ext cx="351006" cy="524405"/>
          </a:xfrm>
          <a:prstGeom prst="rect">
            <a:avLst/>
          </a:prstGeom>
        </p:spPr>
      </p:pic>
      <p:pic>
        <p:nvPicPr>
          <p:cNvPr id="44" name="Picture 43" descr="Girl with a Pearl Earring - Wikipedia">
            <a:extLst>
              <a:ext uri="{FF2B5EF4-FFF2-40B4-BE49-F238E27FC236}">
                <a16:creationId xmlns:a16="http://schemas.microsoft.com/office/drawing/2014/main" id="{86F05E78-C780-C577-2E6F-540993B6FCAA}"/>
              </a:ext>
            </a:extLst>
          </p:cNvPr>
          <p:cNvPicPr>
            <a:picLocks noChangeAspect="1"/>
          </p:cNvPicPr>
          <p:nvPr/>
        </p:nvPicPr>
        <p:blipFill>
          <a:blip r:embed="rId8"/>
          <a:srcRect l="20362"/>
          <a:stretch>
            <a:fillRect/>
          </a:stretch>
        </p:blipFill>
        <p:spPr>
          <a:xfrm>
            <a:off x="8313218" y="934765"/>
            <a:ext cx="351006" cy="520891"/>
          </a:xfrm>
          <a:prstGeom prst="rect">
            <a:avLst/>
          </a:prstGeom>
        </p:spPr>
      </p:pic>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CFE51864-718D-04FB-D331-76F57E08A734}"/>
                  </a:ext>
                </a:extLst>
              </p:cNvPr>
              <p:cNvSpPr txBox="1">
                <a:spLocks/>
              </p:cNvSpPr>
              <p:nvPr/>
            </p:nvSpPr>
            <p:spPr>
              <a:xfrm>
                <a:off x="7389669" y="5304556"/>
                <a:ext cx="1045901" cy="51465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0.006</m:t>
                      </m:r>
                    </m:oMath>
                  </m:oMathPara>
                </a14:m>
                <a:endParaRPr lang="en-US" dirty="0"/>
              </a:p>
            </p:txBody>
          </p:sp>
        </mc:Choice>
        <mc:Fallback xmlns="">
          <p:sp>
            <p:nvSpPr>
              <p:cNvPr id="2" name="Content Placeholder 2">
                <a:extLst>
                  <a:ext uri="{FF2B5EF4-FFF2-40B4-BE49-F238E27FC236}">
                    <a16:creationId xmlns:a16="http://schemas.microsoft.com/office/drawing/2014/main" id="{CFE51864-718D-04FB-D331-76F57E08A734}"/>
                  </a:ext>
                </a:extLst>
              </p:cNvPr>
              <p:cNvSpPr txBox="1">
                <a:spLocks noRot="1" noChangeAspect="1" noMove="1" noResize="1" noEditPoints="1" noAdjustHandles="1" noChangeArrowheads="1" noChangeShapeType="1" noTextEdit="1"/>
              </p:cNvSpPr>
              <p:nvPr/>
            </p:nvSpPr>
            <p:spPr>
              <a:xfrm>
                <a:off x="7389669" y="5304556"/>
                <a:ext cx="1045901" cy="514659"/>
              </a:xfrm>
              <a:prstGeom prst="rect">
                <a:avLst/>
              </a:prstGeom>
              <a:blipFill>
                <a:blip r:embed="rId9"/>
                <a:stretch>
                  <a:fillRect l="-2381" r="-2381"/>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0F54982F-97F1-9759-BBE3-714AA285C1BC}"/>
              </a:ext>
            </a:extLst>
          </p:cNvPr>
          <p:cNvCxnSpPr>
            <a:cxnSpLocks/>
          </p:cNvCxnSpPr>
          <p:nvPr/>
        </p:nvCxnSpPr>
        <p:spPr>
          <a:xfrm flipH="1">
            <a:off x="7539644" y="5304556"/>
            <a:ext cx="733193" cy="514659"/>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9617BF1-263F-3382-67EC-3FF9167042B0}"/>
                  </a:ext>
                </a:extLst>
              </p:cNvPr>
              <p:cNvSpPr txBox="1">
                <a:spLocks/>
              </p:cNvSpPr>
              <p:nvPr/>
            </p:nvSpPr>
            <p:spPr>
              <a:xfrm>
                <a:off x="8700190" y="5304556"/>
                <a:ext cx="1045902" cy="51465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−12</m:t>
                          </m:r>
                        </m:sup>
                      </m:sSup>
                    </m:oMath>
                  </m:oMathPara>
                </a14:m>
                <a:endParaRPr lang="en-US" dirty="0"/>
              </a:p>
            </p:txBody>
          </p:sp>
        </mc:Choice>
        <mc:Fallback xmlns="">
          <p:sp>
            <p:nvSpPr>
              <p:cNvPr id="5" name="Content Placeholder 2">
                <a:extLst>
                  <a:ext uri="{FF2B5EF4-FFF2-40B4-BE49-F238E27FC236}">
                    <a16:creationId xmlns:a16="http://schemas.microsoft.com/office/drawing/2014/main" id="{F9617BF1-263F-3382-67EC-3FF9167042B0}"/>
                  </a:ext>
                </a:extLst>
              </p:cNvPr>
              <p:cNvSpPr txBox="1">
                <a:spLocks noRot="1" noChangeAspect="1" noMove="1" noResize="1" noEditPoints="1" noAdjustHandles="1" noChangeArrowheads="1" noChangeShapeType="1" noTextEdit="1"/>
              </p:cNvSpPr>
              <p:nvPr/>
            </p:nvSpPr>
            <p:spPr>
              <a:xfrm>
                <a:off x="8700190" y="5304556"/>
                <a:ext cx="1045902" cy="514659"/>
              </a:xfrm>
              <a:prstGeom prst="rect">
                <a:avLst/>
              </a:prstGeom>
              <a:blipFill>
                <a:blip r:embed="rId10"/>
                <a:stretch>
                  <a:fillRect l="-2381" r="-1190"/>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8189AA2F-F036-115B-8D0F-9BCA306B43C9}"/>
              </a:ext>
            </a:extLst>
          </p:cNvPr>
          <p:cNvGrpSpPr/>
          <p:nvPr/>
        </p:nvGrpSpPr>
        <p:grpSpPr>
          <a:xfrm>
            <a:off x="8114822" y="4117780"/>
            <a:ext cx="3573418" cy="745394"/>
            <a:chOff x="8187632" y="4342526"/>
            <a:chExt cx="3573418" cy="745394"/>
          </a:xfrm>
        </p:grpSpPr>
        <p:sp>
          <p:nvSpPr>
            <p:cNvPr id="7" name="TextBox 6">
              <a:extLst>
                <a:ext uri="{FF2B5EF4-FFF2-40B4-BE49-F238E27FC236}">
                  <a16:creationId xmlns:a16="http://schemas.microsoft.com/office/drawing/2014/main" id="{3ACEF6FE-7010-FE50-1A7E-B9266D32D347}"/>
                </a:ext>
              </a:extLst>
            </p:cNvPr>
            <p:cNvSpPr txBox="1"/>
            <p:nvPr/>
          </p:nvSpPr>
          <p:spPr>
            <a:xfrm>
              <a:off x="8724451" y="4408152"/>
              <a:ext cx="1900837" cy="584775"/>
            </a:xfrm>
            <a:prstGeom prst="rect">
              <a:avLst/>
            </a:prstGeom>
            <a:noFill/>
          </p:spPr>
          <p:txBody>
            <a:bodyPr wrap="square" rtlCol="0">
              <a:spAutoFit/>
            </a:bodyPr>
            <a:lstStyle/>
            <a:p>
              <a:r>
                <a:rPr lang="en-US" sz="1600" dirty="0"/>
                <a:t>“Give me an abstract painting”</a:t>
              </a:r>
            </a:p>
          </p:txBody>
        </p:sp>
        <p:sp>
          <p:nvSpPr>
            <p:cNvPr id="8" name="Right Arrow 7">
              <a:extLst>
                <a:ext uri="{FF2B5EF4-FFF2-40B4-BE49-F238E27FC236}">
                  <a16:creationId xmlns:a16="http://schemas.microsoft.com/office/drawing/2014/main" id="{5A8DFDB2-E3F4-B950-6C8A-2BA23CFE7257}"/>
                </a:ext>
              </a:extLst>
            </p:cNvPr>
            <p:cNvSpPr/>
            <p:nvPr/>
          </p:nvSpPr>
          <p:spPr>
            <a:xfrm>
              <a:off x="10478108" y="4613999"/>
              <a:ext cx="346436" cy="23463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AF05A4C-6198-E55C-683F-9B86898C3699}"/>
                    </a:ext>
                  </a:extLst>
                </p:cNvPr>
                <p:cNvSpPr txBox="1"/>
                <p:nvPr/>
              </p:nvSpPr>
              <p:spPr>
                <a:xfrm>
                  <a:off x="8187632" y="4454653"/>
                  <a:ext cx="59101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Pr</m:t>
                        </m:r>
                        <m:r>
                          <a:rPr lang="en-US" sz="2800" b="0" i="1" smtClean="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B8CDCD74-ABF5-EEEA-BB31-D2AD2A931D6F}"/>
                    </a:ext>
                  </a:extLst>
                </p:cNvPr>
                <p:cNvSpPr txBox="1">
                  <a:spLocks noRot="1" noChangeAspect="1" noMove="1" noResize="1" noEditPoints="1" noAdjustHandles="1" noChangeArrowheads="1" noChangeShapeType="1" noTextEdit="1"/>
                </p:cNvSpPr>
                <p:nvPr/>
              </p:nvSpPr>
              <p:spPr>
                <a:xfrm>
                  <a:off x="8187632" y="4454653"/>
                  <a:ext cx="591015" cy="430887"/>
                </a:xfrm>
                <a:prstGeom prst="rect">
                  <a:avLst/>
                </a:prstGeom>
                <a:blipFill>
                  <a:blip r:embed="rId11"/>
                  <a:stretch>
                    <a:fillRect l="-6250" t="-8571" r="-16667" b="-34286"/>
                  </a:stretch>
                </a:blipFill>
              </p:spPr>
              <p:txBody>
                <a:bodyPr/>
                <a:lstStyle/>
                <a:p>
                  <a:r>
                    <a:rPr lang="en-US">
                      <a:noFill/>
                    </a:rPr>
                    <a:t> </a:t>
                  </a:r>
                </a:p>
              </p:txBody>
            </p:sp>
          </mc:Fallback>
        </mc:AlternateContent>
        <p:sp>
          <p:nvSpPr>
            <p:cNvPr id="10" name="Left Bracket 9">
              <a:extLst>
                <a:ext uri="{FF2B5EF4-FFF2-40B4-BE49-F238E27FC236}">
                  <a16:creationId xmlns:a16="http://schemas.microsoft.com/office/drawing/2014/main" id="{B1D083DB-7287-070A-DF53-9398D9623DD6}"/>
                </a:ext>
              </a:extLst>
            </p:cNvPr>
            <p:cNvSpPr/>
            <p:nvPr/>
          </p:nvSpPr>
          <p:spPr>
            <a:xfrm rot="10800000">
              <a:off x="11580046" y="4342526"/>
              <a:ext cx="181004" cy="745394"/>
            </a:xfrm>
            <a:prstGeom prst="leftBracket">
              <a:avLst>
                <a:gd name="adj" fmla="val 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Left Bracket 10">
              <a:extLst>
                <a:ext uri="{FF2B5EF4-FFF2-40B4-BE49-F238E27FC236}">
                  <a16:creationId xmlns:a16="http://schemas.microsoft.com/office/drawing/2014/main" id="{2180E60F-44C1-A8B2-7FD1-D1E4F8EBC33F}"/>
                </a:ext>
              </a:extLst>
            </p:cNvPr>
            <p:cNvSpPr/>
            <p:nvPr/>
          </p:nvSpPr>
          <p:spPr>
            <a:xfrm>
              <a:off x="8709825" y="4342526"/>
              <a:ext cx="181004" cy="745394"/>
            </a:xfrm>
            <a:prstGeom prst="leftBracket">
              <a:avLst>
                <a:gd name="adj" fmla="val 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pic>
          <p:nvPicPr>
            <p:cNvPr id="12" name="Picture 11" descr="ORIGINAL abstract Jackson Pollock style medium contemporary street art  urban pop art drip painting by Chris Riggs">
              <a:extLst>
                <a:ext uri="{FF2B5EF4-FFF2-40B4-BE49-F238E27FC236}">
                  <a16:creationId xmlns:a16="http://schemas.microsoft.com/office/drawing/2014/main" id="{F5AE264A-5C72-4FDC-D045-5B7C0C0F5E67}"/>
                </a:ext>
              </a:extLst>
            </p:cNvPr>
            <p:cNvPicPr>
              <a:picLocks noChangeAspect="1"/>
            </p:cNvPicPr>
            <p:nvPr/>
          </p:nvPicPr>
          <p:blipFill>
            <a:blip r:embed="rId12"/>
            <a:stretch>
              <a:fillRect/>
            </a:stretch>
          </p:blipFill>
          <p:spPr>
            <a:xfrm>
              <a:off x="10989030" y="4418700"/>
              <a:ext cx="591016" cy="602932"/>
            </a:xfrm>
            <a:prstGeom prst="rect">
              <a:avLst/>
            </a:prstGeom>
          </p:spPr>
        </p:pic>
      </p:grpSp>
      <p:grpSp>
        <p:nvGrpSpPr>
          <p:cNvPr id="13" name="Group 12">
            <a:extLst>
              <a:ext uri="{FF2B5EF4-FFF2-40B4-BE49-F238E27FC236}">
                <a16:creationId xmlns:a16="http://schemas.microsoft.com/office/drawing/2014/main" id="{03E910B2-4641-C8CF-CBB8-C94AD059824F}"/>
              </a:ext>
            </a:extLst>
          </p:cNvPr>
          <p:cNvGrpSpPr/>
          <p:nvPr/>
        </p:nvGrpSpPr>
        <p:grpSpPr>
          <a:xfrm>
            <a:off x="6736152" y="666361"/>
            <a:ext cx="2890200" cy="1045388"/>
            <a:chOff x="6736152" y="666361"/>
            <a:chExt cx="2890200" cy="1045388"/>
          </a:xfrm>
        </p:grpSpPr>
        <p:sp>
          <p:nvSpPr>
            <p:cNvPr id="15" name="Multiply 14">
              <a:extLst>
                <a:ext uri="{FF2B5EF4-FFF2-40B4-BE49-F238E27FC236}">
                  <a16:creationId xmlns:a16="http://schemas.microsoft.com/office/drawing/2014/main" id="{21FA6F46-7A78-BDD2-6988-5C3E996EFF32}"/>
                </a:ext>
              </a:extLst>
            </p:cNvPr>
            <p:cNvSpPr/>
            <p:nvPr/>
          </p:nvSpPr>
          <p:spPr>
            <a:xfrm>
              <a:off x="8580964"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Multiply 17">
              <a:extLst>
                <a:ext uri="{FF2B5EF4-FFF2-40B4-BE49-F238E27FC236}">
                  <a16:creationId xmlns:a16="http://schemas.microsoft.com/office/drawing/2014/main" id="{5CE759C1-CD3A-F37A-5DE8-E97468AAF19E}"/>
                </a:ext>
              </a:extLst>
            </p:cNvPr>
            <p:cNvSpPr/>
            <p:nvPr/>
          </p:nvSpPr>
          <p:spPr>
            <a:xfrm>
              <a:off x="6736152"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Connector 19">
            <a:extLst>
              <a:ext uri="{FF2B5EF4-FFF2-40B4-BE49-F238E27FC236}">
                <a16:creationId xmlns:a16="http://schemas.microsoft.com/office/drawing/2014/main" id="{9514DE9F-7018-BBFD-B3EA-015C1090E5B8}"/>
              </a:ext>
            </a:extLst>
          </p:cNvPr>
          <p:cNvCxnSpPr>
            <a:cxnSpLocks/>
          </p:cNvCxnSpPr>
          <p:nvPr/>
        </p:nvCxnSpPr>
        <p:spPr>
          <a:xfrm flipH="1">
            <a:off x="7258846" y="2816230"/>
            <a:ext cx="1054372" cy="907185"/>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grpSp>
        <p:nvGrpSpPr>
          <p:cNvPr id="21" name="Group 20">
            <a:extLst>
              <a:ext uri="{FF2B5EF4-FFF2-40B4-BE49-F238E27FC236}">
                <a16:creationId xmlns:a16="http://schemas.microsoft.com/office/drawing/2014/main" id="{A00283B4-CCA8-F15A-5A18-6A42994C6602}"/>
              </a:ext>
            </a:extLst>
          </p:cNvPr>
          <p:cNvGrpSpPr/>
          <p:nvPr/>
        </p:nvGrpSpPr>
        <p:grpSpPr>
          <a:xfrm>
            <a:off x="8403324" y="2564891"/>
            <a:ext cx="1437980" cy="1312449"/>
            <a:chOff x="8403324" y="2564891"/>
            <a:chExt cx="1437980" cy="1312449"/>
          </a:xfrm>
        </p:grpSpPr>
        <p:pic>
          <p:nvPicPr>
            <p:cNvPr id="22" name="Graphic 21" descr="Robot with solid fill">
              <a:extLst>
                <a:ext uri="{FF2B5EF4-FFF2-40B4-BE49-F238E27FC236}">
                  <a16:creationId xmlns:a16="http://schemas.microsoft.com/office/drawing/2014/main" id="{93CE8BB7-3B2A-FE7F-6072-6DD6CA43B0D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403324" y="2564891"/>
              <a:ext cx="1312449" cy="1312449"/>
            </a:xfrm>
            <a:prstGeom prst="rect">
              <a:avLst/>
            </a:prstGeom>
          </p:spPr>
        </p:pic>
        <p:sp>
          <p:nvSpPr>
            <p:cNvPr id="23" name="Rectangle 22">
              <a:extLst>
                <a:ext uri="{FF2B5EF4-FFF2-40B4-BE49-F238E27FC236}">
                  <a16:creationId xmlns:a16="http://schemas.microsoft.com/office/drawing/2014/main" id="{2B3F5BBF-C9FB-E6D6-7119-9BC775837668}"/>
                </a:ext>
              </a:extLst>
            </p:cNvPr>
            <p:cNvSpPr/>
            <p:nvPr/>
          </p:nvSpPr>
          <p:spPr>
            <a:xfrm>
              <a:off x="9278800" y="3116426"/>
              <a:ext cx="562504" cy="398417"/>
            </a:xfrm>
            <a:prstGeom prst="rect">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6" name="Graphic 25" descr="Robot Hand with solid fill">
              <a:extLst>
                <a:ext uri="{FF2B5EF4-FFF2-40B4-BE49-F238E27FC236}">
                  <a16:creationId xmlns:a16="http://schemas.microsoft.com/office/drawing/2014/main" id="{5D2A8E22-4066-CA91-8DBC-B32AE4A7453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5400000" flipH="1">
              <a:off x="9191899" y="2847451"/>
              <a:ext cx="562504" cy="562504"/>
            </a:xfrm>
            <a:prstGeom prst="rect">
              <a:avLst/>
            </a:prstGeom>
          </p:spPr>
        </p:pic>
      </p:grpSp>
      <p:sp>
        <p:nvSpPr>
          <p:cNvPr id="31" name="TextBox 30">
            <a:extLst>
              <a:ext uri="{FF2B5EF4-FFF2-40B4-BE49-F238E27FC236}">
                <a16:creationId xmlns:a16="http://schemas.microsoft.com/office/drawing/2014/main" id="{C9AD7E14-6E28-FAA1-C4F3-9DB022560B5E}"/>
              </a:ext>
            </a:extLst>
          </p:cNvPr>
          <p:cNvSpPr txBox="1"/>
          <p:nvPr/>
        </p:nvSpPr>
        <p:spPr>
          <a:xfrm>
            <a:off x="731136" y="472039"/>
            <a:ext cx="4876755" cy="1754326"/>
          </a:xfrm>
          <a:prstGeom prst="rect">
            <a:avLst/>
          </a:prstGeom>
          <a:noFill/>
        </p:spPr>
        <p:txBody>
          <a:bodyPr wrap="square" rtlCol="0">
            <a:spAutoFit/>
          </a:bodyPr>
          <a:lstStyle/>
          <a:p>
            <a:r>
              <a:rPr lang="en-US" sz="3600" u="sng" dirty="0">
                <a:latin typeface="Garamond" panose="02020404030301010803" pitchFamily="18" charset="0"/>
              </a:rPr>
              <a:t>Data attribution</a:t>
            </a:r>
            <a:r>
              <a:rPr lang="en-US" sz="3600" dirty="0">
                <a:latin typeface="Garamond" panose="02020404030301010803" pitchFamily="18" charset="0"/>
              </a:rPr>
              <a:t>:</a:t>
            </a:r>
          </a:p>
          <a:p>
            <a:r>
              <a:rPr lang="en-US" sz="3600" dirty="0">
                <a:latin typeface="Garamond" panose="02020404030301010803" pitchFamily="18" charset="0"/>
              </a:rPr>
              <a:t>Attribute outputs to training data </a:t>
            </a:r>
            <a:r>
              <a:rPr lang="en-US" sz="3600" b="1" dirty="0">
                <a:latin typeface="Garamond" panose="02020404030301010803" pitchFamily="18" charset="0"/>
              </a:rPr>
              <a:t>efficiently</a:t>
            </a:r>
            <a:r>
              <a:rPr lang="en-US" sz="3600" dirty="0">
                <a:latin typeface="Garamond" panose="02020404030301010803" pitchFamily="18" charset="0"/>
              </a:rPr>
              <a:t>.</a:t>
            </a:r>
          </a:p>
        </p:txBody>
      </p:sp>
      <p:sp>
        <p:nvSpPr>
          <p:cNvPr id="32" name="TextBox 31">
            <a:extLst>
              <a:ext uri="{FF2B5EF4-FFF2-40B4-BE49-F238E27FC236}">
                <a16:creationId xmlns:a16="http://schemas.microsoft.com/office/drawing/2014/main" id="{E72A3305-630A-16D2-D778-1B39FB09B652}"/>
              </a:ext>
            </a:extLst>
          </p:cNvPr>
          <p:cNvSpPr txBox="1"/>
          <p:nvPr/>
        </p:nvSpPr>
        <p:spPr>
          <a:xfrm>
            <a:off x="5784094" y="2290515"/>
            <a:ext cx="1467989" cy="646331"/>
          </a:xfrm>
          <a:prstGeom prst="rect">
            <a:avLst/>
          </a:prstGeom>
          <a:noFill/>
        </p:spPr>
        <p:txBody>
          <a:bodyPr wrap="square" rtlCol="0">
            <a:spAutoFit/>
          </a:bodyPr>
          <a:lstStyle/>
          <a:p>
            <a:pPr algn="r"/>
            <a:r>
              <a:rPr lang="en-US" sz="3600" dirty="0">
                <a:latin typeface="Garamond" panose="02020404030301010803" pitchFamily="18" charset="0"/>
              </a:rPr>
              <a:t>(</a:t>
            </a:r>
            <a:r>
              <a:rPr lang="en-US" sz="3600" b="1" dirty="0">
                <a:solidFill>
                  <a:srgbClr val="FF0000"/>
                </a:solidFill>
                <a:latin typeface="Garamond" panose="02020404030301010803" pitchFamily="18" charset="0"/>
              </a:rPr>
              <a:t>slow</a:t>
            </a:r>
            <a:r>
              <a:rPr lang="en-US" sz="3600" dirty="0">
                <a:latin typeface="Garamond" panose="02020404030301010803" pitchFamily="18" charset="0"/>
              </a:rPr>
              <a:t>)</a:t>
            </a:r>
          </a:p>
        </p:txBody>
      </p:sp>
      <p:sp>
        <p:nvSpPr>
          <p:cNvPr id="34" name="TextBox 33">
            <a:extLst>
              <a:ext uri="{FF2B5EF4-FFF2-40B4-BE49-F238E27FC236}">
                <a16:creationId xmlns:a16="http://schemas.microsoft.com/office/drawing/2014/main" id="{07DC16B4-B11E-4D0F-5A82-1F9E2B164A9E}"/>
              </a:ext>
            </a:extLst>
          </p:cNvPr>
          <p:cNvSpPr txBox="1"/>
          <p:nvPr/>
        </p:nvSpPr>
        <p:spPr>
          <a:xfrm>
            <a:off x="5784094" y="4467336"/>
            <a:ext cx="1467989" cy="646331"/>
          </a:xfrm>
          <a:prstGeom prst="rect">
            <a:avLst/>
          </a:prstGeom>
          <a:noFill/>
        </p:spPr>
        <p:txBody>
          <a:bodyPr wrap="square" rtlCol="0">
            <a:spAutoFit/>
          </a:bodyPr>
          <a:lstStyle/>
          <a:p>
            <a:pPr algn="r"/>
            <a:r>
              <a:rPr lang="en-US" sz="3600" dirty="0">
                <a:latin typeface="Garamond" panose="02020404030301010803" pitchFamily="18" charset="0"/>
              </a:rPr>
              <a:t>(fast)</a:t>
            </a:r>
          </a:p>
        </p:txBody>
      </p:sp>
      <p:sp>
        <p:nvSpPr>
          <p:cNvPr id="36" name="TextBox 35">
            <a:extLst>
              <a:ext uri="{FF2B5EF4-FFF2-40B4-BE49-F238E27FC236}">
                <a16:creationId xmlns:a16="http://schemas.microsoft.com/office/drawing/2014/main" id="{372AB3EF-9A5E-F8CD-BE7C-D5693AE7B637}"/>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37" name="TextBox 36">
            <a:extLst>
              <a:ext uri="{FF2B5EF4-FFF2-40B4-BE49-F238E27FC236}">
                <a16:creationId xmlns:a16="http://schemas.microsoft.com/office/drawing/2014/main" id="{A53AC080-F0B2-9A0D-03F4-8F71518A42E3}"/>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grpSp>
        <p:nvGrpSpPr>
          <p:cNvPr id="3" name="Group 2">
            <a:extLst>
              <a:ext uri="{FF2B5EF4-FFF2-40B4-BE49-F238E27FC236}">
                <a16:creationId xmlns:a16="http://schemas.microsoft.com/office/drawing/2014/main" id="{41535E97-7A4B-CD1F-BBA7-757F2BE0D581}"/>
              </a:ext>
            </a:extLst>
          </p:cNvPr>
          <p:cNvGrpSpPr/>
          <p:nvPr/>
        </p:nvGrpSpPr>
        <p:grpSpPr>
          <a:xfrm>
            <a:off x="1229818" y="2226365"/>
            <a:ext cx="4465304" cy="3728598"/>
            <a:chOff x="1309695" y="635294"/>
            <a:chExt cx="4575580" cy="4200235"/>
          </a:xfrm>
        </p:grpSpPr>
        <p:pic>
          <p:nvPicPr>
            <p:cNvPr id="14" name="Picture 13" descr="The Myth and Genius of Jackson Pollock – ARTDEX">
              <a:extLst>
                <a:ext uri="{FF2B5EF4-FFF2-40B4-BE49-F238E27FC236}">
                  <a16:creationId xmlns:a16="http://schemas.microsoft.com/office/drawing/2014/main" id="{77931617-CB0A-1912-7A7C-E4AB9265200B}"/>
                </a:ext>
              </a:extLst>
            </p:cNvPr>
            <p:cNvPicPr>
              <a:picLocks noChangeAspect="1"/>
            </p:cNvPicPr>
            <p:nvPr/>
          </p:nvPicPr>
          <p:blipFill>
            <a:blip r:embed="rId15"/>
            <a:stretch>
              <a:fillRect/>
            </a:stretch>
          </p:blipFill>
          <p:spPr>
            <a:xfrm>
              <a:off x="1309695" y="2657720"/>
              <a:ext cx="3198857" cy="2177809"/>
            </a:xfrm>
            <a:prstGeom prst="rect">
              <a:avLst/>
            </a:prstGeom>
          </p:spPr>
        </p:pic>
        <p:sp>
          <p:nvSpPr>
            <p:cNvPr id="16" name="Oval Callout 15">
              <a:extLst>
                <a:ext uri="{FF2B5EF4-FFF2-40B4-BE49-F238E27FC236}">
                  <a16:creationId xmlns:a16="http://schemas.microsoft.com/office/drawing/2014/main" id="{5C27D1BA-A3DC-434B-5F87-A4CDDC79F5A3}"/>
                </a:ext>
              </a:extLst>
            </p:cNvPr>
            <p:cNvSpPr/>
            <p:nvPr/>
          </p:nvSpPr>
          <p:spPr>
            <a:xfrm>
              <a:off x="2422514" y="635294"/>
              <a:ext cx="3462761" cy="1847809"/>
            </a:xfrm>
            <a:prstGeom prst="wedgeEllipseCallout">
              <a:avLst>
                <a:gd name="adj1" fmla="val -50254"/>
                <a:gd name="adj2" fmla="val 62958"/>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“That looks like my work.”</a:t>
              </a:r>
            </a:p>
          </p:txBody>
        </p:sp>
      </p:grpSp>
    </p:spTree>
    <p:extLst>
      <p:ext uri="{BB962C8B-B14F-4D97-AF65-F5344CB8AC3E}">
        <p14:creationId xmlns:p14="http://schemas.microsoft.com/office/powerpoint/2010/main" val="169268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 grpId="0"/>
      <p:bldP spid="32"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0A8F9-BA9A-D13E-240B-728E825337CC}"/>
            </a:ext>
          </a:extLst>
        </p:cNvPr>
        <p:cNvGrpSpPr/>
        <p:nvPr/>
      </p:nvGrpSpPr>
      <p:grpSpPr>
        <a:xfrm>
          <a:off x="0" y="0"/>
          <a:ext cx="0" cy="0"/>
          <a:chOff x="0" y="0"/>
          <a:chExt cx="0" cy="0"/>
        </a:xfrm>
      </p:grpSpPr>
      <p:sp>
        <p:nvSpPr>
          <p:cNvPr id="14" name="Right Arrow 13">
            <a:extLst>
              <a:ext uri="{FF2B5EF4-FFF2-40B4-BE49-F238E27FC236}">
                <a16:creationId xmlns:a16="http://schemas.microsoft.com/office/drawing/2014/main" id="{FEBC6437-1AE2-D13F-0BA0-1F50593FAF4D}"/>
              </a:ext>
            </a:extLst>
          </p:cNvPr>
          <p:cNvSpPr/>
          <p:nvPr/>
        </p:nvSpPr>
        <p:spPr>
          <a:xfrm rot="5400000">
            <a:off x="7494973" y="1705239"/>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Robot with solid fill">
            <a:extLst>
              <a:ext uri="{FF2B5EF4-FFF2-40B4-BE49-F238E27FC236}">
                <a16:creationId xmlns:a16="http://schemas.microsoft.com/office/drawing/2014/main" id="{E3CE49D0-A69B-8293-7C02-D0A31FB3DF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7500" y="2564891"/>
            <a:ext cx="1312449" cy="1312449"/>
          </a:xfrm>
          <a:prstGeom prst="rect">
            <a:avLst/>
          </a:prstGeom>
        </p:spPr>
      </p:pic>
      <p:sp>
        <p:nvSpPr>
          <p:cNvPr id="16" name="Right Arrow 15">
            <a:extLst>
              <a:ext uri="{FF2B5EF4-FFF2-40B4-BE49-F238E27FC236}">
                <a16:creationId xmlns:a16="http://schemas.microsoft.com/office/drawing/2014/main" id="{7ADA6AEC-2B78-DBB8-D4F5-C8397D207919}"/>
              </a:ext>
            </a:extLst>
          </p:cNvPr>
          <p:cNvSpPr/>
          <p:nvPr/>
        </p:nvSpPr>
        <p:spPr>
          <a:xfrm rot="5400000">
            <a:off x="7197502" y="4365931"/>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C95E815A-60C5-2D3F-8B63-8842699A6DA7}"/>
              </a:ext>
            </a:extLst>
          </p:cNvPr>
          <p:cNvGrpSpPr/>
          <p:nvPr/>
        </p:nvGrpSpPr>
        <p:grpSpPr>
          <a:xfrm>
            <a:off x="6468406" y="932962"/>
            <a:ext cx="2810755" cy="524405"/>
            <a:chOff x="6468406" y="932962"/>
            <a:chExt cx="2810755" cy="524405"/>
          </a:xfrm>
        </p:grpSpPr>
        <p:pic>
          <p:nvPicPr>
            <p:cNvPr id="25" name="Picture 24" descr="10 most famous paintings: Masterpieces we all know and love | CNN">
              <a:extLst>
                <a:ext uri="{FF2B5EF4-FFF2-40B4-BE49-F238E27FC236}">
                  <a16:creationId xmlns:a16="http://schemas.microsoft.com/office/drawing/2014/main" id="{65ADAEC6-0CB6-BA80-EC29-434E2B2CDBBD}"/>
                </a:ext>
              </a:extLst>
            </p:cNvPr>
            <p:cNvPicPr>
              <a:picLocks noChangeAspect="1"/>
            </p:cNvPicPr>
            <p:nvPr/>
          </p:nvPicPr>
          <p:blipFill>
            <a:blip r:embed="rId4"/>
            <a:stretch>
              <a:fillRect/>
            </a:stretch>
          </p:blipFill>
          <p:spPr>
            <a:xfrm>
              <a:off x="6468406" y="932962"/>
              <a:ext cx="351006" cy="522694"/>
            </a:xfrm>
            <a:prstGeom prst="rect">
              <a:avLst/>
            </a:prstGeom>
          </p:spPr>
        </p:pic>
        <p:pic>
          <p:nvPicPr>
            <p:cNvPr id="26" name="Picture 25"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0F55C175-47B8-F499-0010-6CD7BFFA1F28}"/>
                </a:ext>
              </a:extLst>
            </p:cNvPr>
            <p:cNvPicPr>
              <a:picLocks noChangeAspect="1"/>
            </p:cNvPicPr>
            <p:nvPr/>
          </p:nvPicPr>
          <p:blipFill>
            <a:blip r:embed="rId5"/>
            <a:srcRect l="10463"/>
            <a:stretch>
              <a:fillRect/>
            </a:stretch>
          </p:blipFill>
          <p:spPr>
            <a:xfrm>
              <a:off x="7698281" y="932962"/>
              <a:ext cx="351006" cy="522694"/>
            </a:xfrm>
            <a:prstGeom prst="rect">
              <a:avLst/>
            </a:prstGeom>
          </p:spPr>
        </p:pic>
        <p:pic>
          <p:nvPicPr>
            <p:cNvPr id="27" name="Picture 26" descr="Amazon.com: INVIN ART Framed Canvas ...">
              <a:extLst>
                <a:ext uri="{FF2B5EF4-FFF2-40B4-BE49-F238E27FC236}">
                  <a16:creationId xmlns:a16="http://schemas.microsoft.com/office/drawing/2014/main" id="{B94B7464-2EC1-F0D2-163B-46FF4AB15050}"/>
                </a:ext>
              </a:extLst>
            </p:cNvPr>
            <p:cNvPicPr>
              <a:picLocks noChangeAspect="1"/>
            </p:cNvPicPr>
            <p:nvPr/>
          </p:nvPicPr>
          <p:blipFill>
            <a:blip r:embed="rId6"/>
            <a:srcRect l="12290"/>
            <a:stretch>
              <a:fillRect/>
            </a:stretch>
          </p:blipFill>
          <p:spPr>
            <a:xfrm>
              <a:off x="7083343" y="932962"/>
              <a:ext cx="351007" cy="522694"/>
            </a:xfrm>
            <a:prstGeom prst="rect">
              <a:avLst/>
            </a:prstGeom>
          </p:spPr>
        </p:pic>
        <p:pic>
          <p:nvPicPr>
            <p:cNvPr id="28" name="Picture 27" descr="Jackson Pollock, Manner of: Drip Painting for sale at auction on 15th March  | Bidsquare">
              <a:extLst>
                <a:ext uri="{FF2B5EF4-FFF2-40B4-BE49-F238E27FC236}">
                  <a16:creationId xmlns:a16="http://schemas.microsoft.com/office/drawing/2014/main" id="{41B89A81-F067-9E72-94EB-E62AFC1646A9}"/>
                </a:ext>
              </a:extLst>
            </p:cNvPr>
            <p:cNvPicPr>
              <a:picLocks noChangeAspect="1"/>
            </p:cNvPicPr>
            <p:nvPr/>
          </p:nvPicPr>
          <p:blipFill>
            <a:blip r:embed="rId7"/>
            <a:srcRect r="18039"/>
            <a:stretch>
              <a:fillRect/>
            </a:stretch>
          </p:blipFill>
          <p:spPr>
            <a:xfrm>
              <a:off x="8928155" y="932962"/>
              <a:ext cx="351006" cy="524405"/>
            </a:xfrm>
            <a:prstGeom prst="rect">
              <a:avLst/>
            </a:prstGeom>
          </p:spPr>
        </p:pic>
        <p:pic>
          <p:nvPicPr>
            <p:cNvPr id="29" name="Picture 28" descr="Girl with a Pearl Earring - Wikipedia">
              <a:extLst>
                <a:ext uri="{FF2B5EF4-FFF2-40B4-BE49-F238E27FC236}">
                  <a16:creationId xmlns:a16="http://schemas.microsoft.com/office/drawing/2014/main" id="{406DD850-74D7-F110-5BAD-3F0E9DB68D76}"/>
                </a:ext>
              </a:extLst>
            </p:cNvPr>
            <p:cNvPicPr>
              <a:picLocks noChangeAspect="1"/>
            </p:cNvPicPr>
            <p:nvPr/>
          </p:nvPicPr>
          <p:blipFill>
            <a:blip r:embed="rId8"/>
            <a:srcRect l="20362"/>
            <a:stretch>
              <a:fillRect/>
            </a:stretch>
          </p:blipFill>
          <p:spPr>
            <a:xfrm>
              <a:off x="8313218" y="934765"/>
              <a:ext cx="351006" cy="520891"/>
            </a:xfrm>
            <a:prstGeom prst="rect">
              <a:avLst/>
            </a:prstGeom>
          </p:spPr>
        </p:pic>
      </p:grpSp>
      <p:grpSp>
        <p:nvGrpSpPr>
          <p:cNvPr id="6" name="Group 5">
            <a:extLst>
              <a:ext uri="{FF2B5EF4-FFF2-40B4-BE49-F238E27FC236}">
                <a16:creationId xmlns:a16="http://schemas.microsoft.com/office/drawing/2014/main" id="{029088FD-FF5B-D2BE-2230-74A424C63CEF}"/>
              </a:ext>
            </a:extLst>
          </p:cNvPr>
          <p:cNvGrpSpPr/>
          <p:nvPr/>
        </p:nvGrpSpPr>
        <p:grpSpPr>
          <a:xfrm>
            <a:off x="6096000" y="674281"/>
            <a:ext cx="2890200" cy="1045388"/>
            <a:chOff x="6736152" y="666361"/>
            <a:chExt cx="2890200" cy="1045388"/>
          </a:xfrm>
        </p:grpSpPr>
        <p:sp>
          <p:nvSpPr>
            <p:cNvPr id="7" name="Multiply 6">
              <a:extLst>
                <a:ext uri="{FF2B5EF4-FFF2-40B4-BE49-F238E27FC236}">
                  <a16:creationId xmlns:a16="http://schemas.microsoft.com/office/drawing/2014/main" id="{2DE399EB-309E-C613-0455-717774301F24}"/>
                </a:ext>
              </a:extLst>
            </p:cNvPr>
            <p:cNvSpPr/>
            <p:nvPr/>
          </p:nvSpPr>
          <p:spPr>
            <a:xfrm>
              <a:off x="8580964"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y 7">
              <a:extLst>
                <a:ext uri="{FF2B5EF4-FFF2-40B4-BE49-F238E27FC236}">
                  <a16:creationId xmlns:a16="http://schemas.microsoft.com/office/drawing/2014/main" id="{53D84F59-FED8-2488-2F90-CC04F901B2AC}"/>
                </a:ext>
              </a:extLst>
            </p:cNvPr>
            <p:cNvSpPr/>
            <p:nvPr/>
          </p:nvSpPr>
          <p:spPr>
            <a:xfrm>
              <a:off x="6736152"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Connector 11">
            <a:extLst>
              <a:ext uri="{FF2B5EF4-FFF2-40B4-BE49-F238E27FC236}">
                <a16:creationId xmlns:a16="http://schemas.microsoft.com/office/drawing/2014/main" id="{F4E2BA50-AE3C-CE7C-CF05-ADEE4FCA09F7}"/>
              </a:ext>
            </a:extLst>
          </p:cNvPr>
          <p:cNvCxnSpPr>
            <a:cxnSpLocks/>
          </p:cNvCxnSpPr>
          <p:nvPr/>
        </p:nvCxnSpPr>
        <p:spPr>
          <a:xfrm flipH="1">
            <a:off x="7258846" y="2816230"/>
            <a:ext cx="1054372" cy="907185"/>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grpSp>
        <p:nvGrpSpPr>
          <p:cNvPr id="13" name="Group 12">
            <a:extLst>
              <a:ext uri="{FF2B5EF4-FFF2-40B4-BE49-F238E27FC236}">
                <a16:creationId xmlns:a16="http://schemas.microsoft.com/office/drawing/2014/main" id="{4192588A-C641-84EE-1F4B-0263628A0CAD}"/>
              </a:ext>
            </a:extLst>
          </p:cNvPr>
          <p:cNvGrpSpPr/>
          <p:nvPr/>
        </p:nvGrpSpPr>
        <p:grpSpPr>
          <a:xfrm>
            <a:off x="8403324" y="2564891"/>
            <a:ext cx="1437980" cy="1312449"/>
            <a:chOff x="8403324" y="2564891"/>
            <a:chExt cx="1437980" cy="1312449"/>
          </a:xfrm>
        </p:grpSpPr>
        <p:pic>
          <p:nvPicPr>
            <p:cNvPr id="18" name="Graphic 17" descr="Robot with solid fill">
              <a:extLst>
                <a:ext uri="{FF2B5EF4-FFF2-40B4-BE49-F238E27FC236}">
                  <a16:creationId xmlns:a16="http://schemas.microsoft.com/office/drawing/2014/main" id="{D5B1B46A-EB59-1D98-B301-54E3C749DBE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03324" y="2564891"/>
              <a:ext cx="1312449" cy="1312449"/>
            </a:xfrm>
            <a:prstGeom prst="rect">
              <a:avLst/>
            </a:prstGeom>
          </p:spPr>
        </p:pic>
        <p:sp>
          <p:nvSpPr>
            <p:cNvPr id="20" name="Rectangle 19">
              <a:extLst>
                <a:ext uri="{FF2B5EF4-FFF2-40B4-BE49-F238E27FC236}">
                  <a16:creationId xmlns:a16="http://schemas.microsoft.com/office/drawing/2014/main" id="{7DD88F74-ACC9-4B6C-AEA5-1D974DD31189}"/>
                </a:ext>
              </a:extLst>
            </p:cNvPr>
            <p:cNvSpPr/>
            <p:nvPr/>
          </p:nvSpPr>
          <p:spPr>
            <a:xfrm>
              <a:off x="9278800" y="3116426"/>
              <a:ext cx="562504" cy="398417"/>
            </a:xfrm>
            <a:prstGeom prst="rect">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2" name="Graphic 31" descr="Robot Hand with solid fill">
              <a:extLst>
                <a:ext uri="{FF2B5EF4-FFF2-40B4-BE49-F238E27FC236}">
                  <a16:creationId xmlns:a16="http://schemas.microsoft.com/office/drawing/2014/main" id="{97732EA2-7416-A5EF-B2CB-19027EEB4EE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5400000" flipH="1">
              <a:off x="9191899" y="2847451"/>
              <a:ext cx="562504" cy="562504"/>
            </a:xfrm>
            <a:prstGeom prst="rect">
              <a:avLst/>
            </a:prstGeom>
          </p:spPr>
        </p:pic>
      </p:grpSp>
      <p:sp>
        <p:nvSpPr>
          <p:cNvPr id="46" name="TextBox 45">
            <a:extLst>
              <a:ext uri="{FF2B5EF4-FFF2-40B4-BE49-F238E27FC236}">
                <a16:creationId xmlns:a16="http://schemas.microsoft.com/office/drawing/2014/main" id="{8DCE471E-5743-BD4F-8D0B-E52DE2B20FF9}"/>
              </a:ext>
            </a:extLst>
          </p:cNvPr>
          <p:cNvSpPr txBox="1"/>
          <p:nvPr/>
        </p:nvSpPr>
        <p:spPr>
          <a:xfrm>
            <a:off x="5448683" y="1690688"/>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47" name="TextBox 46">
            <a:extLst>
              <a:ext uri="{FF2B5EF4-FFF2-40B4-BE49-F238E27FC236}">
                <a16:creationId xmlns:a16="http://schemas.microsoft.com/office/drawing/2014/main" id="{3B422110-D116-3111-C3E5-D9A2684977D7}"/>
              </a:ext>
            </a:extLst>
          </p:cNvPr>
          <p:cNvSpPr txBox="1"/>
          <p:nvPr/>
        </p:nvSpPr>
        <p:spPr>
          <a:xfrm>
            <a:off x="5157030" y="3937695"/>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sp>
        <p:nvSpPr>
          <p:cNvPr id="2" name="TextBox 1">
            <a:extLst>
              <a:ext uri="{FF2B5EF4-FFF2-40B4-BE49-F238E27FC236}">
                <a16:creationId xmlns:a16="http://schemas.microsoft.com/office/drawing/2014/main" id="{550A118C-A872-AAB1-D51E-B5D9B43CE8FF}"/>
              </a:ext>
            </a:extLst>
          </p:cNvPr>
          <p:cNvSpPr txBox="1"/>
          <p:nvPr/>
        </p:nvSpPr>
        <p:spPr>
          <a:xfrm>
            <a:off x="8155753" y="4159900"/>
            <a:ext cx="2240578" cy="461665"/>
          </a:xfrm>
          <a:prstGeom prst="rect">
            <a:avLst/>
          </a:prstGeom>
          <a:noFill/>
        </p:spPr>
        <p:txBody>
          <a:bodyPr wrap="square" rtlCol="0">
            <a:spAutoFit/>
          </a:bodyPr>
          <a:lstStyle/>
          <a:p>
            <a:r>
              <a:rPr lang="en-US" sz="2400" dirty="0"/>
              <a:t>Benchmark</a:t>
            </a:r>
          </a:p>
        </p:txBody>
      </p:sp>
      <p:sp>
        <p:nvSpPr>
          <p:cNvPr id="3" name="TextBox 2">
            <a:extLst>
              <a:ext uri="{FF2B5EF4-FFF2-40B4-BE49-F238E27FC236}">
                <a16:creationId xmlns:a16="http://schemas.microsoft.com/office/drawing/2014/main" id="{C06C371D-115B-9648-420C-38EF06A392AB}"/>
              </a:ext>
            </a:extLst>
          </p:cNvPr>
          <p:cNvSpPr txBox="1"/>
          <p:nvPr/>
        </p:nvSpPr>
        <p:spPr>
          <a:xfrm>
            <a:off x="7618781" y="5278707"/>
            <a:ext cx="430506" cy="646331"/>
          </a:xfrm>
          <a:prstGeom prst="rect">
            <a:avLst/>
          </a:prstGeom>
          <a:noFill/>
        </p:spPr>
        <p:txBody>
          <a:bodyPr wrap="square" rtlCol="0">
            <a:spAutoFit/>
          </a:bodyPr>
          <a:lstStyle/>
          <a:p>
            <a:r>
              <a:rPr lang="en-US" sz="3600" dirty="0"/>
              <a:t>7</a:t>
            </a:r>
          </a:p>
        </p:txBody>
      </p:sp>
      <p:cxnSp>
        <p:nvCxnSpPr>
          <p:cNvPr id="4" name="Straight Connector 3">
            <a:extLst>
              <a:ext uri="{FF2B5EF4-FFF2-40B4-BE49-F238E27FC236}">
                <a16:creationId xmlns:a16="http://schemas.microsoft.com/office/drawing/2014/main" id="{1CF2F800-C87B-D3AD-A46E-9A7EACD1099F}"/>
              </a:ext>
            </a:extLst>
          </p:cNvPr>
          <p:cNvCxnSpPr>
            <a:cxnSpLocks/>
          </p:cNvCxnSpPr>
          <p:nvPr/>
        </p:nvCxnSpPr>
        <p:spPr>
          <a:xfrm flipH="1">
            <a:off x="7618781" y="5377070"/>
            <a:ext cx="430506" cy="437321"/>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sp>
        <p:nvSpPr>
          <p:cNvPr id="5" name="Content Placeholder 2">
            <a:extLst>
              <a:ext uri="{FF2B5EF4-FFF2-40B4-BE49-F238E27FC236}">
                <a16:creationId xmlns:a16="http://schemas.microsoft.com/office/drawing/2014/main" id="{B79D157D-1722-3C89-2C6B-C14BB13B6229}"/>
              </a:ext>
            </a:extLst>
          </p:cNvPr>
          <p:cNvSpPr txBox="1">
            <a:spLocks/>
          </p:cNvSpPr>
          <p:nvPr/>
        </p:nvSpPr>
        <p:spPr>
          <a:xfrm>
            <a:off x="8313218" y="5377070"/>
            <a:ext cx="1045902" cy="514659"/>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dirty="0">
                <a:latin typeface="+mn-lt"/>
              </a:rPr>
              <a:t>10</a:t>
            </a:r>
          </a:p>
        </p:txBody>
      </p:sp>
      <p:sp>
        <p:nvSpPr>
          <p:cNvPr id="33" name="TextBox 32">
            <a:extLst>
              <a:ext uri="{FF2B5EF4-FFF2-40B4-BE49-F238E27FC236}">
                <a16:creationId xmlns:a16="http://schemas.microsoft.com/office/drawing/2014/main" id="{E4B77E69-1560-F0B2-FFBD-DF64C7C58735}"/>
              </a:ext>
            </a:extLst>
          </p:cNvPr>
          <p:cNvSpPr txBox="1"/>
          <p:nvPr/>
        </p:nvSpPr>
        <p:spPr>
          <a:xfrm>
            <a:off x="731136" y="472039"/>
            <a:ext cx="4327881" cy="1754326"/>
          </a:xfrm>
          <a:prstGeom prst="rect">
            <a:avLst/>
          </a:prstGeom>
          <a:noFill/>
        </p:spPr>
        <p:txBody>
          <a:bodyPr wrap="square" rtlCol="0">
            <a:spAutoFit/>
          </a:bodyPr>
          <a:lstStyle/>
          <a:p>
            <a:r>
              <a:rPr lang="en-US" sz="3600" u="sng" dirty="0">
                <a:latin typeface="Garamond" panose="02020404030301010803" pitchFamily="18" charset="0"/>
              </a:rPr>
              <a:t>Data selection</a:t>
            </a:r>
            <a:r>
              <a:rPr lang="en-US" sz="3600" dirty="0">
                <a:latin typeface="Garamond" panose="02020404030301010803" pitchFamily="18" charset="0"/>
              </a:rPr>
              <a:t>:</a:t>
            </a:r>
          </a:p>
          <a:p>
            <a:r>
              <a:rPr lang="en-US" sz="3600" dirty="0">
                <a:latin typeface="Garamond" panose="02020404030301010803" pitchFamily="18" charset="0"/>
              </a:rPr>
              <a:t>Determine good and bad sources of data.</a:t>
            </a:r>
          </a:p>
        </p:txBody>
      </p:sp>
      <p:sp>
        <p:nvSpPr>
          <p:cNvPr id="9" name="TextBox 8">
            <a:extLst>
              <a:ext uri="{FF2B5EF4-FFF2-40B4-BE49-F238E27FC236}">
                <a16:creationId xmlns:a16="http://schemas.microsoft.com/office/drawing/2014/main" id="{CBF16806-C698-8601-F639-EE1DA430AA05}"/>
              </a:ext>
            </a:extLst>
          </p:cNvPr>
          <p:cNvSpPr txBox="1"/>
          <p:nvPr/>
        </p:nvSpPr>
        <p:spPr>
          <a:xfrm>
            <a:off x="5784094" y="2290515"/>
            <a:ext cx="1467989" cy="646331"/>
          </a:xfrm>
          <a:prstGeom prst="rect">
            <a:avLst/>
          </a:prstGeom>
          <a:noFill/>
        </p:spPr>
        <p:txBody>
          <a:bodyPr wrap="square" rtlCol="0">
            <a:spAutoFit/>
          </a:bodyPr>
          <a:lstStyle/>
          <a:p>
            <a:pPr algn="r"/>
            <a:r>
              <a:rPr lang="en-US" sz="3600" dirty="0">
                <a:latin typeface="Garamond" panose="02020404030301010803" pitchFamily="18" charset="0"/>
              </a:rPr>
              <a:t>(</a:t>
            </a:r>
            <a:r>
              <a:rPr lang="en-US" sz="3600" b="1" dirty="0">
                <a:solidFill>
                  <a:srgbClr val="FF0000"/>
                </a:solidFill>
                <a:latin typeface="Garamond" panose="02020404030301010803" pitchFamily="18" charset="0"/>
              </a:rPr>
              <a:t>slow</a:t>
            </a:r>
            <a:r>
              <a:rPr lang="en-US" sz="3600" dirty="0">
                <a:latin typeface="Garamond" panose="02020404030301010803" pitchFamily="18" charset="0"/>
              </a:rPr>
              <a:t>)</a:t>
            </a:r>
          </a:p>
        </p:txBody>
      </p:sp>
      <p:sp>
        <p:nvSpPr>
          <p:cNvPr id="10" name="TextBox 9">
            <a:extLst>
              <a:ext uri="{FF2B5EF4-FFF2-40B4-BE49-F238E27FC236}">
                <a16:creationId xmlns:a16="http://schemas.microsoft.com/office/drawing/2014/main" id="{C195DCC2-FF06-6D26-F911-61CED66E5105}"/>
              </a:ext>
            </a:extLst>
          </p:cNvPr>
          <p:cNvSpPr txBox="1"/>
          <p:nvPr/>
        </p:nvSpPr>
        <p:spPr>
          <a:xfrm>
            <a:off x="5784094" y="4467336"/>
            <a:ext cx="1467989" cy="646331"/>
          </a:xfrm>
          <a:prstGeom prst="rect">
            <a:avLst/>
          </a:prstGeom>
          <a:noFill/>
        </p:spPr>
        <p:txBody>
          <a:bodyPr wrap="square" rtlCol="0">
            <a:spAutoFit/>
          </a:bodyPr>
          <a:lstStyle/>
          <a:p>
            <a:pPr algn="r"/>
            <a:r>
              <a:rPr lang="en-US" sz="3600" dirty="0">
                <a:latin typeface="Garamond" panose="02020404030301010803" pitchFamily="18" charset="0"/>
              </a:rPr>
              <a:t>(fast)</a:t>
            </a:r>
          </a:p>
        </p:txBody>
      </p:sp>
    </p:spTree>
    <p:extLst>
      <p:ext uri="{BB962C8B-B14F-4D97-AF65-F5344CB8AC3E}">
        <p14:creationId xmlns:p14="http://schemas.microsoft.com/office/powerpoint/2010/main" val="304547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BE50D-9181-AD0D-73EC-E9E2F4BDD92D}"/>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A3FC16F8-C251-2E9C-2129-D2F79DA60BED}"/>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65D1D4DB-17BB-586A-1B71-6F8F92E62B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1800F7F3-E516-63D0-CA36-5F97A0CAD391}"/>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45570FB1-D546-6881-3A0D-12D8FA7C25FD}"/>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2D5050BD-15CC-3EC0-26F4-4C7F997A22EC}"/>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1DC2EA7F-693A-8144-F4DB-CC82871B51EE}"/>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E5804803-2F3D-E8ED-0FA4-AFC8C4C3E5E1}"/>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F1339354-B523-A0AD-D09D-C873601B9F69}"/>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7D6D608B-019D-455D-71F8-D5DF8EB3F4D4}"/>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994255B8-C0B7-92A6-30C9-5C701C6BB3B7}"/>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sp>
        <p:nvSpPr>
          <p:cNvPr id="3" name="Left Arrow 2">
            <a:extLst>
              <a:ext uri="{FF2B5EF4-FFF2-40B4-BE49-F238E27FC236}">
                <a16:creationId xmlns:a16="http://schemas.microsoft.com/office/drawing/2014/main" id="{C62B0BAD-EF6C-170C-1BC4-AAE593E89D92}"/>
              </a:ext>
            </a:extLst>
          </p:cNvPr>
          <p:cNvSpPr/>
          <p:nvPr/>
        </p:nvSpPr>
        <p:spPr>
          <a:xfrm rot="2194619">
            <a:off x="7912527" y="3606319"/>
            <a:ext cx="2063987" cy="349321"/>
          </a:xfrm>
          <a:prstGeom prst="leftArrow">
            <a:avLst/>
          </a:prstGeom>
          <a:solidFill>
            <a:srgbClr val="FFC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E7B854B9-512C-7A8C-2F85-06E949E072D1}"/>
              </a:ext>
            </a:extLst>
          </p:cNvPr>
          <p:cNvSpPr txBox="1"/>
          <p:nvPr/>
        </p:nvSpPr>
        <p:spPr>
          <a:xfrm>
            <a:off x="6095555" y="2642493"/>
            <a:ext cx="2101237" cy="646331"/>
          </a:xfrm>
          <a:prstGeom prst="rect">
            <a:avLst/>
          </a:prstGeom>
          <a:noFill/>
        </p:spPr>
        <p:txBody>
          <a:bodyPr wrap="square" rtlCol="0">
            <a:spAutoFit/>
          </a:bodyPr>
          <a:lstStyle/>
          <a:p>
            <a:r>
              <a:rPr lang="en-US" dirty="0"/>
              <a:t>“Give me an abstract painting”</a:t>
            </a:r>
          </a:p>
        </p:txBody>
      </p:sp>
      <p:pic>
        <p:nvPicPr>
          <p:cNvPr id="15" name="Picture 14">
            <a:extLst>
              <a:ext uri="{FF2B5EF4-FFF2-40B4-BE49-F238E27FC236}">
                <a16:creationId xmlns:a16="http://schemas.microsoft.com/office/drawing/2014/main" id="{AC08443C-B58D-EF13-C6A2-A974D5A62DA8}"/>
              </a:ext>
            </a:extLst>
          </p:cNvPr>
          <p:cNvPicPr>
            <a:picLocks noChangeAspect="1"/>
          </p:cNvPicPr>
          <p:nvPr/>
        </p:nvPicPr>
        <p:blipFill>
          <a:blip r:embed="rId9"/>
          <a:stretch>
            <a:fillRect/>
          </a:stretch>
        </p:blipFill>
        <p:spPr>
          <a:xfrm>
            <a:off x="6025229" y="3444567"/>
            <a:ext cx="1938034" cy="569395"/>
          </a:xfrm>
          <a:prstGeom prst="rect">
            <a:avLst/>
          </a:prstGeom>
        </p:spPr>
      </p:pic>
      <p:sp>
        <p:nvSpPr>
          <p:cNvPr id="16" name="Left Arrow 15">
            <a:extLst>
              <a:ext uri="{FF2B5EF4-FFF2-40B4-BE49-F238E27FC236}">
                <a16:creationId xmlns:a16="http://schemas.microsoft.com/office/drawing/2014/main" id="{504CEBC0-8A23-8037-78AE-497E2E44D63E}"/>
              </a:ext>
            </a:extLst>
          </p:cNvPr>
          <p:cNvSpPr/>
          <p:nvPr/>
        </p:nvSpPr>
        <p:spPr>
          <a:xfrm rot="1376238">
            <a:off x="7963508" y="3949894"/>
            <a:ext cx="1844719" cy="349321"/>
          </a:xfrm>
          <a:prstGeom prst="leftArrow">
            <a:avLst/>
          </a:prstGeom>
          <a:solidFill>
            <a:srgbClr val="FFC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Left Arrow 16">
            <a:extLst>
              <a:ext uri="{FF2B5EF4-FFF2-40B4-BE49-F238E27FC236}">
                <a16:creationId xmlns:a16="http://schemas.microsoft.com/office/drawing/2014/main" id="{A7B6BFBA-4DAE-CBF1-44D0-43F9B5BF8DB9}"/>
              </a:ext>
            </a:extLst>
          </p:cNvPr>
          <p:cNvSpPr/>
          <p:nvPr/>
        </p:nvSpPr>
        <p:spPr>
          <a:xfrm rot="356332">
            <a:off x="8009782" y="4305812"/>
            <a:ext cx="1706110" cy="349321"/>
          </a:xfrm>
          <a:prstGeom prst="leftArrow">
            <a:avLst/>
          </a:prstGeom>
          <a:solidFill>
            <a:srgbClr val="FFC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BA95A0F-9F5C-9FA2-A7A0-0C107AB16894}"/>
              </a:ext>
            </a:extLst>
          </p:cNvPr>
          <p:cNvSpPr txBox="1"/>
          <p:nvPr/>
        </p:nvSpPr>
        <p:spPr>
          <a:xfrm>
            <a:off x="6527623" y="4169705"/>
            <a:ext cx="1394683" cy="369332"/>
          </a:xfrm>
          <a:prstGeom prst="rect">
            <a:avLst/>
          </a:prstGeom>
          <a:noFill/>
        </p:spPr>
        <p:txBody>
          <a:bodyPr wrap="square" rtlCol="0">
            <a:spAutoFit/>
          </a:bodyPr>
          <a:lstStyle/>
          <a:p>
            <a:r>
              <a:rPr lang="en-US" dirty="0"/>
              <a:t>Benchmark</a:t>
            </a:r>
          </a:p>
        </p:txBody>
      </p:sp>
      <p:sp>
        <p:nvSpPr>
          <p:cNvPr id="5" name="TextBox 4">
            <a:extLst>
              <a:ext uri="{FF2B5EF4-FFF2-40B4-BE49-F238E27FC236}">
                <a16:creationId xmlns:a16="http://schemas.microsoft.com/office/drawing/2014/main" id="{A03CA6B0-0E51-E003-3925-962A22887CB2}"/>
              </a:ext>
            </a:extLst>
          </p:cNvPr>
          <p:cNvSpPr txBox="1"/>
          <p:nvPr/>
        </p:nvSpPr>
        <p:spPr>
          <a:xfrm>
            <a:off x="466006" y="2203011"/>
            <a:ext cx="6966691" cy="1754326"/>
          </a:xfrm>
          <a:prstGeom prst="rect">
            <a:avLst/>
          </a:prstGeom>
          <a:noFill/>
        </p:spPr>
        <p:txBody>
          <a:bodyPr wrap="square" rtlCol="0">
            <a:spAutoFit/>
          </a:bodyPr>
          <a:lstStyle/>
          <a:p>
            <a:pPr marL="457200" indent="-457200">
              <a:buFont typeface="Arial" panose="020B0604020202020204" pitchFamily="34" charset="0"/>
              <a:buChar char="•"/>
            </a:pPr>
            <a:r>
              <a:rPr lang="en-US" sz="3600" dirty="0">
                <a:latin typeface="Garamond" panose="02020404030301010803" pitchFamily="18" charset="0"/>
              </a:rPr>
              <a:t>machine unlearning</a:t>
            </a:r>
          </a:p>
          <a:p>
            <a:pPr marL="457200" indent="-457200">
              <a:buFont typeface="Arial" panose="020B0604020202020204" pitchFamily="34" charset="0"/>
              <a:buChar char="•"/>
            </a:pPr>
            <a:r>
              <a:rPr lang="en-US" sz="3600" dirty="0">
                <a:latin typeface="Garamond" panose="02020404030301010803" pitchFamily="18" charset="0"/>
              </a:rPr>
              <a:t>data attribution</a:t>
            </a:r>
          </a:p>
          <a:p>
            <a:pPr marL="457200" indent="-457200">
              <a:buFont typeface="Arial" panose="020B0604020202020204" pitchFamily="34" charset="0"/>
              <a:buChar char="•"/>
            </a:pPr>
            <a:r>
              <a:rPr lang="en-US" sz="3600" dirty="0">
                <a:latin typeface="Garamond" panose="02020404030301010803" pitchFamily="18" charset="0"/>
              </a:rPr>
              <a:t>data selection ($$$)</a:t>
            </a:r>
          </a:p>
        </p:txBody>
      </p:sp>
      <p:sp>
        <p:nvSpPr>
          <p:cNvPr id="7" name="Rectangle 6">
            <a:extLst>
              <a:ext uri="{FF2B5EF4-FFF2-40B4-BE49-F238E27FC236}">
                <a16:creationId xmlns:a16="http://schemas.microsoft.com/office/drawing/2014/main" id="{20EDE1ED-6643-4685-E008-689E4A1030D3}"/>
              </a:ext>
            </a:extLst>
          </p:cNvPr>
          <p:cNvSpPr/>
          <p:nvPr/>
        </p:nvSpPr>
        <p:spPr>
          <a:xfrm>
            <a:off x="466006" y="283872"/>
            <a:ext cx="4800600" cy="1709530"/>
          </a:xfrm>
          <a:prstGeom prst="rect">
            <a:avLst/>
          </a:prstGeom>
          <a:solidFill>
            <a:srgbClr val="FF0000">
              <a:alpha val="50000"/>
            </a:srgb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Garamond" panose="02020404030301010803" pitchFamily="18" charset="0"/>
              </a:rPr>
              <a:t>Changing the training data requires </a:t>
            </a:r>
            <a:r>
              <a:rPr lang="en-US" sz="3600" b="1" dirty="0">
                <a:solidFill>
                  <a:schemeClr val="tx1"/>
                </a:solidFill>
                <a:latin typeface="Garamond" panose="02020404030301010803" pitchFamily="18" charset="0"/>
              </a:rPr>
              <a:t>re-training</a:t>
            </a:r>
            <a:r>
              <a:rPr lang="en-US" sz="3600" dirty="0">
                <a:solidFill>
                  <a:schemeClr val="tx1"/>
                </a:solidFill>
                <a:latin typeface="Garamond" panose="02020404030301010803" pitchFamily="18" charset="0"/>
              </a:rPr>
              <a:t> the model.</a:t>
            </a:r>
          </a:p>
        </p:txBody>
      </p:sp>
    </p:spTree>
    <p:extLst>
      <p:ext uri="{BB962C8B-B14F-4D97-AF65-F5344CB8AC3E}">
        <p14:creationId xmlns:p14="http://schemas.microsoft.com/office/powerpoint/2010/main" val="2459810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16" grpId="0" animBg="1"/>
      <p:bldP spid="17" grpId="0" animBg="1"/>
      <p:bldP spid="18" grpId="0"/>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62A52-0F30-9A43-CC71-E8E0765D1A6E}"/>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500DC37C-828F-607E-BF91-5117A9DFD227}"/>
              </a:ext>
            </a:extLst>
          </p:cNvPr>
          <p:cNvSpPr txBox="1"/>
          <p:nvPr/>
        </p:nvSpPr>
        <p:spPr>
          <a:xfrm>
            <a:off x="466006" y="2203011"/>
            <a:ext cx="6966691" cy="3416320"/>
          </a:xfrm>
          <a:prstGeom prst="rect">
            <a:avLst/>
          </a:prstGeom>
          <a:noFill/>
        </p:spPr>
        <p:txBody>
          <a:bodyPr wrap="square" rtlCol="0">
            <a:spAutoFit/>
          </a:bodyPr>
          <a:lstStyle/>
          <a:p>
            <a:pPr marL="457200" indent="-457200">
              <a:buFont typeface="Arial" panose="020B0604020202020204" pitchFamily="34" charset="0"/>
              <a:buChar char="•"/>
            </a:pPr>
            <a:r>
              <a:rPr lang="en-US" sz="3600" dirty="0">
                <a:latin typeface="Garamond" panose="02020404030301010803" pitchFamily="18" charset="0"/>
              </a:rPr>
              <a:t>machine unlearning</a:t>
            </a:r>
          </a:p>
          <a:p>
            <a:pPr marL="457200" indent="-457200">
              <a:buFont typeface="Arial" panose="020B0604020202020204" pitchFamily="34" charset="0"/>
              <a:buChar char="•"/>
            </a:pPr>
            <a:r>
              <a:rPr lang="en-US" sz="3600" dirty="0">
                <a:latin typeface="Garamond" panose="02020404030301010803" pitchFamily="18" charset="0"/>
              </a:rPr>
              <a:t>data attribution</a:t>
            </a:r>
          </a:p>
          <a:p>
            <a:pPr marL="457200" indent="-457200">
              <a:buFont typeface="Arial" panose="020B0604020202020204" pitchFamily="34" charset="0"/>
              <a:buChar char="•"/>
            </a:pPr>
            <a:r>
              <a:rPr lang="en-US" sz="3600" dirty="0">
                <a:latin typeface="Garamond" panose="02020404030301010803" pitchFamily="18" charset="0"/>
              </a:rPr>
              <a:t>data selection ($$$)</a:t>
            </a:r>
          </a:p>
          <a:p>
            <a:pPr marL="457200" indent="-457200">
              <a:buFont typeface="Arial" panose="020B0604020202020204" pitchFamily="34" charset="0"/>
              <a:buChar char="•"/>
            </a:pPr>
            <a:r>
              <a:rPr lang="en-US" sz="3600" dirty="0">
                <a:latin typeface="Garamond" panose="02020404030301010803" pitchFamily="18" charset="0"/>
              </a:rPr>
              <a:t>defending against data poisoning</a:t>
            </a:r>
          </a:p>
          <a:p>
            <a:pPr marL="457200" indent="-457200">
              <a:buFont typeface="Arial" panose="020B0604020202020204" pitchFamily="34" charset="0"/>
              <a:buChar char="•"/>
            </a:pPr>
            <a:r>
              <a:rPr lang="en-US" sz="3600" dirty="0">
                <a:latin typeface="Garamond" panose="02020404030301010803" pitchFamily="18" charset="0"/>
              </a:rPr>
              <a:t>influence functions</a:t>
            </a:r>
          </a:p>
          <a:p>
            <a:pPr marL="457200" indent="-457200">
              <a:buFont typeface="Arial" panose="020B0604020202020204" pitchFamily="34" charset="0"/>
              <a:buChar char="•"/>
            </a:pPr>
            <a:r>
              <a:rPr lang="en-US" sz="3600" dirty="0">
                <a:latin typeface="Garamond" panose="02020404030301010803" pitchFamily="18" charset="0"/>
              </a:rPr>
              <a:t>…</a:t>
            </a:r>
          </a:p>
        </p:txBody>
      </p:sp>
      <p:sp>
        <p:nvSpPr>
          <p:cNvPr id="28" name="Right Arrow 27">
            <a:extLst>
              <a:ext uri="{FF2B5EF4-FFF2-40B4-BE49-F238E27FC236}">
                <a16:creationId xmlns:a16="http://schemas.microsoft.com/office/drawing/2014/main" id="{22EF73B6-66BE-9EAB-8C73-F0D691040D12}"/>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9B39C711-C8A6-C403-0CB5-7D31DA81E2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F0D36F11-2874-7E81-9676-96128EAB0F70}"/>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008AAA4F-B59F-B31C-0B1B-C34317753DDC}"/>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BF2E6224-83FF-2A36-E64C-9FE84D9043B0}"/>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60992566-9A46-F283-3E42-71A4E10EB5D9}"/>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CABE80EB-296E-26B0-0681-40051E188E28}"/>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588A2F1F-8131-A842-5634-72DF4AA9BCF7}"/>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360F9222-6279-6B36-26FD-75F637664227}"/>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A5BA7182-E228-F4DE-E839-A99157338AED}"/>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sp>
        <p:nvSpPr>
          <p:cNvPr id="6" name="Rectangle 5">
            <a:extLst>
              <a:ext uri="{FF2B5EF4-FFF2-40B4-BE49-F238E27FC236}">
                <a16:creationId xmlns:a16="http://schemas.microsoft.com/office/drawing/2014/main" id="{FFCE46D9-867B-B0F6-2AEA-DE191446A4E8}"/>
              </a:ext>
            </a:extLst>
          </p:cNvPr>
          <p:cNvSpPr/>
          <p:nvPr/>
        </p:nvSpPr>
        <p:spPr>
          <a:xfrm>
            <a:off x="466006" y="283872"/>
            <a:ext cx="4800600" cy="1709530"/>
          </a:xfrm>
          <a:prstGeom prst="rect">
            <a:avLst/>
          </a:prstGeom>
          <a:solidFill>
            <a:srgbClr val="FF0000">
              <a:alpha val="50000"/>
            </a:srgb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Garamond" panose="02020404030301010803" pitchFamily="18" charset="0"/>
              </a:rPr>
              <a:t>Changing the training data requires </a:t>
            </a:r>
            <a:r>
              <a:rPr lang="en-US" sz="3600" b="1" dirty="0">
                <a:solidFill>
                  <a:schemeClr val="tx1"/>
                </a:solidFill>
                <a:latin typeface="Garamond" panose="02020404030301010803" pitchFamily="18" charset="0"/>
              </a:rPr>
              <a:t>re-training</a:t>
            </a:r>
            <a:r>
              <a:rPr lang="en-US" sz="3600" dirty="0">
                <a:solidFill>
                  <a:schemeClr val="tx1"/>
                </a:solidFill>
                <a:latin typeface="Garamond" panose="02020404030301010803" pitchFamily="18" charset="0"/>
              </a:rPr>
              <a:t> the model.</a:t>
            </a:r>
          </a:p>
        </p:txBody>
      </p:sp>
      <p:sp>
        <p:nvSpPr>
          <p:cNvPr id="7" name="Rounded Rectangle 6">
            <a:extLst>
              <a:ext uri="{FF2B5EF4-FFF2-40B4-BE49-F238E27FC236}">
                <a16:creationId xmlns:a16="http://schemas.microsoft.com/office/drawing/2014/main" id="{9DF470BD-0924-08A2-7E6D-3C03C28F0264}"/>
              </a:ext>
            </a:extLst>
          </p:cNvPr>
          <p:cNvSpPr/>
          <p:nvPr/>
        </p:nvSpPr>
        <p:spPr>
          <a:xfrm>
            <a:off x="83694" y="383142"/>
            <a:ext cx="6165130" cy="1510990"/>
          </a:xfrm>
          <a:prstGeom prst="roundRect">
            <a:avLst/>
          </a:prstGeom>
          <a:solidFill>
            <a:schemeClr val="accent6"/>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000" b="1" dirty="0">
                <a:solidFill>
                  <a:schemeClr val="tx1"/>
                </a:solidFill>
                <a:latin typeface="Garamond" panose="02020404030301010803" pitchFamily="18" charset="0"/>
              </a:rPr>
              <a:t>This work:</a:t>
            </a:r>
            <a:r>
              <a:rPr lang="en-US" sz="4000" dirty="0">
                <a:solidFill>
                  <a:schemeClr val="tx1"/>
                </a:solidFill>
                <a:latin typeface="Garamond" panose="02020404030301010803" pitchFamily="18" charset="0"/>
              </a:rPr>
              <a:t> Efficiently delete training data </a:t>
            </a:r>
            <a:r>
              <a:rPr lang="en-US" sz="4000" b="1" dirty="0">
                <a:solidFill>
                  <a:schemeClr val="tx1"/>
                </a:solidFill>
                <a:latin typeface="Garamond" panose="02020404030301010803" pitchFamily="18" charset="0"/>
              </a:rPr>
              <a:t>after training</a:t>
            </a:r>
            <a:r>
              <a:rPr lang="en-US" sz="4000" dirty="0">
                <a:solidFill>
                  <a:schemeClr val="tx1"/>
                </a:solidFill>
                <a:latin typeface="Garamond" panose="02020404030301010803" pitchFamily="18" charset="0"/>
              </a:rPr>
              <a:t>.</a:t>
            </a:r>
            <a:endParaRPr lang="en-US" sz="4000" b="1" dirty="0">
              <a:solidFill>
                <a:schemeClr val="tx1"/>
              </a:solidFill>
              <a:latin typeface="Garamond" panose="02020404030301010803" pitchFamily="18" charset="0"/>
            </a:endParaRPr>
          </a:p>
        </p:txBody>
      </p:sp>
      <p:sp>
        <p:nvSpPr>
          <p:cNvPr id="3" name="Rounded Rectangle 2">
            <a:extLst>
              <a:ext uri="{FF2B5EF4-FFF2-40B4-BE49-F238E27FC236}">
                <a16:creationId xmlns:a16="http://schemas.microsoft.com/office/drawing/2014/main" id="{003DE909-4E69-3526-551D-6A640205A3D0}"/>
              </a:ext>
            </a:extLst>
          </p:cNvPr>
          <p:cNvSpPr/>
          <p:nvPr/>
        </p:nvSpPr>
        <p:spPr>
          <a:xfrm>
            <a:off x="466005" y="5545552"/>
            <a:ext cx="10969131" cy="1312448"/>
          </a:xfrm>
          <a:prstGeom prst="roundRect">
            <a:avLst/>
          </a:prstGeom>
          <a:no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r>
              <a:rPr lang="en-US" sz="3600" b="1" dirty="0">
                <a:solidFill>
                  <a:schemeClr val="tx1"/>
                </a:solidFill>
                <a:latin typeface="Garamond" panose="02020404030301010803" pitchFamily="18" charset="0"/>
              </a:rPr>
              <a:t>Prior work:</a:t>
            </a:r>
            <a:r>
              <a:rPr lang="en-US" sz="3600" dirty="0">
                <a:solidFill>
                  <a:schemeClr val="tx1"/>
                </a:solidFill>
                <a:latin typeface="Garamond" panose="02020404030301010803" pitchFamily="18" charset="0"/>
              </a:rPr>
              <a:t> Address the re-training problem in each case separately, with various toy models, heuristics, etc.</a:t>
            </a:r>
            <a:endParaRPr lang="en-US" sz="3600" b="1" dirty="0">
              <a:solidFill>
                <a:schemeClr val="tx1"/>
              </a:solidFill>
              <a:latin typeface="Garamond" panose="02020404030301010803" pitchFamily="18" charset="0"/>
            </a:endParaRPr>
          </a:p>
        </p:txBody>
      </p:sp>
    </p:spTree>
    <p:extLst>
      <p:ext uri="{BB962C8B-B14F-4D97-AF65-F5344CB8AC3E}">
        <p14:creationId xmlns:p14="http://schemas.microsoft.com/office/powerpoint/2010/main" val="109964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FC725-9AD4-6503-ACA0-2958FEE180D2}"/>
              </a:ext>
            </a:extLst>
          </p:cNvPr>
          <p:cNvSpPr>
            <a:spLocks noGrp="1"/>
          </p:cNvSpPr>
          <p:nvPr>
            <p:ph type="title"/>
          </p:nvPr>
        </p:nvSpPr>
        <p:spPr>
          <a:xfrm>
            <a:off x="285830" y="405357"/>
            <a:ext cx="6505492" cy="1794295"/>
          </a:xfrm>
        </p:spPr>
        <p:txBody>
          <a:bodyPr anchor="t">
            <a:normAutofit/>
          </a:bodyPr>
          <a:lstStyle/>
          <a:p>
            <a:r>
              <a:rPr lang="en-US" dirty="0"/>
              <a:t>Data deletion:</a:t>
            </a:r>
            <a:br>
              <a:rPr lang="en-US" dirty="0"/>
            </a:br>
            <a:r>
              <a:rPr lang="en-US" b="0" dirty="0"/>
              <a:t>Quickly delete training data</a:t>
            </a:r>
          </a:p>
        </p:txBody>
      </p:sp>
      <p:sp>
        <p:nvSpPr>
          <p:cNvPr id="5" name="Right Arrow 4">
            <a:extLst>
              <a:ext uri="{FF2B5EF4-FFF2-40B4-BE49-F238E27FC236}">
                <a16:creationId xmlns:a16="http://schemas.microsoft.com/office/drawing/2014/main" id="{D9B84103-286F-D12B-D2C2-B6E126F1CDAD}"/>
              </a:ext>
            </a:extLst>
          </p:cNvPr>
          <p:cNvSpPr/>
          <p:nvPr/>
        </p:nvSpPr>
        <p:spPr>
          <a:xfrm rot="5400000">
            <a:off x="9104255" y="1705241"/>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Robot with solid fill">
            <a:extLst>
              <a:ext uri="{FF2B5EF4-FFF2-40B4-BE49-F238E27FC236}">
                <a16:creationId xmlns:a16="http://schemas.microsoft.com/office/drawing/2014/main" id="{E7918882-108A-6930-6063-B13E29F287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7948" y="2564893"/>
            <a:ext cx="1312449" cy="1312449"/>
          </a:xfrm>
          <a:prstGeom prst="rect">
            <a:avLst/>
          </a:prstGeom>
        </p:spPr>
      </p:pic>
      <p:sp>
        <p:nvSpPr>
          <p:cNvPr id="7" name="Right Arrow 6">
            <a:extLst>
              <a:ext uri="{FF2B5EF4-FFF2-40B4-BE49-F238E27FC236}">
                <a16:creationId xmlns:a16="http://schemas.microsoft.com/office/drawing/2014/main" id="{FB474A26-2A4A-EC0C-2182-869D3E02C7B3}"/>
              </a:ext>
            </a:extLst>
          </p:cNvPr>
          <p:cNvSpPr/>
          <p:nvPr/>
        </p:nvSpPr>
        <p:spPr>
          <a:xfrm rot="5400000">
            <a:off x="8806784" y="4365933"/>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10 most famous paintings: Masterpieces we all know and love | CNN">
            <a:extLst>
              <a:ext uri="{FF2B5EF4-FFF2-40B4-BE49-F238E27FC236}">
                <a16:creationId xmlns:a16="http://schemas.microsoft.com/office/drawing/2014/main" id="{B0D6FF6F-6320-9133-796B-5C7CB1A44CB1}"/>
              </a:ext>
            </a:extLst>
          </p:cNvPr>
          <p:cNvPicPr>
            <a:picLocks noChangeAspect="1"/>
          </p:cNvPicPr>
          <p:nvPr/>
        </p:nvPicPr>
        <p:blipFill>
          <a:blip r:embed="rId4"/>
          <a:stretch>
            <a:fillRect/>
          </a:stretch>
        </p:blipFill>
        <p:spPr>
          <a:xfrm>
            <a:off x="8077688" y="932964"/>
            <a:ext cx="351006" cy="522694"/>
          </a:xfrm>
          <a:prstGeom prst="rect">
            <a:avLst/>
          </a:prstGeom>
        </p:spPr>
      </p:pic>
      <p:pic>
        <p:nvPicPr>
          <p:cNvPr id="9" name="Picture 8"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55CE609B-44E9-0288-4B1B-41FD72E4477C}"/>
              </a:ext>
            </a:extLst>
          </p:cNvPr>
          <p:cNvPicPr>
            <a:picLocks noChangeAspect="1"/>
          </p:cNvPicPr>
          <p:nvPr/>
        </p:nvPicPr>
        <p:blipFill>
          <a:blip r:embed="rId5"/>
          <a:srcRect l="10463"/>
          <a:stretch>
            <a:fillRect/>
          </a:stretch>
        </p:blipFill>
        <p:spPr>
          <a:xfrm>
            <a:off x="9307563" y="932964"/>
            <a:ext cx="351006" cy="522694"/>
          </a:xfrm>
          <a:prstGeom prst="rect">
            <a:avLst/>
          </a:prstGeom>
        </p:spPr>
      </p:pic>
      <p:pic>
        <p:nvPicPr>
          <p:cNvPr id="10" name="Picture 9" descr="Amazon.com: INVIN ART Framed Canvas ...">
            <a:extLst>
              <a:ext uri="{FF2B5EF4-FFF2-40B4-BE49-F238E27FC236}">
                <a16:creationId xmlns:a16="http://schemas.microsoft.com/office/drawing/2014/main" id="{AC962A59-409A-F778-E7B0-0476B628E5A9}"/>
              </a:ext>
            </a:extLst>
          </p:cNvPr>
          <p:cNvPicPr>
            <a:picLocks noChangeAspect="1"/>
          </p:cNvPicPr>
          <p:nvPr/>
        </p:nvPicPr>
        <p:blipFill>
          <a:blip r:embed="rId6"/>
          <a:srcRect l="12290"/>
          <a:stretch>
            <a:fillRect/>
          </a:stretch>
        </p:blipFill>
        <p:spPr>
          <a:xfrm>
            <a:off x="8692625" y="932964"/>
            <a:ext cx="351007" cy="522694"/>
          </a:xfrm>
          <a:prstGeom prst="rect">
            <a:avLst/>
          </a:prstGeom>
        </p:spPr>
      </p:pic>
      <p:pic>
        <p:nvPicPr>
          <p:cNvPr id="11" name="Picture 10" descr="Jackson Pollock, Manner of: Drip Painting for sale at auction on 15th March  | Bidsquare">
            <a:extLst>
              <a:ext uri="{FF2B5EF4-FFF2-40B4-BE49-F238E27FC236}">
                <a16:creationId xmlns:a16="http://schemas.microsoft.com/office/drawing/2014/main" id="{C9E9F831-6BD6-2A19-413C-70A755CB7570}"/>
              </a:ext>
            </a:extLst>
          </p:cNvPr>
          <p:cNvPicPr>
            <a:picLocks noChangeAspect="1"/>
          </p:cNvPicPr>
          <p:nvPr/>
        </p:nvPicPr>
        <p:blipFill>
          <a:blip r:embed="rId7"/>
          <a:srcRect r="18039"/>
          <a:stretch>
            <a:fillRect/>
          </a:stretch>
        </p:blipFill>
        <p:spPr>
          <a:xfrm>
            <a:off x="10537437" y="932964"/>
            <a:ext cx="351006" cy="524405"/>
          </a:xfrm>
          <a:prstGeom prst="rect">
            <a:avLst/>
          </a:prstGeom>
        </p:spPr>
      </p:pic>
      <p:pic>
        <p:nvPicPr>
          <p:cNvPr id="12" name="Picture 11" descr="Girl with a Pearl Earring - Wikipedia">
            <a:extLst>
              <a:ext uri="{FF2B5EF4-FFF2-40B4-BE49-F238E27FC236}">
                <a16:creationId xmlns:a16="http://schemas.microsoft.com/office/drawing/2014/main" id="{D0648360-1019-6FE1-813D-109EBF599623}"/>
              </a:ext>
            </a:extLst>
          </p:cNvPr>
          <p:cNvPicPr>
            <a:picLocks noChangeAspect="1"/>
          </p:cNvPicPr>
          <p:nvPr/>
        </p:nvPicPr>
        <p:blipFill>
          <a:blip r:embed="rId8"/>
          <a:srcRect l="20362"/>
          <a:stretch>
            <a:fillRect/>
          </a:stretch>
        </p:blipFill>
        <p:spPr>
          <a:xfrm>
            <a:off x="9922500" y="934767"/>
            <a:ext cx="351006" cy="520891"/>
          </a:xfrm>
          <a:prstGeom prst="rect">
            <a:avLst/>
          </a:prstGeom>
        </p:spPr>
      </p:pic>
      <p:pic>
        <p:nvPicPr>
          <p:cNvPr id="20" name="Graphic 19" descr="Usb Stick with solid fill">
            <a:extLst>
              <a:ext uri="{FF2B5EF4-FFF2-40B4-BE49-F238E27FC236}">
                <a16:creationId xmlns:a16="http://schemas.microsoft.com/office/drawing/2014/main" id="{D047AA20-B9F9-60A6-8CA7-4362757544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574377" y="2820142"/>
            <a:ext cx="914400" cy="914400"/>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C740308-54E1-9C65-AFEC-14B10909E916}"/>
                  </a:ext>
                </a:extLst>
              </p:cNvPr>
              <p:cNvSpPr txBox="1"/>
              <p:nvPr/>
            </p:nvSpPr>
            <p:spPr>
              <a:xfrm>
                <a:off x="9240786" y="2941451"/>
                <a:ext cx="43922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21" name="TextBox 20">
                <a:extLst>
                  <a:ext uri="{FF2B5EF4-FFF2-40B4-BE49-F238E27FC236}">
                    <a16:creationId xmlns:a16="http://schemas.microsoft.com/office/drawing/2014/main" id="{8C740308-54E1-9C65-AFEC-14B10909E916}"/>
                  </a:ext>
                </a:extLst>
              </p:cNvPr>
              <p:cNvSpPr txBox="1">
                <a:spLocks noRot="1" noChangeAspect="1" noMove="1" noResize="1" noEditPoints="1" noAdjustHandles="1" noChangeArrowheads="1" noChangeShapeType="1" noTextEdit="1"/>
              </p:cNvSpPr>
              <p:nvPr/>
            </p:nvSpPr>
            <p:spPr>
              <a:xfrm>
                <a:off x="9240786" y="2941451"/>
                <a:ext cx="439223" cy="553998"/>
              </a:xfrm>
              <a:prstGeom prst="rect">
                <a:avLst/>
              </a:prstGeom>
              <a:blipFill>
                <a:blip r:embed="rId10"/>
                <a:stretch>
                  <a:fillRect l="-22222" r="-19444"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01004FD-0027-0F3D-FC93-079002C35610}"/>
                  </a:ext>
                </a:extLst>
              </p:cNvPr>
              <p:cNvSpPr txBox="1"/>
              <p:nvPr/>
            </p:nvSpPr>
            <p:spPr>
              <a:xfrm>
                <a:off x="10434361" y="4154959"/>
                <a:ext cx="43922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24" name="TextBox 23">
                <a:extLst>
                  <a:ext uri="{FF2B5EF4-FFF2-40B4-BE49-F238E27FC236}">
                    <a16:creationId xmlns:a16="http://schemas.microsoft.com/office/drawing/2014/main" id="{701004FD-0027-0F3D-FC93-079002C35610}"/>
                  </a:ext>
                </a:extLst>
              </p:cNvPr>
              <p:cNvSpPr txBox="1">
                <a:spLocks noRot="1" noChangeAspect="1" noMove="1" noResize="1" noEditPoints="1" noAdjustHandles="1" noChangeArrowheads="1" noChangeShapeType="1" noTextEdit="1"/>
              </p:cNvSpPr>
              <p:nvPr/>
            </p:nvSpPr>
            <p:spPr>
              <a:xfrm>
                <a:off x="10434361" y="4154959"/>
                <a:ext cx="439223" cy="553998"/>
              </a:xfrm>
              <a:prstGeom prst="rect">
                <a:avLst/>
              </a:prstGeom>
              <a:blipFill>
                <a:blip r:embed="rId11"/>
                <a:stretch>
                  <a:fillRect l="-22222" r="-22222" b="-4545"/>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416DE5B7-5CDE-8BA0-681E-4163B1A62A3B}"/>
              </a:ext>
            </a:extLst>
          </p:cNvPr>
          <p:cNvSpPr txBox="1"/>
          <p:nvPr/>
        </p:nvSpPr>
        <p:spPr>
          <a:xfrm>
            <a:off x="9772637" y="3772345"/>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39" name="TextBox 38">
            <a:extLst>
              <a:ext uri="{FF2B5EF4-FFF2-40B4-BE49-F238E27FC236}">
                <a16:creationId xmlns:a16="http://schemas.microsoft.com/office/drawing/2014/main" id="{3949A228-E337-9B9A-8FEB-A177AA288D3F}"/>
              </a:ext>
            </a:extLst>
          </p:cNvPr>
          <p:cNvSpPr txBox="1"/>
          <p:nvPr/>
        </p:nvSpPr>
        <p:spPr>
          <a:xfrm>
            <a:off x="8796875"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sp>
        <p:nvSpPr>
          <p:cNvPr id="40" name="TextBox 39">
            <a:extLst>
              <a:ext uri="{FF2B5EF4-FFF2-40B4-BE49-F238E27FC236}">
                <a16:creationId xmlns:a16="http://schemas.microsoft.com/office/drawing/2014/main" id="{5D55535F-4FA2-6C72-193B-80D1A3CC4EF7}"/>
              </a:ext>
            </a:extLst>
          </p:cNvPr>
          <p:cNvSpPr txBox="1"/>
          <p:nvPr/>
        </p:nvSpPr>
        <p:spPr>
          <a:xfrm>
            <a:off x="9757778" y="4494133"/>
            <a:ext cx="2231612" cy="523220"/>
          </a:xfrm>
          <a:prstGeom prst="rect">
            <a:avLst/>
          </a:prstGeom>
          <a:noFill/>
        </p:spPr>
        <p:txBody>
          <a:bodyPr wrap="square" rtlCol="0">
            <a:spAutoFit/>
          </a:bodyPr>
          <a:lstStyle/>
          <a:p>
            <a:r>
              <a:rPr lang="en-US" sz="2800" b="1" dirty="0">
                <a:solidFill>
                  <a:srgbClr val="FF0000"/>
                </a:solidFill>
                <a:latin typeface="Garamond" panose="02020404030301010803" pitchFamily="18" charset="0"/>
              </a:rPr>
              <a:t>data to delete</a:t>
            </a:r>
          </a:p>
        </p:txBody>
      </p:sp>
      <p:sp>
        <p:nvSpPr>
          <p:cNvPr id="3" name="Rounded Rectangle 2">
            <a:extLst>
              <a:ext uri="{FF2B5EF4-FFF2-40B4-BE49-F238E27FC236}">
                <a16:creationId xmlns:a16="http://schemas.microsoft.com/office/drawing/2014/main" id="{65774266-69C9-EFD7-20C3-9E31D9298953}"/>
              </a:ext>
            </a:extLst>
          </p:cNvPr>
          <p:cNvSpPr/>
          <p:nvPr/>
        </p:nvSpPr>
        <p:spPr>
          <a:xfrm>
            <a:off x="653181" y="2221828"/>
            <a:ext cx="4879206" cy="1312449"/>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600" dirty="0">
                <a:solidFill>
                  <a:schemeClr val="tx1"/>
                </a:solidFill>
                <a:latin typeface="Garamond" panose="02020404030301010803" pitchFamily="18" charset="0"/>
              </a:rPr>
              <a:t>In data deletion, you can delete data at “test time.”</a:t>
            </a:r>
          </a:p>
        </p:txBody>
      </p:sp>
      <p:sp>
        <p:nvSpPr>
          <p:cNvPr id="13" name="TextBox 12">
            <a:extLst>
              <a:ext uri="{FF2B5EF4-FFF2-40B4-BE49-F238E27FC236}">
                <a16:creationId xmlns:a16="http://schemas.microsoft.com/office/drawing/2014/main" id="{F1ADD5E4-617D-70F7-60B6-5071FA282A88}"/>
              </a:ext>
            </a:extLst>
          </p:cNvPr>
          <p:cNvSpPr txBox="1"/>
          <p:nvPr/>
        </p:nvSpPr>
        <p:spPr>
          <a:xfrm>
            <a:off x="6341165" y="2259962"/>
            <a:ext cx="1573835" cy="646331"/>
          </a:xfrm>
          <a:prstGeom prst="rect">
            <a:avLst/>
          </a:prstGeom>
          <a:noFill/>
        </p:spPr>
        <p:txBody>
          <a:bodyPr wrap="square" rtlCol="0">
            <a:spAutoFit/>
          </a:bodyPr>
          <a:lstStyle/>
          <a:p>
            <a:pPr algn="r"/>
            <a:r>
              <a:rPr lang="en-US" sz="3600" dirty="0">
                <a:latin typeface="Garamond" panose="02020404030301010803" pitchFamily="18" charset="0"/>
              </a:rPr>
              <a:t>(slow)</a:t>
            </a:r>
          </a:p>
        </p:txBody>
      </p:sp>
      <p:sp>
        <p:nvSpPr>
          <p:cNvPr id="14" name="TextBox 13">
            <a:extLst>
              <a:ext uri="{FF2B5EF4-FFF2-40B4-BE49-F238E27FC236}">
                <a16:creationId xmlns:a16="http://schemas.microsoft.com/office/drawing/2014/main" id="{F083DBA2-2EEE-28DD-7F71-486F3C8A2C39}"/>
              </a:ext>
            </a:extLst>
          </p:cNvPr>
          <p:cNvSpPr txBox="1"/>
          <p:nvPr/>
        </p:nvSpPr>
        <p:spPr>
          <a:xfrm>
            <a:off x="6862189" y="4456237"/>
            <a:ext cx="1510583" cy="646331"/>
          </a:xfrm>
          <a:prstGeom prst="rect">
            <a:avLst/>
          </a:prstGeom>
          <a:noFill/>
        </p:spPr>
        <p:txBody>
          <a:bodyPr wrap="square" rtlCol="0">
            <a:spAutoFit/>
          </a:bodyPr>
          <a:lstStyle/>
          <a:p>
            <a:pPr algn="r"/>
            <a:r>
              <a:rPr lang="en-US" sz="3600" dirty="0">
                <a:latin typeface="Garamond" panose="02020404030301010803" pitchFamily="18" charset="0"/>
              </a:rPr>
              <a:t>(</a:t>
            </a:r>
            <a:r>
              <a:rPr lang="en-US" sz="3600" b="1" dirty="0">
                <a:solidFill>
                  <a:srgbClr val="FF0000"/>
                </a:solidFill>
                <a:latin typeface="Garamond" panose="02020404030301010803" pitchFamily="18" charset="0"/>
              </a:rPr>
              <a:t>fast</a:t>
            </a:r>
            <a:r>
              <a:rPr lang="en-US" sz="3600" dirty="0">
                <a:latin typeface="Garamond" panose="02020404030301010803" pitchFamily="18" charset="0"/>
              </a:rPr>
              <a:t>)</a:t>
            </a:r>
          </a:p>
        </p:txBody>
      </p:sp>
      <p:sp>
        <p:nvSpPr>
          <p:cNvPr id="19" name="TextBox 18">
            <a:extLst>
              <a:ext uri="{FF2B5EF4-FFF2-40B4-BE49-F238E27FC236}">
                <a16:creationId xmlns:a16="http://schemas.microsoft.com/office/drawing/2014/main" id="{AEDD09FE-7D33-6D3E-6CEB-A59003C130EA}"/>
              </a:ext>
            </a:extLst>
          </p:cNvPr>
          <p:cNvSpPr txBox="1"/>
          <p:nvPr/>
        </p:nvSpPr>
        <p:spPr>
          <a:xfrm>
            <a:off x="5984236" y="1710900"/>
            <a:ext cx="3054442" cy="646331"/>
          </a:xfrm>
          <a:prstGeom prst="rect">
            <a:avLst/>
          </a:prstGeom>
          <a:noFill/>
        </p:spPr>
        <p:txBody>
          <a:bodyPr wrap="square" rtlCol="0">
            <a:spAutoFit/>
          </a:bodyPr>
          <a:lstStyle/>
          <a:p>
            <a:pPr algn="r"/>
            <a:r>
              <a:rPr lang="en-US" sz="3600" dirty="0">
                <a:latin typeface="Garamond" panose="02020404030301010803" pitchFamily="18" charset="0"/>
              </a:rPr>
              <a:t>Precomputation</a:t>
            </a:r>
          </a:p>
        </p:txBody>
      </p:sp>
      <p:sp>
        <p:nvSpPr>
          <p:cNvPr id="22" name="TextBox 21">
            <a:extLst>
              <a:ext uri="{FF2B5EF4-FFF2-40B4-BE49-F238E27FC236}">
                <a16:creationId xmlns:a16="http://schemas.microsoft.com/office/drawing/2014/main" id="{97785747-AE6A-3382-5F34-04D4D313A5A6}"/>
              </a:ext>
            </a:extLst>
          </p:cNvPr>
          <p:cNvSpPr txBox="1"/>
          <p:nvPr/>
        </p:nvSpPr>
        <p:spPr>
          <a:xfrm>
            <a:off x="5391394" y="3905216"/>
            <a:ext cx="3360943" cy="646331"/>
          </a:xfrm>
          <a:prstGeom prst="rect">
            <a:avLst/>
          </a:prstGeom>
          <a:noFill/>
        </p:spPr>
        <p:txBody>
          <a:bodyPr wrap="square" rtlCol="0">
            <a:spAutoFit/>
          </a:bodyPr>
          <a:lstStyle/>
          <a:p>
            <a:pPr algn="r"/>
            <a:r>
              <a:rPr lang="en-US" sz="3600" dirty="0">
                <a:latin typeface="Garamond" panose="02020404030301010803" pitchFamily="18" charset="0"/>
              </a:rPr>
              <a:t>Prediction</a:t>
            </a:r>
          </a:p>
        </p:txBody>
      </p:sp>
    </p:spTree>
    <p:extLst>
      <p:ext uri="{BB962C8B-B14F-4D97-AF65-F5344CB8AC3E}">
        <p14:creationId xmlns:p14="http://schemas.microsoft.com/office/powerpoint/2010/main" val="81445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1" grpId="0"/>
      <p:bldP spid="24" grpId="0"/>
      <p:bldP spid="38" grpId="0"/>
      <p:bldP spid="39" grpId="0"/>
      <p:bldP spid="40" grpId="0"/>
      <p:bldP spid="3" grpId="0" animBg="1"/>
      <p:bldP spid="13" grpId="0"/>
      <p:bldP spid="14" grpId="0"/>
      <p:bldP spid="19"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27A0A-80FF-1BBE-A755-27679833B5F5}"/>
            </a:ext>
          </a:extLst>
        </p:cNvPr>
        <p:cNvGrpSpPr/>
        <p:nvPr/>
      </p:nvGrpSpPr>
      <p:grpSpPr>
        <a:xfrm>
          <a:off x="0" y="0"/>
          <a:ext cx="0" cy="0"/>
          <a:chOff x="0" y="0"/>
          <a:chExt cx="0" cy="0"/>
        </a:xfrm>
      </p:grpSpPr>
      <p:cxnSp>
        <p:nvCxnSpPr>
          <p:cNvPr id="55" name="Straight Connector 54">
            <a:extLst>
              <a:ext uri="{FF2B5EF4-FFF2-40B4-BE49-F238E27FC236}">
                <a16:creationId xmlns:a16="http://schemas.microsoft.com/office/drawing/2014/main" id="{B3371F09-A403-9908-15A5-1312781BF7EE}"/>
              </a:ext>
            </a:extLst>
          </p:cNvPr>
          <p:cNvCxnSpPr>
            <a:cxnSpLocks/>
          </p:cNvCxnSpPr>
          <p:nvPr/>
        </p:nvCxnSpPr>
        <p:spPr>
          <a:xfrm>
            <a:off x="5652655" y="1063184"/>
            <a:ext cx="0" cy="5645393"/>
          </a:xfrm>
          <a:prstGeom prst="line">
            <a:avLst/>
          </a:prstGeom>
          <a:ln w="76200"/>
        </p:spPr>
        <p:style>
          <a:lnRef idx="3">
            <a:schemeClr val="dk1"/>
          </a:lnRef>
          <a:fillRef idx="0">
            <a:schemeClr val="dk1"/>
          </a:fillRef>
          <a:effectRef idx="2">
            <a:schemeClr val="dk1"/>
          </a:effectRef>
          <a:fontRef idx="minor">
            <a:schemeClr val="tx1"/>
          </a:fontRef>
        </p:style>
      </p:cxnSp>
      <p:sp>
        <p:nvSpPr>
          <p:cNvPr id="5" name="Right Arrow 4">
            <a:extLst>
              <a:ext uri="{FF2B5EF4-FFF2-40B4-BE49-F238E27FC236}">
                <a16:creationId xmlns:a16="http://schemas.microsoft.com/office/drawing/2014/main" id="{1F6C89E7-8DEB-49B2-B31A-3392F0268A1F}"/>
              </a:ext>
            </a:extLst>
          </p:cNvPr>
          <p:cNvSpPr/>
          <p:nvPr/>
        </p:nvSpPr>
        <p:spPr>
          <a:xfrm rot="5400000">
            <a:off x="9104255" y="1705241"/>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Robot with solid fill">
            <a:extLst>
              <a:ext uri="{FF2B5EF4-FFF2-40B4-BE49-F238E27FC236}">
                <a16:creationId xmlns:a16="http://schemas.microsoft.com/office/drawing/2014/main" id="{D541DC69-ECE5-8573-79C0-7E1AFC1624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7948" y="2564893"/>
            <a:ext cx="1312449" cy="1312449"/>
          </a:xfrm>
          <a:prstGeom prst="rect">
            <a:avLst/>
          </a:prstGeom>
        </p:spPr>
      </p:pic>
      <p:sp>
        <p:nvSpPr>
          <p:cNvPr id="7" name="Right Arrow 6">
            <a:extLst>
              <a:ext uri="{FF2B5EF4-FFF2-40B4-BE49-F238E27FC236}">
                <a16:creationId xmlns:a16="http://schemas.microsoft.com/office/drawing/2014/main" id="{EB39D2C2-2394-2D65-E044-A250989F3E16}"/>
              </a:ext>
            </a:extLst>
          </p:cNvPr>
          <p:cNvSpPr/>
          <p:nvPr/>
        </p:nvSpPr>
        <p:spPr>
          <a:xfrm rot="5400000">
            <a:off x="8806784" y="4365933"/>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10 most famous paintings: Masterpieces we all know and love | CNN">
            <a:extLst>
              <a:ext uri="{FF2B5EF4-FFF2-40B4-BE49-F238E27FC236}">
                <a16:creationId xmlns:a16="http://schemas.microsoft.com/office/drawing/2014/main" id="{4F15FD6D-AF16-106A-3D3D-D32A2A1F8861}"/>
              </a:ext>
            </a:extLst>
          </p:cNvPr>
          <p:cNvPicPr>
            <a:picLocks noChangeAspect="1"/>
          </p:cNvPicPr>
          <p:nvPr/>
        </p:nvPicPr>
        <p:blipFill>
          <a:blip r:embed="rId4"/>
          <a:stretch>
            <a:fillRect/>
          </a:stretch>
        </p:blipFill>
        <p:spPr>
          <a:xfrm>
            <a:off x="8077688" y="932964"/>
            <a:ext cx="351006" cy="522694"/>
          </a:xfrm>
          <a:prstGeom prst="rect">
            <a:avLst/>
          </a:prstGeom>
        </p:spPr>
      </p:pic>
      <p:pic>
        <p:nvPicPr>
          <p:cNvPr id="9" name="Picture 8"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AB343D76-9D0A-250F-4968-511A455D0BCA}"/>
              </a:ext>
            </a:extLst>
          </p:cNvPr>
          <p:cNvPicPr>
            <a:picLocks noChangeAspect="1"/>
          </p:cNvPicPr>
          <p:nvPr/>
        </p:nvPicPr>
        <p:blipFill>
          <a:blip r:embed="rId5"/>
          <a:srcRect l="10463"/>
          <a:stretch>
            <a:fillRect/>
          </a:stretch>
        </p:blipFill>
        <p:spPr>
          <a:xfrm>
            <a:off x="9307563" y="932964"/>
            <a:ext cx="351006" cy="522694"/>
          </a:xfrm>
          <a:prstGeom prst="rect">
            <a:avLst/>
          </a:prstGeom>
        </p:spPr>
      </p:pic>
      <p:pic>
        <p:nvPicPr>
          <p:cNvPr id="10" name="Picture 9" descr="Amazon.com: INVIN ART Framed Canvas ...">
            <a:extLst>
              <a:ext uri="{FF2B5EF4-FFF2-40B4-BE49-F238E27FC236}">
                <a16:creationId xmlns:a16="http://schemas.microsoft.com/office/drawing/2014/main" id="{35D8B6A3-6D18-E542-C493-853A715F8282}"/>
              </a:ext>
            </a:extLst>
          </p:cNvPr>
          <p:cNvPicPr>
            <a:picLocks noChangeAspect="1"/>
          </p:cNvPicPr>
          <p:nvPr/>
        </p:nvPicPr>
        <p:blipFill>
          <a:blip r:embed="rId6"/>
          <a:srcRect l="12290"/>
          <a:stretch>
            <a:fillRect/>
          </a:stretch>
        </p:blipFill>
        <p:spPr>
          <a:xfrm>
            <a:off x="8692625" y="932964"/>
            <a:ext cx="351007" cy="522694"/>
          </a:xfrm>
          <a:prstGeom prst="rect">
            <a:avLst/>
          </a:prstGeom>
        </p:spPr>
      </p:pic>
      <p:pic>
        <p:nvPicPr>
          <p:cNvPr id="11" name="Picture 10" descr="Jackson Pollock, Manner of: Drip Painting for sale at auction on 15th March  | Bidsquare">
            <a:extLst>
              <a:ext uri="{FF2B5EF4-FFF2-40B4-BE49-F238E27FC236}">
                <a16:creationId xmlns:a16="http://schemas.microsoft.com/office/drawing/2014/main" id="{79C7D97A-333A-FF6B-E8FF-A92BBB05811D}"/>
              </a:ext>
            </a:extLst>
          </p:cNvPr>
          <p:cNvPicPr>
            <a:picLocks noChangeAspect="1"/>
          </p:cNvPicPr>
          <p:nvPr/>
        </p:nvPicPr>
        <p:blipFill>
          <a:blip r:embed="rId7"/>
          <a:srcRect r="18039"/>
          <a:stretch>
            <a:fillRect/>
          </a:stretch>
        </p:blipFill>
        <p:spPr>
          <a:xfrm>
            <a:off x="10537437" y="932964"/>
            <a:ext cx="351006" cy="524405"/>
          </a:xfrm>
          <a:prstGeom prst="rect">
            <a:avLst/>
          </a:prstGeom>
        </p:spPr>
      </p:pic>
      <p:pic>
        <p:nvPicPr>
          <p:cNvPr id="12" name="Picture 11" descr="Girl with a Pearl Earring - Wikipedia">
            <a:extLst>
              <a:ext uri="{FF2B5EF4-FFF2-40B4-BE49-F238E27FC236}">
                <a16:creationId xmlns:a16="http://schemas.microsoft.com/office/drawing/2014/main" id="{2DBB73C1-B46C-85EE-EA11-D676D1AE85A8}"/>
              </a:ext>
            </a:extLst>
          </p:cNvPr>
          <p:cNvPicPr>
            <a:picLocks noChangeAspect="1"/>
          </p:cNvPicPr>
          <p:nvPr/>
        </p:nvPicPr>
        <p:blipFill>
          <a:blip r:embed="rId8"/>
          <a:srcRect l="20362"/>
          <a:stretch>
            <a:fillRect/>
          </a:stretch>
        </p:blipFill>
        <p:spPr>
          <a:xfrm>
            <a:off x="9922500" y="934767"/>
            <a:ext cx="351006" cy="520891"/>
          </a:xfrm>
          <a:prstGeom prst="rect">
            <a:avLst/>
          </a:prstGeom>
        </p:spPr>
      </p:pic>
      <p:pic>
        <p:nvPicPr>
          <p:cNvPr id="20" name="Graphic 19" descr="Usb Stick with solid fill">
            <a:extLst>
              <a:ext uri="{FF2B5EF4-FFF2-40B4-BE49-F238E27FC236}">
                <a16:creationId xmlns:a16="http://schemas.microsoft.com/office/drawing/2014/main" id="{26D68A0C-3A81-2A14-B1A6-F1B97703F4F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574377" y="2820142"/>
            <a:ext cx="914400" cy="914400"/>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3A6D8BC-21CE-DFDF-D4C9-2A6956CCACE1}"/>
                  </a:ext>
                </a:extLst>
              </p:cNvPr>
              <p:cNvSpPr txBox="1"/>
              <p:nvPr/>
            </p:nvSpPr>
            <p:spPr>
              <a:xfrm>
                <a:off x="9240786" y="2941451"/>
                <a:ext cx="43922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21" name="TextBox 20">
                <a:extLst>
                  <a:ext uri="{FF2B5EF4-FFF2-40B4-BE49-F238E27FC236}">
                    <a16:creationId xmlns:a16="http://schemas.microsoft.com/office/drawing/2014/main" id="{B3A6D8BC-21CE-DFDF-D4C9-2A6956CCACE1}"/>
                  </a:ext>
                </a:extLst>
              </p:cNvPr>
              <p:cNvSpPr txBox="1">
                <a:spLocks noRot="1" noChangeAspect="1" noMove="1" noResize="1" noEditPoints="1" noAdjustHandles="1" noChangeArrowheads="1" noChangeShapeType="1" noTextEdit="1"/>
              </p:cNvSpPr>
              <p:nvPr/>
            </p:nvSpPr>
            <p:spPr>
              <a:xfrm>
                <a:off x="9240786" y="2941451"/>
                <a:ext cx="439223" cy="553998"/>
              </a:xfrm>
              <a:prstGeom prst="rect">
                <a:avLst/>
              </a:prstGeom>
              <a:blipFill>
                <a:blip r:embed="rId10"/>
                <a:stretch>
                  <a:fillRect l="-22222" r="-19444"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9140B57-F628-A58D-55ED-C7575467AF78}"/>
                  </a:ext>
                </a:extLst>
              </p:cNvPr>
              <p:cNvSpPr txBox="1"/>
              <p:nvPr/>
            </p:nvSpPr>
            <p:spPr>
              <a:xfrm>
                <a:off x="10434361" y="4154959"/>
                <a:ext cx="43922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en-US" sz="3600" dirty="0"/>
              </a:p>
            </p:txBody>
          </p:sp>
        </mc:Choice>
        <mc:Fallback xmlns="">
          <p:sp>
            <p:nvSpPr>
              <p:cNvPr id="24" name="TextBox 23">
                <a:extLst>
                  <a:ext uri="{FF2B5EF4-FFF2-40B4-BE49-F238E27FC236}">
                    <a16:creationId xmlns:a16="http://schemas.microsoft.com/office/drawing/2014/main" id="{59140B57-F628-A58D-55ED-C7575467AF78}"/>
                  </a:ext>
                </a:extLst>
              </p:cNvPr>
              <p:cNvSpPr txBox="1">
                <a:spLocks noRot="1" noChangeAspect="1" noMove="1" noResize="1" noEditPoints="1" noAdjustHandles="1" noChangeArrowheads="1" noChangeShapeType="1" noTextEdit="1"/>
              </p:cNvSpPr>
              <p:nvPr/>
            </p:nvSpPr>
            <p:spPr>
              <a:xfrm>
                <a:off x="10434361" y="4154959"/>
                <a:ext cx="439223" cy="553998"/>
              </a:xfrm>
              <a:prstGeom prst="rect">
                <a:avLst/>
              </a:prstGeom>
              <a:blipFill>
                <a:blip r:embed="rId11"/>
                <a:stretch>
                  <a:fillRect l="-22222" r="-22222" b="-4545"/>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9384F667-1212-97FB-49D5-2394DD73E4DD}"/>
              </a:ext>
            </a:extLst>
          </p:cNvPr>
          <p:cNvSpPr txBox="1"/>
          <p:nvPr/>
        </p:nvSpPr>
        <p:spPr>
          <a:xfrm>
            <a:off x="9772637" y="3772345"/>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39" name="TextBox 38">
            <a:extLst>
              <a:ext uri="{FF2B5EF4-FFF2-40B4-BE49-F238E27FC236}">
                <a16:creationId xmlns:a16="http://schemas.microsoft.com/office/drawing/2014/main" id="{DCAD0A7C-5220-9DEA-7B5D-AEC356C87DEC}"/>
              </a:ext>
            </a:extLst>
          </p:cNvPr>
          <p:cNvSpPr txBox="1"/>
          <p:nvPr/>
        </p:nvSpPr>
        <p:spPr>
          <a:xfrm>
            <a:off x="8796875"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sp>
        <p:nvSpPr>
          <p:cNvPr id="40" name="TextBox 39">
            <a:extLst>
              <a:ext uri="{FF2B5EF4-FFF2-40B4-BE49-F238E27FC236}">
                <a16:creationId xmlns:a16="http://schemas.microsoft.com/office/drawing/2014/main" id="{5E66BC82-D5C0-BADD-60FC-448F26951E31}"/>
              </a:ext>
            </a:extLst>
          </p:cNvPr>
          <p:cNvSpPr txBox="1"/>
          <p:nvPr/>
        </p:nvSpPr>
        <p:spPr>
          <a:xfrm>
            <a:off x="9757778" y="4494133"/>
            <a:ext cx="2231612" cy="523220"/>
          </a:xfrm>
          <a:prstGeom prst="rect">
            <a:avLst/>
          </a:prstGeom>
          <a:noFill/>
        </p:spPr>
        <p:txBody>
          <a:bodyPr wrap="square" rtlCol="0">
            <a:spAutoFit/>
          </a:bodyPr>
          <a:lstStyle/>
          <a:p>
            <a:r>
              <a:rPr lang="en-US" sz="2800" b="1" dirty="0">
                <a:solidFill>
                  <a:srgbClr val="FF0000"/>
                </a:solidFill>
                <a:latin typeface="Garamond" panose="02020404030301010803" pitchFamily="18" charset="0"/>
              </a:rPr>
              <a:t>data to delete</a:t>
            </a:r>
          </a:p>
        </p:txBody>
      </p:sp>
      <p:sp>
        <p:nvSpPr>
          <p:cNvPr id="19" name="TextBox 18">
            <a:extLst>
              <a:ext uri="{FF2B5EF4-FFF2-40B4-BE49-F238E27FC236}">
                <a16:creationId xmlns:a16="http://schemas.microsoft.com/office/drawing/2014/main" id="{DC85155E-7931-D93E-4B27-DAD79149FBC5}"/>
              </a:ext>
            </a:extLst>
          </p:cNvPr>
          <p:cNvSpPr txBox="1"/>
          <p:nvPr/>
        </p:nvSpPr>
        <p:spPr>
          <a:xfrm>
            <a:off x="5984236" y="1710900"/>
            <a:ext cx="3054442" cy="646331"/>
          </a:xfrm>
          <a:prstGeom prst="rect">
            <a:avLst/>
          </a:prstGeom>
          <a:noFill/>
        </p:spPr>
        <p:txBody>
          <a:bodyPr wrap="square" rtlCol="0">
            <a:spAutoFit/>
          </a:bodyPr>
          <a:lstStyle/>
          <a:p>
            <a:pPr algn="r"/>
            <a:r>
              <a:rPr lang="en-US" sz="3600" dirty="0">
                <a:latin typeface="Garamond" panose="02020404030301010803" pitchFamily="18" charset="0"/>
              </a:rPr>
              <a:t>Precomputation</a:t>
            </a:r>
          </a:p>
        </p:txBody>
      </p:sp>
      <p:sp>
        <p:nvSpPr>
          <p:cNvPr id="22" name="TextBox 21">
            <a:extLst>
              <a:ext uri="{FF2B5EF4-FFF2-40B4-BE49-F238E27FC236}">
                <a16:creationId xmlns:a16="http://schemas.microsoft.com/office/drawing/2014/main" id="{E6501856-5A44-4404-A602-EE17028639C5}"/>
              </a:ext>
            </a:extLst>
          </p:cNvPr>
          <p:cNvSpPr txBox="1"/>
          <p:nvPr/>
        </p:nvSpPr>
        <p:spPr>
          <a:xfrm>
            <a:off x="5391394" y="3905216"/>
            <a:ext cx="3360943" cy="646331"/>
          </a:xfrm>
          <a:prstGeom prst="rect">
            <a:avLst/>
          </a:prstGeom>
          <a:noFill/>
        </p:spPr>
        <p:txBody>
          <a:bodyPr wrap="square" rtlCol="0">
            <a:spAutoFit/>
          </a:bodyPr>
          <a:lstStyle/>
          <a:p>
            <a:pPr algn="r"/>
            <a:r>
              <a:rPr lang="en-US" sz="3600" dirty="0">
                <a:latin typeface="Garamond" panose="02020404030301010803" pitchFamily="18" charset="0"/>
              </a:rPr>
              <a:t>Prediction</a:t>
            </a:r>
          </a:p>
        </p:txBody>
      </p:sp>
      <p:sp>
        <p:nvSpPr>
          <p:cNvPr id="16" name="Right Arrow 15">
            <a:extLst>
              <a:ext uri="{FF2B5EF4-FFF2-40B4-BE49-F238E27FC236}">
                <a16:creationId xmlns:a16="http://schemas.microsoft.com/office/drawing/2014/main" id="{0ADD9F13-7B19-0C1B-57BD-B120E38D334E}"/>
              </a:ext>
            </a:extLst>
          </p:cNvPr>
          <p:cNvSpPr/>
          <p:nvPr/>
        </p:nvSpPr>
        <p:spPr>
          <a:xfrm rot="5400000">
            <a:off x="2348463" y="1579368"/>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Robot with solid fill">
            <a:extLst>
              <a:ext uri="{FF2B5EF4-FFF2-40B4-BE49-F238E27FC236}">
                <a16:creationId xmlns:a16="http://schemas.microsoft.com/office/drawing/2014/main" id="{4B2B39BA-FC59-F67C-7928-C755639852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0990" y="2439020"/>
            <a:ext cx="1312449" cy="1312449"/>
          </a:xfrm>
          <a:prstGeom prst="rect">
            <a:avLst/>
          </a:prstGeom>
        </p:spPr>
      </p:pic>
      <p:sp>
        <p:nvSpPr>
          <p:cNvPr id="18" name="Right Arrow 17">
            <a:extLst>
              <a:ext uri="{FF2B5EF4-FFF2-40B4-BE49-F238E27FC236}">
                <a16:creationId xmlns:a16="http://schemas.microsoft.com/office/drawing/2014/main" id="{CE11A587-BCBD-1A23-F3B5-7F97D1F411C4}"/>
              </a:ext>
            </a:extLst>
          </p:cNvPr>
          <p:cNvSpPr/>
          <p:nvPr/>
        </p:nvSpPr>
        <p:spPr>
          <a:xfrm rot="5400000">
            <a:off x="2050992" y="4240060"/>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9A910937-50BA-08D1-BD5D-53AC1A645159}"/>
              </a:ext>
            </a:extLst>
          </p:cNvPr>
          <p:cNvGrpSpPr/>
          <p:nvPr/>
        </p:nvGrpSpPr>
        <p:grpSpPr>
          <a:xfrm>
            <a:off x="1321896" y="807091"/>
            <a:ext cx="2810755" cy="524405"/>
            <a:chOff x="6468406" y="932962"/>
            <a:chExt cx="2810755" cy="524405"/>
          </a:xfrm>
        </p:grpSpPr>
        <p:pic>
          <p:nvPicPr>
            <p:cNvPr id="26" name="Picture 25" descr="10 most famous paintings: Masterpieces we all know and love | CNN">
              <a:extLst>
                <a:ext uri="{FF2B5EF4-FFF2-40B4-BE49-F238E27FC236}">
                  <a16:creationId xmlns:a16="http://schemas.microsoft.com/office/drawing/2014/main" id="{97D5DE25-21C9-1A83-B671-690B74180F26}"/>
                </a:ext>
              </a:extLst>
            </p:cNvPr>
            <p:cNvPicPr>
              <a:picLocks noChangeAspect="1"/>
            </p:cNvPicPr>
            <p:nvPr/>
          </p:nvPicPr>
          <p:blipFill>
            <a:blip r:embed="rId4"/>
            <a:stretch>
              <a:fillRect/>
            </a:stretch>
          </p:blipFill>
          <p:spPr>
            <a:xfrm>
              <a:off x="6468406" y="932962"/>
              <a:ext cx="351006" cy="522694"/>
            </a:xfrm>
            <a:prstGeom prst="rect">
              <a:avLst/>
            </a:prstGeom>
          </p:spPr>
        </p:pic>
        <p:pic>
          <p:nvPicPr>
            <p:cNvPr id="27" name="Picture 26"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733FF97D-9F83-31CA-E2E4-6002ABEDCA32}"/>
                </a:ext>
              </a:extLst>
            </p:cNvPr>
            <p:cNvPicPr>
              <a:picLocks noChangeAspect="1"/>
            </p:cNvPicPr>
            <p:nvPr/>
          </p:nvPicPr>
          <p:blipFill>
            <a:blip r:embed="rId5"/>
            <a:srcRect l="10463"/>
            <a:stretch>
              <a:fillRect/>
            </a:stretch>
          </p:blipFill>
          <p:spPr>
            <a:xfrm>
              <a:off x="7698281" y="932962"/>
              <a:ext cx="351006" cy="522694"/>
            </a:xfrm>
            <a:prstGeom prst="rect">
              <a:avLst/>
            </a:prstGeom>
          </p:spPr>
        </p:pic>
        <p:pic>
          <p:nvPicPr>
            <p:cNvPr id="28" name="Picture 27" descr="Amazon.com: INVIN ART Framed Canvas ...">
              <a:extLst>
                <a:ext uri="{FF2B5EF4-FFF2-40B4-BE49-F238E27FC236}">
                  <a16:creationId xmlns:a16="http://schemas.microsoft.com/office/drawing/2014/main" id="{4ECCF4DF-25E4-EBA4-F478-0F2B0AAB9EE3}"/>
                </a:ext>
              </a:extLst>
            </p:cNvPr>
            <p:cNvPicPr>
              <a:picLocks noChangeAspect="1"/>
            </p:cNvPicPr>
            <p:nvPr/>
          </p:nvPicPr>
          <p:blipFill>
            <a:blip r:embed="rId6"/>
            <a:srcRect l="12290"/>
            <a:stretch>
              <a:fillRect/>
            </a:stretch>
          </p:blipFill>
          <p:spPr>
            <a:xfrm>
              <a:off x="7083343" y="932962"/>
              <a:ext cx="351007" cy="522694"/>
            </a:xfrm>
            <a:prstGeom prst="rect">
              <a:avLst/>
            </a:prstGeom>
          </p:spPr>
        </p:pic>
        <p:pic>
          <p:nvPicPr>
            <p:cNvPr id="29" name="Picture 28" descr="Jackson Pollock, Manner of: Drip Painting for sale at auction on 15th March  | Bidsquare">
              <a:extLst>
                <a:ext uri="{FF2B5EF4-FFF2-40B4-BE49-F238E27FC236}">
                  <a16:creationId xmlns:a16="http://schemas.microsoft.com/office/drawing/2014/main" id="{2CA90A6B-A0AC-C3C1-CA60-0F2C8187297F}"/>
                </a:ext>
              </a:extLst>
            </p:cNvPr>
            <p:cNvPicPr>
              <a:picLocks noChangeAspect="1"/>
            </p:cNvPicPr>
            <p:nvPr/>
          </p:nvPicPr>
          <p:blipFill>
            <a:blip r:embed="rId7"/>
            <a:srcRect r="18039"/>
            <a:stretch>
              <a:fillRect/>
            </a:stretch>
          </p:blipFill>
          <p:spPr>
            <a:xfrm>
              <a:off x="8928155" y="932962"/>
              <a:ext cx="351006" cy="524405"/>
            </a:xfrm>
            <a:prstGeom prst="rect">
              <a:avLst/>
            </a:prstGeom>
          </p:spPr>
        </p:pic>
        <p:pic>
          <p:nvPicPr>
            <p:cNvPr id="30" name="Picture 29" descr="Girl with a Pearl Earring - Wikipedia">
              <a:extLst>
                <a:ext uri="{FF2B5EF4-FFF2-40B4-BE49-F238E27FC236}">
                  <a16:creationId xmlns:a16="http://schemas.microsoft.com/office/drawing/2014/main" id="{447414CE-7205-9BF3-40D1-EB3C839DB92C}"/>
                </a:ext>
              </a:extLst>
            </p:cNvPr>
            <p:cNvPicPr>
              <a:picLocks noChangeAspect="1"/>
            </p:cNvPicPr>
            <p:nvPr/>
          </p:nvPicPr>
          <p:blipFill>
            <a:blip r:embed="rId8"/>
            <a:srcRect l="20362"/>
            <a:stretch>
              <a:fillRect/>
            </a:stretch>
          </p:blipFill>
          <p:spPr>
            <a:xfrm>
              <a:off x="8313218" y="934765"/>
              <a:ext cx="351006" cy="520891"/>
            </a:xfrm>
            <a:prstGeom prst="rect">
              <a:avLst/>
            </a:prstGeom>
          </p:spPr>
        </p:pic>
      </p:grpSp>
      <p:grpSp>
        <p:nvGrpSpPr>
          <p:cNvPr id="31" name="Group 30">
            <a:extLst>
              <a:ext uri="{FF2B5EF4-FFF2-40B4-BE49-F238E27FC236}">
                <a16:creationId xmlns:a16="http://schemas.microsoft.com/office/drawing/2014/main" id="{55EA2072-FC6F-55D4-C72F-12F326F76F6B}"/>
              </a:ext>
            </a:extLst>
          </p:cNvPr>
          <p:cNvGrpSpPr/>
          <p:nvPr/>
        </p:nvGrpSpPr>
        <p:grpSpPr>
          <a:xfrm>
            <a:off x="1589642" y="540490"/>
            <a:ext cx="2890200" cy="1045388"/>
            <a:chOff x="6736152" y="666361"/>
            <a:chExt cx="2890200" cy="1045388"/>
          </a:xfrm>
        </p:grpSpPr>
        <p:sp>
          <p:nvSpPr>
            <p:cNvPr id="32" name="Multiply 31">
              <a:extLst>
                <a:ext uri="{FF2B5EF4-FFF2-40B4-BE49-F238E27FC236}">
                  <a16:creationId xmlns:a16="http://schemas.microsoft.com/office/drawing/2014/main" id="{8F43E1B7-D20C-CEC6-CF8F-1D73DA7376E7}"/>
                </a:ext>
              </a:extLst>
            </p:cNvPr>
            <p:cNvSpPr/>
            <p:nvPr/>
          </p:nvSpPr>
          <p:spPr>
            <a:xfrm>
              <a:off x="8580964"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Multiply 32">
              <a:extLst>
                <a:ext uri="{FF2B5EF4-FFF2-40B4-BE49-F238E27FC236}">
                  <a16:creationId xmlns:a16="http://schemas.microsoft.com/office/drawing/2014/main" id="{F5DFF39D-951B-D629-243D-CAF1D06A62C3}"/>
                </a:ext>
              </a:extLst>
            </p:cNvPr>
            <p:cNvSpPr/>
            <p:nvPr/>
          </p:nvSpPr>
          <p:spPr>
            <a:xfrm>
              <a:off x="6736152" y="666361"/>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7" name="Straight Connector 36">
            <a:extLst>
              <a:ext uri="{FF2B5EF4-FFF2-40B4-BE49-F238E27FC236}">
                <a16:creationId xmlns:a16="http://schemas.microsoft.com/office/drawing/2014/main" id="{DA6FC79A-F9B4-9B11-911D-9508192FD7A0}"/>
              </a:ext>
            </a:extLst>
          </p:cNvPr>
          <p:cNvCxnSpPr>
            <a:cxnSpLocks/>
          </p:cNvCxnSpPr>
          <p:nvPr/>
        </p:nvCxnSpPr>
        <p:spPr>
          <a:xfrm flipH="1">
            <a:off x="2112336" y="2690359"/>
            <a:ext cx="1054372" cy="907185"/>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grpSp>
        <p:nvGrpSpPr>
          <p:cNvPr id="41" name="Group 40">
            <a:extLst>
              <a:ext uri="{FF2B5EF4-FFF2-40B4-BE49-F238E27FC236}">
                <a16:creationId xmlns:a16="http://schemas.microsoft.com/office/drawing/2014/main" id="{3A715B3F-BB84-6327-6F84-BBE209BEEA1D}"/>
              </a:ext>
            </a:extLst>
          </p:cNvPr>
          <p:cNvGrpSpPr/>
          <p:nvPr/>
        </p:nvGrpSpPr>
        <p:grpSpPr>
          <a:xfrm>
            <a:off x="3256814" y="2439020"/>
            <a:ext cx="1437980" cy="1312449"/>
            <a:chOff x="8403324" y="2564891"/>
            <a:chExt cx="1437980" cy="1312449"/>
          </a:xfrm>
        </p:grpSpPr>
        <p:pic>
          <p:nvPicPr>
            <p:cNvPr id="42" name="Graphic 41" descr="Robot with solid fill">
              <a:extLst>
                <a:ext uri="{FF2B5EF4-FFF2-40B4-BE49-F238E27FC236}">
                  <a16:creationId xmlns:a16="http://schemas.microsoft.com/office/drawing/2014/main" id="{EDAD3AE2-0934-1917-5C49-344114CE45E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403324" y="2564891"/>
              <a:ext cx="1312449" cy="1312449"/>
            </a:xfrm>
            <a:prstGeom prst="rect">
              <a:avLst/>
            </a:prstGeom>
          </p:spPr>
        </p:pic>
        <p:sp>
          <p:nvSpPr>
            <p:cNvPr id="43" name="Rectangle 42">
              <a:extLst>
                <a:ext uri="{FF2B5EF4-FFF2-40B4-BE49-F238E27FC236}">
                  <a16:creationId xmlns:a16="http://schemas.microsoft.com/office/drawing/2014/main" id="{9F6D7A34-CDAF-01EA-8B1F-F8CAF7740D08}"/>
                </a:ext>
              </a:extLst>
            </p:cNvPr>
            <p:cNvSpPr/>
            <p:nvPr/>
          </p:nvSpPr>
          <p:spPr>
            <a:xfrm>
              <a:off x="9278800" y="3116426"/>
              <a:ext cx="562504" cy="398417"/>
            </a:xfrm>
            <a:prstGeom prst="rect">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4" name="Graphic 43" descr="Robot Hand with solid fill">
              <a:extLst>
                <a:ext uri="{FF2B5EF4-FFF2-40B4-BE49-F238E27FC236}">
                  <a16:creationId xmlns:a16="http://schemas.microsoft.com/office/drawing/2014/main" id="{8AD38D34-BBEF-D421-CE05-D5951A090D3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5400000" flipH="1">
              <a:off x="9191899" y="2847451"/>
              <a:ext cx="562504" cy="562504"/>
            </a:xfrm>
            <a:prstGeom prst="rect">
              <a:avLst/>
            </a:prstGeom>
          </p:spPr>
        </p:pic>
      </p:grpSp>
      <p:sp>
        <p:nvSpPr>
          <p:cNvPr id="45" name="TextBox 44">
            <a:extLst>
              <a:ext uri="{FF2B5EF4-FFF2-40B4-BE49-F238E27FC236}">
                <a16:creationId xmlns:a16="http://schemas.microsoft.com/office/drawing/2014/main" id="{3EF9F97C-50E5-2D9C-F0B1-5ACEE5554557}"/>
              </a:ext>
            </a:extLst>
          </p:cNvPr>
          <p:cNvSpPr txBox="1"/>
          <p:nvPr/>
        </p:nvSpPr>
        <p:spPr>
          <a:xfrm>
            <a:off x="302173" y="1564817"/>
            <a:ext cx="1803400" cy="646331"/>
          </a:xfrm>
          <a:prstGeom prst="rect">
            <a:avLst/>
          </a:prstGeom>
          <a:noFill/>
        </p:spPr>
        <p:txBody>
          <a:bodyPr wrap="square" rtlCol="0">
            <a:spAutoFit/>
          </a:bodyPr>
          <a:lstStyle/>
          <a:p>
            <a:pPr algn="r"/>
            <a:r>
              <a:rPr lang="en-US" sz="3600" dirty="0">
                <a:latin typeface="Garamond" panose="02020404030301010803" pitchFamily="18" charset="0"/>
              </a:rPr>
              <a:t>Training</a:t>
            </a:r>
          </a:p>
        </p:txBody>
      </p:sp>
      <p:sp>
        <p:nvSpPr>
          <p:cNvPr id="46" name="TextBox 45">
            <a:extLst>
              <a:ext uri="{FF2B5EF4-FFF2-40B4-BE49-F238E27FC236}">
                <a16:creationId xmlns:a16="http://schemas.microsoft.com/office/drawing/2014/main" id="{64F847F6-33B3-45F1-ABE9-207E1650F035}"/>
              </a:ext>
            </a:extLst>
          </p:cNvPr>
          <p:cNvSpPr txBox="1"/>
          <p:nvPr/>
        </p:nvSpPr>
        <p:spPr>
          <a:xfrm>
            <a:off x="10520" y="3811824"/>
            <a:ext cx="2095053" cy="646331"/>
          </a:xfrm>
          <a:prstGeom prst="rect">
            <a:avLst/>
          </a:prstGeom>
          <a:noFill/>
        </p:spPr>
        <p:txBody>
          <a:bodyPr wrap="square" rtlCol="0">
            <a:spAutoFit/>
          </a:bodyPr>
          <a:lstStyle/>
          <a:p>
            <a:pPr algn="r"/>
            <a:r>
              <a:rPr lang="en-US" sz="3600" dirty="0">
                <a:latin typeface="Garamond" panose="02020404030301010803" pitchFamily="18" charset="0"/>
              </a:rPr>
              <a:t>Inference</a:t>
            </a:r>
          </a:p>
        </p:txBody>
      </p:sp>
      <p:sp>
        <p:nvSpPr>
          <p:cNvPr id="47" name="TextBox 46">
            <a:extLst>
              <a:ext uri="{FF2B5EF4-FFF2-40B4-BE49-F238E27FC236}">
                <a16:creationId xmlns:a16="http://schemas.microsoft.com/office/drawing/2014/main" id="{97DE511E-7067-9993-3E1D-8B217F5D366E}"/>
              </a:ext>
            </a:extLst>
          </p:cNvPr>
          <p:cNvSpPr txBox="1"/>
          <p:nvPr/>
        </p:nvSpPr>
        <p:spPr>
          <a:xfrm>
            <a:off x="2943330" y="3908738"/>
            <a:ext cx="2634797"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48" name="TextBox 47">
            <a:extLst>
              <a:ext uri="{FF2B5EF4-FFF2-40B4-BE49-F238E27FC236}">
                <a16:creationId xmlns:a16="http://schemas.microsoft.com/office/drawing/2014/main" id="{7A099B70-A1B4-1F04-F912-16D44CE1F8BC}"/>
              </a:ext>
            </a:extLst>
          </p:cNvPr>
          <p:cNvSpPr txBox="1"/>
          <p:nvPr/>
        </p:nvSpPr>
        <p:spPr>
          <a:xfrm>
            <a:off x="1993912" y="5192432"/>
            <a:ext cx="1466724" cy="954107"/>
          </a:xfrm>
          <a:prstGeom prst="rect">
            <a:avLst/>
          </a:prstGeom>
          <a:noFill/>
        </p:spPr>
        <p:txBody>
          <a:bodyPr wrap="square" rtlCol="0">
            <a:spAutoFit/>
          </a:bodyPr>
          <a:lstStyle/>
          <a:p>
            <a:r>
              <a:rPr lang="en-US" sz="2800" dirty="0">
                <a:latin typeface="Garamond" panose="02020404030301010803" pitchFamily="18" charset="0"/>
              </a:rPr>
              <a:t>full-data outcome</a:t>
            </a:r>
          </a:p>
        </p:txBody>
      </p:sp>
      <p:sp>
        <p:nvSpPr>
          <p:cNvPr id="49" name="TextBox 48">
            <a:extLst>
              <a:ext uri="{FF2B5EF4-FFF2-40B4-BE49-F238E27FC236}">
                <a16:creationId xmlns:a16="http://schemas.microsoft.com/office/drawing/2014/main" id="{5DBD0F63-F172-A487-C30B-D4A58062B316}"/>
              </a:ext>
            </a:extLst>
          </p:cNvPr>
          <p:cNvSpPr txBox="1"/>
          <p:nvPr/>
        </p:nvSpPr>
        <p:spPr>
          <a:xfrm>
            <a:off x="3872057"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cxnSp>
        <p:nvCxnSpPr>
          <p:cNvPr id="50" name="Straight Connector 49">
            <a:extLst>
              <a:ext uri="{FF2B5EF4-FFF2-40B4-BE49-F238E27FC236}">
                <a16:creationId xmlns:a16="http://schemas.microsoft.com/office/drawing/2014/main" id="{4EBD09B3-81B9-AB4B-546C-41A53EB66C7E}"/>
              </a:ext>
            </a:extLst>
          </p:cNvPr>
          <p:cNvCxnSpPr>
            <a:cxnSpLocks/>
          </p:cNvCxnSpPr>
          <p:nvPr/>
        </p:nvCxnSpPr>
        <p:spPr>
          <a:xfrm flipH="1">
            <a:off x="2090779" y="5262059"/>
            <a:ext cx="1054372" cy="907185"/>
          </a:xfrm>
          <a:prstGeom prst="line">
            <a:avLst/>
          </a:prstGeom>
          <a:ln w="63500">
            <a:solidFill>
              <a:srgbClr val="FF0000"/>
            </a:solidFill>
          </a:ln>
        </p:spPr>
        <p:style>
          <a:lnRef idx="3">
            <a:schemeClr val="dk1"/>
          </a:lnRef>
          <a:fillRef idx="0">
            <a:schemeClr val="dk1"/>
          </a:fillRef>
          <a:effectRef idx="2">
            <a:schemeClr val="dk1"/>
          </a:effectRef>
          <a:fontRef idx="minor">
            <a:schemeClr val="tx1"/>
          </a:fontRef>
        </p:style>
      </p:cxnSp>
      <p:sp>
        <p:nvSpPr>
          <p:cNvPr id="51" name="Left-Right Arrow 50">
            <a:extLst>
              <a:ext uri="{FF2B5EF4-FFF2-40B4-BE49-F238E27FC236}">
                <a16:creationId xmlns:a16="http://schemas.microsoft.com/office/drawing/2014/main" id="{6BC00B85-A96E-A33C-98E7-C3F2A0794C37}"/>
              </a:ext>
            </a:extLst>
          </p:cNvPr>
          <p:cNvSpPr/>
          <p:nvPr/>
        </p:nvSpPr>
        <p:spPr>
          <a:xfrm>
            <a:off x="5209020" y="5192432"/>
            <a:ext cx="3619241" cy="592845"/>
          </a:xfrm>
          <a:prstGeom prst="leftRightArrow">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BE4003D-A6F6-9045-6D37-994023DAC45D}"/>
                  </a:ext>
                </a:extLst>
              </p:cNvPr>
              <p:cNvSpPr txBox="1"/>
              <p:nvPr/>
            </p:nvSpPr>
            <p:spPr>
              <a:xfrm>
                <a:off x="5524506" y="5606344"/>
                <a:ext cx="3227831" cy="1200329"/>
              </a:xfrm>
              <a:prstGeom prst="rect">
                <a:avLst/>
              </a:prstGeom>
              <a:noFill/>
            </p:spPr>
            <p:txBody>
              <a:bodyPr wrap="square" rtlCol="0">
                <a:spAutoFit/>
              </a:bodyPr>
              <a:lstStyle/>
              <a:p>
                <a:pPr algn="ctr"/>
                <a:r>
                  <a:rPr lang="en-US" sz="3600" b="1" dirty="0">
                    <a:solidFill>
                      <a:srgbClr val="00B050"/>
                    </a:solidFill>
                    <a:latin typeface="Garamond" panose="02020404030301010803" pitchFamily="18" charset="0"/>
                  </a:rPr>
                  <a:t>Equal!</a:t>
                </a:r>
              </a:p>
              <a:p>
                <a:pPr algn="ctr"/>
                <a:r>
                  <a:rPr lang="en-US" sz="3600" b="1" dirty="0">
                    <a:solidFill>
                      <a:srgbClr val="00B050"/>
                    </a:solidFill>
                    <a:latin typeface="Garamond" panose="02020404030301010803" pitchFamily="18" charset="0"/>
                  </a:rPr>
                  <a:t>(up to error </a:t>
                </a:r>
                <a14:m>
                  <m:oMath xmlns:m="http://schemas.openxmlformats.org/officeDocument/2006/math">
                    <m:r>
                      <a:rPr lang="en-US" sz="3600" b="1" i="1" smtClean="0">
                        <a:solidFill>
                          <a:srgbClr val="00B050"/>
                        </a:solidFill>
                        <a:latin typeface="Cambria Math" panose="02040503050406030204" pitchFamily="18" charset="0"/>
                      </a:rPr>
                      <m:t>𝜺</m:t>
                    </m:r>
                  </m:oMath>
                </a14:m>
                <a:r>
                  <a:rPr lang="en-US" sz="3600" b="1" dirty="0">
                    <a:solidFill>
                      <a:srgbClr val="00B050"/>
                    </a:solidFill>
                    <a:latin typeface="Garamond" panose="02020404030301010803" pitchFamily="18" charset="0"/>
                  </a:rPr>
                  <a:t>)</a:t>
                </a:r>
              </a:p>
            </p:txBody>
          </p:sp>
        </mc:Choice>
        <mc:Fallback xmlns="">
          <p:sp>
            <p:nvSpPr>
              <p:cNvPr id="52" name="TextBox 51">
                <a:extLst>
                  <a:ext uri="{FF2B5EF4-FFF2-40B4-BE49-F238E27FC236}">
                    <a16:creationId xmlns:a16="http://schemas.microsoft.com/office/drawing/2014/main" id="{8BE4003D-A6F6-9045-6D37-994023DAC45D}"/>
                  </a:ext>
                </a:extLst>
              </p:cNvPr>
              <p:cNvSpPr txBox="1">
                <a:spLocks noRot="1" noChangeAspect="1" noMove="1" noResize="1" noEditPoints="1" noAdjustHandles="1" noChangeArrowheads="1" noChangeShapeType="1" noTextEdit="1"/>
              </p:cNvSpPr>
              <p:nvPr/>
            </p:nvSpPr>
            <p:spPr>
              <a:xfrm>
                <a:off x="5524506" y="5606344"/>
                <a:ext cx="3227831" cy="1200329"/>
              </a:xfrm>
              <a:prstGeom prst="rect">
                <a:avLst/>
              </a:prstGeom>
              <a:blipFill>
                <a:blip r:embed="rId14"/>
                <a:stretch>
                  <a:fillRect l="-781" t="-8333" r="-781" b="-17708"/>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0B01513B-C6FA-FCB1-7ADE-4B8EC9C433F5}"/>
              </a:ext>
            </a:extLst>
          </p:cNvPr>
          <p:cNvSpPr txBox="1"/>
          <p:nvPr/>
        </p:nvSpPr>
        <p:spPr>
          <a:xfrm>
            <a:off x="3210835" y="1621073"/>
            <a:ext cx="2231612" cy="523220"/>
          </a:xfrm>
          <a:prstGeom prst="rect">
            <a:avLst/>
          </a:prstGeom>
          <a:noFill/>
        </p:spPr>
        <p:txBody>
          <a:bodyPr wrap="square" rtlCol="0">
            <a:spAutoFit/>
          </a:bodyPr>
          <a:lstStyle/>
          <a:p>
            <a:r>
              <a:rPr lang="en-US" sz="2800" b="1" dirty="0">
                <a:solidFill>
                  <a:srgbClr val="FF0000"/>
                </a:solidFill>
                <a:latin typeface="Garamond" panose="02020404030301010803" pitchFamily="18" charset="0"/>
              </a:rPr>
              <a:t>data to delete</a:t>
            </a:r>
          </a:p>
        </p:txBody>
      </p:sp>
      <p:sp>
        <p:nvSpPr>
          <p:cNvPr id="57" name="Title 1">
            <a:extLst>
              <a:ext uri="{FF2B5EF4-FFF2-40B4-BE49-F238E27FC236}">
                <a16:creationId xmlns:a16="http://schemas.microsoft.com/office/drawing/2014/main" id="{908B1FAB-A17C-E986-4E70-1DCA02877E0C}"/>
              </a:ext>
            </a:extLst>
          </p:cNvPr>
          <p:cNvSpPr>
            <a:spLocks noGrp="1"/>
          </p:cNvSpPr>
          <p:nvPr>
            <p:ph type="title"/>
          </p:nvPr>
        </p:nvSpPr>
        <p:spPr>
          <a:xfrm>
            <a:off x="2843254" y="17271"/>
            <a:ext cx="5953616" cy="660451"/>
          </a:xfrm>
          <a:ln w="38100">
            <a:solidFill>
              <a:srgbClr val="00B050"/>
            </a:solidFill>
          </a:ln>
        </p:spPr>
        <p:txBody>
          <a:bodyPr anchor="t">
            <a:normAutofit fontScale="90000"/>
          </a:bodyPr>
          <a:lstStyle/>
          <a:p>
            <a:pPr algn="ctr"/>
            <a:r>
              <a:rPr lang="en-US" dirty="0"/>
              <a:t>Data deletion:</a:t>
            </a:r>
            <a:r>
              <a:rPr lang="en-US" b="0" dirty="0"/>
              <a:t> Correctness</a:t>
            </a:r>
          </a:p>
        </p:txBody>
      </p:sp>
    </p:spTree>
    <p:extLst>
      <p:ext uri="{BB962C8B-B14F-4D97-AF65-F5344CB8AC3E}">
        <p14:creationId xmlns:p14="http://schemas.microsoft.com/office/powerpoint/2010/main" val="419872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45" grpId="0"/>
      <p:bldP spid="46" grpId="0"/>
      <p:bldP spid="47" grpId="0"/>
      <p:bldP spid="48" grpId="0"/>
      <p:bldP spid="49" grpId="0"/>
      <p:bldP spid="51" grpId="0" animBg="1"/>
      <p:bldP spid="52" grpId="0"/>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07BF6-B443-1302-E3D3-8CD5DD900F8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EDB1B7E9-1D22-8342-01A5-003B36A4ABD5}"/>
                  </a:ext>
                </a:extLst>
              </p:cNvPr>
              <p:cNvSpPr/>
              <p:nvPr/>
            </p:nvSpPr>
            <p:spPr>
              <a:xfrm>
                <a:off x="781374" y="2468919"/>
                <a:ext cx="10629251" cy="3657291"/>
              </a:xfrm>
              <a:prstGeom prst="rect">
                <a:avLst/>
              </a:prstGeom>
              <a:solidFill>
                <a:schemeClr val="tx2">
                  <a:lumMod val="50000"/>
                  <a:lumOff val="50000"/>
                  <a:alpha val="50000"/>
                </a:schemeClr>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b="1" dirty="0">
                    <a:solidFill>
                      <a:sysClr val="windowText" lastClr="000000"/>
                    </a:solidFill>
                    <a:latin typeface="Garamond" panose="02020404030301010803" pitchFamily="18" charset="0"/>
                  </a:rPr>
                  <a:t>Theorem.</a:t>
                </a:r>
              </a:p>
              <a:p>
                <a:r>
                  <a:rPr lang="en-US" sz="4400" dirty="0">
                    <a:solidFill>
                      <a:sysClr val="windowText" lastClr="000000"/>
                    </a:solidFill>
                    <a:latin typeface="Garamond" panose="02020404030301010803" pitchFamily="18" charset="0"/>
                  </a:rPr>
                  <a:t>Under a simple, testable assumption, we get</a:t>
                </a:r>
              </a:p>
              <a:p>
                <a:pPr marL="457200" indent="-457200">
                  <a:buFont typeface="Arial" panose="020B0604020202020204" pitchFamily="34" charset="0"/>
                  <a:buChar char="•"/>
                </a:pPr>
                <a:r>
                  <a:rPr lang="en-US" sz="4400" dirty="0">
                    <a:solidFill>
                      <a:sysClr val="windowText" lastClr="000000"/>
                    </a:solidFill>
                    <a:latin typeface="Garamond" panose="02020404030301010803" pitchFamily="18" charset="0"/>
                  </a:rPr>
                  <a:t>error </a:t>
                </a:r>
                <a14:m>
                  <m:oMath xmlns:m="http://schemas.openxmlformats.org/officeDocument/2006/math">
                    <m:r>
                      <a:rPr lang="en-US" sz="4400" i="1" smtClean="0">
                        <a:solidFill>
                          <a:sysClr val="windowText" lastClr="000000"/>
                        </a:solidFill>
                        <a:latin typeface="Cambria Math" panose="02040503050406030204" pitchFamily="18" charset="0"/>
                      </a:rPr>
                      <m:t>≤</m:t>
                    </m:r>
                    <m:r>
                      <a:rPr lang="en-US" sz="4400" b="0" i="1" smtClean="0">
                        <a:solidFill>
                          <a:sysClr val="windowText" lastClr="000000"/>
                        </a:solidFill>
                        <a:latin typeface="Cambria Math" panose="02040503050406030204" pitchFamily="18" charset="0"/>
                      </a:rPr>
                      <m:t>𝜀</m:t>
                    </m:r>
                  </m:oMath>
                </a14:m>
                <a:endParaRPr lang="en-US" sz="4400" dirty="0">
                  <a:solidFill>
                    <a:sysClr val="windowText" lastClr="000000"/>
                  </a:solidFill>
                  <a:latin typeface="Garamond" panose="02020404030301010803" pitchFamily="18" charset="0"/>
                </a:endParaRPr>
              </a:p>
              <a:p>
                <a:pPr marL="457200" indent="-457200">
                  <a:buFont typeface="Arial" panose="020B0604020202020204" pitchFamily="34" charset="0"/>
                  <a:buChar char="•"/>
                </a:pPr>
                <a:r>
                  <a:rPr lang="en-US" sz="4400" dirty="0">
                    <a:solidFill>
                      <a:sysClr val="windowText" lastClr="000000"/>
                    </a:solidFill>
                    <a:latin typeface="Garamond" panose="02020404030301010803" pitchFamily="18" charset="0"/>
                  </a:rPr>
                  <a:t>precomputation cost </a:t>
                </a:r>
                <a14:m>
                  <m:oMath xmlns:m="http://schemas.openxmlformats.org/officeDocument/2006/math">
                    <m:r>
                      <a:rPr lang="en-US" sz="4400" b="0" i="1" smtClean="0">
                        <a:solidFill>
                          <a:sysClr val="windowText" lastClr="000000"/>
                        </a:solidFill>
                        <a:latin typeface="Cambria Math" panose="02040503050406030204" pitchFamily="18" charset="0"/>
                      </a:rPr>
                      <m:t>≈</m:t>
                    </m:r>
                  </m:oMath>
                </a14:m>
                <a:r>
                  <a:rPr lang="en-US" sz="4400" dirty="0">
                    <a:solidFill>
                      <a:sysClr val="windowText" lastClr="000000"/>
                    </a:solidFill>
                    <a:latin typeface="Garamond" panose="02020404030301010803" pitchFamily="18" charset="0"/>
                  </a:rPr>
                  <a:t> training cost </a:t>
                </a:r>
                <a14:m>
                  <m:oMath xmlns:m="http://schemas.openxmlformats.org/officeDocument/2006/math">
                    <m:r>
                      <a:rPr lang="en-US" sz="4400" b="0" i="1" smtClean="0">
                        <a:solidFill>
                          <a:sysClr val="windowText" lastClr="000000"/>
                        </a:solidFill>
                        <a:latin typeface="Cambria Math" panose="02040503050406030204" pitchFamily="18" charset="0"/>
                      </a:rPr>
                      <m:t>×</m:t>
                    </m:r>
                    <m:r>
                      <a:rPr lang="en-US" sz="4400" b="0" i="0" smtClean="0">
                        <a:solidFill>
                          <a:sysClr val="windowText" lastClr="000000"/>
                        </a:solidFill>
                        <a:latin typeface="Cambria Math" panose="02040503050406030204" pitchFamily="18" charset="0"/>
                      </a:rPr>
                      <m:t> </m:t>
                    </m:r>
                    <m:r>
                      <a:rPr lang="en-US" sz="4400" b="0" i="1" smtClean="0">
                        <a:solidFill>
                          <a:sysClr val="windowText" lastClr="000000"/>
                        </a:solidFill>
                        <a:latin typeface="Cambria Math" panose="02040503050406030204" pitchFamily="18" charset="0"/>
                      </a:rPr>
                      <m:t>1/</m:t>
                    </m:r>
                    <m:sSup>
                      <m:sSupPr>
                        <m:ctrlPr>
                          <a:rPr lang="en-US" sz="4400" b="0" i="1" smtClean="0">
                            <a:solidFill>
                              <a:sysClr val="windowText" lastClr="000000"/>
                            </a:solidFill>
                            <a:latin typeface="Cambria Math" panose="02040503050406030204" pitchFamily="18" charset="0"/>
                          </a:rPr>
                        </m:ctrlPr>
                      </m:sSupPr>
                      <m:e>
                        <m:r>
                          <a:rPr lang="en-US" sz="4400" b="0" i="1" smtClean="0">
                            <a:solidFill>
                              <a:sysClr val="windowText" lastClr="000000"/>
                            </a:solidFill>
                            <a:latin typeface="Cambria Math" panose="02040503050406030204" pitchFamily="18" charset="0"/>
                          </a:rPr>
                          <m:t>𝜀</m:t>
                        </m:r>
                      </m:e>
                      <m:sup>
                        <m:r>
                          <a:rPr lang="en-US" sz="4400" b="0" i="1" smtClean="0">
                            <a:solidFill>
                              <a:sysClr val="windowText" lastClr="000000"/>
                            </a:solidFill>
                            <a:latin typeface="Cambria Math" panose="02040503050406030204" pitchFamily="18" charset="0"/>
                          </a:rPr>
                          <m:t>2</m:t>
                        </m:r>
                      </m:sup>
                    </m:sSup>
                  </m:oMath>
                </a14:m>
                <a:endParaRPr lang="en-US" sz="4400" dirty="0">
                  <a:solidFill>
                    <a:sysClr val="windowText" lastClr="000000"/>
                  </a:solidFill>
                  <a:latin typeface="Garamond" panose="02020404030301010803" pitchFamily="18" charset="0"/>
                </a:endParaRPr>
              </a:p>
              <a:p>
                <a:pPr marL="457200" indent="-457200">
                  <a:buFont typeface="Arial" panose="020B0604020202020204" pitchFamily="34" charset="0"/>
                  <a:buChar char="•"/>
                </a:pPr>
                <a:r>
                  <a:rPr lang="en-US" sz="4400" dirty="0">
                    <a:solidFill>
                      <a:sysClr val="windowText" lastClr="000000"/>
                    </a:solidFill>
                    <a:latin typeface="Garamond" panose="02020404030301010803" pitchFamily="18" charset="0"/>
                  </a:rPr>
                  <a:t>prediction cost </a:t>
                </a:r>
                <a14:m>
                  <m:oMath xmlns:m="http://schemas.openxmlformats.org/officeDocument/2006/math">
                    <m:r>
                      <a:rPr lang="en-US" sz="4400" b="0" i="1" smtClean="0">
                        <a:solidFill>
                          <a:sysClr val="windowText" lastClr="000000"/>
                        </a:solidFill>
                        <a:latin typeface="Cambria Math" panose="02040503050406030204" pitchFamily="18" charset="0"/>
                      </a:rPr>
                      <m:t>≈</m:t>
                    </m:r>
                  </m:oMath>
                </a14:m>
                <a:r>
                  <a:rPr lang="en-US" sz="4400" dirty="0">
                    <a:solidFill>
                      <a:sysClr val="windowText" lastClr="000000"/>
                    </a:solidFill>
                    <a:latin typeface="Garamond" panose="02020404030301010803" pitchFamily="18" charset="0"/>
                  </a:rPr>
                  <a:t> inference cost </a:t>
                </a:r>
                <a14:m>
                  <m:oMath xmlns:m="http://schemas.openxmlformats.org/officeDocument/2006/math">
                    <m:r>
                      <a:rPr lang="en-US" sz="4400" i="1">
                        <a:solidFill>
                          <a:sysClr val="windowText" lastClr="000000"/>
                        </a:solidFill>
                        <a:latin typeface="Cambria Math" panose="02040503050406030204" pitchFamily="18" charset="0"/>
                      </a:rPr>
                      <m:t>×</m:t>
                    </m:r>
                    <m:r>
                      <a:rPr lang="en-US" sz="4400">
                        <a:solidFill>
                          <a:sysClr val="windowText" lastClr="000000"/>
                        </a:solidFill>
                        <a:latin typeface="Cambria Math" panose="02040503050406030204" pitchFamily="18" charset="0"/>
                      </a:rPr>
                      <m:t> </m:t>
                    </m:r>
                    <m:r>
                      <a:rPr lang="en-US" sz="4400" i="1">
                        <a:solidFill>
                          <a:sysClr val="windowText" lastClr="000000"/>
                        </a:solidFill>
                        <a:latin typeface="Cambria Math" panose="02040503050406030204" pitchFamily="18" charset="0"/>
                      </a:rPr>
                      <m:t>1/</m:t>
                    </m:r>
                    <m:sSup>
                      <m:sSupPr>
                        <m:ctrlPr>
                          <a:rPr lang="en-US" sz="4400" i="1">
                            <a:solidFill>
                              <a:sysClr val="windowText" lastClr="000000"/>
                            </a:solidFill>
                            <a:latin typeface="Cambria Math" panose="02040503050406030204" pitchFamily="18" charset="0"/>
                          </a:rPr>
                        </m:ctrlPr>
                      </m:sSupPr>
                      <m:e>
                        <m:r>
                          <a:rPr lang="en-US" sz="4400" i="1">
                            <a:solidFill>
                              <a:sysClr val="windowText" lastClr="000000"/>
                            </a:solidFill>
                            <a:latin typeface="Cambria Math" panose="02040503050406030204" pitchFamily="18" charset="0"/>
                          </a:rPr>
                          <m:t>𝜀</m:t>
                        </m:r>
                      </m:e>
                      <m:sup>
                        <m:r>
                          <a:rPr lang="en-US" sz="4400" i="1">
                            <a:solidFill>
                              <a:sysClr val="windowText" lastClr="000000"/>
                            </a:solidFill>
                            <a:latin typeface="Cambria Math" panose="02040503050406030204" pitchFamily="18" charset="0"/>
                          </a:rPr>
                          <m:t>2</m:t>
                        </m:r>
                      </m:sup>
                    </m:sSup>
                  </m:oMath>
                </a14:m>
                <a:endParaRPr lang="en-US" sz="4400" dirty="0">
                  <a:solidFill>
                    <a:sysClr val="windowText" lastClr="000000"/>
                  </a:solidFill>
                  <a:latin typeface="Garamond" panose="02020404030301010803" pitchFamily="18" charset="0"/>
                </a:endParaRPr>
              </a:p>
            </p:txBody>
          </p:sp>
        </mc:Choice>
        <mc:Fallback xmlns="">
          <p:sp>
            <p:nvSpPr>
              <p:cNvPr id="41" name="Rectangle 40">
                <a:extLst>
                  <a:ext uri="{FF2B5EF4-FFF2-40B4-BE49-F238E27FC236}">
                    <a16:creationId xmlns:a16="http://schemas.microsoft.com/office/drawing/2014/main" id="{EDB1B7E9-1D22-8342-01A5-003B36A4ABD5}"/>
                  </a:ext>
                </a:extLst>
              </p:cNvPr>
              <p:cNvSpPr>
                <a:spLocks noRot="1" noChangeAspect="1" noMove="1" noResize="1" noEditPoints="1" noAdjustHandles="1" noChangeArrowheads="1" noChangeShapeType="1" noTextEdit="1"/>
              </p:cNvSpPr>
              <p:nvPr/>
            </p:nvSpPr>
            <p:spPr>
              <a:xfrm>
                <a:off x="781374" y="2468919"/>
                <a:ext cx="10629251" cy="3657291"/>
              </a:xfrm>
              <a:prstGeom prst="rect">
                <a:avLst/>
              </a:prstGeom>
              <a:blipFill>
                <a:blip r:embed="rId3"/>
                <a:stretch>
                  <a:fillRect l="-2262" t="-3093" b="-1718"/>
                </a:stretch>
              </a:blipFill>
              <a:ln>
                <a:solidFill>
                  <a:schemeClr val="tx1"/>
                </a:solidFill>
              </a:ln>
            </p:spPr>
            <p:txBody>
              <a:bodyPr/>
              <a:lstStyle/>
              <a:p>
                <a:r>
                  <a:rPr lang="en-US">
                    <a:noFill/>
                  </a:rPr>
                  <a:t> </a:t>
                </a:r>
              </a:p>
            </p:txBody>
          </p:sp>
        </mc:Fallback>
      </mc:AlternateContent>
      <p:sp>
        <p:nvSpPr>
          <p:cNvPr id="28" name="Title 1">
            <a:extLst>
              <a:ext uri="{FF2B5EF4-FFF2-40B4-BE49-F238E27FC236}">
                <a16:creationId xmlns:a16="http://schemas.microsoft.com/office/drawing/2014/main" id="{33C6A6E1-117C-606F-F56A-FC708BA82300}"/>
              </a:ext>
            </a:extLst>
          </p:cNvPr>
          <p:cNvSpPr>
            <a:spLocks noGrp="1"/>
          </p:cNvSpPr>
          <p:nvPr>
            <p:ph type="title"/>
          </p:nvPr>
        </p:nvSpPr>
        <p:spPr>
          <a:xfrm>
            <a:off x="285829" y="405357"/>
            <a:ext cx="10786723" cy="1800515"/>
          </a:xfrm>
        </p:spPr>
        <p:txBody>
          <a:bodyPr anchor="t">
            <a:normAutofit/>
          </a:bodyPr>
          <a:lstStyle/>
          <a:p>
            <a:r>
              <a:rPr lang="en-US" dirty="0"/>
              <a:t>This work:</a:t>
            </a:r>
            <a:br>
              <a:rPr lang="en-US" sz="3600" b="0" dirty="0"/>
            </a:br>
            <a:r>
              <a:rPr lang="en-US" sz="3600" b="0" dirty="0"/>
              <a:t>You give me training + inference algorithms, I’ll give you precomputation + prediction algorithms such that…</a:t>
            </a:r>
            <a:endParaRPr lang="en-US" b="0" dirty="0"/>
          </a:p>
        </p:txBody>
      </p:sp>
    </p:spTree>
    <p:extLst>
      <p:ext uri="{BB962C8B-B14F-4D97-AF65-F5344CB8AC3E}">
        <p14:creationId xmlns:p14="http://schemas.microsoft.com/office/powerpoint/2010/main" val="22797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9C5E-46FB-DB5B-9AC2-97785DFA05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05D49396-1E19-BF9D-35A1-DA60A3123032}"/>
                  </a:ext>
                </a:extLst>
              </p:cNvPr>
              <p:cNvSpPr/>
              <p:nvPr/>
            </p:nvSpPr>
            <p:spPr>
              <a:xfrm>
                <a:off x="1110697" y="2199652"/>
                <a:ext cx="9970605" cy="3979383"/>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b="1" dirty="0">
                    <a:solidFill>
                      <a:schemeClr val="tx1"/>
                    </a:solidFill>
                    <a:latin typeface="Garamond" panose="02020404030301010803" pitchFamily="18" charset="0"/>
                  </a:rPr>
                  <a:t>Precomputation:</a:t>
                </a:r>
              </a:p>
              <a:p>
                <a:pPr marL="514350" indent="-514350">
                  <a:buAutoNum type="arabicPeriod"/>
                </a:pPr>
                <a:r>
                  <a:rPr lang="en-US" sz="3600" dirty="0">
                    <a:solidFill>
                      <a:schemeClr val="tx1"/>
                    </a:solidFill>
                    <a:latin typeface="Garamond" panose="02020404030301010803" pitchFamily="18" charset="0"/>
                  </a:rPr>
                  <a:t>Initialize your model.</a:t>
                </a:r>
              </a:p>
              <a:p>
                <a:pPr marL="514350" indent="-514350">
                  <a:buAutoNum type="arabicPeriod"/>
                </a:pPr>
                <a:r>
                  <a:rPr lang="en-US" sz="3600" dirty="0">
                    <a:solidFill>
                      <a:schemeClr val="tx1"/>
                    </a:solidFill>
                    <a:latin typeface="Garamond" panose="02020404030301010803" pitchFamily="18" charset="0"/>
                  </a:rPr>
                  <a:t>Replace your model parameters with polynomials.</a:t>
                </a:r>
              </a:p>
              <a:p>
                <a:pPr marL="514350" indent="-514350">
                  <a:buAutoNum type="arabicPeriod"/>
                </a:pPr>
                <a:r>
                  <a:rPr lang="en-US" sz="3600" dirty="0">
                    <a:solidFill>
                      <a:schemeClr val="tx1"/>
                    </a:solidFill>
                    <a:latin typeface="Garamond" panose="02020404030301010803" pitchFamily="18" charset="0"/>
                  </a:rPr>
                  <a:t>Train your model, using polynomial arithmetic instead of real/floating-point arithmetic.</a:t>
                </a:r>
              </a:p>
              <a:p>
                <a:pPr algn="r"/>
                <a:r>
                  <a:rPr lang="en-US" sz="3600" dirty="0">
                    <a:solidFill>
                      <a:schemeClr val="tx1"/>
                    </a:solidFill>
                    <a:latin typeface="Garamond" panose="02020404030301010803" pitchFamily="18" charset="0"/>
                  </a:rPr>
                  <a:t>(Repeat </a:t>
                </a:r>
                <a14:m>
                  <m:oMath xmlns:m="http://schemas.openxmlformats.org/officeDocument/2006/math">
                    <m:r>
                      <a:rPr lang="en-US" sz="3600" i="1">
                        <a:solidFill>
                          <a:schemeClr val="tx1"/>
                        </a:solidFill>
                        <a:latin typeface="Cambria Math" panose="02040503050406030204" pitchFamily="18" charset="0"/>
                      </a:rPr>
                      <m:t>1/</m:t>
                    </m:r>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𝜀</m:t>
                        </m:r>
                      </m:e>
                      <m:sup>
                        <m:r>
                          <a:rPr lang="en-US" sz="3600" i="1">
                            <a:solidFill>
                              <a:schemeClr val="tx1"/>
                            </a:solidFill>
                            <a:latin typeface="Cambria Math" panose="02040503050406030204" pitchFamily="18" charset="0"/>
                          </a:rPr>
                          <m:t>2</m:t>
                        </m:r>
                      </m:sup>
                    </m:sSup>
                  </m:oMath>
                </a14:m>
                <a:r>
                  <a:rPr lang="en-US" sz="3600" dirty="0">
                    <a:solidFill>
                      <a:schemeClr val="tx1"/>
                    </a:solidFill>
                    <a:latin typeface="Garamond" panose="02020404030301010803" pitchFamily="18" charset="0"/>
                  </a:rPr>
                  <a:t> times.)</a:t>
                </a:r>
              </a:p>
            </p:txBody>
          </p:sp>
        </mc:Choice>
        <mc:Fallback xmlns="">
          <p:sp>
            <p:nvSpPr>
              <p:cNvPr id="14" name="Rounded Rectangle 13">
                <a:extLst>
                  <a:ext uri="{FF2B5EF4-FFF2-40B4-BE49-F238E27FC236}">
                    <a16:creationId xmlns:a16="http://schemas.microsoft.com/office/drawing/2014/main" id="{05D49396-1E19-BF9D-35A1-DA60A3123032}"/>
                  </a:ext>
                </a:extLst>
              </p:cNvPr>
              <p:cNvSpPr>
                <a:spLocks noRot="1" noChangeAspect="1" noMove="1" noResize="1" noEditPoints="1" noAdjustHandles="1" noChangeArrowheads="1" noChangeShapeType="1" noTextEdit="1"/>
              </p:cNvSpPr>
              <p:nvPr/>
            </p:nvSpPr>
            <p:spPr>
              <a:xfrm>
                <a:off x="1110697" y="2199652"/>
                <a:ext cx="9970605" cy="3979383"/>
              </a:xfrm>
              <a:prstGeom prst="roundRect">
                <a:avLst/>
              </a:prstGeom>
              <a:blipFill>
                <a:blip r:embed="rId3"/>
                <a:stretch>
                  <a:fillRect/>
                </a:stretch>
              </a:blipFill>
              <a:ln>
                <a:noFill/>
              </a:ln>
            </p:spPr>
            <p:txBody>
              <a:bodyPr/>
              <a:lstStyle/>
              <a:p>
                <a:r>
                  <a:rPr lang="en-US">
                    <a:noFill/>
                  </a:rPr>
                  <a:t> </a:t>
                </a:r>
              </a:p>
            </p:txBody>
          </p:sp>
        </mc:Fallback>
      </mc:AlternateContent>
      <p:sp>
        <p:nvSpPr>
          <p:cNvPr id="28" name="Title 1">
            <a:extLst>
              <a:ext uri="{FF2B5EF4-FFF2-40B4-BE49-F238E27FC236}">
                <a16:creationId xmlns:a16="http://schemas.microsoft.com/office/drawing/2014/main" id="{4D2D6E9B-2DF9-F4D2-D4AF-946EB668C7A7}"/>
              </a:ext>
            </a:extLst>
          </p:cNvPr>
          <p:cNvSpPr>
            <a:spLocks noGrp="1"/>
          </p:cNvSpPr>
          <p:nvPr>
            <p:ph type="title"/>
          </p:nvPr>
        </p:nvSpPr>
        <p:spPr>
          <a:xfrm>
            <a:off x="285830" y="405357"/>
            <a:ext cx="6505492" cy="1794295"/>
          </a:xfrm>
        </p:spPr>
        <p:txBody>
          <a:bodyPr anchor="t">
            <a:normAutofit/>
          </a:bodyPr>
          <a:lstStyle/>
          <a:p>
            <a:r>
              <a:rPr lang="en-US" dirty="0"/>
              <a:t>Data deletion:</a:t>
            </a:r>
            <a:br>
              <a:rPr lang="en-US" dirty="0"/>
            </a:br>
            <a:r>
              <a:rPr lang="en-US" b="0" dirty="0"/>
              <a:t>Quickly delete training data</a:t>
            </a:r>
          </a:p>
        </p:txBody>
      </p:sp>
    </p:spTree>
    <p:extLst>
      <p:ext uri="{BB962C8B-B14F-4D97-AF65-F5344CB8AC3E}">
        <p14:creationId xmlns:p14="http://schemas.microsoft.com/office/powerpoint/2010/main" val="353925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22BFE-DECB-71F5-9657-A5231BAF9C3E}"/>
              </a:ext>
            </a:extLst>
          </p:cNvPr>
          <p:cNvSpPr>
            <a:spLocks noGrp="1"/>
          </p:cNvSpPr>
          <p:nvPr>
            <p:ph type="title"/>
          </p:nvPr>
        </p:nvSpPr>
        <p:spPr/>
        <p:txBody>
          <a:bodyPr/>
          <a:lstStyle/>
          <a:p>
            <a:r>
              <a:rPr lang="en-US" dirty="0"/>
              <a:t>Outline for the rest of this talk</a:t>
            </a:r>
          </a:p>
        </p:txBody>
      </p:sp>
      <p:sp>
        <p:nvSpPr>
          <p:cNvPr id="3" name="Title 1">
            <a:extLst>
              <a:ext uri="{FF2B5EF4-FFF2-40B4-BE49-F238E27FC236}">
                <a16:creationId xmlns:a16="http://schemas.microsoft.com/office/drawing/2014/main" id="{4C29AC3C-43BF-3807-F917-E59FFB17BB76}"/>
              </a:ext>
            </a:extLst>
          </p:cNvPr>
          <p:cNvSpPr txBox="1">
            <a:spLocks/>
          </p:cNvSpPr>
          <p:nvPr/>
        </p:nvSpPr>
        <p:spPr>
          <a:xfrm>
            <a:off x="838200" y="1818423"/>
            <a:ext cx="10515600" cy="478033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marL="742950" indent="-742950">
              <a:lnSpc>
                <a:spcPct val="100000"/>
              </a:lnSpc>
              <a:buAutoNum type="arabicPeriod"/>
            </a:pPr>
            <a:r>
              <a:rPr lang="en-US" b="0" dirty="0"/>
              <a:t>How I want you to think about the data deletion problem</a:t>
            </a:r>
          </a:p>
          <a:p>
            <a:pPr marL="742950" indent="-742950">
              <a:lnSpc>
                <a:spcPct val="100000"/>
              </a:lnSpc>
              <a:buAutoNum type="arabicPeriod"/>
            </a:pPr>
            <a:endParaRPr lang="en-US" b="0" dirty="0"/>
          </a:p>
          <a:p>
            <a:pPr marL="742950" indent="-742950">
              <a:lnSpc>
                <a:spcPct val="100000"/>
              </a:lnSpc>
              <a:buAutoNum type="arabicPeriod"/>
            </a:pPr>
            <a:r>
              <a:rPr lang="en-US" b="0" dirty="0"/>
              <a:t>The assumption we’ll need about training and inference (“stability”)</a:t>
            </a:r>
          </a:p>
          <a:p>
            <a:pPr marL="742950" indent="-742950">
              <a:lnSpc>
                <a:spcPct val="100000"/>
              </a:lnSpc>
              <a:buAutoNum type="arabicPeriod"/>
            </a:pPr>
            <a:endParaRPr lang="en-US" b="0" dirty="0"/>
          </a:p>
          <a:p>
            <a:pPr marL="742950" indent="-742950">
              <a:lnSpc>
                <a:spcPct val="100000"/>
              </a:lnSpc>
              <a:buAutoNum type="arabicPeriod"/>
            </a:pPr>
            <a:r>
              <a:rPr lang="en-US" b="0" dirty="0"/>
              <a:t>The ideas and the data deletion scheme</a:t>
            </a:r>
          </a:p>
        </p:txBody>
      </p:sp>
    </p:spTree>
    <p:extLst>
      <p:ext uri="{BB962C8B-B14F-4D97-AF65-F5344CB8AC3E}">
        <p14:creationId xmlns:p14="http://schemas.microsoft.com/office/powerpoint/2010/main" val="125500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8455-716E-95CB-9ED0-3A8B0DAC368B}"/>
              </a:ext>
            </a:extLst>
          </p:cNvPr>
          <p:cNvSpPr>
            <a:spLocks noGrp="1"/>
          </p:cNvSpPr>
          <p:nvPr>
            <p:ph type="title"/>
          </p:nvPr>
        </p:nvSpPr>
        <p:spPr/>
        <p:txBody>
          <a:bodyPr/>
          <a:lstStyle/>
          <a:p>
            <a:r>
              <a:rPr lang="en-US" dirty="0"/>
              <a:t>How to think about the data deletion problem</a:t>
            </a:r>
          </a:p>
        </p:txBody>
      </p:sp>
    </p:spTree>
    <p:extLst>
      <p:ext uri="{BB962C8B-B14F-4D97-AF65-F5344CB8AC3E}">
        <p14:creationId xmlns:p14="http://schemas.microsoft.com/office/powerpoint/2010/main" val="999670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B9F3-6C60-A6B0-143A-B023215FFB62}"/>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4C702D09-7AAA-1D29-A8A9-05BB4108B9E8}"/>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9F1F2B8C-5C35-D5FF-8A08-79DA20CD29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B39E1330-6AAD-1C07-D5E3-8EBDCDED18CC}"/>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09747FB7-73C0-2E07-A9DE-4AE2F87B7B41}"/>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CBB620B6-8524-B2A3-5F7F-0D83FCB6B03D}"/>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D9DAF319-CB44-A7B0-1A7E-7E607FBD141C}"/>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C1ABCA8C-28F1-77B8-54AF-D2B4830B245D}"/>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B9057155-2470-8BFF-4400-4054535F13BB}"/>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542E78C9-2127-967D-6D64-96D965F57891}"/>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C3E29EA6-CF44-0EDA-880E-73CC1DDFCA1B}"/>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 </a:t>
            </a:r>
          </a:p>
        </p:txBody>
      </p:sp>
      <p:sp>
        <p:nvSpPr>
          <p:cNvPr id="23" name="TextBox 22">
            <a:extLst>
              <a:ext uri="{FF2B5EF4-FFF2-40B4-BE49-F238E27FC236}">
                <a16:creationId xmlns:a16="http://schemas.microsoft.com/office/drawing/2014/main" id="{2D05AA72-5D3B-5B5F-5A31-7D61894766BA}"/>
              </a:ext>
            </a:extLst>
          </p:cNvPr>
          <p:cNvSpPr txBox="1"/>
          <p:nvPr/>
        </p:nvSpPr>
        <p:spPr>
          <a:xfrm>
            <a:off x="511217" y="1533840"/>
            <a:ext cx="5702938"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Garamond" panose="02020404030301010803" pitchFamily="18" charset="0"/>
              </a:rPr>
              <a:t>Scalar-valued outcomes</a:t>
            </a:r>
          </a:p>
          <a:p>
            <a:pPr marL="457200" indent="-457200">
              <a:buFont typeface="Arial" panose="020B0604020202020204" pitchFamily="34" charset="0"/>
              <a:buChar char="•"/>
            </a:pPr>
            <a:r>
              <a:rPr lang="en-US" sz="3200" dirty="0">
                <a:latin typeface="Garamond" panose="02020404030301010803" pitchFamily="18" charset="0"/>
              </a:rPr>
              <a:t>Fixed dataset</a:t>
            </a:r>
          </a:p>
          <a:p>
            <a:pPr marL="457200" indent="-457200">
              <a:buFont typeface="Arial" panose="020B0604020202020204" pitchFamily="34" charset="0"/>
              <a:buChar char="•"/>
            </a:pPr>
            <a:r>
              <a:rPr lang="en-US" sz="3200" dirty="0">
                <a:latin typeface="Garamond" panose="02020404030301010803" pitchFamily="18" charset="0"/>
              </a:rPr>
              <a:t>Fixed randomness</a:t>
            </a:r>
          </a:p>
          <a:p>
            <a:pPr marL="457200" indent="-457200">
              <a:buFont typeface="Arial" panose="020B0604020202020204" pitchFamily="34" charset="0"/>
              <a:buChar char="•"/>
            </a:pPr>
            <a:r>
              <a:rPr lang="en-US" sz="3200" dirty="0">
                <a:latin typeface="Garamond" panose="02020404030301010803" pitchFamily="18" charset="0"/>
              </a:rPr>
              <a:t>Fixed query (test function)</a:t>
            </a:r>
          </a:p>
        </p:txBody>
      </p:sp>
      <p:sp>
        <p:nvSpPr>
          <p:cNvPr id="9" name="Rounded Rectangle 8">
            <a:extLst>
              <a:ext uri="{FF2B5EF4-FFF2-40B4-BE49-F238E27FC236}">
                <a16:creationId xmlns:a16="http://schemas.microsoft.com/office/drawing/2014/main" id="{E8BD68D1-FBE9-8F49-774A-A3244B941F3D}"/>
              </a:ext>
            </a:extLst>
          </p:cNvPr>
          <p:cNvSpPr/>
          <p:nvPr/>
        </p:nvSpPr>
        <p:spPr>
          <a:xfrm>
            <a:off x="1382234" y="3877340"/>
            <a:ext cx="5234864" cy="2139077"/>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200" dirty="0">
                <a:solidFill>
                  <a:schemeClr val="tx1"/>
                </a:solidFill>
                <a:latin typeface="Garamond" panose="02020404030301010803" pitchFamily="18" charset="0"/>
              </a:rPr>
              <a:t>Assume the query/test is known during precomputation</a:t>
            </a:r>
          </a:p>
          <a:p>
            <a:pPr algn="ctr"/>
            <a:r>
              <a:rPr lang="en-US" sz="3200" dirty="0">
                <a:solidFill>
                  <a:schemeClr val="tx1"/>
                </a:solidFill>
                <a:latin typeface="Garamond" panose="02020404030301010803" pitchFamily="18" charset="0"/>
              </a:rPr>
              <a:t>(with LOG, but </a:t>
            </a:r>
            <a:r>
              <a:rPr lang="en-US" sz="3200" b="1" dirty="0">
                <a:solidFill>
                  <a:schemeClr val="tx1"/>
                </a:solidFill>
                <a:latin typeface="Garamond" panose="02020404030301010803" pitchFamily="18" charset="0"/>
              </a:rPr>
              <a:t>only for this talk</a:t>
            </a:r>
            <a:r>
              <a:rPr lang="en-US" sz="3200" dirty="0">
                <a:solidFill>
                  <a:schemeClr val="tx1"/>
                </a:solidFill>
                <a:latin typeface="Garamond" panose="02020404030301010803" pitchFamily="18" charset="0"/>
              </a:rPr>
              <a:t>; see paper or ask me)</a:t>
            </a:r>
          </a:p>
        </p:txBody>
      </p:sp>
      <p:sp>
        <p:nvSpPr>
          <p:cNvPr id="11" name="Up Arrow 10">
            <a:extLst>
              <a:ext uri="{FF2B5EF4-FFF2-40B4-BE49-F238E27FC236}">
                <a16:creationId xmlns:a16="http://schemas.microsoft.com/office/drawing/2014/main" id="{658C1483-7615-7458-2063-F18C75A356EF}"/>
              </a:ext>
            </a:extLst>
          </p:cNvPr>
          <p:cNvSpPr/>
          <p:nvPr/>
        </p:nvSpPr>
        <p:spPr>
          <a:xfrm rot="20284086">
            <a:off x="3356401" y="3470808"/>
            <a:ext cx="320040" cy="496332"/>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555596-1A07-289F-7D1F-B2606A47F8C4}"/>
                  </a:ext>
                </a:extLst>
              </p:cNvPr>
              <p:cNvSpPr txBox="1"/>
              <p:nvPr/>
            </p:nvSpPr>
            <p:spPr>
              <a:xfrm>
                <a:off x="10093234" y="5219903"/>
                <a:ext cx="73336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ℝ</m:t>
                      </m:r>
                    </m:oMath>
                  </m:oMathPara>
                </a14:m>
                <a:endParaRPr/>
              </a:p>
            </p:txBody>
          </p:sp>
        </mc:Choice>
        <mc:Fallback xmlns="">
          <p:sp>
            <p:nvSpPr>
              <p:cNvPr id="12" name="TextBox 11">
                <a:extLst>
                  <a:ext uri="{FF2B5EF4-FFF2-40B4-BE49-F238E27FC236}">
                    <a16:creationId xmlns:a16="http://schemas.microsoft.com/office/drawing/2014/main" id="{2C555596-1A07-289F-7D1F-B2606A47F8C4}"/>
                  </a:ext>
                </a:extLst>
              </p:cNvPr>
              <p:cNvSpPr txBox="1">
                <a:spLocks noRot="1" noChangeAspect="1" noMove="1" noResize="1" noEditPoints="1" noAdjustHandles="1" noChangeArrowheads="1" noChangeShapeType="1" noTextEdit="1"/>
              </p:cNvSpPr>
              <p:nvPr/>
            </p:nvSpPr>
            <p:spPr>
              <a:xfrm>
                <a:off x="10093234" y="5219903"/>
                <a:ext cx="733362" cy="523220"/>
              </a:xfrm>
              <a:prstGeom prst="rect">
                <a:avLst/>
              </a:prstGeom>
              <a:blipFill>
                <a:blip r:embed="rId9"/>
                <a:stretch>
                  <a:fillRect l="-1695" t="-9302" r="-32203" b="-27907"/>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9CF8FB86-640E-8B44-0EAC-CA47D121A92E}"/>
              </a:ext>
            </a:extLst>
          </p:cNvPr>
          <p:cNvGrpSpPr/>
          <p:nvPr/>
        </p:nvGrpSpPr>
        <p:grpSpPr>
          <a:xfrm>
            <a:off x="3275291" y="2134328"/>
            <a:ext cx="2810755" cy="524405"/>
            <a:chOff x="3275291" y="2134328"/>
            <a:chExt cx="2810755" cy="524405"/>
          </a:xfrm>
        </p:grpSpPr>
        <p:pic>
          <p:nvPicPr>
            <p:cNvPr id="13" name="Picture 12" descr="10 most famous paintings: Masterpieces we all know and love | CNN">
              <a:extLst>
                <a:ext uri="{FF2B5EF4-FFF2-40B4-BE49-F238E27FC236}">
                  <a16:creationId xmlns:a16="http://schemas.microsoft.com/office/drawing/2014/main" id="{3D786284-F238-D824-260F-76AD856D1B0D}"/>
                </a:ext>
              </a:extLst>
            </p:cNvPr>
            <p:cNvPicPr>
              <a:picLocks noChangeAspect="1"/>
            </p:cNvPicPr>
            <p:nvPr/>
          </p:nvPicPr>
          <p:blipFill>
            <a:blip r:embed="rId4"/>
            <a:stretch>
              <a:fillRect/>
            </a:stretch>
          </p:blipFill>
          <p:spPr>
            <a:xfrm>
              <a:off x="3275291" y="2134328"/>
              <a:ext cx="351006" cy="522694"/>
            </a:xfrm>
            <a:prstGeom prst="rect">
              <a:avLst/>
            </a:prstGeom>
          </p:spPr>
        </p:pic>
        <p:pic>
          <p:nvPicPr>
            <p:cNvPr id="17" name="Picture 16"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E7F97D04-97F0-A544-B78F-97E2CBFAF6D8}"/>
                </a:ext>
              </a:extLst>
            </p:cNvPr>
            <p:cNvPicPr>
              <a:picLocks noChangeAspect="1"/>
            </p:cNvPicPr>
            <p:nvPr/>
          </p:nvPicPr>
          <p:blipFill>
            <a:blip r:embed="rId5"/>
            <a:srcRect l="10463"/>
            <a:stretch>
              <a:fillRect/>
            </a:stretch>
          </p:blipFill>
          <p:spPr>
            <a:xfrm>
              <a:off x="4505166" y="2134328"/>
              <a:ext cx="351006" cy="522694"/>
            </a:xfrm>
            <a:prstGeom prst="rect">
              <a:avLst/>
            </a:prstGeom>
          </p:spPr>
        </p:pic>
        <p:pic>
          <p:nvPicPr>
            <p:cNvPr id="18" name="Picture 17" descr="Amazon.com: INVIN ART Framed Canvas ...">
              <a:extLst>
                <a:ext uri="{FF2B5EF4-FFF2-40B4-BE49-F238E27FC236}">
                  <a16:creationId xmlns:a16="http://schemas.microsoft.com/office/drawing/2014/main" id="{2B368D0E-E827-74F0-38CE-1C1D3C12A80A}"/>
                </a:ext>
              </a:extLst>
            </p:cNvPr>
            <p:cNvPicPr>
              <a:picLocks noChangeAspect="1"/>
            </p:cNvPicPr>
            <p:nvPr/>
          </p:nvPicPr>
          <p:blipFill>
            <a:blip r:embed="rId6"/>
            <a:srcRect l="12290"/>
            <a:stretch>
              <a:fillRect/>
            </a:stretch>
          </p:blipFill>
          <p:spPr>
            <a:xfrm>
              <a:off x="3890228" y="2134328"/>
              <a:ext cx="351007" cy="522694"/>
            </a:xfrm>
            <a:prstGeom prst="rect">
              <a:avLst/>
            </a:prstGeom>
          </p:spPr>
        </p:pic>
        <p:pic>
          <p:nvPicPr>
            <p:cNvPr id="19" name="Picture 18" descr="Jackson Pollock, Manner of: Drip Painting for sale at auction on 15th March  | Bidsquare">
              <a:extLst>
                <a:ext uri="{FF2B5EF4-FFF2-40B4-BE49-F238E27FC236}">
                  <a16:creationId xmlns:a16="http://schemas.microsoft.com/office/drawing/2014/main" id="{A9CC2C00-BF0C-5DAF-81AA-05553FFE5081}"/>
                </a:ext>
              </a:extLst>
            </p:cNvPr>
            <p:cNvPicPr>
              <a:picLocks noChangeAspect="1"/>
            </p:cNvPicPr>
            <p:nvPr/>
          </p:nvPicPr>
          <p:blipFill>
            <a:blip r:embed="rId7"/>
            <a:srcRect r="18039"/>
            <a:stretch>
              <a:fillRect/>
            </a:stretch>
          </p:blipFill>
          <p:spPr>
            <a:xfrm>
              <a:off x="5735040" y="2134328"/>
              <a:ext cx="351006" cy="524405"/>
            </a:xfrm>
            <a:prstGeom prst="rect">
              <a:avLst/>
            </a:prstGeom>
          </p:spPr>
        </p:pic>
        <p:pic>
          <p:nvPicPr>
            <p:cNvPr id="24" name="Picture 23" descr="Girl with a Pearl Earring - Wikipedia">
              <a:extLst>
                <a:ext uri="{FF2B5EF4-FFF2-40B4-BE49-F238E27FC236}">
                  <a16:creationId xmlns:a16="http://schemas.microsoft.com/office/drawing/2014/main" id="{F86EC3B1-271D-535D-EA69-AA9C0946FDCB}"/>
                </a:ext>
              </a:extLst>
            </p:cNvPr>
            <p:cNvPicPr>
              <a:picLocks noChangeAspect="1"/>
            </p:cNvPicPr>
            <p:nvPr/>
          </p:nvPicPr>
          <p:blipFill>
            <a:blip r:embed="rId8"/>
            <a:srcRect l="20362"/>
            <a:stretch>
              <a:fillRect/>
            </a:stretch>
          </p:blipFill>
          <p:spPr>
            <a:xfrm>
              <a:off x="5120103" y="2136131"/>
              <a:ext cx="351006" cy="520891"/>
            </a:xfrm>
            <a:prstGeom prst="rect">
              <a:avLst/>
            </a:prstGeom>
          </p:spPr>
        </p:pic>
      </p:grpSp>
      <p:sp>
        <p:nvSpPr>
          <p:cNvPr id="27" name="Title 1">
            <a:extLst>
              <a:ext uri="{FF2B5EF4-FFF2-40B4-BE49-F238E27FC236}">
                <a16:creationId xmlns:a16="http://schemas.microsoft.com/office/drawing/2014/main" id="{FC452134-35E7-D402-A6DB-76B068D081D8}"/>
              </a:ext>
            </a:extLst>
          </p:cNvPr>
          <p:cNvSpPr>
            <a:spLocks noGrp="1"/>
          </p:cNvSpPr>
          <p:nvPr>
            <p:ph type="title"/>
          </p:nvPr>
        </p:nvSpPr>
        <p:spPr>
          <a:xfrm>
            <a:off x="838199" y="365125"/>
            <a:ext cx="6254823" cy="1325563"/>
          </a:xfrm>
        </p:spPr>
        <p:txBody>
          <a:bodyPr/>
          <a:lstStyle/>
          <a:p>
            <a:r>
              <a:rPr lang="en-US" dirty="0"/>
              <a:t>Modeling assumptions:</a:t>
            </a:r>
          </a:p>
        </p:txBody>
      </p:sp>
    </p:spTree>
    <p:extLst>
      <p:ext uri="{BB962C8B-B14F-4D97-AF65-F5344CB8AC3E}">
        <p14:creationId xmlns:p14="http://schemas.microsoft.com/office/powerpoint/2010/main" val="68659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1"/>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1" grpId="0" animBg="1"/>
      <p:bldP spid="11" grpId="1" animBg="1"/>
      <p:bldP spid="12" grpId="0"/>
      <p:bldP spid="12"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9B43D-55DD-E6C3-2A15-4168593EC5D4}"/>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BF225767-0857-D504-FF9E-34740EB64465}"/>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B29177FB-AD49-A3B6-CA1F-0EDBF75301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B0F582E4-D010-CB8C-AE86-0C64876DB87D}"/>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C1935279-4D8C-9C21-B0E9-B3997233D06F}"/>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282AA369-0567-386E-C174-23DC288B4545}"/>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3F7D8517-3445-E688-71E4-6A2DC6AF7029}"/>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174BDF86-D9DE-0CF4-2696-338403C6AF75}"/>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BFE11A91-CD97-63E4-886F-4B1EDAFBB6D2}"/>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A42F82BA-2266-C99B-2F53-0F6DE21E7178}"/>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5599227B-546A-2043-CD30-97E9E41FE6D9}"/>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 </a:t>
            </a:r>
          </a:p>
        </p:txBody>
      </p:sp>
      <p:sp>
        <p:nvSpPr>
          <p:cNvPr id="23" name="TextBox 22">
            <a:extLst>
              <a:ext uri="{FF2B5EF4-FFF2-40B4-BE49-F238E27FC236}">
                <a16:creationId xmlns:a16="http://schemas.microsoft.com/office/drawing/2014/main" id="{6BD65F7A-2E13-1D0D-16B1-68A762D17016}"/>
              </a:ext>
            </a:extLst>
          </p:cNvPr>
          <p:cNvSpPr txBox="1"/>
          <p:nvPr/>
        </p:nvSpPr>
        <p:spPr>
          <a:xfrm>
            <a:off x="511217" y="1533840"/>
            <a:ext cx="5702938"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Garamond" panose="02020404030301010803" pitchFamily="18" charset="0"/>
              </a:rPr>
              <a:t>Scalar-valued outcomes</a:t>
            </a:r>
          </a:p>
          <a:p>
            <a:pPr marL="457200" indent="-457200">
              <a:buFont typeface="Arial" panose="020B0604020202020204" pitchFamily="34" charset="0"/>
              <a:buChar char="•"/>
            </a:pPr>
            <a:r>
              <a:rPr lang="en-US" sz="3200" dirty="0">
                <a:latin typeface="Garamond" panose="02020404030301010803" pitchFamily="18" charset="0"/>
              </a:rPr>
              <a:t>Fixed dataset</a:t>
            </a:r>
          </a:p>
          <a:p>
            <a:pPr marL="457200" indent="-457200">
              <a:buFont typeface="Arial" panose="020B0604020202020204" pitchFamily="34" charset="0"/>
              <a:buChar char="•"/>
            </a:pPr>
            <a:r>
              <a:rPr lang="en-US" sz="3200" dirty="0">
                <a:latin typeface="Garamond" panose="02020404030301010803" pitchFamily="18" charset="0"/>
              </a:rPr>
              <a:t>Fixed randomness</a:t>
            </a:r>
          </a:p>
          <a:p>
            <a:pPr marL="457200" indent="-457200">
              <a:buFont typeface="Arial" panose="020B0604020202020204" pitchFamily="34" charset="0"/>
              <a:buChar char="•"/>
            </a:pPr>
            <a:r>
              <a:rPr lang="en-US" sz="3200" dirty="0">
                <a:latin typeface="Garamond" panose="02020404030301010803" pitchFamily="18" charset="0"/>
              </a:rPr>
              <a:t>Fixed query (test function)</a:t>
            </a:r>
          </a:p>
        </p:txBody>
      </p:sp>
      <p:sp>
        <p:nvSpPr>
          <p:cNvPr id="27" name="Title 1">
            <a:extLst>
              <a:ext uri="{FF2B5EF4-FFF2-40B4-BE49-F238E27FC236}">
                <a16:creationId xmlns:a16="http://schemas.microsoft.com/office/drawing/2014/main" id="{D0842DBB-CD95-6E85-C885-98CD1C22E247}"/>
              </a:ext>
            </a:extLst>
          </p:cNvPr>
          <p:cNvSpPr>
            <a:spLocks noGrp="1"/>
          </p:cNvSpPr>
          <p:nvPr>
            <p:ph type="title"/>
          </p:nvPr>
        </p:nvSpPr>
        <p:spPr>
          <a:xfrm>
            <a:off x="838199" y="365125"/>
            <a:ext cx="6029739" cy="1325563"/>
          </a:xfrm>
        </p:spPr>
        <p:txBody>
          <a:bodyPr/>
          <a:lstStyle/>
          <a:p>
            <a:r>
              <a:rPr lang="en-US" dirty="0"/>
              <a:t>Modeling assumptions:</a:t>
            </a:r>
          </a:p>
        </p:txBody>
      </p:sp>
      <p:sp>
        <p:nvSpPr>
          <p:cNvPr id="31" name="Rounded Rectangle 30">
            <a:extLst>
              <a:ext uri="{FF2B5EF4-FFF2-40B4-BE49-F238E27FC236}">
                <a16:creationId xmlns:a16="http://schemas.microsoft.com/office/drawing/2014/main" id="{28D7CB0B-C12D-0F23-021C-14AB991E6DC8}"/>
              </a:ext>
            </a:extLst>
          </p:cNvPr>
          <p:cNvSpPr/>
          <p:nvPr/>
        </p:nvSpPr>
        <p:spPr>
          <a:xfrm>
            <a:off x="942187" y="4209787"/>
            <a:ext cx="6247087" cy="1474181"/>
          </a:xfrm>
          <a:prstGeom prst="roundRect">
            <a:avLst/>
          </a:prstGeom>
          <a:solidFill>
            <a:srgbClr val="00B05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dirty="0">
                <a:solidFill>
                  <a:schemeClr val="tx1"/>
                </a:solidFill>
                <a:latin typeface="Garamond" panose="02020404030301010803" pitchFamily="18" charset="0"/>
              </a:rPr>
              <a:t>The only variable is the choice of deleted data.</a:t>
            </a:r>
          </a:p>
        </p:txBody>
      </p:sp>
    </p:spTree>
    <p:extLst>
      <p:ext uri="{BB962C8B-B14F-4D97-AF65-F5344CB8AC3E}">
        <p14:creationId xmlns:p14="http://schemas.microsoft.com/office/powerpoint/2010/main" val="3118931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ABBC2-14EB-4AE4-91CD-E6B8E61B5DFD}"/>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CE7F8230-500D-C477-45D5-9AE577C16179}"/>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06B7BC5F-B710-4B2A-861A-B9A5440FAA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5C28857F-49E6-C97A-6957-C27020F59ABE}"/>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A96FE4A1-2D81-52C9-99B4-7EEC903035D7}"/>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FF7ECB49-3148-6B1A-82BF-B3D3ACFFDA41}"/>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0F631038-637A-6A5E-557A-D6F0BEB05A11}"/>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6598E69A-89F1-6D35-C11C-6A9DC3450547}"/>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FE882C5E-BCE7-2A4A-0EA9-7F64F67A900A}"/>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C9377756-CEBE-EB4E-7DD2-B375D582E19A}"/>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97E5E279-39F0-9415-687B-F6EF64B108E0}"/>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grpSp>
        <p:nvGrpSpPr>
          <p:cNvPr id="22" name="Group 21">
            <a:extLst>
              <a:ext uri="{FF2B5EF4-FFF2-40B4-BE49-F238E27FC236}">
                <a16:creationId xmlns:a16="http://schemas.microsoft.com/office/drawing/2014/main" id="{C588243C-18CA-75A4-EC8E-A6E60C5CEEF7}"/>
              </a:ext>
            </a:extLst>
          </p:cNvPr>
          <p:cNvGrpSpPr/>
          <p:nvPr/>
        </p:nvGrpSpPr>
        <p:grpSpPr>
          <a:xfrm>
            <a:off x="8019458" y="268229"/>
            <a:ext cx="2936303" cy="523220"/>
            <a:chOff x="8019458" y="268229"/>
            <a:chExt cx="2936303" cy="523220"/>
          </a:xfrm>
        </p:grpSpPr>
        <p:sp>
          <p:nvSpPr>
            <p:cNvPr id="3" name="TextBox 2">
              <a:extLst>
                <a:ext uri="{FF2B5EF4-FFF2-40B4-BE49-F238E27FC236}">
                  <a16:creationId xmlns:a16="http://schemas.microsoft.com/office/drawing/2014/main" id="{3AF7681C-C36D-CE9D-4404-B63008F4EB0D}"/>
                </a:ext>
              </a:extLst>
            </p:cNvPr>
            <p:cNvSpPr txBox="1"/>
            <p:nvPr/>
          </p:nvSpPr>
          <p:spPr>
            <a:xfrm>
              <a:off x="8072918"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4" name="TextBox 3">
              <a:extLst>
                <a:ext uri="{FF2B5EF4-FFF2-40B4-BE49-F238E27FC236}">
                  <a16:creationId xmlns:a16="http://schemas.microsoft.com/office/drawing/2014/main" id="{4F7F6B86-7325-DA6E-D70E-3708B433025B}"/>
                </a:ext>
              </a:extLst>
            </p:cNvPr>
            <p:cNvSpPr txBox="1"/>
            <p:nvPr/>
          </p:nvSpPr>
          <p:spPr>
            <a:xfrm>
              <a:off x="8682902"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5" name="TextBox 4">
              <a:extLst>
                <a:ext uri="{FF2B5EF4-FFF2-40B4-BE49-F238E27FC236}">
                  <a16:creationId xmlns:a16="http://schemas.microsoft.com/office/drawing/2014/main" id="{35F249C1-D228-3040-4886-26AF95B0B3B6}"/>
                </a:ext>
              </a:extLst>
            </p:cNvPr>
            <p:cNvSpPr txBox="1"/>
            <p:nvPr/>
          </p:nvSpPr>
          <p:spPr>
            <a:xfrm>
              <a:off x="9302793"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6" name="TextBox 5">
              <a:extLst>
                <a:ext uri="{FF2B5EF4-FFF2-40B4-BE49-F238E27FC236}">
                  <a16:creationId xmlns:a16="http://schemas.microsoft.com/office/drawing/2014/main" id="{F6DF2191-BC8C-7574-896F-7BD57E465D8F}"/>
                </a:ext>
              </a:extLst>
            </p:cNvPr>
            <p:cNvSpPr txBox="1"/>
            <p:nvPr/>
          </p:nvSpPr>
          <p:spPr>
            <a:xfrm>
              <a:off x="9912777"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7" name="TextBox 6">
              <a:extLst>
                <a:ext uri="{FF2B5EF4-FFF2-40B4-BE49-F238E27FC236}">
                  <a16:creationId xmlns:a16="http://schemas.microsoft.com/office/drawing/2014/main" id="{34606D88-01F8-E6C5-689B-7AFD5EDDBD4D}"/>
                </a:ext>
              </a:extLst>
            </p:cNvPr>
            <p:cNvSpPr txBox="1"/>
            <p:nvPr/>
          </p:nvSpPr>
          <p:spPr>
            <a:xfrm>
              <a:off x="10532668"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8" name="Double Bracket 7">
              <a:extLst>
                <a:ext uri="{FF2B5EF4-FFF2-40B4-BE49-F238E27FC236}">
                  <a16:creationId xmlns:a16="http://schemas.microsoft.com/office/drawing/2014/main" id="{43761C39-9B22-084E-E764-A079DA9DECF1}"/>
                </a:ext>
              </a:extLst>
            </p:cNvPr>
            <p:cNvSpPr/>
            <p:nvPr/>
          </p:nvSpPr>
          <p:spPr>
            <a:xfrm>
              <a:off x="8019458" y="314211"/>
              <a:ext cx="2936303" cy="404173"/>
            </a:xfrm>
            <a:prstGeom prst="bracketPair">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863C68A-D29A-D296-5A2E-E6CA4FCE443E}"/>
                  </a:ext>
                </a:extLst>
              </p:cNvPr>
              <p:cNvSpPr txBox="1"/>
              <p:nvPr/>
            </p:nvSpPr>
            <p:spPr>
              <a:xfrm>
                <a:off x="6261890" y="2577966"/>
                <a:ext cx="1037319"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𝑓</m:t>
                      </m:r>
                    </m:oMath>
                  </m:oMathPara>
                </a14:m>
                <a:endParaRPr lang="en-US" sz="5400" dirty="0">
                  <a:latin typeface="Garamond" panose="02020404030301010803" pitchFamily="18" charset="0"/>
                </a:endParaRPr>
              </a:p>
            </p:txBody>
          </p:sp>
        </mc:Choice>
        <mc:Fallback xmlns="">
          <p:sp>
            <p:nvSpPr>
              <p:cNvPr id="21" name="TextBox 20">
                <a:extLst>
                  <a:ext uri="{FF2B5EF4-FFF2-40B4-BE49-F238E27FC236}">
                    <a16:creationId xmlns:a16="http://schemas.microsoft.com/office/drawing/2014/main" id="{E863C68A-D29A-D296-5A2E-E6CA4FCE443E}"/>
                  </a:ext>
                </a:extLst>
              </p:cNvPr>
              <p:cNvSpPr txBox="1">
                <a:spLocks noRot="1" noChangeAspect="1" noMove="1" noResize="1" noEditPoints="1" noAdjustHandles="1" noChangeArrowheads="1" noChangeShapeType="1" noTextEdit="1"/>
              </p:cNvSpPr>
              <p:nvPr/>
            </p:nvSpPr>
            <p:spPr>
              <a:xfrm>
                <a:off x="6261890" y="2577966"/>
                <a:ext cx="1037319" cy="923330"/>
              </a:xfrm>
              <a:prstGeom prst="rect">
                <a:avLst/>
              </a:prstGeom>
              <a:blipFill>
                <a:blip r:embed="rId9"/>
                <a:stretch>
                  <a:fillRect b="-24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9B0ED97-2FD2-2B99-1F38-73891FCFBE34}"/>
                  </a:ext>
                </a:extLst>
              </p:cNvPr>
              <p:cNvSpPr txBox="1"/>
              <p:nvPr/>
            </p:nvSpPr>
            <p:spPr>
              <a:xfrm>
                <a:off x="6385329" y="68174"/>
                <a:ext cx="1580882" cy="9233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400" b="1" i="1" smtClean="0">
                          <a:latin typeface="Cambria Math" panose="02040503050406030204" pitchFamily="18" charset="0"/>
                        </a:rPr>
                        <m:t>𝒘</m:t>
                      </m:r>
                      <m:r>
                        <a:rPr lang="en-US" sz="5400" b="0" i="1" smtClean="0">
                          <a:latin typeface="Cambria Math" panose="02040503050406030204" pitchFamily="18" charset="0"/>
                        </a:rPr>
                        <m:t>=</m:t>
                      </m:r>
                    </m:oMath>
                  </m:oMathPara>
                </a14:m>
                <a:endParaRPr lang="en-US" sz="5400" b="1" dirty="0"/>
              </a:p>
            </p:txBody>
          </p:sp>
        </mc:Choice>
        <mc:Fallback xmlns="">
          <p:sp>
            <p:nvSpPr>
              <p:cNvPr id="26" name="TextBox 25">
                <a:extLst>
                  <a:ext uri="{FF2B5EF4-FFF2-40B4-BE49-F238E27FC236}">
                    <a16:creationId xmlns:a16="http://schemas.microsoft.com/office/drawing/2014/main" id="{09B0ED97-2FD2-2B99-1F38-73891FCFBE34}"/>
                  </a:ext>
                </a:extLst>
              </p:cNvPr>
              <p:cNvSpPr txBox="1">
                <a:spLocks noRot="1" noChangeAspect="1" noMove="1" noResize="1" noEditPoints="1" noAdjustHandles="1" noChangeArrowheads="1" noChangeShapeType="1" noTextEdit="1"/>
              </p:cNvSpPr>
              <p:nvPr/>
            </p:nvSpPr>
            <p:spPr>
              <a:xfrm>
                <a:off x="6385329" y="68174"/>
                <a:ext cx="1580882" cy="923330"/>
              </a:xfrm>
              <a:prstGeom prst="rect">
                <a:avLst/>
              </a:prstGeom>
              <a:blipFill>
                <a:blip r:embed="rId10"/>
                <a:stretch>
                  <a:fillRect/>
                </a:stretch>
              </a:blipFill>
            </p:spPr>
            <p:txBody>
              <a:bodyPr/>
              <a:lstStyle/>
              <a:p>
                <a:r>
                  <a:rPr lang="en-US">
                    <a:noFill/>
                  </a:rPr>
                  <a:t> </a:t>
                </a:r>
              </a:p>
            </p:txBody>
          </p:sp>
        </mc:Fallback>
      </mc:AlternateContent>
      <p:cxnSp>
        <p:nvCxnSpPr>
          <p:cNvPr id="10" name="Curved Connector 9">
            <a:extLst>
              <a:ext uri="{FF2B5EF4-FFF2-40B4-BE49-F238E27FC236}">
                <a16:creationId xmlns:a16="http://schemas.microsoft.com/office/drawing/2014/main" id="{3F88320B-9F28-460A-DC48-ECE50C561FEA}"/>
              </a:ext>
            </a:extLst>
          </p:cNvPr>
          <p:cNvCxnSpPr>
            <a:cxnSpLocks/>
            <a:stCxn id="26" idx="2"/>
            <a:endCxn id="2" idx="1"/>
          </p:cNvCxnSpPr>
          <p:nvPr/>
        </p:nvCxnSpPr>
        <p:spPr>
          <a:xfrm rot="16200000" flipH="1">
            <a:off x="5757622" y="2409651"/>
            <a:ext cx="4462538" cy="1626243"/>
          </a:xfrm>
          <a:prstGeom prst="curvedConnector2">
            <a:avLst/>
          </a:prstGeom>
          <a:ln w="762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7" name="Rounded Rectangle 16">
            <a:extLst>
              <a:ext uri="{FF2B5EF4-FFF2-40B4-BE49-F238E27FC236}">
                <a16:creationId xmlns:a16="http://schemas.microsoft.com/office/drawing/2014/main" id="{FE4533DA-4DBF-D6C1-9163-07D04A5962D8}"/>
              </a:ext>
            </a:extLst>
          </p:cNvPr>
          <p:cNvSpPr/>
          <p:nvPr/>
        </p:nvSpPr>
        <p:spPr>
          <a:xfrm>
            <a:off x="3513511" y="175370"/>
            <a:ext cx="2949977" cy="708938"/>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600" b="1" dirty="0">
                <a:solidFill>
                  <a:schemeClr val="tx1"/>
                </a:solidFill>
                <a:latin typeface="Garamond" panose="02020404030301010803" pitchFamily="18" charset="0"/>
              </a:rPr>
              <a:t>down</a:t>
            </a:r>
            <a:r>
              <a:rPr lang="en-US" sz="3600" dirty="0">
                <a:solidFill>
                  <a:schemeClr val="tx1"/>
                </a:solidFill>
                <a:latin typeface="Garamond" panose="02020404030301010803" pitchFamily="18" charset="0"/>
              </a:rPr>
              <a:t>-weights</a:t>
            </a:r>
          </a:p>
        </p:txBody>
      </p:sp>
      <p:sp>
        <p:nvSpPr>
          <p:cNvPr id="25" name="Title 1">
            <a:extLst>
              <a:ext uri="{FF2B5EF4-FFF2-40B4-BE49-F238E27FC236}">
                <a16:creationId xmlns:a16="http://schemas.microsoft.com/office/drawing/2014/main" id="{9792FEF7-59F6-180E-42A1-1C1511B8859E}"/>
              </a:ext>
            </a:extLst>
          </p:cNvPr>
          <p:cNvSpPr>
            <a:spLocks noGrp="1"/>
          </p:cNvSpPr>
          <p:nvPr>
            <p:ph type="title"/>
          </p:nvPr>
        </p:nvSpPr>
        <p:spPr>
          <a:xfrm>
            <a:off x="-1308" y="0"/>
            <a:ext cx="3276600" cy="1325563"/>
          </a:xfrm>
          <a:ln w="76200">
            <a:solidFill>
              <a:srgbClr val="00B050"/>
            </a:solidFill>
          </a:ln>
        </p:spPr>
        <p:txBody>
          <a:bodyPr/>
          <a:lstStyle/>
          <a:p>
            <a:r>
              <a:rPr lang="en-US" dirty="0"/>
              <a:t>Datamodels</a:t>
            </a:r>
          </a:p>
        </p:txBody>
      </p:sp>
      <p:sp>
        <p:nvSpPr>
          <p:cNvPr id="27" name="TextBox 26">
            <a:extLst>
              <a:ext uri="{FF2B5EF4-FFF2-40B4-BE49-F238E27FC236}">
                <a16:creationId xmlns:a16="http://schemas.microsoft.com/office/drawing/2014/main" id="{996813C1-8BC7-584F-92A7-EB2800FB3AB0}"/>
              </a:ext>
            </a:extLst>
          </p:cNvPr>
          <p:cNvSpPr txBox="1"/>
          <p:nvPr/>
        </p:nvSpPr>
        <p:spPr>
          <a:xfrm>
            <a:off x="-1308" y="1396246"/>
            <a:ext cx="6214023" cy="954107"/>
          </a:xfrm>
          <a:prstGeom prst="rect">
            <a:avLst/>
          </a:prstGeom>
          <a:noFill/>
        </p:spPr>
        <p:txBody>
          <a:bodyPr wrap="square">
            <a:spAutoFit/>
          </a:bodyPr>
          <a:lstStyle/>
          <a:p>
            <a:r>
              <a:rPr lang="en-US" sz="2800" dirty="0">
                <a:latin typeface="Garamond" panose="02020404030301010803" pitchFamily="18" charset="0"/>
              </a:rPr>
              <a:t>[Ilyas et al. 2022, “</a:t>
            </a:r>
            <a:r>
              <a:rPr lang="en-US" sz="2800" b="1" dirty="0">
                <a:latin typeface="Garamond" panose="02020404030301010803" pitchFamily="18" charset="0"/>
              </a:rPr>
              <a:t>Datamodels</a:t>
            </a:r>
            <a:r>
              <a:rPr lang="en-US" sz="2800" dirty="0">
                <a:latin typeface="Garamond" panose="02020404030301010803" pitchFamily="18" charset="0"/>
              </a:rPr>
              <a:t>”]</a:t>
            </a:r>
          </a:p>
          <a:p>
            <a:r>
              <a:rPr lang="en-US" sz="2800" dirty="0">
                <a:latin typeface="Garamond" panose="02020404030301010803" pitchFamily="18" charset="0"/>
              </a:rPr>
              <a:t>[Ilyas and Engstrom 2025, “</a:t>
            </a:r>
            <a:r>
              <a:rPr lang="en-US" sz="2800" b="1" dirty="0">
                <a:latin typeface="Garamond" panose="02020404030301010803" pitchFamily="18" charset="0"/>
              </a:rPr>
              <a:t>MAGIC</a:t>
            </a:r>
            <a:r>
              <a:rPr lang="en-US" sz="2800" dirty="0">
                <a:latin typeface="Garamond" panose="02020404030301010803" pitchFamily="18" charset="0"/>
              </a:rPr>
              <a:t>”]</a:t>
            </a:r>
          </a:p>
        </p:txBody>
      </p:sp>
      <p:sp>
        <p:nvSpPr>
          <p:cNvPr id="31" name="TextBox 30">
            <a:extLst>
              <a:ext uri="{FF2B5EF4-FFF2-40B4-BE49-F238E27FC236}">
                <a16:creationId xmlns:a16="http://schemas.microsoft.com/office/drawing/2014/main" id="{0A013A6D-6FD8-999E-7F8B-83222C42D295}"/>
              </a:ext>
            </a:extLst>
          </p:cNvPr>
          <p:cNvSpPr txBox="1"/>
          <p:nvPr/>
        </p:nvSpPr>
        <p:spPr>
          <a:xfrm>
            <a:off x="8436720" y="6211669"/>
            <a:ext cx="3755280" cy="646331"/>
          </a:xfrm>
          <a:prstGeom prst="rect">
            <a:avLst/>
          </a:prstGeom>
          <a:noFill/>
        </p:spPr>
        <p:txBody>
          <a:bodyPr wrap="square">
            <a:spAutoFit/>
          </a:bodyPr>
          <a:lstStyle/>
          <a:p>
            <a:pPr algn="r"/>
            <a:r>
              <a:rPr lang="en-US" dirty="0">
                <a:latin typeface="Garamond" panose="02020404030301010803" pitchFamily="18" charset="0"/>
              </a:rPr>
              <a:t>[Ilyas et al. 2022, “</a:t>
            </a:r>
            <a:r>
              <a:rPr lang="en-US" b="1" dirty="0">
                <a:latin typeface="Garamond" panose="02020404030301010803" pitchFamily="18" charset="0"/>
              </a:rPr>
              <a:t>Datamodels</a:t>
            </a:r>
            <a:r>
              <a:rPr lang="en-US" dirty="0">
                <a:latin typeface="Garamond" panose="02020404030301010803" pitchFamily="18" charset="0"/>
              </a:rPr>
              <a:t>”]</a:t>
            </a:r>
          </a:p>
          <a:p>
            <a:pPr algn="r"/>
            <a:r>
              <a:rPr lang="en-US" dirty="0">
                <a:latin typeface="Garamond" panose="02020404030301010803" pitchFamily="18" charset="0"/>
              </a:rPr>
              <a:t>[Ilyas and Engstrom 2025, “</a:t>
            </a:r>
            <a:r>
              <a:rPr lang="en-US" b="1" dirty="0">
                <a:latin typeface="Garamond" panose="02020404030301010803" pitchFamily="18" charset="0"/>
              </a:rPr>
              <a:t>MAGIC</a:t>
            </a:r>
            <a:r>
              <a:rPr lang="en-US" dirty="0">
                <a:latin typeface="Garamond" panose="02020404030301010803" pitchFamily="18" charset="0"/>
              </a:rPr>
              <a:t>”]</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08F52A1-727E-5591-2D4D-540CCDEBF673}"/>
                  </a:ext>
                </a:extLst>
              </p:cNvPr>
              <p:cNvSpPr txBox="1"/>
              <p:nvPr/>
            </p:nvSpPr>
            <p:spPr>
              <a:xfrm>
                <a:off x="5645210" y="3508172"/>
                <a:ext cx="178067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ℝ</m:t>
                          </m:r>
                        </m:e>
                        <m:sup>
                          <m:r>
                            <a:rPr lang="en-US" sz="3600" b="0" i="1" smtClean="0">
                              <a:latin typeface="Cambria Math" panose="02040503050406030204" pitchFamily="18" charset="0"/>
                              <a:ea typeface="Cambria Math" panose="02040503050406030204" pitchFamily="18" charset="0"/>
                            </a:rPr>
                            <m:t>𝑛</m:t>
                          </m:r>
                        </m:sup>
                      </m:sSup>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ℝ</m:t>
                      </m:r>
                    </m:oMath>
                  </m:oMathPara>
                </a14:m>
                <a:endParaRPr lang="en-US" sz="3600" dirty="0">
                  <a:latin typeface="Garamond" panose="02020404030301010803" pitchFamily="18" charset="0"/>
                </a:endParaRPr>
              </a:p>
            </p:txBody>
          </p:sp>
        </mc:Choice>
        <mc:Fallback xmlns="">
          <p:sp>
            <p:nvSpPr>
              <p:cNvPr id="32" name="TextBox 31">
                <a:extLst>
                  <a:ext uri="{FF2B5EF4-FFF2-40B4-BE49-F238E27FC236}">
                    <a16:creationId xmlns:a16="http://schemas.microsoft.com/office/drawing/2014/main" id="{B08F52A1-727E-5591-2D4D-540CCDEBF673}"/>
                  </a:ext>
                </a:extLst>
              </p:cNvPr>
              <p:cNvSpPr txBox="1">
                <a:spLocks noRot="1" noChangeAspect="1" noMove="1" noResize="1" noEditPoints="1" noAdjustHandles="1" noChangeArrowheads="1" noChangeShapeType="1" noTextEdit="1"/>
              </p:cNvSpPr>
              <p:nvPr/>
            </p:nvSpPr>
            <p:spPr>
              <a:xfrm>
                <a:off x="5645210" y="3508172"/>
                <a:ext cx="1780673" cy="646331"/>
              </a:xfrm>
              <a:prstGeom prst="rect">
                <a:avLst/>
              </a:prstGeom>
              <a:blipFill>
                <a:blip r:embed="rId12"/>
                <a:stretch>
                  <a:fillRect l="-2128" r="-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5EFD6B8-F705-4948-8B46-636EC26C06BE}"/>
                  </a:ext>
                </a:extLst>
              </p:cNvPr>
              <p:cNvSpPr txBox="1"/>
              <p:nvPr/>
            </p:nvSpPr>
            <p:spPr>
              <a:xfrm>
                <a:off x="11009007" y="254687"/>
                <a:ext cx="94921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m:t>
                      </m:r>
                      <m:sSup>
                        <m:sSupPr>
                          <m:ctrlPr>
                            <a:rPr lang="en-US" sz="2800" b="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ℝ</m:t>
                          </m:r>
                        </m:e>
                        <m:sup>
                          <m:r>
                            <a:rPr lang="en-US" sz="2800" b="0" i="1" dirty="0" smtClean="0">
                              <a:latin typeface="Cambria Math" panose="02040503050406030204" pitchFamily="18" charset="0"/>
                              <a:ea typeface="Cambria Math" panose="02040503050406030204" pitchFamily="18" charset="0"/>
                            </a:rPr>
                            <m:t>𝑛</m:t>
                          </m:r>
                        </m:sup>
                      </m:sSup>
                    </m:oMath>
                  </m:oMathPara>
                </a14:m>
                <a:endParaRPr dirty="0"/>
              </a:p>
            </p:txBody>
          </p:sp>
        </mc:Choice>
        <mc:Fallback xmlns="">
          <p:sp>
            <p:nvSpPr>
              <p:cNvPr id="9" name="TextBox 8">
                <a:extLst>
                  <a:ext uri="{FF2B5EF4-FFF2-40B4-BE49-F238E27FC236}">
                    <a16:creationId xmlns:a16="http://schemas.microsoft.com/office/drawing/2014/main" id="{85EFD6B8-F705-4948-8B46-636EC26C06BE}"/>
                  </a:ext>
                </a:extLst>
              </p:cNvPr>
              <p:cNvSpPr txBox="1">
                <a:spLocks noRot="1" noChangeAspect="1" noMove="1" noResize="1" noEditPoints="1" noAdjustHandles="1" noChangeArrowheads="1" noChangeShapeType="1" noTextEdit="1"/>
              </p:cNvSpPr>
              <p:nvPr/>
            </p:nvSpPr>
            <p:spPr>
              <a:xfrm>
                <a:off x="11009007" y="254687"/>
                <a:ext cx="949213" cy="523220"/>
              </a:xfrm>
              <a:prstGeom prst="rect">
                <a:avLst/>
              </a:prstGeom>
              <a:blipFill>
                <a:blip r:embed="rId13"/>
                <a:stretch>
                  <a:fillRect l="-1316"/>
                </a:stretch>
              </a:blipFill>
            </p:spPr>
            <p:txBody>
              <a:bodyPr/>
              <a:lstStyle/>
              <a:p>
                <a:r>
                  <a:rPr lang="en-US">
                    <a:noFill/>
                  </a:rPr>
                  <a:t> </a:t>
                </a:r>
              </a:p>
            </p:txBody>
          </p:sp>
        </mc:Fallback>
      </mc:AlternateContent>
    </p:spTree>
    <p:extLst>
      <p:ext uri="{BB962C8B-B14F-4D97-AF65-F5344CB8AC3E}">
        <p14:creationId xmlns:p14="http://schemas.microsoft.com/office/powerpoint/2010/main" val="313534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7" grpId="0" animBg="1"/>
      <p:bldP spid="27" grpId="0"/>
      <p:bldP spid="31"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CF035-DE5A-D02D-B0C8-880516E08241}"/>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F29EC5E4-9E22-6E47-D03E-98C3D53C5066}"/>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83AB7178-A862-A8A6-31C1-72CC48DACC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016DF464-C640-852E-ADC9-FF2F6F0BB9CB}"/>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30CD955A-3E9A-974D-6521-BADCBD747EDF}"/>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8817925F-8FFF-1577-2B68-A0B8DB535AAE}"/>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54495FB1-9B10-272E-A590-7D4E8C6BA57F}"/>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62525CE1-186D-8133-8C86-1CEFCB196886}"/>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43AC80E4-AEED-A1DB-3EEC-6EEFA48D1B4F}"/>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BE45697B-151A-19E2-FA62-167B21E468B6}"/>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8F6ED74A-0D69-48B0-26E8-164342B8A988}"/>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grpSp>
        <p:nvGrpSpPr>
          <p:cNvPr id="22" name="Group 21">
            <a:extLst>
              <a:ext uri="{FF2B5EF4-FFF2-40B4-BE49-F238E27FC236}">
                <a16:creationId xmlns:a16="http://schemas.microsoft.com/office/drawing/2014/main" id="{D10BD41E-302B-A47C-C02D-D0F4BECADC60}"/>
              </a:ext>
            </a:extLst>
          </p:cNvPr>
          <p:cNvGrpSpPr/>
          <p:nvPr/>
        </p:nvGrpSpPr>
        <p:grpSpPr>
          <a:xfrm>
            <a:off x="8019458" y="268229"/>
            <a:ext cx="2936303" cy="523220"/>
            <a:chOff x="8019458" y="268229"/>
            <a:chExt cx="2936303" cy="523220"/>
          </a:xfrm>
        </p:grpSpPr>
        <p:sp>
          <p:nvSpPr>
            <p:cNvPr id="3" name="TextBox 2">
              <a:extLst>
                <a:ext uri="{FF2B5EF4-FFF2-40B4-BE49-F238E27FC236}">
                  <a16:creationId xmlns:a16="http://schemas.microsoft.com/office/drawing/2014/main" id="{C0B534F2-323F-0B15-9EE8-0A2011228BD5}"/>
                </a:ext>
              </a:extLst>
            </p:cNvPr>
            <p:cNvSpPr txBox="1"/>
            <p:nvPr/>
          </p:nvSpPr>
          <p:spPr>
            <a:xfrm>
              <a:off x="8072918"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4" name="TextBox 3">
              <a:extLst>
                <a:ext uri="{FF2B5EF4-FFF2-40B4-BE49-F238E27FC236}">
                  <a16:creationId xmlns:a16="http://schemas.microsoft.com/office/drawing/2014/main" id="{32C9554D-8106-8B04-B21E-A42880FF8AC5}"/>
                </a:ext>
              </a:extLst>
            </p:cNvPr>
            <p:cNvSpPr txBox="1"/>
            <p:nvPr/>
          </p:nvSpPr>
          <p:spPr>
            <a:xfrm>
              <a:off x="8682902"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5" name="TextBox 4">
              <a:extLst>
                <a:ext uri="{FF2B5EF4-FFF2-40B4-BE49-F238E27FC236}">
                  <a16:creationId xmlns:a16="http://schemas.microsoft.com/office/drawing/2014/main" id="{AF7892F6-0C9B-67C5-F3BA-DBE1F46BC141}"/>
                </a:ext>
              </a:extLst>
            </p:cNvPr>
            <p:cNvSpPr txBox="1"/>
            <p:nvPr/>
          </p:nvSpPr>
          <p:spPr>
            <a:xfrm>
              <a:off x="9302793"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6" name="TextBox 5">
              <a:extLst>
                <a:ext uri="{FF2B5EF4-FFF2-40B4-BE49-F238E27FC236}">
                  <a16:creationId xmlns:a16="http://schemas.microsoft.com/office/drawing/2014/main" id="{5B2C4250-E4BC-0215-0388-75DB99385843}"/>
                </a:ext>
              </a:extLst>
            </p:cNvPr>
            <p:cNvSpPr txBox="1"/>
            <p:nvPr/>
          </p:nvSpPr>
          <p:spPr>
            <a:xfrm>
              <a:off x="9912777"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7" name="TextBox 6">
              <a:extLst>
                <a:ext uri="{FF2B5EF4-FFF2-40B4-BE49-F238E27FC236}">
                  <a16:creationId xmlns:a16="http://schemas.microsoft.com/office/drawing/2014/main" id="{79044973-EC88-816E-A9D0-C5CE5D3FF3EF}"/>
                </a:ext>
              </a:extLst>
            </p:cNvPr>
            <p:cNvSpPr txBox="1"/>
            <p:nvPr/>
          </p:nvSpPr>
          <p:spPr>
            <a:xfrm>
              <a:off x="10532668"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8" name="Double Bracket 7">
              <a:extLst>
                <a:ext uri="{FF2B5EF4-FFF2-40B4-BE49-F238E27FC236}">
                  <a16:creationId xmlns:a16="http://schemas.microsoft.com/office/drawing/2014/main" id="{98FE6D3F-DF95-350C-BEF4-1C8349F3596D}"/>
                </a:ext>
              </a:extLst>
            </p:cNvPr>
            <p:cNvSpPr/>
            <p:nvPr/>
          </p:nvSpPr>
          <p:spPr>
            <a:xfrm>
              <a:off x="8019458" y="314211"/>
              <a:ext cx="2936303" cy="404173"/>
            </a:xfrm>
            <a:prstGeom prst="bracketPair">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57A066C-69B3-28DC-4AEE-D00E0B9FA9F0}"/>
                  </a:ext>
                </a:extLst>
              </p:cNvPr>
              <p:cNvSpPr txBox="1"/>
              <p:nvPr/>
            </p:nvSpPr>
            <p:spPr>
              <a:xfrm>
                <a:off x="6261890" y="2577966"/>
                <a:ext cx="1037319"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𝑓</m:t>
                      </m:r>
                    </m:oMath>
                  </m:oMathPara>
                </a14:m>
                <a:endParaRPr lang="en-US" sz="5400" dirty="0">
                  <a:latin typeface="Garamond" panose="02020404030301010803" pitchFamily="18" charset="0"/>
                </a:endParaRPr>
              </a:p>
            </p:txBody>
          </p:sp>
        </mc:Choice>
        <mc:Fallback xmlns="">
          <p:sp>
            <p:nvSpPr>
              <p:cNvPr id="21" name="TextBox 20">
                <a:extLst>
                  <a:ext uri="{FF2B5EF4-FFF2-40B4-BE49-F238E27FC236}">
                    <a16:creationId xmlns:a16="http://schemas.microsoft.com/office/drawing/2014/main" id="{E863C68A-D29A-D296-5A2E-E6CA4FCE443E}"/>
                  </a:ext>
                </a:extLst>
              </p:cNvPr>
              <p:cNvSpPr txBox="1">
                <a:spLocks noRot="1" noChangeAspect="1" noMove="1" noResize="1" noEditPoints="1" noAdjustHandles="1" noChangeArrowheads="1" noChangeShapeType="1" noTextEdit="1"/>
              </p:cNvSpPr>
              <p:nvPr/>
            </p:nvSpPr>
            <p:spPr>
              <a:xfrm>
                <a:off x="6261890" y="2577966"/>
                <a:ext cx="1037319" cy="923330"/>
              </a:xfrm>
              <a:prstGeom prst="rect">
                <a:avLst/>
              </a:prstGeom>
              <a:blipFill>
                <a:blip r:embed="rId9"/>
                <a:stretch>
                  <a:fillRect b="-24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BD9EF08-710A-8EEE-88A9-04CED4136BC0}"/>
                  </a:ext>
                </a:extLst>
              </p:cNvPr>
              <p:cNvSpPr txBox="1"/>
              <p:nvPr/>
            </p:nvSpPr>
            <p:spPr>
              <a:xfrm>
                <a:off x="6385329" y="68174"/>
                <a:ext cx="1580882" cy="9233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400" b="1" i="1" smtClean="0">
                          <a:latin typeface="Cambria Math" panose="02040503050406030204" pitchFamily="18" charset="0"/>
                        </a:rPr>
                        <m:t>𝒘</m:t>
                      </m:r>
                      <m:r>
                        <a:rPr lang="en-US" sz="5400" b="0" i="1" smtClean="0">
                          <a:latin typeface="Cambria Math" panose="02040503050406030204" pitchFamily="18" charset="0"/>
                        </a:rPr>
                        <m:t>=</m:t>
                      </m:r>
                    </m:oMath>
                  </m:oMathPara>
                </a14:m>
                <a:endParaRPr lang="en-US" sz="5400" b="1" dirty="0"/>
              </a:p>
            </p:txBody>
          </p:sp>
        </mc:Choice>
        <mc:Fallback xmlns="">
          <p:sp>
            <p:nvSpPr>
              <p:cNvPr id="26" name="TextBox 25">
                <a:extLst>
                  <a:ext uri="{FF2B5EF4-FFF2-40B4-BE49-F238E27FC236}">
                    <a16:creationId xmlns:a16="http://schemas.microsoft.com/office/drawing/2014/main" id="{09B0ED97-2FD2-2B99-1F38-73891FCFBE34}"/>
                  </a:ext>
                </a:extLst>
              </p:cNvPr>
              <p:cNvSpPr txBox="1">
                <a:spLocks noRot="1" noChangeAspect="1" noMove="1" noResize="1" noEditPoints="1" noAdjustHandles="1" noChangeArrowheads="1" noChangeShapeType="1" noTextEdit="1"/>
              </p:cNvSpPr>
              <p:nvPr/>
            </p:nvSpPr>
            <p:spPr>
              <a:xfrm>
                <a:off x="6385329" y="68174"/>
                <a:ext cx="1580882" cy="923330"/>
              </a:xfrm>
              <a:prstGeom prst="rect">
                <a:avLst/>
              </a:prstGeom>
              <a:blipFill>
                <a:blip r:embed="rId10"/>
                <a:stretch>
                  <a:fillRect/>
                </a:stretch>
              </a:blipFill>
            </p:spPr>
            <p:txBody>
              <a:bodyPr/>
              <a:lstStyle/>
              <a:p>
                <a:r>
                  <a:rPr lang="en-US">
                    <a:noFill/>
                  </a:rPr>
                  <a:t> </a:t>
                </a:r>
              </a:p>
            </p:txBody>
          </p:sp>
        </mc:Fallback>
      </mc:AlternateContent>
      <p:cxnSp>
        <p:nvCxnSpPr>
          <p:cNvPr id="10" name="Curved Connector 9">
            <a:extLst>
              <a:ext uri="{FF2B5EF4-FFF2-40B4-BE49-F238E27FC236}">
                <a16:creationId xmlns:a16="http://schemas.microsoft.com/office/drawing/2014/main" id="{FEFF9F9D-EE76-01E6-2901-BD52B5A4EF7C}"/>
              </a:ext>
            </a:extLst>
          </p:cNvPr>
          <p:cNvCxnSpPr>
            <a:cxnSpLocks/>
            <a:stCxn id="26" idx="2"/>
            <a:endCxn id="2" idx="1"/>
          </p:cNvCxnSpPr>
          <p:nvPr/>
        </p:nvCxnSpPr>
        <p:spPr>
          <a:xfrm rot="16200000" flipH="1">
            <a:off x="5757622" y="2409651"/>
            <a:ext cx="4462538" cy="1626243"/>
          </a:xfrm>
          <a:prstGeom prst="curvedConnector2">
            <a:avLst/>
          </a:prstGeom>
          <a:ln w="76200">
            <a:solidFill>
              <a:srgbClr val="FF0000"/>
            </a:solidFill>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A6904E9-C608-799B-A11D-1D59F47094F4}"/>
                  </a:ext>
                </a:extLst>
              </p:cNvPr>
              <p:cNvSpPr txBox="1"/>
              <p:nvPr/>
            </p:nvSpPr>
            <p:spPr>
              <a:xfrm>
                <a:off x="171306" y="3887996"/>
                <a:ext cx="6214023" cy="1077218"/>
              </a:xfrm>
              <a:prstGeom prst="rect">
                <a:avLst/>
              </a:prstGeom>
              <a:noFill/>
            </p:spPr>
            <p:txBody>
              <a:bodyPr wrap="square" rtlCol="0">
                <a:spAutoFit/>
              </a:bodyPr>
              <a:lstStyle/>
              <a:p>
                <a:pPr algn="ctr"/>
                <a:r>
                  <a:rPr lang="en-US" sz="3200" b="1" u="sng" dirty="0">
                    <a:latin typeface="Garamond" panose="02020404030301010803" pitchFamily="18" charset="0"/>
                  </a:rPr>
                  <a:t>Examples:</a:t>
                </a:r>
              </a:p>
              <a:p>
                <a:pPr marL="457200" indent="-457200">
                  <a:buFont typeface="Arial" panose="020B0604020202020204" pitchFamily="34" charset="0"/>
                  <a:buChar char="•"/>
                </a:pP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1" i="1" smtClean="0">
                                <a:latin typeface="Cambria Math" panose="02040503050406030204" pitchFamily="18" charset="0"/>
                              </a:rPr>
                              <m:t>𝟎</m:t>
                            </m:r>
                          </m:e>
                          <m:sup>
                            <m:r>
                              <a:rPr lang="en-US" sz="3200" b="0" i="1" smtClean="0">
                                <a:latin typeface="Cambria Math" panose="02040503050406030204" pitchFamily="18" charset="0"/>
                              </a:rPr>
                              <m:t>𝑛</m:t>
                            </m:r>
                          </m:sup>
                        </m:sSup>
                      </m:e>
                    </m:d>
                    <m:r>
                      <a:rPr lang="en-US" sz="3200" b="0" i="1" smtClean="0">
                        <a:latin typeface="Cambria Math" panose="02040503050406030204" pitchFamily="18" charset="0"/>
                      </a:rPr>
                      <m:t>=</m:t>
                    </m:r>
                  </m:oMath>
                </a14:m>
                <a:r>
                  <a:rPr lang="en-US" sz="3200" dirty="0">
                    <a:latin typeface="Garamond" panose="02020404030301010803" pitchFamily="18" charset="0"/>
                  </a:rPr>
                  <a:t> train on all data</a:t>
                </a:r>
              </a:p>
            </p:txBody>
          </p:sp>
        </mc:Choice>
        <mc:Fallback xmlns="">
          <p:sp>
            <p:nvSpPr>
              <p:cNvPr id="24" name="TextBox 23">
                <a:extLst>
                  <a:ext uri="{FF2B5EF4-FFF2-40B4-BE49-F238E27FC236}">
                    <a16:creationId xmlns:a16="http://schemas.microsoft.com/office/drawing/2014/main" id="{3A6904E9-C608-799B-A11D-1D59F47094F4}"/>
                  </a:ext>
                </a:extLst>
              </p:cNvPr>
              <p:cNvSpPr txBox="1">
                <a:spLocks noRot="1" noChangeAspect="1" noMove="1" noResize="1" noEditPoints="1" noAdjustHandles="1" noChangeArrowheads="1" noChangeShapeType="1" noTextEdit="1"/>
              </p:cNvSpPr>
              <p:nvPr/>
            </p:nvSpPr>
            <p:spPr>
              <a:xfrm>
                <a:off x="171306" y="3887996"/>
                <a:ext cx="6214023" cy="1077218"/>
              </a:xfrm>
              <a:prstGeom prst="rect">
                <a:avLst/>
              </a:prstGeom>
              <a:blipFill>
                <a:blip r:embed="rId11"/>
                <a:stretch>
                  <a:fillRect l="-2245" t="-6977" b="-17442"/>
                </a:stretch>
              </a:blipFill>
            </p:spPr>
            <p:txBody>
              <a:bodyPr/>
              <a:lstStyle/>
              <a:p>
                <a:r>
                  <a:rPr lang="en-US">
                    <a:noFill/>
                  </a:rPr>
                  <a:t> </a:t>
                </a:r>
              </a:p>
            </p:txBody>
          </p:sp>
        </mc:Fallback>
      </mc:AlternateContent>
      <p:sp>
        <p:nvSpPr>
          <p:cNvPr id="25" name="Title 1">
            <a:extLst>
              <a:ext uri="{FF2B5EF4-FFF2-40B4-BE49-F238E27FC236}">
                <a16:creationId xmlns:a16="http://schemas.microsoft.com/office/drawing/2014/main" id="{06A188D4-426A-4E6A-F071-697DF9201FF6}"/>
              </a:ext>
            </a:extLst>
          </p:cNvPr>
          <p:cNvSpPr>
            <a:spLocks noGrp="1"/>
          </p:cNvSpPr>
          <p:nvPr>
            <p:ph type="title"/>
          </p:nvPr>
        </p:nvSpPr>
        <p:spPr>
          <a:xfrm>
            <a:off x="-1308" y="0"/>
            <a:ext cx="3276600" cy="1325563"/>
          </a:xfrm>
          <a:ln w="76200">
            <a:solidFill>
              <a:srgbClr val="00B050"/>
            </a:solidFill>
          </a:ln>
        </p:spPr>
        <p:txBody>
          <a:bodyPr/>
          <a:lstStyle/>
          <a:p>
            <a:r>
              <a:rPr lang="en-US" dirty="0"/>
              <a:t>Datamodels</a:t>
            </a:r>
          </a:p>
        </p:txBody>
      </p:sp>
      <p:sp>
        <p:nvSpPr>
          <p:cNvPr id="31" name="TextBox 30">
            <a:extLst>
              <a:ext uri="{FF2B5EF4-FFF2-40B4-BE49-F238E27FC236}">
                <a16:creationId xmlns:a16="http://schemas.microsoft.com/office/drawing/2014/main" id="{05530D66-C64A-556C-8283-7FA837BEED22}"/>
              </a:ext>
            </a:extLst>
          </p:cNvPr>
          <p:cNvSpPr txBox="1"/>
          <p:nvPr/>
        </p:nvSpPr>
        <p:spPr>
          <a:xfrm>
            <a:off x="8436720" y="6211669"/>
            <a:ext cx="3755280" cy="646331"/>
          </a:xfrm>
          <a:prstGeom prst="rect">
            <a:avLst/>
          </a:prstGeom>
          <a:noFill/>
        </p:spPr>
        <p:txBody>
          <a:bodyPr wrap="square">
            <a:spAutoFit/>
          </a:bodyPr>
          <a:lstStyle/>
          <a:p>
            <a:pPr algn="r"/>
            <a:r>
              <a:rPr lang="en-US" dirty="0">
                <a:latin typeface="Garamond" panose="02020404030301010803" pitchFamily="18" charset="0"/>
              </a:rPr>
              <a:t>[Ilyas et al. 2022, “</a:t>
            </a:r>
            <a:r>
              <a:rPr lang="en-US" b="1" dirty="0">
                <a:latin typeface="Garamond" panose="02020404030301010803" pitchFamily="18" charset="0"/>
              </a:rPr>
              <a:t>Datamodels</a:t>
            </a:r>
            <a:r>
              <a:rPr lang="en-US" dirty="0">
                <a:latin typeface="Garamond" panose="02020404030301010803" pitchFamily="18" charset="0"/>
              </a:rPr>
              <a:t>”]</a:t>
            </a:r>
          </a:p>
          <a:p>
            <a:pPr algn="r"/>
            <a:r>
              <a:rPr lang="en-US" dirty="0">
                <a:latin typeface="Garamond" panose="02020404030301010803" pitchFamily="18" charset="0"/>
              </a:rPr>
              <a:t>[Ilyas and Engstrom 2025, “</a:t>
            </a:r>
            <a:r>
              <a:rPr lang="en-US" b="1" dirty="0">
                <a:latin typeface="Garamond" panose="02020404030301010803" pitchFamily="18" charset="0"/>
              </a:rPr>
              <a:t>MAGIC</a:t>
            </a:r>
            <a:r>
              <a:rPr lang="en-US" dirty="0">
                <a:latin typeface="Garamond" panose="02020404030301010803" pitchFamily="18" charset="0"/>
              </a:rPr>
              <a:t>”]</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3E63738-F507-BB66-6FCF-6E30F40CA813}"/>
                  </a:ext>
                </a:extLst>
              </p:cNvPr>
              <p:cNvSpPr txBox="1"/>
              <p:nvPr/>
            </p:nvSpPr>
            <p:spPr>
              <a:xfrm>
                <a:off x="5645210" y="3508172"/>
                <a:ext cx="178067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ℝ</m:t>
                          </m:r>
                        </m:e>
                        <m:sup>
                          <m:r>
                            <a:rPr lang="en-US" sz="3600" b="0" i="1" smtClean="0">
                              <a:latin typeface="Cambria Math" panose="02040503050406030204" pitchFamily="18" charset="0"/>
                              <a:ea typeface="Cambria Math" panose="02040503050406030204" pitchFamily="18" charset="0"/>
                            </a:rPr>
                            <m:t>𝑛</m:t>
                          </m:r>
                        </m:sup>
                      </m:sSup>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ℝ</m:t>
                      </m:r>
                    </m:oMath>
                  </m:oMathPara>
                </a14:m>
                <a:endParaRPr lang="en-US" sz="3600" dirty="0">
                  <a:latin typeface="Garamond" panose="02020404030301010803" pitchFamily="18" charset="0"/>
                </a:endParaRPr>
              </a:p>
            </p:txBody>
          </p:sp>
        </mc:Choice>
        <mc:Fallback xmlns="">
          <p:sp>
            <p:nvSpPr>
              <p:cNvPr id="32" name="TextBox 31">
                <a:extLst>
                  <a:ext uri="{FF2B5EF4-FFF2-40B4-BE49-F238E27FC236}">
                    <a16:creationId xmlns:a16="http://schemas.microsoft.com/office/drawing/2014/main" id="{B08F52A1-727E-5591-2D4D-540CCDEBF673}"/>
                  </a:ext>
                </a:extLst>
              </p:cNvPr>
              <p:cNvSpPr txBox="1">
                <a:spLocks noRot="1" noChangeAspect="1" noMove="1" noResize="1" noEditPoints="1" noAdjustHandles="1" noChangeArrowheads="1" noChangeShapeType="1" noTextEdit="1"/>
              </p:cNvSpPr>
              <p:nvPr/>
            </p:nvSpPr>
            <p:spPr>
              <a:xfrm>
                <a:off x="5645210" y="3508172"/>
                <a:ext cx="1780673" cy="646331"/>
              </a:xfrm>
              <a:prstGeom prst="rect">
                <a:avLst/>
              </a:prstGeom>
              <a:blipFill>
                <a:blip r:embed="rId12"/>
                <a:stretch>
                  <a:fillRect l="-2128" r="-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270932E-9EAD-A8E7-C0A9-7311964198FC}"/>
                  </a:ext>
                </a:extLst>
              </p:cNvPr>
              <p:cNvSpPr txBox="1"/>
              <p:nvPr/>
            </p:nvSpPr>
            <p:spPr>
              <a:xfrm>
                <a:off x="11009007" y="254687"/>
                <a:ext cx="94921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m:t>
                      </m:r>
                      <m:sSup>
                        <m:sSupPr>
                          <m:ctrlPr>
                            <a:rPr lang="en-US" sz="2800" b="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ℝ</m:t>
                          </m:r>
                        </m:e>
                        <m:sup>
                          <m:r>
                            <a:rPr lang="en-US" sz="2800" b="0" i="1" dirty="0" smtClean="0">
                              <a:latin typeface="Cambria Math" panose="02040503050406030204" pitchFamily="18" charset="0"/>
                              <a:ea typeface="Cambria Math" panose="02040503050406030204" pitchFamily="18" charset="0"/>
                            </a:rPr>
                            <m:t>𝑛</m:t>
                          </m:r>
                        </m:sup>
                      </m:sSup>
                    </m:oMath>
                  </m:oMathPara>
                </a14:m>
                <a:endParaRPr dirty="0"/>
              </a:p>
            </p:txBody>
          </p:sp>
        </mc:Choice>
        <mc:Fallback xmlns="">
          <p:sp>
            <p:nvSpPr>
              <p:cNvPr id="9" name="TextBox 8">
                <a:extLst>
                  <a:ext uri="{FF2B5EF4-FFF2-40B4-BE49-F238E27FC236}">
                    <a16:creationId xmlns:a16="http://schemas.microsoft.com/office/drawing/2014/main" id="{85EFD6B8-F705-4948-8B46-636EC26C06BE}"/>
                  </a:ext>
                </a:extLst>
              </p:cNvPr>
              <p:cNvSpPr txBox="1">
                <a:spLocks noRot="1" noChangeAspect="1" noMove="1" noResize="1" noEditPoints="1" noAdjustHandles="1" noChangeArrowheads="1" noChangeShapeType="1" noTextEdit="1"/>
              </p:cNvSpPr>
              <p:nvPr/>
            </p:nvSpPr>
            <p:spPr>
              <a:xfrm>
                <a:off x="11009007" y="254687"/>
                <a:ext cx="949213" cy="523220"/>
              </a:xfrm>
              <a:prstGeom prst="rect">
                <a:avLst/>
              </a:prstGeom>
              <a:blipFill>
                <a:blip r:embed="rId13"/>
                <a:stretch>
                  <a:fillRect l="-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73BDE73-B3C3-6988-544C-375618F70A35}"/>
                  </a:ext>
                </a:extLst>
              </p:cNvPr>
              <p:cNvSpPr txBox="1"/>
              <p:nvPr/>
            </p:nvSpPr>
            <p:spPr>
              <a:xfrm>
                <a:off x="419375" y="1516137"/>
                <a:ext cx="5154450" cy="2123658"/>
              </a:xfrm>
              <a:prstGeom prst="rect">
                <a:avLst/>
              </a:prstGeom>
              <a:noFill/>
              <a:ln w="38100">
                <a:solidFill>
                  <a:schemeClr val="tx1"/>
                </a:solidFill>
              </a:ln>
            </p:spPr>
            <p:txBody>
              <a:bodyPr wrap="square" rtlCol="0">
                <a:spAutoFit/>
              </a:bodyPr>
              <a:lstStyle/>
              <a:p>
                <a:r>
                  <a:rPr lang="en-US" sz="4400" b="0" dirty="0">
                    <a:latin typeface="Garamond" panose="02020404030301010803" pitchFamily="18" charset="0"/>
                  </a:rPr>
                  <a:t>Multiply the learning rate used for example </a:t>
                </a:r>
                <a14:m>
                  <m:oMath xmlns:m="http://schemas.openxmlformats.org/officeDocument/2006/math">
                    <m:r>
                      <a:rPr lang="en-US" sz="4400" b="0" i="1" smtClean="0">
                        <a:latin typeface="Cambria Math" panose="02040503050406030204" pitchFamily="18" charset="0"/>
                      </a:rPr>
                      <m:t>𝑖</m:t>
                    </m:r>
                  </m:oMath>
                </a14:m>
                <a:r>
                  <a:rPr lang="en-US" sz="4400" b="0" dirty="0">
                    <a:latin typeface="Garamond" panose="02020404030301010803" pitchFamily="18" charset="0"/>
                  </a:rPr>
                  <a:t> by </a:t>
                </a:r>
                <a14:m>
                  <m:oMath xmlns:m="http://schemas.openxmlformats.org/officeDocument/2006/math">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i="1" smtClean="0">
                            <a:latin typeface="Cambria Math" panose="02040503050406030204" pitchFamily="18" charset="0"/>
                          </a:rPr>
                          <m:t>𝑤</m:t>
                        </m:r>
                      </m:e>
                      <m:sub>
                        <m:r>
                          <a:rPr lang="en-US" sz="4400" b="0" i="1" smtClean="0">
                            <a:latin typeface="Cambria Math" panose="02040503050406030204" pitchFamily="18" charset="0"/>
                          </a:rPr>
                          <m:t>𝑖</m:t>
                        </m:r>
                      </m:sub>
                    </m:sSub>
                  </m:oMath>
                </a14:m>
                <a:r>
                  <a:rPr lang="en-US" sz="4400" b="0" dirty="0">
                    <a:latin typeface="Garamond" panose="02020404030301010803" pitchFamily="18" charset="0"/>
                  </a:rPr>
                  <a:t>.</a:t>
                </a:r>
              </a:p>
            </p:txBody>
          </p:sp>
        </mc:Choice>
        <mc:Fallback xmlns="">
          <p:sp>
            <p:nvSpPr>
              <p:cNvPr id="11" name="TextBox 10">
                <a:extLst>
                  <a:ext uri="{FF2B5EF4-FFF2-40B4-BE49-F238E27FC236}">
                    <a16:creationId xmlns:a16="http://schemas.microsoft.com/office/drawing/2014/main" id="{673BDE73-B3C3-6988-544C-375618F70A35}"/>
                  </a:ext>
                </a:extLst>
              </p:cNvPr>
              <p:cNvSpPr txBox="1">
                <a:spLocks noRot="1" noChangeAspect="1" noMove="1" noResize="1" noEditPoints="1" noAdjustHandles="1" noChangeArrowheads="1" noChangeShapeType="1" noTextEdit="1"/>
              </p:cNvSpPr>
              <p:nvPr/>
            </p:nvSpPr>
            <p:spPr>
              <a:xfrm>
                <a:off x="419375" y="1516137"/>
                <a:ext cx="5154450" cy="2123658"/>
              </a:xfrm>
              <a:prstGeom prst="rect">
                <a:avLst/>
              </a:prstGeom>
              <a:blipFill>
                <a:blip r:embed="rId14"/>
                <a:stretch>
                  <a:fillRect l="-4390" t="-5294" r="-1220" b="-11765"/>
                </a:stretch>
              </a:blipFill>
              <a:ln w="3810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85965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E75B6-2544-BA68-4870-B632960B02B2}"/>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65C5F861-305B-DE4E-B37F-35FD22F52398}"/>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14619E8F-2BFA-A10A-FE6F-89A36F00E8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E47D2923-02E3-9C19-A532-FD744C4FA5AB}"/>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565C025E-007B-6FFB-A635-ECCDED2AAF1F}"/>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E99C8307-577D-C401-8813-CA32BF85616A}"/>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54B78CCF-67E2-8F1A-E7EF-444E1FC82B40}"/>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1E4289D4-1F36-2106-DB65-9455691067D3}"/>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28CD597E-F4B9-CBA6-444B-10D14690CCE2}"/>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3E937F72-C290-8237-85B6-E8E24429A4A7}"/>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942E3417-04A2-EC8D-EEAD-4FA02AD1466D}"/>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grpSp>
        <p:nvGrpSpPr>
          <p:cNvPr id="22" name="Group 21">
            <a:extLst>
              <a:ext uri="{FF2B5EF4-FFF2-40B4-BE49-F238E27FC236}">
                <a16:creationId xmlns:a16="http://schemas.microsoft.com/office/drawing/2014/main" id="{445D2854-8EDD-4CC2-0BD9-7895C8D7443C}"/>
              </a:ext>
            </a:extLst>
          </p:cNvPr>
          <p:cNvGrpSpPr/>
          <p:nvPr/>
        </p:nvGrpSpPr>
        <p:grpSpPr>
          <a:xfrm>
            <a:off x="8019458" y="268229"/>
            <a:ext cx="2936303" cy="523220"/>
            <a:chOff x="8019458" y="268229"/>
            <a:chExt cx="2936303" cy="523220"/>
          </a:xfrm>
        </p:grpSpPr>
        <p:sp>
          <p:nvSpPr>
            <p:cNvPr id="3" name="TextBox 2">
              <a:extLst>
                <a:ext uri="{FF2B5EF4-FFF2-40B4-BE49-F238E27FC236}">
                  <a16:creationId xmlns:a16="http://schemas.microsoft.com/office/drawing/2014/main" id="{C8CD2916-C1AD-478C-C9C1-10376CE69617}"/>
                </a:ext>
              </a:extLst>
            </p:cNvPr>
            <p:cNvSpPr txBox="1"/>
            <p:nvPr/>
          </p:nvSpPr>
          <p:spPr>
            <a:xfrm>
              <a:off x="8072918"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4" name="TextBox 3">
              <a:extLst>
                <a:ext uri="{FF2B5EF4-FFF2-40B4-BE49-F238E27FC236}">
                  <a16:creationId xmlns:a16="http://schemas.microsoft.com/office/drawing/2014/main" id="{2C334330-631C-66E9-BF6A-2A3D0C00996C}"/>
                </a:ext>
              </a:extLst>
            </p:cNvPr>
            <p:cNvSpPr txBox="1"/>
            <p:nvPr/>
          </p:nvSpPr>
          <p:spPr>
            <a:xfrm>
              <a:off x="8682902"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5" name="TextBox 4">
              <a:extLst>
                <a:ext uri="{FF2B5EF4-FFF2-40B4-BE49-F238E27FC236}">
                  <a16:creationId xmlns:a16="http://schemas.microsoft.com/office/drawing/2014/main" id="{08797E9B-0607-16CF-E318-A3EFA7419635}"/>
                </a:ext>
              </a:extLst>
            </p:cNvPr>
            <p:cNvSpPr txBox="1"/>
            <p:nvPr/>
          </p:nvSpPr>
          <p:spPr>
            <a:xfrm>
              <a:off x="9302793"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6" name="TextBox 5">
              <a:extLst>
                <a:ext uri="{FF2B5EF4-FFF2-40B4-BE49-F238E27FC236}">
                  <a16:creationId xmlns:a16="http://schemas.microsoft.com/office/drawing/2014/main" id="{08536592-6D5B-F79D-AC4D-191E1145B871}"/>
                </a:ext>
              </a:extLst>
            </p:cNvPr>
            <p:cNvSpPr txBox="1"/>
            <p:nvPr/>
          </p:nvSpPr>
          <p:spPr>
            <a:xfrm>
              <a:off x="9912777"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7" name="TextBox 6">
              <a:extLst>
                <a:ext uri="{FF2B5EF4-FFF2-40B4-BE49-F238E27FC236}">
                  <a16:creationId xmlns:a16="http://schemas.microsoft.com/office/drawing/2014/main" id="{769C5846-72AD-3BAA-EA7A-A547B691EE3A}"/>
                </a:ext>
              </a:extLst>
            </p:cNvPr>
            <p:cNvSpPr txBox="1"/>
            <p:nvPr/>
          </p:nvSpPr>
          <p:spPr>
            <a:xfrm>
              <a:off x="10532668"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8" name="Double Bracket 7">
              <a:extLst>
                <a:ext uri="{FF2B5EF4-FFF2-40B4-BE49-F238E27FC236}">
                  <a16:creationId xmlns:a16="http://schemas.microsoft.com/office/drawing/2014/main" id="{500D94A4-7CE8-98CC-57E8-4C939DC9849A}"/>
                </a:ext>
              </a:extLst>
            </p:cNvPr>
            <p:cNvSpPr/>
            <p:nvPr/>
          </p:nvSpPr>
          <p:spPr>
            <a:xfrm>
              <a:off x="8019458" y="314211"/>
              <a:ext cx="2936303" cy="404173"/>
            </a:xfrm>
            <a:prstGeom prst="bracketPair">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EB4F219-37FA-A28D-94D8-870BE34DE889}"/>
                  </a:ext>
                </a:extLst>
              </p:cNvPr>
              <p:cNvSpPr txBox="1"/>
              <p:nvPr/>
            </p:nvSpPr>
            <p:spPr>
              <a:xfrm>
                <a:off x="6261890" y="2577966"/>
                <a:ext cx="1037319"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𝑓</m:t>
                      </m:r>
                    </m:oMath>
                  </m:oMathPara>
                </a14:m>
                <a:endParaRPr lang="en-US" sz="5400" dirty="0">
                  <a:latin typeface="Garamond" panose="02020404030301010803" pitchFamily="18" charset="0"/>
                </a:endParaRPr>
              </a:p>
            </p:txBody>
          </p:sp>
        </mc:Choice>
        <mc:Fallback xmlns="">
          <p:sp>
            <p:nvSpPr>
              <p:cNvPr id="21" name="TextBox 20">
                <a:extLst>
                  <a:ext uri="{FF2B5EF4-FFF2-40B4-BE49-F238E27FC236}">
                    <a16:creationId xmlns:a16="http://schemas.microsoft.com/office/drawing/2014/main" id="{CEB4F219-37FA-A28D-94D8-870BE34DE889}"/>
                  </a:ext>
                </a:extLst>
              </p:cNvPr>
              <p:cNvSpPr txBox="1">
                <a:spLocks noRot="1" noChangeAspect="1" noMove="1" noResize="1" noEditPoints="1" noAdjustHandles="1" noChangeArrowheads="1" noChangeShapeType="1" noTextEdit="1"/>
              </p:cNvSpPr>
              <p:nvPr/>
            </p:nvSpPr>
            <p:spPr>
              <a:xfrm>
                <a:off x="6261890" y="2577966"/>
                <a:ext cx="1037319" cy="923330"/>
              </a:xfrm>
              <a:prstGeom prst="rect">
                <a:avLst/>
              </a:prstGeom>
              <a:blipFill>
                <a:blip r:embed="rId9"/>
                <a:stretch>
                  <a:fillRect b="-24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F5E4F15-74F3-EC87-9004-0148E899BD77}"/>
                  </a:ext>
                </a:extLst>
              </p:cNvPr>
              <p:cNvSpPr txBox="1"/>
              <p:nvPr/>
            </p:nvSpPr>
            <p:spPr>
              <a:xfrm>
                <a:off x="6385329" y="68174"/>
                <a:ext cx="1580882" cy="9233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400" b="1" i="1" smtClean="0">
                          <a:latin typeface="Cambria Math" panose="02040503050406030204" pitchFamily="18" charset="0"/>
                        </a:rPr>
                        <m:t>𝒘</m:t>
                      </m:r>
                      <m:r>
                        <a:rPr lang="en-US" sz="5400" b="0" i="1" smtClean="0">
                          <a:latin typeface="Cambria Math" panose="02040503050406030204" pitchFamily="18" charset="0"/>
                        </a:rPr>
                        <m:t>=</m:t>
                      </m:r>
                    </m:oMath>
                  </m:oMathPara>
                </a14:m>
                <a:endParaRPr lang="en-US" sz="5400" b="1" dirty="0"/>
              </a:p>
            </p:txBody>
          </p:sp>
        </mc:Choice>
        <mc:Fallback xmlns="">
          <p:sp>
            <p:nvSpPr>
              <p:cNvPr id="26" name="TextBox 25">
                <a:extLst>
                  <a:ext uri="{FF2B5EF4-FFF2-40B4-BE49-F238E27FC236}">
                    <a16:creationId xmlns:a16="http://schemas.microsoft.com/office/drawing/2014/main" id="{0F5E4F15-74F3-EC87-9004-0148E899BD77}"/>
                  </a:ext>
                </a:extLst>
              </p:cNvPr>
              <p:cNvSpPr txBox="1">
                <a:spLocks noRot="1" noChangeAspect="1" noMove="1" noResize="1" noEditPoints="1" noAdjustHandles="1" noChangeArrowheads="1" noChangeShapeType="1" noTextEdit="1"/>
              </p:cNvSpPr>
              <p:nvPr/>
            </p:nvSpPr>
            <p:spPr>
              <a:xfrm>
                <a:off x="6385329" y="68174"/>
                <a:ext cx="1580882" cy="923330"/>
              </a:xfrm>
              <a:prstGeom prst="rect">
                <a:avLst/>
              </a:prstGeom>
              <a:blipFill>
                <a:blip r:embed="rId10"/>
                <a:stretch>
                  <a:fillRect/>
                </a:stretch>
              </a:blipFill>
            </p:spPr>
            <p:txBody>
              <a:bodyPr/>
              <a:lstStyle/>
              <a:p>
                <a:r>
                  <a:rPr lang="en-US">
                    <a:noFill/>
                  </a:rPr>
                  <a:t> </a:t>
                </a:r>
              </a:p>
            </p:txBody>
          </p:sp>
        </mc:Fallback>
      </mc:AlternateContent>
      <p:cxnSp>
        <p:nvCxnSpPr>
          <p:cNvPr id="10" name="Curved Connector 9">
            <a:extLst>
              <a:ext uri="{FF2B5EF4-FFF2-40B4-BE49-F238E27FC236}">
                <a16:creationId xmlns:a16="http://schemas.microsoft.com/office/drawing/2014/main" id="{C61CD0EA-B328-2317-BF01-79BE77D42FF7}"/>
              </a:ext>
            </a:extLst>
          </p:cNvPr>
          <p:cNvCxnSpPr>
            <a:cxnSpLocks/>
            <a:stCxn id="26" idx="2"/>
            <a:endCxn id="2" idx="1"/>
          </p:cNvCxnSpPr>
          <p:nvPr/>
        </p:nvCxnSpPr>
        <p:spPr>
          <a:xfrm rot="16200000" flipH="1">
            <a:off x="5757622" y="2409651"/>
            <a:ext cx="4462538" cy="1626243"/>
          </a:xfrm>
          <a:prstGeom prst="curvedConnector2">
            <a:avLst/>
          </a:prstGeom>
          <a:ln w="762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2" name="Multiply 11">
            <a:extLst>
              <a:ext uri="{FF2B5EF4-FFF2-40B4-BE49-F238E27FC236}">
                <a16:creationId xmlns:a16="http://schemas.microsoft.com/office/drawing/2014/main" id="{23A4E763-A244-A4D1-EE03-352FD22DE632}"/>
              </a:ext>
            </a:extLst>
          </p:cNvPr>
          <p:cNvSpPr/>
          <p:nvPr/>
        </p:nvSpPr>
        <p:spPr>
          <a:xfrm>
            <a:off x="8340667" y="667185"/>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D087AB6-2609-B569-BBCE-47B9AA988012}"/>
                  </a:ext>
                </a:extLst>
              </p:cNvPr>
              <p:cNvSpPr txBox="1"/>
              <p:nvPr/>
            </p:nvSpPr>
            <p:spPr>
              <a:xfrm>
                <a:off x="171306" y="3887996"/>
                <a:ext cx="6214023" cy="1569660"/>
              </a:xfrm>
              <a:prstGeom prst="rect">
                <a:avLst/>
              </a:prstGeom>
              <a:noFill/>
            </p:spPr>
            <p:txBody>
              <a:bodyPr wrap="square" rtlCol="0">
                <a:spAutoFit/>
              </a:bodyPr>
              <a:lstStyle/>
              <a:p>
                <a:pPr algn="ctr"/>
                <a:r>
                  <a:rPr lang="en-US" sz="3200" b="1" u="sng" dirty="0">
                    <a:latin typeface="Garamond" panose="02020404030301010803" pitchFamily="18" charset="0"/>
                  </a:rPr>
                  <a:t>Examples:</a:t>
                </a:r>
              </a:p>
              <a:p>
                <a:pPr marL="457200" indent="-457200">
                  <a:buFont typeface="Arial" panose="020B0604020202020204" pitchFamily="34" charset="0"/>
                  <a:buChar char="•"/>
                </a:pP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1" i="1" smtClean="0">
                                <a:latin typeface="Cambria Math" panose="02040503050406030204" pitchFamily="18" charset="0"/>
                              </a:rPr>
                              <m:t>𝟎</m:t>
                            </m:r>
                          </m:e>
                          <m:sup>
                            <m:r>
                              <a:rPr lang="en-US" sz="3200" b="0" i="1" smtClean="0">
                                <a:latin typeface="Cambria Math" panose="02040503050406030204" pitchFamily="18" charset="0"/>
                              </a:rPr>
                              <m:t>𝑛</m:t>
                            </m:r>
                          </m:sup>
                        </m:sSup>
                      </m:e>
                    </m:d>
                    <m:r>
                      <a:rPr lang="en-US" sz="3200" b="0" i="1" smtClean="0">
                        <a:latin typeface="Cambria Math" panose="02040503050406030204" pitchFamily="18" charset="0"/>
                      </a:rPr>
                      <m:t>=</m:t>
                    </m:r>
                  </m:oMath>
                </a14:m>
                <a:r>
                  <a:rPr lang="en-US" sz="3200" dirty="0">
                    <a:latin typeface="Garamond" panose="02020404030301010803" pitchFamily="18" charset="0"/>
                  </a:rPr>
                  <a:t> train on all data</a:t>
                </a:r>
              </a:p>
              <a:p>
                <a:pPr marL="457200" indent="-457200">
                  <a:buFont typeface="Arial" panose="020B0604020202020204" pitchFamily="34" charset="0"/>
                  <a:buChar char="•"/>
                </a:pP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1" i="1" smtClean="0">
                                <a:latin typeface="Cambria Math" panose="02040503050406030204" pitchFamily="18" charset="0"/>
                              </a:rPr>
                              <m:t>𝟏</m:t>
                            </m:r>
                          </m:e>
                          <m:sup>
                            <m:r>
                              <a:rPr lang="en-US" sz="3200" b="0" i="1" smtClean="0">
                                <a:latin typeface="Cambria Math" panose="02040503050406030204" pitchFamily="18" charset="0"/>
                              </a:rPr>
                              <m:t>𝑛</m:t>
                            </m:r>
                          </m:sup>
                        </m:sSup>
                      </m:e>
                    </m:d>
                    <m:r>
                      <a:rPr lang="en-US" sz="3200" b="0" i="1" smtClean="0">
                        <a:latin typeface="Cambria Math" panose="02040503050406030204" pitchFamily="18" charset="0"/>
                      </a:rPr>
                      <m:t>=</m:t>
                    </m:r>
                  </m:oMath>
                </a14:m>
                <a:r>
                  <a:rPr lang="en-US" sz="3200" dirty="0">
                    <a:latin typeface="Garamond" panose="02020404030301010803" pitchFamily="18" charset="0"/>
                  </a:rPr>
                  <a:t> train on no data (trash)</a:t>
                </a:r>
              </a:p>
            </p:txBody>
          </p:sp>
        </mc:Choice>
        <mc:Fallback xmlns="">
          <p:sp>
            <p:nvSpPr>
              <p:cNvPr id="9" name="TextBox 8">
                <a:extLst>
                  <a:ext uri="{FF2B5EF4-FFF2-40B4-BE49-F238E27FC236}">
                    <a16:creationId xmlns:a16="http://schemas.microsoft.com/office/drawing/2014/main" id="{FD087AB6-2609-B569-BBCE-47B9AA988012}"/>
                  </a:ext>
                </a:extLst>
              </p:cNvPr>
              <p:cNvSpPr txBox="1">
                <a:spLocks noRot="1" noChangeAspect="1" noMove="1" noResize="1" noEditPoints="1" noAdjustHandles="1" noChangeArrowheads="1" noChangeShapeType="1" noTextEdit="1"/>
              </p:cNvSpPr>
              <p:nvPr/>
            </p:nvSpPr>
            <p:spPr>
              <a:xfrm>
                <a:off x="171306" y="3887996"/>
                <a:ext cx="6214023" cy="1569660"/>
              </a:xfrm>
              <a:prstGeom prst="rect">
                <a:avLst/>
              </a:prstGeom>
              <a:blipFill>
                <a:blip r:embed="rId11"/>
                <a:stretch>
                  <a:fillRect l="-2245" t="-4839" b="-12097"/>
                </a:stretch>
              </a:blipFill>
            </p:spPr>
            <p:txBody>
              <a:bodyPr/>
              <a:lstStyle/>
              <a:p>
                <a:r>
                  <a:rPr lang="en-US">
                    <a:noFill/>
                  </a:rPr>
                  <a:t> </a:t>
                </a:r>
              </a:p>
            </p:txBody>
          </p:sp>
        </mc:Fallback>
      </mc:AlternateContent>
      <p:sp>
        <p:nvSpPr>
          <p:cNvPr id="15" name="Multiply 14">
            <a:extLst>
              <a:ext uri="{FF2B5EF4-FFF2-40B4-BE49-F238E27FC236}">
                <a16:creationId xmlns:a16="http://schemas.microsoft.com/office/drawing/2014/main" id="{8C1CA53C-BD3D-9555-ECBE-5612F8DAD57B}"/>
              </a:ext>
            </a:extLst>
          </p:cNvPr>
          <p:cNvSpPr/>
          <p:nvPr/>
        </p:nvSpPr>
        <p:spPr>
          <a:xfrm>
            <a:off x="8964915" y="671616"/>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Multiply 15">
            <a:extLst>
              <a:ext uri="{FF2B5EF4-FFF2-40B4-BE49-F238E27FC236}">
                <a16:creationId xmlns:a16="http://schemas.microsoft.com/office/drawing/2014/main" id="{38D839EE-D536-F914-A13E-120D185A0070}"/>
              </a:ext>
            </a:extLst>
          </p:cNvPr>
          <p:cNvSpPr/>
          <p:nvPr/>
        </p:nvSpPr>
        <p:spPr>
          <a:xfrm>
            <a:off x="7706132" y="641927"/>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Multiply 18">
            <a:extLst>
              <a:ext uri="{FF2B5EF4-FFF2-40B4-BE49-F238E27FC236}">
                <a16:creationId xmlns:a16="http://schemas.microsoft.com/office/drawing/2014/main" id="{A09ED94E-FEAC-EF61-DAA1-238C14815F7E}"/>
              </a:ext>
            </a:extLst>
          </p:cNvPr>
          <p:cNvSpPr/>
          <p:nvPr/>
        </p:nvSpPr>
        <p:spPr>
          <a:xfrm>
            <a:off x="9588823" y="671616"/>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Multiply 23">
            <a:extLst>
              <a:ext uri="{FF2B5EF4-FFF2-40B4-BE49-F238E27FC236}">
                <a16:creationId xmlns:a16="http://schemas.microsoft.com/office/drawing/2014/main" id="{AD44737D-E9B1-AD35-C423-8BF5119E4B32}"/>
              </a:ext>
            </a:extLst>
          </p:cNvPr>
          <p:cNvSpPr/>
          <p:nvPr/>
        </p:nvSpPr>
        <p:spPr>
          <a:xfrm>
            <a:off x="10204107" y="671616"/>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1">
            <a:extLst>
              <a:ext uri="{FF2B5EF4-FFF2-40B4-BE49-F238E27FC236}">
                <a16:creationId xmlns:a16="http://schemas.microsoft.com/office/drawing/2014/main" id="{5185FD36-B672-B791-72B7-499D31022037}"/>
              </a:ext>
            </a:extLst>
          </p:cNvPr>
          <p:cNvSpPr>
            <a:spLocks noGrp="1"/>
          </p:cNvSpPr>
          <p:nvPr>
            <p:ph type="title"/>
          </p:nvPr>
        </p:nvSpPr>
        <p:spPr>
          <a:xfrm>
            <a:off x="-1308" y="0"/>
            <a:ext cx="3276600" cy="1325563"/>
          </a:xfrm>
          <a:ln w="76200">
            <a:solidFill>
              <a:srgbClr val="00B050"/>
            </a:solidFill>
          </a:ln>
        </p:spPr>
        <p:txBody>
          <a:bodyPr/>
          <a:lstStyle/>
          <a:p>
            <a:r>
              <a:rPr lang="en-US" dirty="0"/>
              <a:t>Datamodels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5F1648A-B19D-B4CC-8B71-7272A4CFF7BE}"/>
                  </a:ext>
                </a:extLst>
              </p:cNvPr>
              <p:cNvSpPr txBox="1"/>
              <p:nvPr/>
            </p:nvSpPr>
            <p:spPr>
              <a:xfrm>
                <a:off x="5645210" y="3508172"/>
                <a:ext cx="178067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ℝ</m:t>
                          </m:r>
                        </m:e>
                        <m:sup>
                          <m:r>
                            <a:rPr lang="en-US" sz="3600" b="0" i="1" smtClean="0">
                              <a:latin typeface="Cambria Math" panose="02040503050406030204" pitchFamily="18" charset="0"/>
                              <a:ea typeface="Cambria Math" panose="02040503050406030204" pitchFamily="18" charset="0"/>
                            </a:rPr>
                            <m:t>𝑛</m:t>
                          </m:r>
                        </m:sup>
                      </m:sSup>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ℝ</m:t>
                      </m:r>
                    </m:oMath>
                  </m:oMathPara>
                </a14:m>
                <a:endParaRPr lang="en-US" sz="3600" dirty="0">
                  <a:latin typeface="Garamond" panose="02020404030301010803" pitchFamily="18" charset="0"/>
                </a:endParaRPr>
              </a:p>
            </p:txBody>
          </p:sp>
        </mc:Choice>
        <mc:Fallback xmlns="">
          <p:sp>
            <p:nvSpPr>
              <p:cNvPr id="31" name="TextBox 30">
                <a:extLst>
                  <a:ext uri="{FF2B5EF4-FFF2-40B4-BE49-F238E27FC236}">
                    <a16:creationId xmlns:a16="http://schemas.microsoft.com/office/drawing/2014/main" id="{15F1648A-B19D-B4CC-8B71-7272A4CFF7BE}"/>
                  </a:ext>
                </a:extLst>
              </p:cNvPr>
              <p:cNvSpPr txBox="1">
                <a:spLocks noRot="1" noChangeAspect="1" noMove="1" noResize="1" noEditPoints="1" noAdjustHandles="1" noChangeArrowheads="1" noChangeShapeType="1" noTextEdit="1"/>
              </p:cNvSpPr>
              <p:nvPr/>
            </p:nvSpPr>
            <p:spPr>
              <a:xfrm>
                <a:off x="5645210" y="3508172"/>
                <a:ext cx="1780673" cy="646331"/>
              </a:xfrm>
              <a:prstGeom prst="rect">
                <a:avLst/>
              </a:prstGeom>
              <a:blipFill>
                <a:blip r:embed="rId12"/>
                <a:stretch>
                  <a:fillRect l="-2128" r="-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3E3DC3D-7571-E6B6-56C0-466C05C60DC7}"/>
                  </a:ext>
                </a:extLst>
              </p:cNvPr>
              <p:cNvSpPr txBox="1"/>
              <p:nvPr/>
            </p:nvSpPr>
            <p:spPr>
              <a:xfrm>
                <a:off x="419375" y="1516137"/>
                <a:ext cx="5154450" cy="2123658"/>
              </a:xfrm>
              <a:prstGeom prst="rect">
                <a:avLst/>
              </a:prstGeom>
              <a:noFill/>
              <a:ln w="38100">
                <a:solidFill>
                  <a:schemeClr val="tx1"/>
                </a:solidFill>
              </a:ln>
            </p:spPr>
            <p:txBody>
              <a:bodyPr wrap="square" rtlCol="0">
                <a:spAutoFit/>
              </a:bodyPr>
              <a:lstStyle/>
              <a:p>
                <a:r>
                  <a:rPr lang="en-US" sz="4400" b="0" dirty="0">
                    <a:latin typeface="Garamond" panose="02020404030301010803" pitchFamily="18" charset="0"/>
                  </a:rPr>
                  <a:t>Multiply the learning rate used for example </a:t>
                </a:r>
                <a14:m>
                  <m:oMath xmlns:m="http://schemas.openxmlformats.org/officeDocument/2006/math">
                    <m:r>
                      <a:rPr lang="en-US" sz="4400" b="0" i="1" smtClean="0">
                        <a:latin typeface="Cambria Math" panose="02040503050406030204" pitchFamily="18" charset="0"/>
                      </a:rPr>
                      <m:t>𝑖</m:t>
                    </m:r>
                  </m:oMath>
                </a14:m>
                <a:r>
                  <a:rPr lang="en-US" sz="4400" b="0" dirty="0">
                    <a:latin typeface="Garamond" panose="02020404030301010803" pitchFamily="18" charset="0"/>
                  </a:rPr>
                  <a:t> by </a:t>
                </a:r>
                <a14:m>
                  <m:oMath xmlns:m="http://schemas.openxmlformats.org/officeDocument/2006/math">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𝑖</m:t>
                        </m:r>
                      </m:sub>
                    </m:sSub>
                  </m:oMath>
                </a14:m>
                <a:r>
                  <a:rPr lang="en-US" sz="4400" b="0" dirty="0">
                    <a:latin typeface="Garamond" panose="02020404030301010803" pitchFamily="18" charset="0"/>
                  </a:rPr>
                  <a:t>.</a:t>
                </a:r>
              </a:p>
            </p:txBody>
          </p:sp>
        </mc:Choice>
        <mc:Fallback xmlns="">
          <p:sp>
            <p:nvSpPr>
              <p:cNvPr id="13" name="TextBox 12">
                <a:extLst>
                  <a:ext uri="{FF2B5EF4-FFF2-40B4-BE49-F238E27FC236}">
                    <a16:creationId xmlns:a16="http://schemas.microsoft.com/office/drawing/2014/main" id="{83E3DC3D-7571-E6B6-56C0-466C05C60DC7}"/>
                  </a:ext>
                </a:extLst>
              </p:cNvPr>
              <p:cNvSpPr txBox="1">
                <a:spLocks noRot="1" noChangeAspect="1" noMove="1" noResize="1" noEditPoints="1" noAdjustHandles="1" noChangeArrowheads="1" noChangeShapeType="1" noTextEdit="1"/>
              </p:cNvSpPr>
              <p:nvPr/>
            </p:nvSpPr>
            <p:spPr>
              <a:xfrm>
                <a:off x="419375" y="1516137"/>
                <a:ext cx="5154450" cy="2123658"/>
              </a:xfrm>
              <a:prstGeom prst="rect">
                <a:avLst/>
              </a:prstGeom>
              <a:blipFill>
                <a:blip r:embed="rId13"/>
                <a:stretch>
                  <a:fillRect l="-4390" t="-5294" r="-1220" b="-11765"/>
                </a:stretch>
              </a:blipFill>
              <a:ln w="3810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236943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89315-8E7B-1EF5-1921-92895ED271E6}"/>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77476291-7C6D-E698-1A32-4452E98C468D}"/>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25794128-F742-BA45-9230-CBA4A3F9DD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2D60B27E-969A-8642-88DF-E5D9F97A829B}"/>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814DC914-8C1C-8EE1-AEA1-514C1BC41B5D}"/>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28A67FF1-54D6-635E-70DA-39ECAFE8FA8F}"/>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D9163F78-571B-254D-891D-9E8345DD9DED}"/>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0C55E43C-2F5B-1043-1FCD-7B54FAE77E7C}"/>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819B6115-93E9-A59F-6102-C9C581328496}"/>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A93D0FB6-7539-9919-D694-14B774EB93F8}"/>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65156112-3FFA-3D53-A8BE-6A5C5F4EFF54}"/>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p:grpSp>
        <p:nvGrpSpPr>
          <p:cNvPr id="22" name="Group 21">
            <a:extLst>
              <a:ext uri="{FF2B5EF4-FFF2-40B4-BE49-F238E27FC236}">
                <a16:creationId xmlns:a16="http://schemas.microsoft.com/office/drawing/2014/main" id="{F67506A5-4D13-D2DD-5D5D-B78BF8644223}"/>
              </a:ext>
            </a:extLst>
          </p:cNvPr>
          <p:cNvGrpSpPr/>
          <p:nvPr/>
        </p:nvGrpSpPr>
        <p:grpSpPr>
          <a:xfrm>
            <a:off x="8019458" y="268229"/>
            <a:ext cx="2936303" cy="523220"/>
            <a:chOff x="8019458" y="268229"/>
            <a:chExt cx="2936303" cy="523220"/>
          </a:xfrm>
        </p:grpSpPr>
        <p:sp>
          <p:nvSpPr>
            <p:cNvPr id="3" name="TextBox 2">
              <a:extLst>
                <a:ext uri="{FF2B5EF4-FFF2-40B4-BE49-F238E27FC236}">
                  <a16:creationId xmlns:a16="http://schemas.microsoft.com/office/drawing/2014/main" id="{821BC67F-D26A-1CFB-63B7-D3363A10D123}"/>
                </a:ext>
              </a:extLst>
            </p:cNvPr>
            <p:cNvSpPr txBox="1"/>
            <p:nvPr/>
          </p:nvSpPr>
          <p:spPr>
            <a:xfrm>
              <a:off x="8072918"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4" name="TextBox 3">
              <a:extLst>
                <a:ext uri="{FF2B5EF4-FFF2-40B4-BE49-F238E27FC236}">
                  <a16:creationId xmlns:a16="http://schemas.microsoft.com/office/drawing/2014/main" id="{7AF2C526-0997-716F-EAB3-F0757C47A3BC}"/>
                </a:ext>
              </a:extLst>
            </p:cNvPr>
            <p:cNvSpPr txBox="1"/>
            <p:nvPr/>
          </p:nvSpPr>
          <p:spPr>
            <a:xfrm>
              <a:off x="8682902"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5" name="TextBox 4">
              <a:extLst>
                <a:ext uri="{FF2B5EF4-FFF2-40B4-BE49-F238E27FC236}">
                  <a16:creationId xmlns:a16="http://schemas.microsoft.com/office/drawing/2014/main" id="{1226B767-DD8F-FC6A-FD5D-52DA3E742811}"/>
                </a:ext>
              </a:extLst>
            </p:cNvPr>
            <p:cNvSpPr txBox="1"/>
            <p:nvPr/>
          </p:nvSpPr>
          <p:spPr>
            <a:xfrm>
              <a:off x="9302793"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6" name="TextBox 5">
              <a:extLst>
                <a:ext uri="{FF2B5EF4-FFF2-40B4-BE49-F238E27FC236}">
                  <a16:creationId xmlns:a16="http://schemas.microsoft.com/office/drawing/2014/main" id="{ED90DAB3-CE22-6FC4-52FD-52BA1879FFAB}"/>
                </a:ext>
              </a:extLst>
            </p:cNvPr>
            <p:cNvSpPr txBox="1"/>
            <p:nvPr/>
          </p:nvSpPr>
          <p:spPr>
            <a:xfrm>
              <a:off x="9912777"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7" name="TextBox 6">
              <a:extLst>
                <a:ext uri="{FF2B5EF4-FFF2-40B4-BE49-F238E27FC236}">
                  <a16:creationId xmlns:a16="http://schemas.microsoft.com/office/drawing/2014/main" id="{97EB8A23-9DD1-4951-3D2C-65352CEE0530}"/>
                </a:ext>
              </a:extLst>
            </p:cNvPr>
            <p:cNvSpPr txBox="1"/>
            <p:nvPr/>
          </p:nvSpPr>
          <p:spPr>
            <a:xfrm>
              <a:off x="10532668"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8" name="Double Bracket 7">
              <a:extLst>
                <a:ext uri="{FF2B5EF4-FFF2-40B4-BE49-F238E27FC236}">
                  <a16:creationId xmlns:a16="http://schemas.microsoft.com/office/drawing/2014/main" id="{2FE038AF-52C9-F2D1-2CC1-6C99A40813E7}"/>
                </a:ext>
              </a:extLst>
            </p:cNvPr>
            <p:cNvSpPr/>
            <p:nvPr/>
          </p:nvSpPr>
          <p:spPr>
            <a:xfrm>
              <a:off x="8019458" y="314211"/>
              <a:ext cx="2936303" cy="404173"/>
            </a:xfrm>
            <a:prstGeom prst="bracketPair">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FFA1266-12AA-7ABC-953B-EDD90477BCBA}"/>
                  </a:ext>
                </a:extLst>
              </p:cNvPr>
              <p:cNvSpPr txBox="1"/>
              <p:nvPr/>
            </p:nvSpPr>
            <p:spPr>
              <a:xfrm>
                <a:off x="6261890" y="2577966"/>
                <a:ext cx="1037319"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𝑓</m:t>
                      </m:r>
                    </m:oMath>
                  </m:oMathPara>
                </a14:m>
                <a:endParaRPr lang="en-US" sz="5400" dirty="0">
                  <a:latin typeface="Garamond" panose="02020404030301010803" pitchFamily="18" charset="0"/>
                </a:endParaRPr>
              </a:p>
            </p:txBody>
          </p:sp>
        </mc:Choice>
        <mc:Fallback xmlns="">
          <p:sp>
            <p:nvSpPr>
              <p:cNvPr id="21" name="TextBox 20">
                <a:extLst>
                  <a:ext uri="{FF2B5EF4-FFF2-40B4-BE49-F238E27FC236}">
                    <a16:creationId xmlns:a16="http://schemas.microsoft.com/office/drawing/2014/main" id="{9FFA1266-12AA-7ABC-953B-EDD90477BCBA}"/>
                  </a:ext>
                </a:extLst>
              </p:cNvPr>
              <p:cNvSpPr txBox="1">
                <a:spLocks noRot="1" noChangeAspect="1" noMove="1" noResize="1" noEditPoints="1" noAdjustHandles="1" noChangeArrowheads="1" noChangeShapeType="1" noTextEdit="1"/>
              </p:cNvSpPr>
              <p:nvPr/>
            </p:nvSpPr>
            <p:spPr>
              <a:xfrm>
                <a:off x="6261890" y="2577966"/>
                <a:ext cx="1037319" cy="923330"/>
              </a:xfrm>
              <a:prstGeom prst="rect">
                <a:avLst/>
              </a:prstGeom>
              <a:blipFill>
                <a:blip r:embed="rId9"/>
                <a:stretch>
                  <a:fillRect b="-24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2B4747D-2BA6-EED5-FE3A-514A798A31C9}"/>
                  </a:ext>
                </a:extLst>
              </p:cNvPr>
              <p:cNvSpPr txBox="1"/>
              <p:nvPr/>
            </p:nvSpPr>
            <p:spPr>
              <a:xfrm>
                <a:off x="6385329" y="68174"/>
                <a:ext cx="1580882" cy="9233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400" b="1" i="1" smtClean="0">
                          <a:latin typeface="Cambria Math" panose="02040503050406030204" pitchFamily="18" charset="0"/>
                        </a:rPr>
                        <m:t>𝒘</m:t>
                      </m:r>
                      <m:r>
                        <a:rPr lang="en-US" sz="5400" b="0" i="1" smtClean="0">
                          <a:latin typeface="Cambria Math" panose="02040503050406030204" pitchFamily="18" charset="0"/>
                        </a:rPr>
                        <m:t>=</m:t>
                      </m:r>
                    </m:oMath>
                  </m:oMathPara>
                </a14:m>
                <a:endParaRPr lang="en-US" sz="5400" b="1" dirty="0"/>
              </a:p>
            </p:txBody>
          </p:sp>
        </mc:Choice>
        <mc:Fallback xmlns="">
          <p:sp>
            <p:nvSpPr>
              <p:cNvPr id="26" name="TextBox 25">
                <a:extLst>
                  <a:ext uri="{FF2B5EF4-FFF2-40B4-BE49-F238E27FC236}">
                    <a16:creationId xmlns:a16="http://schemas.microsoft.com/office/drawing/2014/main" id="{A2B4747D-2BA6-EED5-FE3A-514A798A31C9}"/>
                  </a:ext>
                </a:extLst>
              </p:cNvPr>
              <p:cNvSpPr txBox="1">
                <a:spLocks noRot="1" noChangeAspect="1" noMove="1" noResize="1" noEditPoints="1" noAdjustHandles="1" noChangeArrowheads="1" noChangeShapeType="1" noTextEdit="1"/>
              </p:cNvSpPr>
              <p:nvPr/>
            </p:nvSpPr>
            <p:spPr>
              <a:xfrm>
                <a:off x="6385329" y="68174"/>
                <a:ext cx="1580882" cy="923330"/>
              </a:xfrm>
              <a:prstGeom prst="rect">
                <a:avLst/>
              </a:prstGeom>
              <a:blipFill>
                <a:blip r:embed="rId10"/>
                <a:stretch>
                  <a:fillRect/>
                </a:stretch>
              </a:blipFill>
            </p:spPr>
            <p:txBody>
              <a:bodyPr/>
              <a:lstStyle/>
              <a:p>
                <a:r>
                  <a:rPr lang="en-US">
                    <a:noFill/>
                  </a:rPr>
                  <a:t> </a:t>
                </a:r>
              </a:p>
            </p:txBody>
          </p:sp>
        </mc:Fallback>
      </mc:AlternateContent>
      <p:cxnSp>
        <p:nvCxnSpPr>
          <p:cNvPr id="10" name="Curved Connector 9">
            <a:extLst>
              <a:ext uri="{FF2B5EF4-FFF2-40B4-BE49-F238E27FC236}">
                <a16:creationId xmlns:a16="http://schemas.microsoft.com/office/drawing/2014/main" id="{41DE0617-E543-3C69-3049-842531D39D2B}"/>
              </a:ext>
            </a:extLst>
          </p:cNvPr>
          <p:cNvCxnSpPr>
            <a:cxnSpLocks/>
            <a:stCxn id="26" idx="2"/>
            <a:endCxn id="2" idx="1"/>
          </p:cNvCxnSpPr>
          <p:nvPr/>
        </p:nvCxnSpPr>
        <p:spPr>
          <a:xfrm rot="16200000" flipH="1">
            <a:off x="5757622" y="2409651"/>
            <a:ext cx="4462538" cy="1626243"/>
          </a:xfrm>
          <a:prstGeom prst="curvedConnector2">
            <a:avLst/>
          </a:prstGeom>
          <a:ln w="76200">
            <a:solidFill>
              <a:srgbClr val="FF0000"/>
            </a:solidFill>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0D5F6E2-F0C6-F0E2-C684-E3B4146D9EB4}"/>
                  </a:ext>
                </a:extLst>
              </p:cNvPr>
              <p:cNvSpPr txBox="1"/>
              <p:nvPr/>
            </p:nvSpPr>
            <p:spPr>
              <a:xfrm>
                <a:off x="171306" y="3887996"/>
                <a:ext cx="6214023" cy="2062103"/>
              </a:xfrm>
              <a:prstGeom prst="rect">
                <a:avLst/>
              </a:prstGeom>
              <a:noFill/>
            </p:spPr>
            <p:txBody>
              <a:bodyPr wrap="square" rtlCol="0">
                <a:spAutoFit/>
              </a:bodyPr>
              <a:lstStyle/>
              <a:p>
                <a:pPr algn="ctr"/>
                <a:r>
                  <a:rPr lang="en-US" sz="3200" b="1" u="sng" dirty="0">
                    <a:latin typeface="Garamond" panose="02020404030301010803" pitchFamily="18" charset="0"/>
                  </a:rPr>
                  <a:t>Examples:</a:t>
                </a:r>
              </a:p>
              <a:p>
                <a:pPr marL="457200" indent="-457200">
                  <a:buFont typeface="Arial" panose="020B0604020202020204" pitchFamily="34" charset="0"/>
                  <a:buChar char="•"/>
                </a:pP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sSup>
                          <m:sSupPr>
                            <m:ctrlPr>
                              <a:rPr lang="en-US" sz="3200" b="1" i="1" smtClean="0">
                                <a:latin typeface="Cambria Math" panose="02040503050406030204" pitchFamily="18" charset="0"/>
                              </a:rPr>
                            </m:ctrlPr>
                          </m:sSupPr>
                          <m:e>
                            <m:r>
                              <a:rPr lang="en-US" sz="3200" b="1" i="1" smtClean="0">
                                <a:latin typeface="Cambria Math" panose="02040503050406030204" pitchFamily="18" charset="0"/>
                              </a:rPr>
                              <m:t>𝟎</m:t>
                            </m:r>
                          </m:e>
                          <m:sup>
                            <m:r>
                              <a:rPr lang="en-US" sz="3200" b="0" i="1" smtClean="0">
                                <a:latin typeface="Cambria Math" panose="02040503050406030204" pitchFamily="18" charset="0"/>
                              </a:rPr>
                              <m:t>𝑛</m:t>
                            </m:r>
                          </m:sup>
                        </m:sSup>
                      </m:e>
                    </m:d>
                    <m:r>
                      <a:rPr lang="en-US" sz="3200" b="0" i="1" smtClean="0">
                        <a:latin typeface="Cambria Math" panose="02040503050406030204" pitchFamily="18" charset="0"/>
                      </a:rPr>
                      <m:t>=</m:t>
                    </m:r>
                  </m:oMath>
                </a14:m>
                <a:r>
                  <a:rPr lang="en-US" sz="3200" dirty="0">
                    <a:latin typeface="Garamond" panose="02020404030301010803" pitchFamily="18" charset="0"/>
                  </a:rPr>
                  <a:t> train on all data</a:t>
                </a:r>
              </a:p>
              <a:p>
                <a:pPr marL="457200" indent="-457200">
                  <a:buFont typeface="Arial" panose="020B0604020202020204" pitchFamily="34" charset="0"/>
                  <a:buChar char="•"/>
                </a:pP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1" i="1" smtClean="0">
                                <a:latin typeface="Cambria Math" panose="02040503050406030204" pitchFamily="18" charset="0"/>
                              </a:rPr>
                              <m:t>𝟏</m:t>
                            </m:r>
                          </m:e>
                          <m:sup>
                            <m:r>
                              <a:rPr lang="en-US" sz="3200" b="0" i="1" smtClean="0">
                                <a:latin typeface="Cambria Math" panose="02040503050406030204" pitchFamily="18" charset="0"/>
                              </a:rPr>
                              <m:t>𝑛</m:t>
                            </m:r>
                          </m:sup>
                        </m:sSup>
                      </m:e>
                    </m:d>
                    <m:r>
                      <a:rPr lang="en-US" sz="3200" b="0" i="1" smtClean="0">
                        <a:latin typeface="Cambria Math" panose="02040503050406030204" pitchFamily="18" charset="0"/>
                      </a:rPr>
                      <m:t>=</m:t>
                    </m:r>
                  </m:oMath>
                </a14:m>
                <a:r>
                  <a:rPr lang="en-US" sz="3200" dirty="0">
                    <a:latin typeface="Garamond" panose="02020404030301010803" pitchFamily="18" charset="0"/>
                  </a:rPr>
                  <a:t> train on no data (trash)</a:t>
                </a:r>
              </a:p>
              <a:p>
                <a:pPr marL="457200" indent="-457200">
                  <a:buFont typeface="Arial" panose="020B0604020202020204" pitchFamily="34" charset="0"/>
                  <a:buChar char="•"/>
                </a:pP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𝒆</m:t>
                            </m:r>
                          </m:e>
                          <m:sub>
                            <m:r>
                              <a:rPr lang="en-US" sz="3200" b="0" i="1" smtClean="0">
                                <a:latin typeface="Cambria Math" panose="02040503050406030204" pitchFamily="18" charset="0"/>
                              </a:rPr>
                              <m:t>𝑋</m:t>
                            </m:r>
                          </m:sub>
                        </m:sSub>
                      </m:e>
                    </m:d>
                    <m:r>
                      <a:rPr lang="en-US" sz="3200" b="0" i="1" smtClean="0">
                        <a:latin typeface="Cambria Math" panose="02040503050406030204" pitchFamily="18" charset="0"/>
                      </a:rPr>
                      <m:t>=</m:t>
                    </m:r>
                  </m:oMath>
                </a14:m>
                <a:r>
                  <a:rPr lang="en-US" sz="3200" dirty="0">
                    <a:latin typeface="Garamond" panose="02020404030301010803" pitchFamily="18" charset="0"/>
                  </a:rPr>
                  <a:t> train without </a:t>
                </a:r>
                <a14:m>
                  <m:oMath xmlns:m="http://schemas.openxmlformats.org/officeDocument/2006/math">
                    <m:r>
                      <a:rPr lang="en-US" sz="3200" b="0" i="1" smtClean="0">
                        <a:latin typeface="Cambria Math" panose="02040503050406030204" pitchFamily="18" charset="0"/>
                      </a:rPr>
                      <m:t>𝑋</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a14:m>
                <a:endParaRPr lang="en-US" sz="3200" dirty="0">
                  <a:latin typeface="Garamond" panose="02020404030301010803" pitchFamily="18" charset="0"/>
                </a:endParaRPr>
              </a:p>
            </p:txBody>
          </p:sp>
        </mc:Choice>
        <mc:Fallback xmlns="">
          <p:sp>
            <p:nvSpPr>
              <p:cNvPr id="18" name="TextBox 17">
                <a:extLst>
                  <a:ext uri="{FF2B5EF4-FFF2-40B4-BE49-F238E27FC236}">
                    <a16:creationId xmlns:a16="http://schemas.microsoft.com/office/drawing/2014/main" id="{10D5F6E2-F0C6-F0E2-C684-E3B4146D9EB4}"/>
                  </a:ext>
                </a:extLst>
              </p:cNvPr>
              <p:cNvSpPr txBox="1">
                <a:spLocks noRot="1" noChangeAspect="1" noMove="1" noResize="1" noEditPoints="1" noAdjustHandles="1" noChangeArrowheads="1" noChangeShapeType="1" noTextEdit="1"/>
              </p:cNvSpPr>
              <p:nvPr/>
            </p:nvSpPr>
            <p:spPr>
              <a:xfrm>
                <a:off x="171306" y="3887996"/>
                <a:ext cx="6214023" cy="2062103"/>
              </a:xfrm>
              <a:prstGeom prst="rect">
                <a:avLst/>
              </a:prstGeom>
              <a:blipFill>
                <a:blip r:embed="rId11"/>
                <a:stretch>
                  <a:fillRect l="-2245" t="-3681" b="-8589"/>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9CFD9490-91BA-5E8B-4607-9654F2EA60F4}"/>
              </a:ext>
            </a:extLst>
          </p:cNvPr>
          <p:cNvGrpSpPr/>
          <p:nvPr/>
        </p:nvGrpSpPr>
        <p:grpSpPr>
          <a:xfrm>
            <a:off x="8340667" y="667185"/>
            <a:ext cx="2890200" cy="1045388"/>
            <a:chOff x="8340667" y="667185"/>
            <a:chExt cx="2890200" cy="1045388"/>
          </a:xfrm>
        </p:grpSpPr>
        <p:sp>
          <p:nvSpPr>
            <p:cNvPr id="11" name="Multiply 10">
              <a:extLst>
                <a:ext uri="{FF2B5EF4-FFF2-40B4-BE49-F238E27FC236}">
                  <a16:creationId xmlns:a16="http://schemas.microsoft.com/office/drawing/2014/main" id="{A8D95553-FFDD-D33D-DDB0-460E2A489312}"/>
                </a:ext>
              </a:extLst>
            </p:cNvPr>
            <p:cNvSpPr/>
            <p:nvPr/>
          </p:nvSpPr>
          <p:spPr>
            <a:xfrm>
              <a:off x="10185479" y="667185"/>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ultiply 11">
              <a:extLst>
                <a:ext uri="{FF2B5EF4-FFF2-40B4-BE49-F238E27FC236}">
                  <a16:creationId xmlns:a16="http://schemas.microsoft.com/office/drawing/2014/main" id="{D9A4F2C0-9124-9388-C7FA-03DD25A6AEB6}"/>
                </a:ext>
              </a:extLst>
            </p:cNvPr>
            <p:cNvSpPr/>
            <p:nvPr/>
          </p:nvSpPr>
          <p:spPr>
            <a:xfrm>
              <a:off x="8340667" y="667185"/>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7" name="Rounded Rectangle 26">
                <a:extLst>
                  <a:ext uri="{FF2B5EF4-FFF2-40B4-BE49-F238E27FC236}">
                    <a16:creationId xmlns:a16="http://schemas.microsoft.com/office/drawing/2014/main" id="{5CDFD09A-240C-BE05-5A58-3D0FDE59C7D4}"/>
                  </a:ext>
                </a:extLst>
              </p:cNvPr>
              <p:cNvSpPr/>
              <p:nvPr/>
            </p:nvSpPr>
            <p:spPr>
              <a:xfrm>
                <a:off x="610913" y="5978542"/>
                <a:ext cx="6564856" cy="716514"/>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14:m>
                  <m:oMath xmlns:m="http://schemas.openxmlformats.org/officeDocument/2006/math">
                    <m:sSub>
                      <m:sSubPr>
                        <m:ctrlPr>
                          <a:rPr lang="en-US" sz="3200" b="0" i="1" smtClean="0">
                            <a:solidFill>
                              <a:schemeClr val="tx1"/>
                            </a:solidFill>
                            <a:latin typeface="Cambria Math" panose="02040503050406030204" pitchFamily="18" charset="0"/>
                          </a:rPr>
                        </m:ctrlPr>
                      </m:sSubPr>
                      <m:e>
                        <m:r>
                          <a:rPr lang="en-US" sz="3200" b="1" i="1" smtClean="0">
                            <a:solidFill>
                              <a:schemeClr val="tx1"/>
                            </a:solidFill>
                            <a:latin typeface="Cambria Math" panose="02040503050406030204" pitchFamily="18" charset="0"/>
                          </a:rPr>
                          <m:t>𝒆</m:t>
                        </m:r>
                      </m:e>
                      <m:sub>
                        <m:r>
                          <a:rPr lang="en-US" sz="3200" b="0" i="1" smtClean="0">
                            <a:solidFill>
                              <a:schemeClr val="tx1"/>
                            </a:solidFill>
                            <a:latin typeface="Cambria Math" panose="02040503050406030204" pitchFamily="18" charset="0"/>
                          </a:rPr>
                          <m:t>𝑋</m:t>
                        </m:r>
                      </m:sub>
                    </m:sSub>
                  </m:oMath>
                </a14:m>
                <a:r>
                  <a:rPr lang="en-US" sz="3200" dirty="0">
                    <a:solidFill>
                      <a:schemeClr val="tx1"/>
                    </a:solidFill>
                    <a:latin typeface="Garamond" panose="02020404030301010803" pitchFamily="18" charset="0"/>
                  </a:rPr>
                  <a:t> is the indicator vector on </a:t>
                </a:r>
                <a14:m>
                  <m:oMath xmlns:m="http://schemas.openxmlformats.org/officeDocument/2006/math">
                    <m:r>
                      <a:rPr lang="en-US" sz="3200" b="0" i="1" smtClean="0">
                        <a:solidFill>
                          <a:schemeClr val="tx1"/>
                        </a:solidFill>
                        <a:latin typeface="Cambria Math" panose="02040503050406030204" pitchFamily="18" charset="0"/>
                      </a:rPr>
                      <m:t>𝑋</m:t>
                    </m:r>
                    <m:r>
                      <a:rPr lang="en-US" sz="3200" b="0" i="1" smtClean="0">
                        <a:solidFill>
                          <a:schemeClr val="tx1"/>
                        </a:solidFill>
                        <a:latin typeface="Cambria Math" panose="02040503050406030204" pitchFamily="18" charset="0"/>
                      </a:rPr>
                      <m:t>⊆</m:t>
                    </m:r>
                    <m:d>
                      <m:dPr>
                        <m:begChr m:val="["/>
                        <m:endChr m:val="]"/>
                        <m:ctrlPr>
                          <a:rPr lang="en-US" sz="3200" b="0" i="1" smtClean="0">
                            <a:solidFill>
                              <a:schemeClr val="tx1"/>
                            </a:solidFill>
                            <a:latin typeface="Cambria Math" panose="02040503050406030204" pitchFamily="18" charset="0"/>
                          </a:rPr>
                        </m:ctrlPr>
                      </m:dPr>
                      <m:e>
                        <m:r>
                          <a:rPr lang="en-US" sz="3200" b="0" i="1" smtClean="0">
                            <a:solidFill>
                              <a:schemeClr val="tx1"/>
                            </a:solidFill>
                            <a:latin typeface="Cambria Math" panose="02040503050406030204" pitchFamily="18" charset="0"/>
                          </a:rPr>
                          <m:t>𝑛</m:t>
                        </m:r>
                      </m:e>
                    </m:d>
                  </m:oMath>
                </a14:m>
                <a:endParaRPr lang="en-US" sz="3200" dirty="0">
                  <a:solidFill>
                    <a:schemeClr val="tx1"/>
                  </a:solidFill>
                  <a:latin typeface="Garamond" panose="02020404030301010803" pitchFamily="18" charset="0"/>
                </a:endParaRPr>
              </a:p>
            </p:txBody>
          </p:sp>
        </mc:Choice>
        <mc:Fallback xmlns="">
          <p:sp>
            <p:nvSpPr>
              <p:cNvPr id="27" name="Rounded Rectangle 26">
                <a:extLst>
                  <a:ext uri="{FF2B5EF4-FFF2-40B4-BE49-F238E27FC236}">
                    <a16:creationId xmlns:a16="http://schemas.microsoft.com/office/drawing/2014/main" id="{5CDFD09A-240C-BE05-5A58-3D0FDE59C7D4}"/>
                  </a:ext>
                </a:extLst>
              </p:cNvPr>
              <p:cNvSpPr>
                <a:spLocks noRot="1" noChangeAspect="1" noMove="1" noResize="1" noEditPoints="1" noAdjustHandles="1" noChangeArrowheads="1" noChangeShapeType="1" noTextEdit="1"/>
              </p:cNvSpPr>
              <p:nvPr/>
            </p:nvSpPr>
            <p:spPr>
              <a:xfrm>
                <a:off x="610913" y="5978542"/>
                <a:ext cx="6564856" cy="716514"/>
              </a:xfrm>
              <a:prstGeom prst="roundRect">
                <a:avLst/>
              </a:prstGeom>
              <a:blipFill>
                <a:blip r:embed="rId13"/>
                <a:stretch>
                  <a:fillRect t="-3448" b="-13793"/>
                </a:stretch>
              </a:blipFill>
              <a:ln>
                <a:solidFill>
                  <a:schemeClr val="tx1"/>
                </a:solidFill>
              </a:ln>
            </p:spPr>
            <p:txBody>
              <a:bodyPr/>
              <a:lstStyle/>
              <a:p>
                <a:r>
                  <a:rPr lang="en-US">
                    <a:noFill/>
                  </a:rPr>
                  <a:t> </a:t>
                </a:r>
              </a:p>
            </p:txBody>
          </p:sp>
        </mc:Fallback>
      </mc:AlternateContent>
      <p:sp>
        <p:nvSpPr>
          <p:cNvPr id="31" name="Title 1">
            <a:extLst>
              <a:ext uri="{FF2B5EF4-FFF2-40B4-BE49-F238E27FC236}">
                <a16:creationId xmlns:a16="http://schemas.microsoft.com/office/drawing/2014/main" id="{6C99A29A-94A9-A077-666B-0F0FFE0DD5C2}"/>
              </a:ext>
            </a:extLst>
          </p:cNvPr>
          <p:cNvSpPr>
            <a:spLocks noGrp="1"/>
          </p:cNvSpPr>
          <p:nvPr>
            <p:ph type="title"/>
          </p:nvPr>
        </p:nvSpPr>
        <p:spPr>
          <a:xfrm>
            <a:off x="-1308" y="0"/>
            <a:ext cx="3276600" cy="1325563"/>
          </a:xfrm>
          <a:ln w="76200">
            <a:solidFill>
              <a:srgbClr val="00B050"/>
            </a:solidFill>
          </a:ln>
        </p:spPr>
        <p:txBody>
          <a:bodyPr/>
          <a:lstStyle/>
          <a:p>
            <a:r>
              <a:rPr lang="en-US" dirty="0"/>
              <a:t>Datamodels</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F40B81B-2160-BCA7-320D-849930B2F402}"/>
                  </a:ext>
                </a:extLst>
              </p:cNvPr>
              <p:cNvSpPr txBox="1"/>
              <p:nvPr/>
            </p:nvSpPr>
            <p:spPr>
              <a:xfrm>
                <a:off x="5645210" y="3508172"/>
                <a:ext cx="178067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ℝ</m:t>
                          </m:r>
                        </m:e>
                        <m:sup>
                          <m:r>
                            <a:rPr lang="en-US" sz="3600" b="0" i="1" smtClean="0">
                              <a:latin typeface="Cambria Math" panose="02040503050406030204" pitchFamily="18" charset="0"/>
                              <a:ea typeface="Cambria Math" panose="02040503050406030204" pitchFamily="18" charset="0"/>
                            </a:rPr>
                            <m:t>𝑛</m:t>
                          </m:r>
                        </m:sup>
                      </m:sSup>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ℝ</m:t>
                      </m:r>
                    </m:oMath>
                  </m:oMathPara>
                </a14:m>
                <a:endParaRPr lang="en-US" sz="3600" dirty="0">
                  <a:latin typeface="Garamond" panose="02020404030301010803" pitchFamily="18" charset="0"/>
                </a:endParaRPr>
              </a:p>
            </p:txBody>
          </p:sp>
        </mc:Choice>
        <mc:Fallback xmlns="">
          <p:sp>
            <p:nvSpPr>
              <p:cNvPr id="32" name="TextBox 31">
                <a:extLst>
                  <a:ext uri="{FF2B5EF4-FFF2-40B4-BE49-F238E27FC236}">
                    <a16:creationId xmlns:a16="http://schemas.microsoft.com/office/drawing/2014/main" id="{2F40B81B-2160-BCA7-320D-849930B2F402}"/>
                  </a:ext>
                </a:extLst>
              </p:cNvPr>
              <p:cNvSpPr txBox="1">
                <a:spLocks noRot="1" noChangeAspect="1" noMove="1" noResize="1" noEditPoints="1" noAdjustHandles="1" noChangeArrowheads="1" noChangeShapeType="1" noTextEdit="1"/>
              </p:cNvSpPr>
              <p:nvPr/>
            </p:nvSpPr>
            <p:spPr>
              <a:xfrm>
                <a:off x="5645210" y="3508172"/>
                <a:ext cx="1780673" cy="646331"/>
              </a:xfrm>
              <a:prstGeom prst="rect">
                <a:avLst/>
              </a:prstGeom>
              <a:blipFill>
                <a:blip r:embed="rId14"/>
                <a:stretch>
                  <a:fillRect l="-2128" r="-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7E9EAF5-20A0-2AB3-AF32-2611BD097D13}"/>
                  </a:ext>
                </a:extLst>
              </p:cNvPr>
              <p:cNvSpPr txBox="1"/>
              <p:nvPr/>
            </p:nvSpPr>
            <p:spPr>
              <a:xfrm>
                <a:off x="419375" y="1516137"/>
                <a:ext cx="5154450" cy="2123658"/>
              </a:xfrm>
              <a:prstGeom prst="rect">
                <a:avLst/>
              </a:prstGeom>
              <a:noFill/>
              <a:ln w="38100">
                <a:solidFill>
                  <a:schemeClr val="tx1"/>
                </a:solidFill>
              </a:ln>
            </p:spPr>
            <p:txBody>
              <a:bodyPr wrap="square" rtlCol="0">
                <a:spAutoFit/>
              </a:bodyPr>
              <a:lstStyle/>
              <a:p>
                <a:r>
                  <a:rPr lang="en-US" sz="4400" b="0" dirty="0">
                    <a:latin typeface="Garamond" panose="02020404030301010803" pitchFamily="18" charset="0"/>
                  </a:rPr>
                  <a:t>Multiply the learning rate used for example </a:t>
                </a:r>
                <a14:m>
                  <m:oMath xmlns:m="http://schemas.openxmlformats.org/officeDocument/2006/math">
                    <m:r>
                      <a:rPr lang="en-US" sz="4400" b="0" i="1" smtClean="0">
                        <a:latin typeface="Cambria Math" panose="02040503050406030204" pitchFamily="18" charset="0"/>
                      </a:rPr>
                      <m:t>𝑖</m:t>
                    </m:r>
                  </m:oMath>
                </a14:m>
                <a:r>
                  <a:rPr lang="en-US" sz="4400" b="0" dirty="0">
                    <a:latin typeface="Garamond" panose="02020404030301010803" pitchFamily="18" charset="0"/>
                  </a:rPr>
                  <a:t> by </a:t>
                </a:r>
                <a14:m>
                  <m:oMath xmlns:m="http://schemas.openxmlformats.org/officeDocument/2006/math">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𝑖</m:t>
                        </m:r>
                      </m:sub>
                    </m:sSub>
                  </m:oMath>
                </a14:m>
                <a:r>
                  <a:rPr lang="en-US" sz="4400" b="0" dirty="0">
                    <a:latin typeface="Garamond" panose="02020404030301010803" pitchFamily="18" charset="0"/>
                  </a:rPr>
                  <a:t>.</a:t>
                </a:r>
              </a:p>
            </p:txBody>
          </p:sp>
        </mc:Choice>
        <mc:Fallback xmlns="">
          <p:sp>
            <p:nvSpPr>
              <p:cNvPr id="9" name="TextBox 8">
                <a:extLst>
                  <a:ext uri="{FF2B5EF4-FFF2-40B4-BE49-F238E27FC236}">
                    <a16:creationId xmlns:a16="http://schemas.microsoft.com/office/drawing/2014/main" id="{A7E9EAF5-20A0-2AB3-AF32-2611BD097D13}"/>
                  </a:ext>
                </a:extLst>
              </p:cNvPr>
              <p:cNvSpPr txBox="1">
                <a:spLocks noRot="1" noChangeAspect="1" noMove="1" noResize="1" noEditPoints="1" noAdjustHandles="1" noChangeArrowheads="1" noChangeShapeType="1" noTextEdit="1"/>
              </p:cNvSpPr>
              <p:nvPr/>
            </p:nvSpPr>
            <p:spPr>
              <a:xfrm>
                <a:off x="419375" y="1516137"/>
                <a:ext cx="5154450" cy="2123658"/>
              </a:xfrm>
              <a:prstGeom prst="rect">
                <a:avLst/>
              </a:prstGeom>
              <a:blipFill>
                <a:blip r:embed="rId15"/>
                <a:stretch>
                  <a:fillRect l="-4390" t="-5294" r="-1220" b="-11765"/>
                </a:stretch>
              </a:blipFill>
              <a:ln w="3810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47274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D7967-F9B5-8268-2133-EB4111309974}"/>
            </a:ext>
          </a:extLst>
        </p:cNvPr>
        <p:cNvGrpSpPr/>
        <p:nvPr/>
      </p:nvGrpSpPr>
      <p:grpSpPr>
        <a:xfrm>
          <a:off x="0" y="0"/>
          <a:ext cx="0" cy="0"/>
          <a:chOff x="0" y="0"/>
          <a:chExt cx="0" cy="0"/>
        </a:xfrm>
      </p:grpSpPr>
      <p:sp>
        <p:nvSpPr>
          <p:cNvPr id="28" name="Right Arrow 27">
            <a:extLst>
              <a:ext uri="{FF2B5EF4-FFF2-40B4-BE49-F238E27FC236}">
                <a16:creationId xmlns:a16="http://schemas.microsoft.com/office/drawing/2014/main" id="{ED6D581F-C82B-F77F-FC6C-C19583CAA0AB}"/>
              </a:ext>
            </a:extLst>
          </p:cNvPr>
          <p:cNvSpPr/>
          <p:nvPr/>
        </p:nvSpPr>
        <p:spPr>
          <a:xfrm rot="5400000">
            <a:off x="9099486" y="1705240"/>
            <a:ext cx="712287" cy="84344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with solid fill">
            <a:extLst>
              <a:ext uri="{FF2B5EF4-FFF2-40B4-BE49-F238E27FC236}">
                <a16:creationId xmlns:a16="http://schemas.microsoft.com/office/drawing/2014/main" id="{E81ACB5B-023A-F741-1735-CC997A9B3F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02013" y="2564892"/>
            <a:ext cx="1312449" cy="1312449"/>
          </a:xfrm>
          <a:prstGeom prst="rect">
            <a:avLst/>
          </a:prstGeom>
        </p:spPr>
      </p:pic>
      <p:sp>
        <p:nvSpPr>
          <p:cNvPr id="30" name="Right Arrow 29">
            <a:extLst>
              <a:ext uri="{FF2B5EF4-FFF2-40B4-BE49-F238E27FC236}">
                <a16:creationId xmlns:a16="http://schemas.microsoft.com/office/drawing/2014/main" id="{A2CFC814-4D73-1A94-E79A-7420F6443CEF}"/>
              </a:ext>
            </a:extLst>
          </p:cNvPr>
          <p:cNvSpPr/>
          <p:nvPr/>
        </p:nvSpPr>
        <p:spPr>
          <a:xfrm rot="5400000">
            <a:off x="8802015" y="4365932"/>
            <a:ext cx="1312447" cy="34055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10 most famous paintings: Masterpieces we all know and love | CNN">
            <a:extLst>
              <a:ext uri="{FF2B5EF4-FFF2-40B4-BE49-F238E27FC236}">
                <a16:creationId xmlns:a16="http://schemas.microsoft.com/office/drawing/2014/main" id="{B6900CDF-F057-1E15-89AE-45CAC2ED56A8}"/>
              </a:ext>
            </a:extLst>
          </p:cNvPr>
          <p:cNvPicPr>
            <a:picLocks noChangeAspect="1"/>
          </p:cNvPicPr>
          <p:nvPr/>
        </p:nvPicPr>
        <p:blipFill>
          <a:blip r:embed="rId4"/>
          <a:stretch>
            <a:fillRect/>
          </a:stretch>
        </p:blipFill>
        <p:spPr>
          <a:xfrm>
            <a:off x="8072919" y="932963"/>
            <a:ext cx="351006" cy="522694"/>
          </a:xfrm>
          <a:prstGeom prst="rect">
            <a:avLst/>
          </a:prstGeom>
        </p:spPr>
      </p:pic>
      <p:pic>
        <p:nvPicPr>
          <p:cNvPr id="41" name="Picture 40" descr="Amazon.com: Jenesaisquoi Canvas Wall Art Famous Oil Paintings, Starry Night  Over The Rhone Van Gogh Art Prints, Van Gogh Artwork Famous Art Posters  Ready To Hang for Living Room, Bedroom, Office (">
            <a:extLst>
              <a:ext uri="{FF2B5EF4-FFF2-40B4-BE49-F238E27FC236}">
                <a16:creationId xmlns:a16="http://schemas.microsoft.com/office/drawing/2014/main" id="{6AF79A95-3756-BD2A-09B5-34229DFAE61E}"/>
              </a:ext>
            </a:extLst>
          </p:cNvPr>
          <p:cNvPicPr>
            <a:picLocks noChangeAspect="1"/>
          </p:cNvPicPr>
          <p:nvPr/>
        </p:nvPicPr>
        <p:blipFill>
          <a:blip r:embed="rId5"/>
          <a:srcRect l="10463"/>
          <a:stretch>
            <a:fillRect/>
          </a:stretch>
        </p:blipFill>
        <p:spPr>
          <a:xfrm>
            <a:off x="9302794" y="932963"/>
            <a:ext cx="351006" cy="522694"/>
          </a:xfrm>
          <a:prstGeom prst="rect">
            <a:avLst/>
          </a:prstGeom>
        </p:spPr>
      </p:pic>
      <p:pic>
        <p:nvPicPr>
          <p:cNvPr id="42" name="Picture 41" descr="Amazon.com: INVIN ART Framed Canvas ...">
            <a:extLst>
              <a:ext uri="{FF2B5EF4-FFF2-40B4-BE49-F238E27FC236}">
                <a16:creationId xmlns:a16="http://schemas.microsoft.com/office/drawing/2014/main" id="{674AB237-64B6-F5F0-2693-BFE00351C0DC}"/>
              </a:ext>
            </a:extLst>
          </p:cNvPr>
          <p:cNvPicPr>
            <a:picLocks noChangeAspect="1"/>
          </p:cNvPicPr>
          <p:nvPr/>
        </p:nvPicPr>
        <p:blipFill>
          <a:blip r:embed="rId6"/>
          <a:srcRect l="12290"/>
          <a:stretch>
            <a:fillRect/>
          </a:stretch>
        </p:blipFill>
        <p:spPr>
          <a:xfrm>
            <a:off x="8687856" y="932963"/>
            <a:ext cx="351007" cy="522694"/>
          </a:xfrm>
          <a:prstGeom prst="rect">
            <a:avLst/>
          </a:prstGeom>
        </p:spPr>
      </p:pic>
      <p:pic>
        <p:nvPicPr>
          <p:cNvPr id="43" name="Picture 42" descr="Jackson Pollock, Manner of: Drip Painting for sale at auction on 15th March  | Bidsquare">
            <a:extLst>
              <a:ext uri="{FF2B5EF4-FFF2-40B4-BE49-F238E27FC236}">
                <a16:creationId xmlns:a16="http://schemas.microsoft.com/office/drawing/2014/main" id="{BEE57013-DC8B-263F-6D93-0677D7AA622E}"/>
              </a:ext>
            </a:extLst>
          </p:cNvPr>
          <p:cNvPicPr>
            <a:picLocks noChangeAspect="1"/>
          </p:cNvPicPr>
          <p:nvPr/>
        </p:nvPicPr>
        <p:blipFill>
          <a:blip r:embed="rId7"/>
          <a:srcRect r="18039"/>
          <a:stretch>
            <a:fillRect/>
          </a:stretch>
        </p:blipFill>
        <p:spPr>
          <a:xfrm>
            <a:off x="10532668" y="932963"/>
            <a:ext cx="351006" cy="524405"/>
          </a:xfrm>
          <a:prstGeom prst="rect">
            <a:avLst/>
          </a:prstGeom>
        </p:spPr>
      </p:pic>
      <p:pic>
        <p:nvPicPr>
          <p:cNvPr id="44" name="Picture 43" descr="Girl with a Pearl Earring - Wikipedia">
            <a:extLst>
              <a:ext uri="{FF2B5EF4-FFF2-40B4-BE49-F238E27FC236}">
                <a16:creationId xmlns:a16="http://schemas.microsoft.com/office/drawing/2014/main" id="{AAF4A7CE-48AD-AA83-76F8-DB7B090AC155}"/>
              </a:ext>
            </a:extLst>
          </p:cNvPr>
          <p:cNvPicPr>
            <a:picLocks noChangeAspect="1"/>
          </p:cNvPicPr>
          <p:nvPr/>
        </p:nvPicPr>
        <p:blipFill>
          <a:blip r:embed="rId8"/>
          <a:srcRect l="20362"/>
          <a:stretch>
            <a:fillRect/>
          </a:stretch>
        </p:blipFill>
        <p:spPr>
          <a:xfrm>
            <a:off x="9917731" y="934766"/>
            <a:ext cx="351006" cy="520891"/>
          </a:xfrm>
          <a:prstGeom prst="rect">
            <a:avLst/>
          </a:prstGeom>
        </p:spPr>
      </p:pic>
      <p:sp>
        <p:nvSpPr>
          <p:cNvPr id="20" name="TextBox 19">
            <a:extLst>
              <a:ext uri="{FF2B5EF4-FFF2-40B4-BE49-F238E27FC236}">
                <a16:creationId xmlns:a16="http://schemas.microsoft.com/office/drawing/2014/main" id="{0536D088-5E01-7E6B-8579-B19DD1EF24A8}"/>
              </a:ext>
            </a:extLst>
          </p:cNvPr>
          <p:cNvSpPr txBox="1"/>
          <p:nvPr/>
        </p:nvSpPr>
        <p:spPr>
          <a:xfrm>
            <a:off x="9803368" y="4201126"/>
            <a:ext cx="2231612" cy="523220"/>
          </a:xfrm>
          <a:prstGeom prst="rect">
            <a:avLst/>
          </a:prstGeom>
          <a:noFill/>
        </p:spPr>
        <p:txBody>
          <a:bodyPr wrap="square" rtlCol="0">
            <a:spAutoFit/>
          </a:bodyPr>
          <a:lstStyle/>
          <a:p>
            <a:r>
              <a:rPr lang="en-US" sz="2800" dirty="0">
                <a:latin typeface="Garamond" panose="02020404030301010803" pitchFamily="18" charset="0"/>
              </a:rPr>
              <a:t>test function</a:t>
            </a:r>
          </a:p>
        </p:txBody>
      </p:sp>
      <p:sp>
        <p:nvSpPr>
          <p:cNvPr id="2" name="TextBox 1">
            <a:extLst>
              <a:ext uri="{FF2B5EF4-FFF2-40B4-BE49-F238E27FC236}">
                <a16:creationId xmlns:a16="http://schemas.microsoft.com/office/drawing/2014/main" id="{D5C7C2D0-453D-1B44-5B3B-7D4E677D2EB0}"/>
              </a:ext>
            </a:extLst>
          </p:cNvPr>
          <p:cNvSpPr txBox="1"/>
          <p:nvPr/>
        </p:nvSpPr>
        <p:spPr>
          <a:xfrm>
            <a:off x="8802013" y="5192432"/>
            <a:ext cx="1466724" cy="523220"/>
          </a:xfrm>
          <a:prstGeom prst="rect">
            <a:avLst/>
          </a:prstGeom>
          <a:noFill/>
        </p:spPr>
        <p:txBody>
          <a:bodyPr wrap="square" rtlCol="0">
            <a:spAutoFit/>
          </a:bodyPr>
          <a:lstStyle/>
          <a:p>
            <a:r>
              <a:rPr lang="en-US" sz="2800" dirty="0">
                <a:latin typeface="Garamond" panose="02020404030301010803" pitchFamily="18" charset="0"/>
              </a:rPr>
              <a:t>outcome</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C730870-757F-12DD-6BB3-2E56DBE9FD77}"/>
                  </a:ext>
                </a:extLst>
              </p:cNvPr>
              <p:cNvSpPr txBox="1"/>
              <p:nvPr/>
            </p:nvSpPr>
            <p:spPr>
              <a:xfrm>
                <a:off x="6261890" y="2577966"/>
                <a:ext cx="1037319"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𝑓</m:t>
                      </m:r>
                    </m:oMath>
                  </m:oMathPara>
                </a14:m>
                <a:endParaRPr lang="en-US" sz="5400" dirty="0">
                  <a:latin typeface="Garamond" panose="02020404030301010803" pitchFamily="18" charset="0"/>
                </a:endParaRPr>
              </a:p>
            </p:txBody>
          </p:sp>
        </mc:Choice>
        <mc:Fallback xmlns="">
          <p:sp>
            <p:nvSpPr>
              <p:cNvPr id="21" name="TextBox 20">
                <a:extLst>
                  <a:ext uri="{FF2B5EF4-FFF2-40B4-BE49-F238E27FC236}">
                    <a16:creationId xmlns:a16="http://schemas.microsoft.com/office/drawing/2014/main" id="{FC730870-757F-12DD-6BB3-2E56DBE9FD77}"/>
                  </a:ext>
                </a:extLst>
              </p:cNvPr>
              <p:cNvSpPr txBox="1">
                <a:spLocks noRot="1" noChangeAspect="1" noMove="1" noResize="1" noEditPoints="1" noAdjustHandles="1" noChangeArrowheads="1" noChangeShapeType="1" noTextEdit="1"/>
              </p:cNvSpPr>
              <p:nvPr/>
            </p:nvSpPr>
            <p:spPr>
              <a:xfrm>
                <a:off x="6261890" y="2577966"/>
                <a:ext cx="1037319" cy="923330"/>
              </a:xfrm>
              <a:prstGeom prst="rect">
                <a:avLst/>
              </a:prstGeom>
              <a:blipFill>
                <a:blip r:embed="rId14"/>
                <a:stretch>
                  <a:fillRect b="-24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2ACA40C-1121-897E-3AF4-ED2778665971}"/>
                  </a:ext>
                </a:extLst>
              </p:cNvPr>
              <p:cNvSpPr txBox="1"/>
              <p:nvPr/>
            </p:nvSpPr>
            <p:spPr>
              <a:xfrm>
                <a:off x="6385329" y="68174"/>
                <a:ext cx="1556308"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b="1" i="1" smtClean="0">
                          <a:latin typeface="Cambria Math" panose="02040503050406030204" pitchFamily="18" charset="0"/>
                        </a:rPr>
                        <m:t>𝒘</m:t>
                      </m:r>
                      <m:r>
                        <a:rPr lang="en-US" sz="5400" b="0" i="1" smtClean="0">
                          <a:latin typeface="Cambria Math" panose="02040503050406030204" pitchFamily="18" charset="0"/>
                        </a:rPr>
                        <m:t>=</m:t>
                      </m:r>
                    </m:oMath>
                  </m:oMathPara>
                </a14:m>
                <a:endParaRPr lang="en-US" sz="5400" b="1" dirty="0"/>
              </a:p>
            </p:txBody>
          </p:sp>
        </mc:Choice>
        <mc:Fallback xmlns="">
          <p:sp>
            <p:nvSpPr>
              <p:cNvPr id="26" name="TextBox 25">
                <a:extLst>
                  <a:ext uri="{FF2B5EF4-FFF2-40B4-BE49-F238E27FC236}">
                    <a16:creationId xmlns:a16="http://schemas.microsoft.com/office/drawing/2014/main" id="{A2ACA40C-1121-897E-3AF4-ED2778665971}"/>
                  </a:ext>
                </a:extLst>
              </p:cNvPr>
              <p:cNvSpPr txBox="1">
                <a:spLocks noRot="1" noChangeAspect="1" noMove="1" noResize="1" noEditPoints="1" noAdjustHandles="1" noChangeArrowheads="1" noChangeShapeType="1" noTextEdit="1"/>
              </p:cNvSpPr>
              <p:nvPr/>
            </p:nvSpPr>
            <p:spPr>
              <a:xfrm>
                <a:off x="6385329" y="68174"/>
                <a:ext cx="1556308" cy="923330"/>
              </a:xfrm>
              <a:prstGeom prst="rect">
                <a:avLst/>
              </a:prstGeom>
              <a:blipFill>
                <a:blip r:embed="rId15"/>
                <a:stretch>
                  <a:fillRect/>
                </a:stretch>
              </a:blipFill>
            </p:spPr>
            <p:txBody>
              <a:bodyPr/>
              <a:lstStyle/>
              <a:p>
                <a:r>
                  <a:rPr lang="en-US">
                    <a:noFill/>
                  </a:rPr>
                  <a:t> </a:t>
                </a:r>
              </a:p>
            </p:txBody>
          </p:sp>
        </mc:Fallback>
      </mc:AlternateContent>
      <p:cxnSp>
        <p:nvCxnSpPr>
          <p:cNvPr id="10" name="Curved Connector 9">
            <a:extLst>
              <a:ext uri="{FF2B5EF4-FFF2-40B4-BE49-F238E27FC236}">
                <a16:creationId xmlns:a16="http://schemas.microsoft.com/office/drawing/2014/main" id="{32FF66CF-3BF2-37C5-9452-1879AEE86C96}"/>
              </a:ext>
            </a:extLst>
          </p:cNvPr>
          <p:cNvCxnSpPr>
            <a:cxnSpLocks/>
            <a:stCxn id="26" idx="2"/>
            <a:endCxn id="2" idx="1"/>
          </p:cNvCxnSpPr>
          <p:nvPr/>
        </p:nvCxnSpPr>
        <p:spPr>
          <a:xfrm rot="16200000" flipH="1">
            <a:off x="5751479" y="2403508"/>
            <a:ext cx="4462538" cy="1638530"/>
          </a:xfrm>
          <a:prstGeom prst="curvedConnector2">
            <a:avLst/>
          </a:prstGeom>
          <a:ln w="76200">
            <a:solidFill>
              <a:srgbClr val="FF0000"/>
            </a:solidFill>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547D18A-53E2-2799-4602-A25430F7852A}"/>
                  </a:ext>
                </a:extLst>
              </p:cNvPr>
              <p:cNvSpPr txBox="1"/>
              <p:nvPr/>
            </p:nvSpPr>
            <p:spPr>
              <a:xfrm>
                <a:off x="70918" y="1585025"/>
                <a:ext cx="6016119" cy="2616101"/>
              </a:xfrm>
              <a:prstGeom prst="rect">
                <a:avLst/>
              </a:prstGeom>
              <a:noFill/>
              <a:ln w="76200">
                <a:solidFill>
                  <a:schemeClr val="tx1"/>
                </a:solidFill>
              </a:ln>
            </p:spPr>
            <p:txBody>
              <a:bodyPr wrap="square" rtlCol="0">
                <a:spAutoFit/>
              </a:bodyPr>
              <a:lstStyle/>
              <a:p>
                <a:pPr algn="ctr"/>
                <a:r>
                  <a:rPr lang="en-US" sz="4400" b="1" u="sng" dirty="0">
                    <a:latin typeface="Garamond" panose="02020404030301010803" pitchFamily="18" charset="0"/>
                  </a:rPr>
                  <a:t>Goal:</a:t>
                </a:r>
              </a:p>
              <a:p>
                <a:r>
                  <a:rPr lang="en-US" sz="4000" dirty="0">
                    <a:latin typeface="Garamond" panose="02020404030301010803" pitchFamily="18" charset="0"/>
                  </a:rPr>
                  <a:t>Preprocess </a:t>
                </a:r>
                <a14:m>
                  <m:oMath xmlns:m="http://schemas.openxmlformats.org/officeDocument/2006/math">
                    <m:r>
                      <a:rPr lang="en-US" sz="4000" b="0" i="1" smtClean="0">
                        <a:latin typeface="Cambria Math" panose="02040503050406030204" pitchFamily="18" charset="0"/>
                      </a:rPr>
                      <m:t>𝑓</m:t>
                    </m:r>
                  </m:oMath>
                </a14:m>
                <a:r>
                  <a:rPr lang="en-US" sz="4000" dirty="0">
                    <a:latin typeface="Garamond" panose="02020404030301010803" pitchFamily="18" charset="0"/>
                  </a:rPr>
                  <a:t>.</a:t>
                </a:r>
              </a:p>
              <a:p>
                <a:r>
                  <a:rPr lang="en-US" sz="4000" dirty="0">
                    <a:latin typeface="Garamond" panose="02020404030301010803" pitchFamily="18" charset="0"/>
                  </a:rPr>
                  <a:t>Then, for any given </a:t>
                </a:r>
                <a14:m>
                  <m:oMath xmlns:m="http://schemas.openxmlformats.org/officeDocument/2006/math">
                    <m:r>
                      <a:rPr lang="en-US" sz="4000" b="0" i="1" smtClean="0">
                        <a:latin typeface="Cambria Math" panose="02040503050406030204" pitchFamily="18" charset="0"/>
                      </a:rPr>
                      <m:t>𝑋</m:t>
                    </m:r>
                    <m:r>
                      <a:rPr lang="en-US" sz="4000" b="0" i="1" smtClean="0">
                        <a:latin typeface="Cambria Math" panose="02040503050406030204" pitchFamily="18" charset="0"/>
                      </a:rPr>
                      <m:t>⊆</m:t>
                    </m:r>
                    <m:d>
                      <m:dPr>
                        <m:begChr m:val="["/>
                        <m:endChr m:val="]"/>
                        <m:ctrlPr>
                          <a:rPr lang="en-US" sz="4000" b="0" i="1" smtClean="0">
                            <a:latin typeface="Cambria Math" panose="02040503050406030204" pitchFamily="18" charset="0"/>
                          </a:rPr>
                        </m:ctrlPr>
                      </m:dPr>
                      <m:e>
                        <m:r>
                          <a:rPr lang="en-US" sz="4000" b="0" i="1" smtClean="0">
                            <a:latin typeface="Cambria Math" panose="02040503050406030204" pitchFamily="18" charset="0"/>
                          </a:rPr>
                          <m:t>𝑛</m:t>
                        </m:r>
                      </m:e>
                    </m:d>
                  </m:oMath>
                </a14:m>
                <a:r>
                  <a:rPr lang="en-US" sz="4000" dirty="0">
                    <a:latin typeface="Garamond" panose="02020404030301010803" pitchFamily="18" charset="0"/>
                  </a:rPr>
                  <a:t>, quickly estimate </a:t>
                </a:r>
                <a14:m>
                  <m:oMath xmlns:m="http://schemas.openxmlformats.org/officeDocument/2006/math">
                    <m:r>
                      <a:rPr lang="en-US" sz="4000" b="0" i="1" smtClean="0">
                        <a:latin typeface="Cambria Math" panose="02040503050406030204" pitchFamily="18" charset="0"/>
                      </a:rPr>
                      <m:t>𝑓</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𝒆</m:t>
                            </m:r>
                          </m:e>
                          <m:sub>
                            <m:r>
                              <a:rPr lang="en-US" sz="4000" b="0" i="1" smtClean="0">
                                <a:latin typeface="Cambria Math" panose="02040503050406030204" pitchFamily="18" charset="0"/>
                              </a:rPr>
                              <m:t>𝑋</m:t>
                            </m:r>
                          </m:sub>
                        </m:sSub>
                      </m:e>
                    </m:d>
                  </m:oMath>
                </a14:m>
                <a:r>
                  <a:rPr lang="en-US" sz="4000" dirty="0">
                    <a:latin typeface="Garamond" panose="02020404030301010803" pitchFamily="18" charset="0"/>
                  </a:rPr>
                  <a:t>.</a:t>
                </a:r>
              </a:p>
            </p:txBody>
          </p:sp>
        </mc:Choice>
        <mc:Fallback xmlns="">
          <p:sp>
            <p:nvSpPr>
              <p:cNvPr id="11" name="TextBox 10">
                <a:extLst>
                  <a:ext uri="{FF2B5EF4-FFF2-40B4-BE49-F238E27FC236}">
                    <a16:creationId xmlns:a16="http://schemas.microsoft.com/office/drawing/2014/main" id="{B547D18A-53E2-2799-4602-A25430F7852A}"/>
                  </a:ext>
                </a:extLst>
              </p:cNvPr>
              <p:cNvSpPr txBox="1">
                <a:spLocks noRot="1" noChangeAspect="1" noMove="1" noResize="1" noEditPoints="1" noAdjustHandles="1" noChangeArrowheads="1" noChangeShapeType="1" noTextEdit="1"/>
              </p:cNvSpPr>
              <p:nvPr/>
            </p:nvSpPr>
            <p:spPr>
              <a:xfrm>
                <a:off x="70918" y="1585025"/>
                <a:ext cx="6016119" cy="2616101"/>
              </a:xfrm>
              <a:prstGeom prst="rect">
                <a:avLst/>
              </a:prstGeom>
              <a:blipFill>
                <a:blip r:embed="rId16"/>
                <a:stretch>
                  <a:fillRect l="-2911" t="-3271" r="-3534" b="-7009"/>
                </a:stretch>
              </a:blipFill>
              <a:ln w="76200">
                <a:solidFill>
                  <a:schemeClr val="tx1"/>
                </a:solidFill>
              </a:ln>
            </p:spPr>
            <p:txBody>
              <a:bodyPr/>
              <a:lstStyle/>
              <a:p>
                <a:r>
                  <a:rPr lang="en-US">
                    <a:noFill/>
                  </a:rPr>
                  <a:t> </a:t>
                </a:r>
              </a:p>
            </p:txBody>
          </p:sp>
        </mc:Fallback>
      </mc:AlternateContent>
      <p:sp>
        <p:nvSpPr>
          <p:cNvPr id="24" name="Title 1">
            <a:extLst>
              <a:ext uri="{FF2B5EF4-FFF2-40B4-BE49-F238E27FC236}">
                <a16:creationId xmlns:a16="http://schemas.microsoft.com/office/drawing/2014/main" id="{B1EC929C-F5E7-2B06-2705-44B9E9C47FC1}"/>
              </a:ext>
            </a:extLst>
          </p:cNvPr>
          <p:cNvSpPr>
            <a:spLocks noGrp="1"/>
          </p:cNvSpPr>
          <p:nvPr>
            <p:ph type="title"/>
          </p:nvPr>
        </p:nvSpPr>
        <p:spPr>
          <a:xfrm>
            <a:off x="-1308" y="0"/>
            <a:ext cx="3276600" cy="1325563"/>
          </a:xfrm>
          <a:ln w="76200">
            <a:solidFill>
              <a:srgbClr val="00B050"/>
            </a:solidFill>
          </a:ln>
        </p:spPr>
        <p:txBody>
          <a:bodyPr/>
          <a:lstStyle/>
          <a:p>
            <a:r>
              <a:rPr lang="en-US" dirty="0"/>
              <a:t>Datamodels</a:t>
            </a:r>
          </a:p>
        </p:txBody>
      </p:sp>
      <p:grpSp>
        <p:nvGrpSpPr>
          <p:cNvPr id="9" name="Group 8">
            <a:extLst>
              <a:ext uri="{FF2B5EF4-FFF2-40B4-BE49-F238E27FC236}">
                <a16:creationId xmlns:a16="http://schemas.microsoft.com/office/drawing/2014/main" id="{AF96D64A-3969-B45B-1454-E71B6BBE537A}"/>
              </a:ext>
            </a:extLst>
          </p:cNvPr>
          <p:cNvGrpSpPr/>
          <p:nvPr/>
        </p:nvGrpSpPr>
        <p:grpSpPr>
          <a:xfrm>
            <a:off x="8019458" y="268229"/>
            <a:ext cx="2936303" cy="523220"/>
            <a:chOff x="8019458" y="268229"/>
            <a:chExt cx="2936303" cy="523220"/>
          </a:xfrm>
        </p:grpSpPr>
        <p:sp>
          <p:nvSpPr>
            <p:cNvPr id="12" name="TextBox 11">
              <a:extLst>
                <a:ext uri="{FF2B5EF4-FFF2-40B4-BE49-F238E27FC236}">
                  <a16:creationId xmlns:a16="http://schemas.microsoft.com/office/drawing/2014/main" id="{D31639EB-5ED2-C0AC-AD85-A85295AADA9B}"/>
                </a:ext>
              </a:extLst>
            </p:cNvPr>
            <p:cNvSpPr txBox="1"/>
            <p:nvPr/>
          </p:nvSpPr>
          <p:spPr>
            <a:xfrm>
              <a:off x="8072918"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13" name="TextBox 12">
              <a:extLst>
                <a:ext uri="{FF2B5EF4-FFF2-40B4-BE49-F238E27FC236}">
                  <a16:creationId xmlns:a16="http://schemas.microsoft.com/office/drawing/2014/main" id="{54BD9F0F-8C29-8FDF-5AB5-7FB6FEDF97C9}"/>
                </a:ext>
              </a:extLst>
            </p:cNvPr>
            <p:cNvSpPr txBox="1"/>
            <p:nvPr/>
          </p:nvSpPr>
          <p:spPr>
            <a:xfrm>
              <a:off x="8682902"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14" name="TextBox 13">
              <a:extLst>
                <a:ext uri="{FF2B5EF4-FFF2-40B4-BE49-F238E27FC236}">
                  <a16:creationId xmlns:a16="http://schemas.microsoft.com/office/drawing/2014/main" id="{88A32CE8-9D08-D9A7-13F6-70301A22DF8D}"/>
                </a:ext>
              </a:extLst>
            </p:cNvPr>
            <p:cNvSpPr txBox="1"/>
            <p:nvPr/>
          </p:nvSpPr>
          <p:spPr>
            <a:xfrm>
              <a:off x="9302793"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15" name="TextBox 14">
              <a:extLst>
                <a:ext uri="{FF2B5EF4-FFF2-40B4-BE49-F238E27FC236}">
                  <a16:creationId xmlns:a16="http://schemas.microsoft.com/office/drawing/2014/main" id="{6C8B56B9-C083-EFEB-A2DA-22A803689B2A}"/>
                </a:ext>
              </a:extLst>
            </p:cNvPr>
            <p:cNvSpPr txBox="1"/>
            <p:nvPr/>
          </p:nvSpPr>
          <p:spPr>
            <a:xfrm>
              <a:off x="9912777" y="268229"/>
              <a:ext cx="351007" cy="523220"/>
            </a:xfrm>
            <a:prstGeom prst="rect">
              <a:avLst/>
            </a:prstGeom>
            <a:noFill/>
          </p:spPr>
          <p:txBody>
            <a:bodyPr wrap="square" rtlCol="0">
              <a:spAutoFit/>
            </a:bodyPr>
            <a:lstStyle/>
            <a:p>
              <a:r>
                <a:rPr lang="en-US" sz="2800" dirty="0">
                  <a:latin typeface="Garamond" panose="02020404030301010803" pitchFamily="18" charset="0"/>
                </a:rPr>
                <a:t>0</a:t>
              </a:r>
            </a:p>
          </p:txBody>
        </p:sp>
        <p:sp>
          <p:nvSpPr>
            <p:cNvPr id="16" name="TextBox 15">
              <a:extLst>
                <a:ext uri="{FF2B5EF4-FFF2-40B4-BE49-F238E27FC236}">
                  <a16:creationId xmlns:a16="http://schemas.microsoft.com/office/drawing/2014/main" id="{D3E48A10-9B6F-C545-8B22-D3F16761C37E}"/>
                </a:ext>
              </a:extLst>
            </p:cNvPr>
            <p:cNvSpPr txBox="1"/>
            <p:nvPr/>
          </p:nvSpPr>
          <p:spPr>
            <a:xfrm>
              <a:off x="10532668" y="268229"/>
              <a:ext cx="351007" cy="523220"/>
            </a:xfrm>
            <a:prstGeom prst="rect">
              <a:avLst/>
            </a:prstGeom>
            <a:noFill/>
          </p:spPr>
          <p:txBody>
            <a:bodyPr wrap="square" rtlCol="0">
              <a:spAutoFit/>
            </a:bodyPr>
            <a:lstStyle/>
            <a:p>
              <a:r>
                <a:rPr lang="en-US" sz="2800" dirty="0">
                  <a:latin typeface="Garamond" panose="02020404030301010803" pitchFamily="18" charset="0"/>
                </a:rPr>
                <a:t>1</a:t>
              </a:r>
            </a:p>
          </p:txBody>
        </p:sp>
        <p:sp>
          <p:nvSpPr>
            <p:cNvPr id="17" name="Double Bracket 16">
              <a:extLst>
                <a:ext uri="{FF2B5EF4-FFF2-40B4-BE49-F238E27FC236}">
                  <a16:creationId xmlns:a16="http://schemas.microsoft.com/office/drawing/2014/main" id="{074ACF68-1E91-8311-68E1-22CADE417178}"/>
                </a:ext>
              </a:extLst>
            </p:cNvPr>
            <p:cNvSpPr/>
            <p:nvPr/>
          </p:nvSpPr>
          <p:spPr>
            <a:xfrm>
              <a:off x="8019458" y="314211"/>
              <a:ext cx="2936303" cy="404173"/>
            </a:xfrm>
            <a:prstGeom prst="bracketPair">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2AFA2AE-E4C9-730E-9285-9780D0B95724}"/>
              </a:ext>
            </a:extLst>
          </p:cNvPr>
          <p:cNvGrpSpPr/>
          <p:nvPr/>
        </p:nvGrpSpPr>
        <p:grpSpPr>
          <a:xfrm>
            <a:off x="8340667" y="667185"/>
            <a:ext cx="2890200" cy="1045388"/>
            <a:chOff x="8340667" y="667185"/>
            <a:chExt cx="2890200" cy="1045388"/>
          </a:xfrm>
        </p:grpSpPr>
        <p:sp>
          <p:nvSpPr>
            <p:cNvPr id="19" name="Multiply 18">
              <a:extLst>
                <a:ext uri="{FF2B5EF4-FFF2-40B4-BE49-F238E27FC236}">
                  <a16:creationId xmlns:a16="http://schemas.microsoft.com/office/drawing/2014/main" id="{45E2A840-4790-496C-A9F7-CAA85F824B81}"/>
                </a:ext>
              </a:extLst>
            </p:cNvPr>
            <p:cNvSpPr/>
            <p:nvPr/>
          </p:nvSpPr>
          <p:spPr>
            <a:xfrm>
              <a:off x="10185479" y="667185"/>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Multiply 22">
              <a:extLst>
                <a:ext uri="{FF2B5EF4-FFF2-40B4-BE49-F238E27FC236}">
                  <a16:creationId xmlns:a16="http://schemas.microsoft.com/office/drawing/2014/main" id="{1024BC56-FE3C-4823-83F1-4340F30990D2}"/>
                </a:ext>
              </a:extLst>
            </p:cNvPr>
            <p:cNvSpPr/>
            <p:nvPr/>
          </p:nvSpPr>
          <p:spPr>
            <a:xfrm>
              <a:off x="8340667" y="667185"/>
              <a:ext cx="1045388" cy="1045388"/>
            </a:xfrm>
            <a:prstGeom prst="mathMultiply">
              <a:avLst>
                <a:gd name="adj1" fmla="val 130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92892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3DBE26-0C69-9235-41D2-A26D5A0A1DBC}"/>
                  </a:ext>
                </a:extLst>
              </p:cNvPr>
              <p:cNvSpPr txBox="1"/>
              <p:nvPr/>
            </p:nvSpPr>
            <p:spPr>
              <a:xfrm>
                <a:off x="8536618" y="3380453"/>
                <a:ext cx="548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i="1" dirty="0">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B73DBE26-0C69-9235-41D2-A26D5A0A1DBC}"/>
                  </a:ext>
                </a:extLst>
              </p:cNvPr>
              <p:cNvSpPr txBox="1">
                <a:spLocks noRot="1" noChangeAspect="1" noMove="1" noResize="1" noEditPoints="1" noAdjustHandles="1" noChangeArrowheads="1" noChangeShapeType="1" noTextEdit="1"/>
              </p:cNvSpPr>
              <p:nvPr/>
            </p:nvSpPr>
            <p:spPr>
              <a:xfrm>
                <a:off x="8536618" y="3380453"/>
                <a:ext cx="548330"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08A6862-221B-0E46-38A3-51A9DEC53380}"/>
                  </a:ext>
                </a:extLst>
              </p:cNvPr>
              <p:cNvSpPr txBox="1"/>
              <p:nvPr/>
            </p:nvSpPr>
            <p:spPr>
              <a:xfrm>
                <a:off x="9009717" y="4292362"/>
                <a:ext cx="548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i="1" dirty="0">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D08A6862-221B-0E46-38A3-51A9DEC53380}"/>
                  </a:ext>
                </a:extLst>
              </p:cNvPr>
              <p:cNvSpPr txBox="1">
                <a:spLocks noRot="1" noChangeAspect="1" noMove="1" noResize="1" noEditPoints="1" noAdjustHandles="1" noChangeArrowheads="1" noChangeShapeType="1" noTextEdit="1"/>
              </p:cNvSpPr>
              <p:nvPr/>
            </p:nvSpPr>
            <p:spPr>
              <a:xfrm>
                <a:off x="9009717" y="4292362"/>
                <a:ext cx="548330"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FD14EA7-FB7D-0F39-37E3-A832A6F95E11}"/>
                  </a:ext>
                </a:extLst>
              </p:cNvPr>
              <p:cNvSpPr>
                <a:spLocks noGrp="1"/>
              </p:cNvSpPr>
              <p:nvPr>
                <p:ph type="title"/>
              </p:nvPr>
            </p:nvSpPr>
            <p:spPr/>
            <p:txBody>
              <a:bodyPr/>
              <a:lstStyle/>
              <a:p>
                <a14:m>
                  <m:oMath xmlns:m="http://schemas.openxmlformats.org/officeDocument/2006/math">
                    <m:r>
                      <a:rPr lang="en-US" b="0" i="1" smtClean="0">
                        <a:latin typeface="Cambria Math" panose="02040503050406030204" pitchFamily="18" charset="0"/>
                      </a:rPr>
                      <m:t>𝑓</m:t>
                    </m:r>
                  </m:oMath>
                </a14:m>
                <a:r>
                  <a:rPr lang="en-US" dirty="0"/>
                  <a:t> is an arithmetic circuit</a:t>
                </a:r>
              </a:p>
            </p:txBody>
          </p:sp>
        </mc:Choice>
        <mc:Fallback xmlns="">
          <p:sp>
            <p:nvSpPr>
              <p:cNvPr id="2" name="Title 1">
                <a:extLst>
                  <a:ext uri="{FF2B5EF4-FFF2-40B4-BE49-F238E27FC236}">
                    <a16:creationId xmlns:a16="http://schemas.microsoft.com/office/drawing/2014/main" id="{BFD14EA7-FB7D-0F39-37E3-A832A6F95E11}"/>
                  </a:ext>
                </a:extLst>
              </p:cNvPr>
              <p:cNvSpPr>
                <a:spLocks noGrp="1" noRot="1" noChangeAspect="1" noMove="1" noResize="1" noEditPoints="1" noAdjustHandles="1" noChangeArrowheads="1" noChangeShapeType="1" noTextEdit="1"/>
              </p:cNvSpPr>
              <p:nvPr>
                <p:ph type="title"/>
              </p:nvPr>
            </p:nvSpPr>
            <p:spPr>
              <a:blipFill>
                <a:blip r:embed="rId5"/>
                <a:stretch>
                  <a:fillRect l="-1689"/>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18FEB75B-339A-AA19-E554-9760EDC76F69}"/>
              </a:ext>
            </a:extLst>
          </p:cNvPr>
          <p:cNvSpPr/>
          <p:nvPr/>
        </p:nvSpPr>
        <p:spPr>
          <a:xfrm>
            <a:off x="8606841" y="3465128"/>
            <a:ext cx="394636" cy="39463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DA7C25FB-2BFF-FCA0-0A1D-1049F0FF8030}"/>
              </a:ext>
            </a:extLst>
          </p:cNvPr>
          <p:cNvSpPr/>
          <p:nvPr/>
        </p:nvSpPr>
        <p:spPr>
          <a:xfrm>
            <a:off x="9086564" y="4365129"/>
            <a:ext cx="394636" cy="39463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Arrow Connector 5">
            <a:extLst>
              <a:ext uri="{FF2B5EF4-FFF2-40B4-BE49-F238E27FC236}">
                <a16:creationId xmlns:a16="http://schemas.microsoft.com/office/drawing/2014/main" id="{D0805A4F-B8A9-1BF7-5834-5D37D9BE2273}"/>
              </a:ext>
            </a:extLst>
          </p:cNvPr>
          <p:cNvCxnSpPr>
            <a:cxnSpLocks/>
            <a:stCxn id="4" idx="4"/>
            <a:endCxn id="5" idx="1"/>
          </p:cNvCxnSpPr>
          <p:nvPr/>
        </p:nvCxnSpPr>
        <p:spPr>
          <a:xfrm>
            <a:off x="8804159" y="3859764"/>
            <a:ext cx="340198" cy="56315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7" name="Straight Arrow Connector 6">
            <a:extLst>
              <a:ext uri="{FF2B5EF4-FFF2-40B4-BE49-F238E27FC236}">
                <a16:creationId xmlns:a16="http://schemas.microsoft.com/office/drawing/2014/main" id="{B48CC15F-9679-8C81-8F9F-376F08C3AC7B}"/>
              </a:ext>
            </a:extLst>
          </p:cNvPr>
          <p:cNvCxnSpPr>
            <a:cxnSpLocks/>
            <a:stCxn id="11" idx="2"/>
            <a:endCxn id="4" idx="1"/>
          </p:cNvCxnSpPr>
          <p:nvPr/>
        </p:nvCxnSpPr>
        <p:spPr>
          <a:xfrm>
            <a:off x="8159612" y="2828536"/>
            <a:ext cx="505022" cy="694385"/>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D7BB024B-3828-F21A-BA8D-CDDBB419E90F}"/>
              </a:ext>
            </a:extLst>
          </p:cNvPr>
          <p:cNvCxnSpPr>
            <a:cxnSpLocks/>
            <a:stCxn id="12" idx="2"/>
            <a:endCxn id="4" idx="7"/>
          </p:cNvCxnSpPr>
          <p:nvPr/>
        </p:nvCxnSpPr>
        <p:spPr>
          <a:xfrm flipH="1">
            <a:off x="8943684" y="2828369"/>
            <a:ext cx="420797" cy="69455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83476271-6AC7-55BE-1905-CCF7FE9878DF}"/>
              </a:ext>
            </a:extLst>
          </p:cNvPr>
          <p:cNvCxnSpPr>
            <a:cxnSpLocks/>
            <a:stCxn id="13" idx="2"/>
            <a:endCxn id="5" idx="7"/>
          </p:cNvCxnSpPr>
          <p:nvPr/>
        </p:nvCxnSpPr>
        <p:spPr>
          <a:xfrm flipH="1">
            <a:off x="9423407" y="2828369"/>
            <a:ext cx="1145944" cy="1594553"/>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5DEEC487-C619-FB41-10DA-4E33AD5A0D2A}"/>
              </a:ext>
            </a:extLst>
          </p:cNvPr>
          <p:cNvCxnSpPr>
            <a:cxnSpLocks/>
            <a:stCxn id="5" idx="4"/>
          </p:cNvCxnSpPr>
          <p:nvPr/>
        </p:nvCxnSpPr>
        <p:spPr>
          <a:xfrm>
            <a:off x="9283882" y="4759765"/>
            <a:ext cx="0" cy="85479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E7466EA-189D-F184-91C2-0732DF68C6BA}"/>
                  </a:ext>
                </a:extLst>
              </p:cNvPr>
              <p:cNvSpPr txBox="1"/>
              <p:nvPr/>
            </p:nvSpPr>
            <p:spPr>
              <a:xfrm>
                <a:off x="7782606" y="2059095"/>
                <a:ext cx="754012"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1</m:t>
                          </m:r>
                        </m:sub>
                      </m:sSub>
                    </m:oMath>
                  </m:oMathPara>
                </a14:m>
                <a:endParaRPr lang="en-US" sz="4400" i="1" dirty="0">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EE7466EA-189D-F184-91C2-0732DF68C6BA}"/>
                  </a:ext>
                </a:extLst>
              </p:cNvPr>
              <p:cNvSpPr txBox="1">
                <a:spLocks noRot="1" noChangeAspect="1" noMove="1" noResize="1" noEditPoints="1" noAdjustHandles="1" noChangeArrowheads="1" noChangeShapeType="1" noTextEdit="1"/>
              </p:cNvSpPr>
              <p:nvPr/>
            </p:nvSpPr>
            <p:spPr>
              <a:xfrm>
                <a:off x="7782606" y="2059095"/>
                <a:ext cx="754012" cy="769441"/>
              </a:xfrm>
              <a:prstGeom prst="rect">
                <a:avLst/>
              </a:prstGeom>
              <a:blipFill>
                <a:blip r:embed="rId6"/>
                <a:stretch>
                  <a:fillRect l="-5000" r="-11667"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11CDA76-8F13-5933-762E-697088A87974}"/>
                  </a:ext>
                </a:extLst>
              </p:cNvPr>
              <p:cNvSpPr txBox="1"/>
              <p:nvPr/>
            </p:nvSpPr>
            <p:spPr>
              <a:xfrm>
                <a:off x="8943684" y="2058928"/>
                <a:ext cx="841594"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2</m:t>
                          </m:r>
                        </m:sub>
                      </m:sSub>
                    </m:oMath>
                  </m:oMathPara>
                </a14:m>
                <a:endParaRPr lang="en-US" sz="4400" i="1" dirty="0">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311CDA76-8F13-5933-762E-697088A87974}"/>
                  </a:ext>
                </a:extLst>
              </p:cNvPr>
              <p:cNvSpPr txBox="1">
                <a:spLocks noRot="1" noChangeAspect="1" noMove="1" noResize="1" noEditPoints="1" noAdjustHandles="1" noChangeArrowheads="1" noChangeShapeType="1" noTextEdit="1"/>
              </p:cNvSpPr>
              <p:nvPr/>
            </p:nvSpPr>
            <p:spPr>
              <a:xfrm>
                <a:off x="8943684" y="2058928"/>
                <a:ext cx="841594" cy="769441"/>
              </a:xfrm>
              <a:prstGeom prst="rect">
                <a:avLst/>
              </a:prstGeom>
              <a:blipFill>
                <a:blip r:embed="rId7"/>
                <a:stretch>
                  <a:fillRect l="-5970" r="-1493"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DC4C1B4-4FD5-270A-469A-55A5B138EA21}"/>
                  </a:ext>
                </a:extLst>
              </p:cNvPr>
              <p:cNvSpPr txBox="1"/>
              <p:nvPr/>
            </p:nvSpPr>
            <p:spPr>
              <a:xfrm>
                <a:off x="10192344" y="2058928"/>
                <a:ext cx="754013"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3</m:t>
                          </m:r>
                        </m:sub>
                      </m:sSub>
                      <m:r>
                        <a:rPr lang="en-US" sz="4400" b="0" i="1" smtClean="0">
                          <a:latin typeface="Cambria Math" panose="02040503050406030204" pitchFamily="18" charset="0"/>
                        </a:rPr>
                        <m:t> </m:t>
                      </m:r>
                    </m:oMath>
                  </m:oMathPara>
                </a14:m>
                <a:endParaRPr lang="en-US" sz="4400" i="1" dirty="0">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9DC4C1B4-4FD5-270A-469A-55A5B138EA21}"/>
                  </a:ext>
                </a:extLst>
              </p:cNvPr>
              <p:cNvSpPr txBox="1">
                <a:spLocks noRot="1" noChangeAspect="1" noMove="1" noResize="1" noEditPoints="1" noAdjustHandles="1" noChangeArrowheads="1" noChangeShapeType="1" noTextEdit="1"/>
              </p:cNvSpPr>
              <p:nvPr/>
            </p:nvSpPr>
            <p:spPr>
              <a:xfrm>
                <a:off x="10192344" y="2058928"/>
                <a:ext cx="754013" cy="769441"/>
              </a:xfrm>
              <a:prstGeom prst="rect">
                <a:avLst/>
              </a:prstGeom>
              <a:blipFill>
                <a:blip r:embed="rId8"/>
                <a:stretch>
                  <a:fillRect l="-4918" t="-1639" r="-50820"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CC08AEA-983D-45BB-FF26-00BC6757F355}"/>
                  </a:ext>
                </a:extLst>
              </p:cNvPr>
              <p:cNvSpPr txBox="1"/>
              <p:nvPr/>
            </p:nvSpPr>
            <p:spPr>
              <a:xfrm>
                <a:off x="7316640" y="5633386"/>
                <a:ext cx="3934483"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1</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2</m:t>
                              </m:r>
                            </m:sub>
                          </m:sSub>
                        </m:e>
                      </m:d>
                      <m:r>
                        <a:rPr lang="en-US" sz="4400" b="0" i="1" smtClean="0">
                          <a:latin typeface="Cambria Math" panose="02040503050406030204" pitchFamily="18" charset="0"/>
                        </a:rPr>
                        <m:t> × </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𝑤</m:t>
                          </m:r>
                        </m:e>
                        <m:sub>
                          <m:r>
                            <a:rPr lang="en-US" sz="4400" b="0" i="1" smtClean="0">
                              <a:latin typeface="Cambria Math" panose="02040503050406030204" pitchFamily="18" charset="0"/>
                            </a:rPr>
                            <m:t>3</m:t>
                          </m:r>
                        </m:sub>
                      </m:sSub>
                    </m:oMath>
                  </m:oMathPara>
                </a14:m>
                <a:endParaRPr lang="en-US" sz="4400" i="1" dirty="0">
                  <a:latin typeface="Cambria Math" panose="02040503050406030204" pitchFamily="18" charset="0"/>
                </a:endParaRPr>
              </a:p>
            </p:txBody>
          </p:sp>
        </mc:Choice>
        <mc:Fallback xmlns="">
          <p:sp>
            <p:nvSpPr>
              <p:cNvPr id="19" name="TextBox 18">
                <a:extLst>
                  <a:ext uri="{FF2B5EF4-FFF2-40B4-BE49-F238E27FC236}">
                    <a16:creationId xmlns:a16="http://schemas.microsoft.com/office/drawing/2014/main" id="{4CC08AEA-983D-45BB-FF26-00BC6757F355}"/>
                  </a:ext>
                </a:extLst>
              </p:cNvPr>
              <p:cNvSpPr txBox="1">
                <a:spLocks noRot="1" noChangeAspect="1" noMove="1" noResize="1" noEditPoints="1" noAdjustHandles="1" noChangeArrowheads="1" noChangeShapeType="1" noTextEdit="1"/>
              </p:cNvSpPr>
              <p:nvPr/>
            </p:nvSpPr>
            <p:spPr>
              <a:xfrm>
                <a:off x="7316640" y="5633386"/>
                <a:ext cx="3934483" cy="769441"/>
              </a:xfrm>
              <a:prstGeom prst="rect">
                <a:avLst/>
              </a:prstGeom>
              <a:blipFill>
                <a:blip r:embed="rId9"/>
                <a:stretch>
                  <a:fillRect t="-1613" b="-25806"/>
                </a:stretch>
              </a:blipFill>
            </p:spPr>
            <p:txBody>
              <a:bodyPr/>
              <a:lstStyle/>
              <a:p>
                <a:r>
                  <a:rPr lang="en-US">
                    <a:noFill/>
                  </a:rPr>
                  <a:t> </a:t>
                </a:r>
              </a:p>
            </p:txBody>
          </p:sp>
        </mc:Fallback>
      </mc:AlternateContent>
      <p:sp>
        <p:nvSpPr>
          <p:cNvPr id="21" name="Rounded Rectangle 20">
            <a:extLst>
              <a:ext uri="{FF2B5EF4-FFF2-40B4-BE49-F238E27FC236}">
                <a16:creationId xmlns:a16="http://schemas.microsoft.com/office/drawing/2014/main" id="{35987D80-832A-ACEB-79FF-E04C52EFF95F}"/>
              </a:ext>
            </a:extLst>
          </p:cNvPr>
          <p:cNvSpPr/>
          <p:nvPr/>
        </p:nvSpPr>
        <p:spPr>
          <a:xfrm>
            <a:off x="374017" y="2075368"/>
            <a:ext cx="5545874" cy="676759"/>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200" dirty="0">
                <a:solidFill>
                  <a:schemeClr val="tx1"/>
                </a:solidFill>
                <a:latin typeface="Garamond" panose="02020404030301010803" pitchFamily="18" charset="0"/>
              </a:rPr>
              <a:t>“But training involves gradients!”</a:t>
            </a: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7AF1E05D-0CF1-82F1-FF62-34D26CAE9DD6}"/>
                  </a:ext>
                </a:extLst>
              </p:cNvPr>
              <p:cNvSpPr/>
              <p:nvPr/>
            </p:nvSpPr>
            <p:spPr>
              <a:xfrm>
                <a:off x="374016" y="2955811"/>
                <a:ext cx="5545874" cy="2193864"/>
              </a:xfrm>
              <a:prstGeom prst="rect">
                <a:avLst/>
              </a:prstGeom>
              <a:solidFill>
                <a:schemeClr val="tx2">
                  <a:lumMod val="50000"/>
                  <a:lumOff val="50000"/>
                  <a:alpha val="50000"/>
                </a:schemeClr>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200" b="1" dirty="0">
                    <a:solidFill>
                      <a:schemeClr val="tx1"/>
                    </a:solidFill>
                    <a:latin typeface="Garamond" panose="02020404030301010803" pitchFamily="18" charset="0"/>
                  </a:rPr>
                  <a:t>Theorem (Baur-Strassen):</a:t>
                </a:r>
              </a:p>
              <a:p>
                <a:pPr>
                  <a:lnSpc>
                    <a:spcPct val="150000"/>
                  </a:lnSpc>
                </a:pPr>
                <a:r>
                  <a:rPr lang="en-US" sz="3200" dirty="0">
                    <a:solidFill>
                      <a:schemeClr val="tx1"/>
                    </a:solidFill>
                    <a:latin typeface="Garamond" panose="02020404030301010803" pitchFamily="18" charset="0"/>
                  </a:rPr>
                  <a:t>If </a:t>
                </a:r>
                <a14:m>
                  <m:oMath xmlns:m="http://schemas.openxmlformats.org/officeDocument/2006/math">
                    <m:r>
                      <a:rPr lang="en-US" sz="3200" b="0" i="1" smtClean="0">
                        <a:solidFill>
                          <a:schemeClr val="tx1"/>
                        </a:solidFill>
                        <a:latin typeface="Cambria Math" panose="02040503050406030204" pitchFamily="18" charset="0"/>
                      </a:rPr>
                      <m:t>ℓ :</m:t>
                    </m:r>
                    <m:sSup>
                      <m:sSupPr>
                        <m:ctrlPr>
                          <a:rPr lang="en-US" sz="3200" i="1">
                            <a:solidFill>
                              <a:schemeClr val="tx1"/>
                            </a:solidFill>
                            <a:latin typeface="Cambria Math" panose="02040503050406030204" pitchFamily="18" charset="0"/>
                            <a:ea typeface="Cambria Math" panose="02040503050406030204" pitchFamily="18" charset="0"/>
                          </a:rPr>
                        </m:ctrlPr>
                      </m:sSupPr>
                      <m:e>
                        <m:r>
                          <a:rPr lang="en-US" sz="3200" i="1">
                            <a:solidFill>
                              <a:schemeClr val="tx1"/>
                            </a:solidFill>
                            <a:latin typeface="Cambria Math" panose="02040503050406030204" pitchFamily="18" charset="0"/>
                            <a:ea typeface="Cambria Math" panose="02040503050406030204" pitchFamily="18" charset="0"/>
                          </a:rPr>
                          <m:t>ℝ</m:t>
                        </m:r>
                      </m:e>
                      <m:sup>
                        <m:r>
                          <a:rPr lang="en-US" sz="3200" i="1">
                            <a:solidFill>
                              <a:schemeClr val="tx1"/>
                            </a:solidFill>
                            <a:latin typeface="Cambria Math" panose="02040503050406030204" pitchFamily="18" charset="0"/>
                            <a:ea typeface="Cambria Math" panose="02040503050406030204" pitchFamily="18" charset="0"/>
                          </a:rPr>
                          <m:t>𝑛</m:t>
                        </m:r>
                      </m:sup>
                    </m:sSup>
                    <m:r>
                      <a:rPr lang="en-US" sz="3200" i="1">
                        <a:solidFill>
                          <a:schemeClr val="tx1"/>
                        </a:solidFill>
                        <a:latin typeface="Cambria Math" panose="02040503050406030204" pitchFamily="18" charset="0"/>
                        <a:ea typeface="Cambria Math" panose="02040503050406030204" pitchFamily="18" charset="0"/>
                      </a:rPr>
                      <m:t>→</m:t>
                    </m:r>
                    <m:r>
                      <a:rPr lang="en-US" sz="3200" i="1">
                        <a:solidFill>
                          <a:schemeClr val="tx1"/>
                        </a:solidFill>
                        <a:latin typeface="Cambria Math" panose="02040503050406030204" pitchFamily="18" charset="0"/>
                        <a:ea typeface="Cambria Math" panose="02040503050406030204" pitchFamily="18" charset="0"/>
                      </a:rPr>
                      <m:t>ℝ</m:t>
                    </m:r>
                  </m:oMath>
                </a14:m>
                <a:r>
                  <a:rPr lang="en-US" sz="3200" dirty="0">
                    <a:solidFill>
                      <a:schemeClr val="tx1"/>
                    </a:solidFill>
                    <a:latin typeface="Garamond" panose="02020404030301010803" pitchFamily="18" charset="0"/>
                  </a:rPr>
                  <a:t> is an arithmetic circuit, then so is </a:t>
                </a:r>
                <a14:m>
                  <m:oMath xmlns:m="http://schemas.openxmlformats.org/officeDocument/2006/math">
                    <m:r>
                      <m:rPr>
                        <m:sty m:val="p"/>
                      </m:rPr>
                      <a:rPr lang="en-US" sz="3200" b="0" i="0"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ℓ :</m:t>
                    </m:r>
                    <m:sSup>
                      <m:sSupPr>
                        <m:ctrlPr>
                          <a:rPr lang="en-US" sz="3200" i="1">
                            <a:solidFill>
                              <a:schemeClr val="tx1"/>
                            </a:solidFill>
                            <a:latin typeface="Cambria Math" panose="02040503050406030204" pitchFamily="18" charset="0"/>
                            <a:ea typeface="Cambria Math" panose="02040503050406030204" pitchFamily="18" charset="0"/>
                          </a:rPr>
                        </m:ctrlPr>
                      </m:sSupPr>
                      <m:e>
                        <m:r>
                          <a:rPr lang="en-US" sz="3200" i="1">
                            <a:solidFill>
                              <a:schemeClr val="tx1"/>
                            </a:solidFill>
                            <a:latin typeface="Cambria Math" panose="02040503050406030204" pitchFamily="18" charset="0"/>
                            <a:ea typeface="Cambria Math" panose="02040503050406030204" pitchFamily="18" charset="0"/>
                          </a:rPr>
                          <m:t>ℝ</m:t>
                        </m:r>
                      </m:e>
                      <m:sup>
                        <m:r>
                          <a:rPr lang="en-US" sz="3200" i="1">
                            <a:solidFill>
                              <a:schemeClr val="tx1"/>
                            </a:solidFill>
                            <a:latin typeface="Cambria Math" panose="02040503050406030204" pitchFamily="18" charset="0"/>
                            <a:ea typeface="Cambria Math" panose="02040503050406030204" pitchFamily="18" charset="0"/>
                          </a:rPr>
                          <m:t>𝑛</m:t>
                        </m:r>
                      </m:sup>
                    </m:sSup>
                    <m:r>
                      <a:rPr lang="en-US" sz="3200" i="1">
                        <a:solidFill>
                          <a:schemeClr val="tx1"/>
                        </a:solidFill>
                        <a:latin typeface="Cambria Math" panose="02040503050406030204" pitchFamily="18" charset="0"/>
                        <a:ea typeface="Cambria Math" panose="02040503050406030204" pitchFamily="18" charset="0"/>
                      </a:rPr>
                      <m:t>→</m:t>
                    </m:r>
                    <m:sSup>
                      <m:sSupPr>
                        <m:ctrlPr>
                          <a:rPr lang="en-US" sz="3200" b="0" i="1" smtClean="0">
                            <a:solidFill>
                              <a:schemeClr val="tx1"/>
                            </a:solidFill>
                            <a:latin typeface="Cambria Math" panose="02040503050406030204" pitchFamily="18" charset="0"/>
                            <a:ea typeface="Cambria Math" panose="02040503050406030204" pitchFamily="18" charset="0"/>
                          </a:rPr>
                        </m:ctrlPr>
                      </m:sSupPr>
                      <m:e>
                        <m:r>
                          <a:rPr lang="en-US" sz="3200" i="1">
                            <a:solidFill>
                              <a:schemeClr val="tx1"/>
                            </a:solidFill>
                            <a:latin typeface="Cambria Math" panose="02040503050406030204" pitchFamily="18" charset="0"/>
                            <a:ea typeface="Cambria Math" panose="02040503050406030204" pitchFamily="18" charset="0"/>
                          </a:rPr>
                          <m:t>ℝ</m:t>
                        </m:r>
                      </m:e>
                      <m:sup>
                        <m:r>
                          <a:rPr lang="en-US" sz="3200" b="0" i="1" smtClean="0">
                            <a:solidFill>
                              <a:schemeClr val="tx1"/>
                            </a:solidFill>
                            <a:latin typeface="Cambria Math" panose="02040503050406030204" pitchFamily="18" charset="0"/>
                            <a:ea typeface="Cambria Math" panose="02040503050406030204" pitchFamily="18" charset="0"/>
                          </a:rPr>
                          <m:t>𝑛</m:t>
                        </m:r>
                      </m:sup>
                    </m:sSup>
                  </m:oMath>
                </a14:m>
                <a:r>
                  <a:rPr lang="en-US" sz="3200" dirty="0">
                    <a:solidFill>
                      <a:schemeClr val="tx1"/>
                    </a:solidFill>
                    <a:latin typeface="Garamond" panose="02020404030301010803" pitchFamily="18" charset="0"/>
                  </a:rPr>
                  <a:t>.</a:t>
                </a:r>
              </a:p>
            </p:txBody>
          </p:sp>
        </mc:Choice>
        <mc:Fallback xmlns="">
          <p:sp>
            <p:nvSpPr>
              <p:cNvPr id="22" name="Rectangle 21">
                <a:extLst>
                  <a:ext uri="{FF2B5EF4-FFF2-40B4-BE49-F238E27FC236}">
                    <a16:creationId xmlns:a16="http://schemas.microsoft.com/office/drawing/2014/main" id="{7AF1E05D-0CF1-82F1-FF62-34D26CAE9DD6}"/>
                  </a:ext>
                </a:extLst>
              </p:cNvPr>
              <p:cNvSpPr>
                <a:spLocks noRot="1" noChangeAspect="1" noMove="1" noResize="1" noEditPoints="1" noAdjustHandles="1" noChangeArrowheads="1" noChangeShapeType="1" noTextEdit="1"/>
              </p:cNvSpPr>
              <p:nvPr/>
            </p:nvSpPr>
            <p:spPr>
              <a:xfrm>
                <a:off x="374016" y="2955811"/>
                <a:ext cx="5545874" cy="2193864"/>
              </a:xfrm>
              <a:prstGeom prst="rect">
                <a:avLst/>
              </a:prstGeom>
              <a:blipFill>
                <a:blip r:embed="rId10"/>
                <a:stretch>
                  <a:fillRect l="-2500" t="-3429" r="-682"/>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FC55DECE-F447-3527-3B33-A60DCF43ED53}"/>
                  </a:ext>
                </a:extLst>
              </p:cNvPr>
              <p:cNvSpPr txBox="1"/>
              <p:nvPr/>
            </p:nvSpPr>
            <p:spPr>
              <a:xfrm>
                <a:off x="6582162" y="3614368"/>
                <a:ext cx="734478"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oMath>
                  </m:oMathPara>
                </a14:m>
                <a:endParaRPr lang="en-US" sz="4400" i="1" dirty="0">
                  <a:latin typeface="Cambria Math" panose="02040503050406030204" pitchFamily="18" charset="0"/>
                </a:endParaRPr>
              </a:p>
            </p:txBody>
          </p:sp>
        </mc:Choice>
        <mc:Fallback xmlns="">
          <p:sp>
            <p:nvSpPr>
              <p:cNvPr id="62" name="TextBox 61">
                <a:extLst>
                  <a:ext uri="{FF2B5EF4-FFF2-40B4-BE49-F238E27FC236}">
                    <a16:creationId xmlns:a16="http://schemas.microsoft.com/office/drawing/2014/main" id="{FC55DECE-F447-3527-3B33-A60DCF43ED53}"/>
                  </a:ext>
                </a:extLst>
              </p:cNvPr>
              <p:cNvSpPr txBox="1">
                <a:spLocks noRot="1" noChangeAspect="1" noMove="1" noResize="1" noEditPoints="1" noAdjustHandles="1" noChangeArrowheads="1" noChangeShapeType="1" noTextEdit="1"/>
              </p:cNvSpPr>
              <p:nvPr/>
            </p:nvSpPr>
            <p:spPr>
              <a:xfrm>
                <a:off x="6582162" y="3614368"/>
                <a:ext cx="734478" cy="769441"/>
              </a:xfrm>
              <a:prstGeom prst="rect">
                <a:avLst/>
              </a:prstGeom>
              <a:blipFill>
                <a:blip r:embed="rId11"/>
                <a:stretch>
                  <a:fillRect l="-8621" r="-6897" b="-22581"/>
                </a:stretch>
              </a:blipFill>
            </p:spPr>
            <p:txBody>
              <a:bodyPr/>
              <a:lstStyle/>
              <a:p>
                <a:r>
                  <a:rPr lang="en-US">
                    <a:noFill/>
                  </a:rPr>
                  <a:t> </a:t>
                </a:r>
              </a:p>
            </p:txBody>
          </p:sp>
        </mc:Fallback>
      </mc:AlternateContent>
      <p:sp>
        <p:nvSpPr>
          <p:cNvPr id="63" name="Rectangle 62">
            <a:extLst>
              <a:ext uri="{FF2B5EF4-FFF2-40B4-BE49-F238E27FC236}">
                <a16:creationId xmlns:a16="http://schemas.microsoft.com/office/drawing/2014/main" id="{9DCAA470-B7B5-BBF8-D787-C7803C828E21}"/>
              </a:ext>
            </a:extLst>
          </p:cNvPr>
          <p:cNvSpPr/>
          <p:nvPr/>
        </p:nvSpPr>
        <p:spPr>
          <a:xfrm>
            <a:off x="6485467" y="2058927"/>
            <a:ext cx="5283200" cy="4553539"/>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047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12307-E4B6-2BA8-7652-7D41700AC2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A09B8FB-2263-1DFA-67DA-484E3E5F089D}"/>
                  </a:ext>
                </a:extLst>
              </p:cNvPr>
              <p:cNvSpPr txBox="1"/>
              <p:nvPr/>
            </p:nvSpPr>
            <p:spPr>
              <a:xfrm>
                <a:off x="249766" y="375591"/>
                <a:ext cx="11692467" cy="2000548"/>
              </a:xfrm>
              <a:prstGeom prst="rect">
                <a:avLst/>
              </a:prstGeom>
              <a:noFill/>
              <a:ln w="76200">
                <a:noFill/>
              </a:ln>
            </p:spPr>
            <p:txBody>
              <a:bodyPr wrap="square" rtlCol="0">
                <a:spAutoFit/>
              </a:bodyPr>
              <a:lstStyle/>
              <a:p>
                <a:pPr algn="ctr"/>
                <a:r>
                  <a:rPr lang="en-US" sz="4400" b="1" u="sng" dirty="0">
                    <a:latin typeface="Garamond" panose="02020404030301010803" pitchFamily="18" charset="0"/>
                  </a:rPr>
                  <a:t>Goal:</a:t>
                </a:r>
                <a:endParaRPr lang="en-US" sz="4000" dirty="0">
                  <a:latin typeface="Garamond" panose="02020404030301010803" pitchFamily="18" charset="0"/>
                </a:endParaRPr>
              </a:p>
              <a:p>
                <a:r>
                  <a:rPr lang="en-US" sz="4000" dirty="0">
                    <a:latin typeface="Garamond" panose="02020404030301010803" pitchFamily="18" charset="0"/>
                  </a:rPr>
                  <a:t>Let </a:t>
                </a:r>
                <a14:m>
                  <m:oMath xmlns:m="http://schemas.openxmlformats.org/officeDocument/2006/math">
                    <m:r>
                      <a:rPr lang="en-US" sz="4000" b="0" i="1" smtClean="0">
                        <a:latin typeface="Cambria Math" panose="02040503050406030204" pitchFamily="18" charset="0"/>
                      </a:rPr>
                      <m:t>𝑓</m:t>
                    </m:r>
                    <m:r>
                      <a:rPr lang="en-US" sz="4000" b="0" i="1" smtClean="0">
                        <a:latin typeface="Cambria Math" panose="02040503050406030204" pitchFamily="18" charset="0"/>
                      </a:rPr>
                      <m:t> : </m:t>
                    </m:r>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ℝ</m:t>
                        </m:r>
                      </m:e>
                      <m:sup>
                        <m:r>
                          <a:rPr lang="en-US" sz="4000" b="0" i="1" smtClean="0">
                            <a:latin typeface="Cambria Math" panose="02040503050406030204" pitchFamily="18" charset="0"/>
                            <a:ea typeface="Cambria Math" panose="02040503050406030204" pitchFamily="18" charset="0"/>
                          </a:rPr>
                          <m:t>𝑛</m:t>
                        </m:r>
                      </m:sup>
                    </m:sSup>
                    <m:r>
                      <a:rPr lang="en-US" sz="4000" b="0" i="1" smtClean="0">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ℝ</m:t>
                    </m:r>
                  </m:oMath>
                </a14:m>
                <a:r>
                  <a:rPr lang="en-US" sz="4000" dirty="0">
                    <a:latin typeface="Garamond" panose="02020404030301010803" pitchFamily="18" charset="0"/>
                  </a:rPr>
                  <a:t> be an arithmetic circuit and let </a:t>
                </a:r>
                <a14:m>
                  <m:oMath xmlns:m="http://schemas.openxmlformats.org/officeDocument/2006/math">
                    <m:r>
                      <a:rPr lang="en-US" sz="4000" b="0" i="1" smtClean="0">
                        <a:latin typeface="Cambria Math" panose="02040503050406030204" pitchFamily="18" charset="0"/>
                      </a:rPr>
                      <m:t>𝑋</m:t>
                    </m:r>
                    <m:r>
                      <a:rPr lang="en-US" sz="4000" b="0" i="1" smtClean="0">
                        <a:latin typeface="Cambria Math" panose="02040503050406030204" pitchFamily="18" charset="0"/>
                      </a:rPr>
                      <m:t>⊆[</m:t>
                    </m:r>
                    <m:r>
                      <a:rPr lang="en-US" sz="4000" b="0" i="1" smtClean="0">
                        <a:latin typeface="Cambria Math" panose="02040503050406030204" pitchFamily="18" charset="0"/>
                      </a:rPr>
                      <m:t>𝑛</m:t>
                    </m:r>
                    <m:r>
                      <a:rPr lang="en-US" sz="4000" b="0" i="1" smtClean="0">
                        <a:latin typeface="Cambria Math" panose="02040503050406030204" pitchFamily="18" charset="0"/>
                      </a:rPr>
                      <m:t>]</m:t>
                    </m:r>
                  </m:oMath>
                </a14:m>
                <a:r>
                  <a:rPr lang="en-US" sz="4000" dirty="0">
                    <a:latin typeface="Garamond" panose="02020404030301010803" pitchFamily="18" charset="0"/>
                  </a:rPr>
                  <a:t>.</a:t>
                </a:r>
              </a:p>
              <a:p>
                <a:r>
                  <a:rPr lang="en-US" sz="4000" dirty="0">
                    <a:latin typeface="Garamond" panose="02020404030301010803" pitchFamily="18" charset="0"/>
                  </a:rPr>
                  <a:t>Divide the computation of </a:t>
                </a:r>
                <a14:m>
                  <m:oMath xmlns:m="http://schemas.openxmlformats.org/officeDocument/2006/math">
                    <m:r>
                      <a:rPr lang="en-US" sz="4000" b="0" i="1" smtClean="0">
                        <a:latin typeface="Cambria Math" panose="02040503050406030204" pitchFamily="18" charset="0"/>
                      </a:rPr>
                      <m:t>𝑓</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𝒆</m:t>
                            </m:r>
                          </m:e>
                          <m:sub>
                            <m:r>
                              <a:rPr lang="en-US" sz="4000" b="0" i="1" smtClean="0">
                                <a:latin typeface="Cambria Math" panose="02040503050406030204" pitchFamily="18" charset="0"/>
                              </a:rPr>
                              <m:t>𝑋</m:t>
                            </m:r>
                          </m:sub>
                        </m:sSub>
                      </m:e>
                    </m:d>
                  </m:oMath>
                </a14:m>
                <a:r>
                  <a:rPr lang="en-US" sz="4000" dirty="0">
                    <a:latin typeface="Garamond" panose="02020404030301010803" pitchFamily="18" charset="0"/>
                  </a:rPr>
                  <a:t> into two parts:</a:t>
                </a:r>
              </a:p>
            </p:txBody>
          </p:sp>
        </mc:Choice>
        <mc:Fallback xmlns="">
          <p:sp>
            <p:nvSpPr>
              <p:cNvPr id="4" name="TextBox 3">
                <a:extLst>
                  <a:ext uri="{FF2B5EF4-FFF2-40B4-BE49-F238E27FC236}">
                    <a16:creationId xmlns:a16="http://schemas.microsoft.com/office/drawing/2014/main" id="{8CBA4590-82BD-7375-679B-C3499464C5FE}"/>
                  </a:ext>
                </a:extLst>
              </p:cNvPr>
              <p:cNvSpPr txBox="1">
                <a:spLocks noRot="1" noChangeAspect="1" noMove="1" noResize="1" noEditPoints="1" noAdjustHandles="1" noChangeArrowheads="1" noChangeShapeType="1" noTextEdit="1"/>
              </p:cNvSpPr>
              <p:nvPr/>
            </p:nvSpPr>
            <p:spPr>
              <a:xfrm>
                <a:off x="249766" y="375591"/>
                <a:ext cx="11692467" cy="2000548"/>
              </a:xfrm>
              <a:prstGeom prst="rect">
                <a:avLst/>
              </a:prstGeom>
              <a:blipFill>
                <a:blip r:embed="rId3"/>
                <a:stretch>
                  <a:fillRect l="-1844" t="-6289" r="-325" b="-11950"/>
                </a:stretch>
              </a:blipFill>
              <a:ln w="762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6841B807-70BC-9188-037C-4432F4D664D6}"/>
                  </a:ext>
                </a:extLst>
              </p:cNvPr>
              <p:cNvSpPr/>
              <p:nvPr/>
            </p:nvSpPr>
            <p:spPr>
              <a:xfrm>
                <a:off x="55031" y="2440356"/>
                <a:ext cx="5067302" cy="2440158"/>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Slow computation depending only on </a:t>
                </a:r>
                <a14:m>
                  <m:oMath xmlns:m="http://schemas.openxmlformats.org/officeDocument/2006/math">
                    <m:r>
                      <a:rPr lang="en-US" sz="4400" b="0" i="1" smtClean="0">
                        <a:solidFill>
                          <a:schemeClr val="tx1"/>
                        </a:solidFill>
                        <a:latin typeface="Cambria Math" panose="02040503050406030204" pitchFamily="18" charset="0"/>
                      </a:rPr>
                      <m:t>𝑓</m:t>
                    </m:r>
                  </m:oMath>
                </a14:m>
                <a:r>
                  <a:rPr lang="en-US" sz="4400" dirty="0">
                    <a:solidFill>
                      <a:schemeClr val="tx1"/>
                    </a:solidFill>
                    <a:latin typeface="Garamond" panose="02020404030301010803" pitchFamily="18" charset="0"/>
                  </a:rPr>
                  <a:t>.</a:t>
                </a:r>
              </a:p>
            </p:txBody>
          </p:sp>
        </mc:Choice>
        <mc:Fallback xmlns="">
          <p:sp>
            <p:nvSpPr>
              <p:cNvPr id="9" name="Rounded Rectangle 8">
                <a:extLst>
                  <a:ext uri="{FF2B5EF4-FFF2-40B4-BE49-F238E27FC236}">
                    <a16:creationId xmlns:a16="http://schemas.microsoft.com/office/drawing/2014/main" id="{9450B742-9943-8001-0706-3041EF52F1CE}"/>
                  </a:ext>
                </a:extLst>
              </p:cNvPr>
              <p:cNvSpPr>
                <a:spLocks noRot="1" noChangeAspect="1" noMove="1" noResize="1" noEditPoints="1" noAdjustHandles="1" noChangeArrowheads="1" noChangeShapeType="1" noTextEdit="1"/>
              </p:cNvSpPr>
              <p:nvPr/>
            </p:nvSpPr>
            <p:spPr>
              <a:xfrm>
                <a:off x="55031" y="2440356"/>
                <a:ext cx="5067302" cy="2440158"/>
              </a:xfrm>
              <a:prstGeom prst="roundRect">
                <a:avLst/>
              </a:prstGeom>
              <a:blipFill>
                <a:blip r:embed="rId4"/>
                <a:stretch>
                  <a:fillRect l="-2500" t="-518" r="-2250" b="-259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F78F05FB-2383-86B3-C573-650959BC177F}"/>
                  </a:ext>
                </a:extLst>
              </p:cNvPr>
              <p:cNvSpPr/>
              <p:nvPr/>
            </p:nvSpPr>
            <p:spPr>
              <a:xfrm>
                <a:off x="7069670" y="2446134"/>
                <a:ext cx="4999566" cy="2434379"/>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b="1" dirty="0">
                    <a:solidFill>
                      <a:schemeClr val="tx1"/>
                    </a:solidFill>
                    <a:latin typeface="Garamond" panose="02020404030301010803" pitchFamily="18" charset="0"/>
                  </a:rPr>
                  <a:t>Prediction:</a:t>
                </a:r>
              </a:p>
              <a:p>
                <a:r>
                  <a:rPr lang="en-US" sz="4400" dirty="0">
                    <a:solidFill>
                      <a:schemeClr val="tx1"/>
                    </a:solidFill>
                    <a:latin typeface="Garamond" panose="02020404030301010803" pitchFamily="18" charset="0"/>
                  </a:rPr>
                  <a:t>Fast computation depending on </a:t>
                </a:r>
                <a14:m>
                  <m:oMath xmlns:m="http://schemas.openxmlformats.org/officeDocument/2006/math">
                    <m:r>
                      <a:rPr lang="en-US" sz="4400" b="0" i="1" smtClean="0">
                        <a:solidFill>
                          <a:schemeClr val="tx1"/>
                        </a:solidFill>
                        <a:latin typeface="Cambria Math" panose="02040503050406030204" pitchFamily="18" charset="0"/>
                      </a:rPr>
                      <m:t>𝑋</m:t>
                    </m:r>
                  </m:oMath>
                </a14:m>
                <a:r>
                  <a:rPr lang="en-US" sz="4400" dirty="0">
                    <a:solidFill>
                      <a:schemeClr val="tx1"/>
                    </a:solidFill>
                    <a:latin typeface="Garamond" panose="02020404030301010803" pitchFamily="18" charset="0"/>
                  </a:rPr>
                  <a:t>.</a:t>
                </a:r>
              </a:p>
            </p:txBody>
          </p:sp>
        </mc:Choice>
        <mc:Fallback xmlns="">
          <p:sp>
            <p:nvSpPr>
              <p:cNvPr id="10" name="Rounded Rectangle 9">
                <a:extLst>
                  <a:ext uri="{FF2B5EF4-FFF2-40B4-BE49-F238E27FC236}">
                    <a16:creationId xmlns:a16="http://schemas.microsoft.com/office/drawing/2014/main" id="{9901FFF5-42D9-22C8-B81C-D9F6A31994AE}"/>
                  </a:ext>
                </a:extLst>
              </p:cNvPr>
              <p:cNvSpPr>
                <a:spLocks noRot="1" noChangeAspect="1" noMove="1" noResize="1" noEditPoints="1" noAdjustHandles="1" noChangeArrowheads="1" noChangeShapeType="1" noTextEdit="1"/>
              </p:cNvSpPr>
              <p:nvPr/>
            </p:nvSpPr>
            <p:spPr>
              <a:xfrm>
                <a:off x="7069670" y="2446134"/>
                <a:ext cx="4999566" cy="2434379"/>
              </a:xfrm>
              <a:prstGeom prst="roundRect">
                <a:avLst/>
              </a:prstGeom>
              <a:blipFill>
                <a:blip r:embed="rId5"/>
                <a:stretch>
                  <a:fillRect l="-2532" b="-3109"/>
                </a:stretch>
              </a:blipFill>
              <a:ln>
                <a:noFill/>
              </a:ln>
            </p:spPr>
            <p:txBody>
              <a:bodyPr/>
              <a:lstStyle/>
              <a:p>
                <a:r>
                  <a:rPr lang="en-US">
                    <a:noFill/>
                  </a:rPr>
                  <a:t> </a:t>
                </a:r>
              </a:p>
            </p:txBody>
          </p:sp>
        </mc:Fallback>
      </mc:AlternateContent>
      <p:sp>
        <p:nvSpPr>
          <p:cNvPr id="20" name="Arc 19">
            <a:extLst>
              <a:ext uri="{FF2B5EF4-FFF2-40B4-BE49-F238E27FC236}">
                <a16:creationId xmlns:a16="http://schemas.microsoft.com/office/drawing/2014/main" id="{AE06DE74-01DC-7C12-91EE-C84BADE03F85}"/>
              </a:ext>
            </a:extLst>
          </p:cNvPr>
          <p:cNvSpPr/>
          <p:nvPr/>
        </p:nvSpPr>
        <p:spPr>
          <a:xfrm rot="18900000">
            <a:off x="4868296" y="3237854"/>
            <a:ext cx="2455405" cy="2455405"/>
          </a:xfrm>
          <a:prstGeom prst="arc">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3" name="Graphic 22" descr="Usb Stick with solid fill">
            <a:extLst>
              <a:ext uri="{FF2B5EF4-FFF2-40B4-BE49-F238E27FC236}">
                <a16:creationId xmlns:a16="http://schemas.microsoft.com/office/drawing/2014/main" id="{8A15D456-84DA-D686-C3BA-462200B711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86964" y="3359575"/>
            <a:ext cx="618066" cy="618066"/>
          </a:xfrm>
          <a:prstGeom prst="rect">
            <a:avLst/>
          </a:prstGeom>
        </p:spPr>
      </p:pic>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B9A5E6EA-2A55-2138-9146-6648A157C676}"/>
                  </a:ext>
                </a:extLst>
              </p:cNvPr>
              <p:cNvSpPr/>
              <p:nvPr/>
            </p:nvSpPr>
            <p:spPr>
              <a:xfrm>
                <a:off x="5606370" y="5356257"/>
                <a:ext cx="5184302" cy="1126152"/>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dirty="0">
                    <a:solidFill>
                      <a:sysClr val="windowText" lastClr="000000"/>
                    </a:solidFill>
                    <a:latin typeface="Garamond" panose="02020404030301010803" pitchFamily="18" charset="0"/>
                  </a:rPr>
                  <a:t>[Something about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r>
                  <a:rPr lang="en-US" sz="4400" dirty="0">
                    <a:solidFill>
                      <a:sysClr val="windowText" lastClr="000000"/>
                    </a:solidFill>
                    <a:latin typeface="Garamond" panose="02020404030301010803" pitchFamily="18" charset="0"/>
                  </a:rPr>
                  <a:t>]</a:t>
                </a:r>
              </a:p>
            </p:txBody>
          </p:sp>
        </mc:Choice>
        <mc:Fallback xmlns="">
          <p:sp>
            <p:nvSpPr>
              <p:cNvPr id="7" name="Rounded Rectangle 6">
                <a:extLst>
                  <a:ext uri="{FF2B5EF4-FFF2-40B4-BE49-F238E27FC236}">
                    <a16:creationId xmlns:a16="http://schemas.microsoft.com/office/drawing/2014/main" id="{B9A5E6EA-2A55-2138-9146-6648A157C676}"/>
                  </a:ext>
                </a:extLst>
              </p:cNvPr>
              <p:cNvSpPr>
                <a:spLocks noRot="1" noChangeAspect="1" noMove="1" noResize="1" noEditPoints="1" noAdjustHandles="1" noChangeArrowheads="1" noChangeShapeType="1" noTextEdit="1"/>
              </p:cNvSpPr>
              <p:nvPr/>
            </p:nvSpPr>
            <p:spPr>
              <a:xfrm>
                <a:off x="5606370" y="5356257"/>
                <a:ext cx="5184302" cy="1126152"/>
              </a:xfrm>
              <a:prstGeom prst="roundRect">
                <a:avLst/>
              </a:prstGeom>
              <a:blipFill>
                <a:blip r:embed="rId7"/>
                <a:stretch>
                  <a:fillRect b="-10000"/>
                </a:stretch>
              </a:blipFill>
              <a:ln>
                <a:noFill/>
              </a:ln>
            </p:spPr>
            <p:txBody>
              <a:bodyPr/>
              <a:lstStyle/>
              <a:p>
                <a:r>
                  <a:rPr lang="en-US">
                    <a:noFill/>
                  </a:rPr>
                  <a:t> </a:t>
                </a:r>
              </a:p>
            </p:txBody>
          </p:sp>
        </mc:Fallback>
      </mc:AlternateContent>
      <p:sp>
        <p:nvSpPr>
          <p:cNvPr id="8" name="TextBox 7">
            <a:extLst>
              <a:ext uri="{FF2B5EF4-FFF2-40B4-BE49-F238E27FC236}">
                <a16:creationId xmlns:a16="http://schemas.microsoft.com/office/drawing/2014/main" id="{A72793AE-EB2A-44CA-CFAB-D42F4FFCCB26}"/>
              </a:ext>
            </a:extLst>
          </p:cNvPr>
          <p:cNvSpPr txBox="1"/>
          <p:nvPr/>
        </p:nvSpPr>
        <p:spPr>
          <a:xfrm>
            <a:off x="1138678" y="5489689"/>
            <a:ext cx="4957319" cy="769441"/>
          </a:xfrm>
          <a:prstGeom prst="rect">
            <a:avLst/>
          </a:prstGeom>
          <a:noFill/>
          <a:ln w="76200">
            <a:noFill/>
          </a:ln>
        </p:spPr>
        <p:txBody>
          <a:bodyPr wrap="square" rtlCol="0">
            <a:spAutoFit/>
          </a:bodyPr>
          <a:lstStyle/>
          <a:p>
            <a:pPr algn="ctr"/>
            <a:r>
              <a:rPr lang="en-US" sz="4400" b="1" u="sng" dirty="0">
                <a:latin typeface="Garamond" panose="02020404030301010803" pitchFamily="18" charset="0"/>
              </a:rPr>
              <a:t>Assuming ???:</a:t>
            </a:r>
            <a:endParaRPr lang="en-US" sz="4000" dirty="0">
              <a:latin typeface="Garamond" panose="02020404030301010803" pitchFamily="18" charset="0"/>
            </a:endParaRPr>
          </a:p>
        </p:txBody>
      </p:sp>
    </p:spTree>
    <p:extLst>
      <p:ext uri="{BB962C8B-B14F-4D97-AF65-F5344CB8AC3E}">
        <p14:creationId xmlns:p14="http://schemas.microsoft.com/office/powerpoint/2010/main" val="226234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0" grpId="0" animBg="1"/>
      <p:bldP spid="7" grpId="0" animBg="1"/>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75B7F-62C2-A19A-3598-C0C422FB1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08636-A307-CEDA-704B-2C0F583A0E84}"/>
              </a:ext>
            </a:extLst>
          </p:cNvPr>
          <p:cNvSpPr>
            <a:spLocks noGrp="1"/>
          </p:cNvSpPr>
          <p:nvPr>
            <p:ph type="title"/>
          </p:nvPr>
        </p:nvSpPr>
        <p:spPr/>
        <p:txBody>
          <a:bodyPr/>
          <a:lstStyle/>
          <a:p>
            <a:r>
              <a:rPr lang="en-US" dirty="0"/>
              <a:t>The assumption: “Stability”</a:t>
            </a:r>
          </a:p>
        </p:txBody>
      </p:sp>
    </p:spTree>
    <p:extLst>
      <p:ext uri="{BB962C8B-B14F-4D97-AF65-F5344CB8AC3E}">
        <p14:creationId xmlns:p14="http://schemas.microsoft.com/office/powerpoint/2010/main" val="3956120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9CB4F-CEE6-5E2E-5086-E8FECE1EE66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C73DFD-2CB0-90F7-56B7-1AA43373552A}"/>
                  </a:ext>
                </a:extLst>
              </p:cNvPr>
              <p:cNvSpPr txBox="1"/>
              <p:nvPr/>
            </p:nvSpPr>
            <p:spPr>
              <a:xfrm>
                <a:off x="3108039" y="1371029"/>
                <a:ext cx="5975922" cy="1731693"/>
              </a:xfrm>
              <a:prstGeom prst="rect">
                <a:avLst/>
              </a:prstGeom>
              <a:noFill/>
              <a:ln w="76200">
                <a:solidFill>
                  <a:srgbClr val="00B050"/>
                </a:solidFill>
              </a:ln>
            </p:spPr>
            <p:txBody>
              <a:bodyPr wrap="square" lIns="301752" rtlCol="0">
                <a:spAutoFit/>
              </a:bodyPr>
              <a:lstStyle/>
              <a:p>
                <a:pPr/>
                <a14:m>
                  <m:oMathPara xmlns:m="http://schemas.openxmlformats.org/officeDocument/2006/math">
                    <m:oMathParaPr>
                      <m:jc m:val="left"/>
                    </m:oMathParaPr>
                    <m:oMath xmlns:m="http://schemas.openxmlformats.org/officeDocument/2006/math">
                      <m:r>
                        <a:rPr lang="en-US" sz="4400" i="1" smtClean="0">
                          <a:latin typeface="Cambria Math" panose="02040503050406030204" pitchFamily="18" charset="0"/>
                        </a:rPr>
                        <m:t>𝑓</m:t>
                      </m:r>
                      <m:d>
                        <m:dPr>
                          <m:ctrlPr>
                            <a:rPr lang="en-US" sz="4400" i="1">
                              <a:latin typeface="Cambria Math" panose="02040503050406030204" pitchFamily="18" charset="0"/>
                            </a:rPr>
                          </m:ctrlPr>
                        </m:dPr>
                        <m:e>
                          <m:r>
                            <a:rPr lang="en-US" sz="4400" b="0" i="1" smtClean="0">
                              <a:latin typeface="Cambria Math" panose="02040503050406030204" pitchFamily="18" charset="0"/>
                            </a:rPr>
                            <m:t>𝑤</m:t>
                          </m:r>
                        </m:e>
                      </m:d>
                      <m:r>
                        <a:rPr lang="en-US" sz="4400" b="0" i="1" smtClean="0">
                          <a:latin typeface="Cambria Math" panose="02040503050406030204" pitchFamily="18" charset="0"/>
                        </a:rPr>
                        <m:t>=</m:t>
                      </m:r>
                      <m:nary>
                        <m:naryPr>
                          <m:chr m:val="∑"/>
                          <m:supHide m:val="on"/>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b="0" i="1" smtClean="0">
                              <a:latin typeface="Cambria Math" panose="02040503050406030204" pitchFamily="18" charset="0"/>
                            </a:rPr>
                            <m:t>≥0</m:t>
                          </m:r>
                        </m:sub>
                        <m:sup/>
                        <m:e>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𝑇</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r>
                                <a:rPr lang="en-US" sz="4400" b="0" i="1" smtClean="0">
                                  <a:latin typeface="Cambria Math" panose="02040503050406030204" pitchFamily="18" charset="0"/>
                                </a:rPr>
                                <m:t>)</m:t>
                              </m:r>
                            </m:sup>
                          </m:sSup>
                          <m:r>
                            <a:rPr lang="en-US" sz="4400" b="0" i="1" smtClean="0">
                              <a:latin typeface="Cambria Math" panose="02040503050406030204" pitchFamily="18" charset="0"/>
                            </a:rPr>
                            <m:t> </m:t>
                          </m:r>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𝑤</m:t>
                              </m:r>
                            </m:e>
                            <m:sup>
                              <m:r>
                                <a:rPr lang="en-US" sz="4400" b="0" i="1" smtClean="0">
                                  <a:latin typeface="Cambria Math" panose="02040503050406030204" pitchFamily="18" charset="0"/>
                                </a:rPr>
                                <m:t>𝑟</m:t>
                              </m:r>
                            </m:sup>
                          </m:sSup>
                        </m:e>
                      </m:nary>
                    </m:oMath>
                  </m:oMathPara>
                </a14:m>
                <a:endParaRPr lang="en-US" sz="4400" i="1" dirty="0">
                  <a:latin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5AC73DFD-2CB0-90F7-56B7-1AA43373552A}"/>
                  </a:ext>
                </a:extLst>
              </p:cNvPr>
              <p:cNvSpPr txBox="1">
                <a:spLocks noRot="1" noChangeAspect="1" noMove="1" noResize="1" noEditPoints="1" noAdjustHandles="1" noChangeArrowheads="1" noChangeShapeType="1" noTextEdit="1"/>
              </p:cNvSpPr>
              <p:nvPr/>
            </p:nvSpPr>
            <p:spPr>
              <a:xfrm>
                <a:off x="3108039" y="1371029"/>
                <a:ext cx="5975922" cy="1731693"/>
              </a:xfrm>
              <a:prstGeom prst="rect">
                <a:avLst/>
              </a:prstGeom>
              <a:blipFill>
                <a:blip r:embed="rId3"/>
                <a:stretch>
                  <a:fillRect t="-130769" b="-181119"/>
                </a:stretch>
              </a:blipFill>
              <a:ln w="76200">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B5B3B4-EEF3-757E-8852-9403727B8554}"/>
                  </a:ext>
                </a:extLst>
              </p:cNvPr>
              <p:cNvSpPr>
                <a:spLocks noGrp="1"/>
              </p:cNvSpPr>
              <p:nvPr>
                <p:ph idx="1"/>
              </p:nvPr>
            </p:nvSpPr>
            <p:spPr>
              <a:xfrm>
                <a:off x="1573530" y="3242779"/>
                <a:ext cx="9044940" cy="1731693"/>
              </a:xfrm>
            </p:spPr>
            <p:txBody>
              <a:bodyPr>
                <a:noAutofit/>
              </a:bodyPr>
              <a:lstStyle/>
              <a:p>
                <a:pPr marL="457200" lvl="1" indent="0" algn="ctr">
                  <a:lnSpc>
                    <a:spcPct val="100000"/>
                  </a:lnSpc>
                  <a:buNone/>
                </a:pPr>
                <a:r>
                  <a:rPr lang="en-US" sz="4400" dirty="0"/>
                  <a:t>The Taylor series expresses a function </a:t>
                </a:r>
                <a14:m>
                  <m:oMath xmlns:m="http://schemas.openxmlformats.org/officeDocument/2006/math">
                    <m:r>
                      <a:rPr lang="en-US" sz="4400" b="0" i="1" smtClean="0">
                        <a:latin typeface="Cambria Math" panose="02040503050406030204" pitchFamily="18" charset="0"/>
                      </a:rPr>
                      <m:t>𝑓</m:t>
                    </m:r>
                    <m:r>
                      <a:rPr lang="en-US" sz="4400" b="0" i="1" smtClean="0">
                        <a:latin typeface="Cambria Math" panose="02040503050406030204" pitchFamily="18" charset="0"/>
                      </a:rPr>
                      <m:t> :</m:t>
                    </m:r>
                    <m:r>
                      <a:rPr lang="en-US" sz="4400" i="1">
                        <a:latin typeface="Cambria Math" panose="02040503050406030204" pitchFamily="18" charset="0"/>
                        <a:ea typeface="Cambria Math" panose="02040503050406030204" pitchFamily="18" charset="0"/>
                      </a:rPr>
                      <m:t>ℝ</m:t>
                    </m:r>
                    <m:r>
                      <a:rPr lang="en-US" sz="4400" b="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ea typeface="Cambria Math" panose="02040503050406030204" pitchFamily="18" charset="0"/>
                      </a:rPr>
                      <m:t>ℝ</m:t>
                    </m:r>
                  </m:oMath>
                </a14:m>
                <a:r>
                  <a:rPr lang="en-US" sz="4400" dirty="0"/>
                  <a:t> as a polynomial series.</a:t>
                </a:r>
              </a:p>
            </p:txBody>
          </p:sp>
        </mc:Choice>
        <mc:Fallback xmlns="">
          <p:sp>
            <p:nvSpPr>
              <p:cNvPr id="3" name="Content Placeholder 2">
                <a:extLst>
                  <a:ext uri="{FF2B5EF4-FFF2-40B4-BE49-F238E27FC236}">
                    <a16:creationId xmlns:a16="http://schemas.microsoft.com/office/drawing/2014/main" id="{85B5B3B4-EEF3-757E-8852-9403727B8554}"/>
                  </a:ext>
                </a:extLst>
              </p:cNvPr>
              <p:cNvSpPr>
                <a:spLocks noGrp="1" noRot="1" noChangeAspect="1" noMove="1" noResize="1" noEditPoints="1" noAdjustHandles="1" noChangeArrowheads="1" noChangeShapeType="1" noTextEdit="1"/>
              </p:cNvSpPr>
              <p:nvPr>
                <p:ph idx="1"/>
              </p:nvPr>
            </p:nvSpPr>
            <p:spPr>
              <a:xfrm>
                <a:off x="1573530" y="3242779"/>
                <a:ext cx="9044940" cy="1731693"/>
              </a:xfrm>
              <a:blipFill>
                <a:blip r:embed="rId4"/>
                <a:stretch>
                  <a:fillRect t="-7299" r="-3221"/>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DB4CA547-C4D6-27F2-3840-AAB3D61330D4}"/>
              </a:ext>
            </a:extLst>
          </p:cNvPr>
          <p:cNvSpPr>
            <a:spLocks noGrp="1"/>
          </p:cNvSpPr>
          <p:nvPr>
            <p:ph type="title"/>
          </p:nvPr>
        </p:nvSpPr>
        <p:spPr>
          <a:xfrm>
            <a:off x="838200" y="365125"/>
            <a:ext cx="7310120" cy="1325563"/>
          </a:xfrm>
        </p:spPr>
        <p:txBody>
          <a:bodyPr/>
          <a:lstStyle/>
          <a:p>
            <a:r>
              <a:rPr lang="en-US" dirty="0"/>
              <a:t>Taylor series (univariate case)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5973BB4-A83C-CB1E-D0B4-879C535213B0}"/>
                  </a:ext>
                </a:extLst>
              </p:cNvPr>
              <p:cNvSpPr txBox="1"/>
              <p:nvPr/>
            </p:nvSpPr>
            <p:spPr>
              <a:xfrm>
                <a:off x="9378949" y="1838048"/>
                <a:ext cx="2479041" cy="797654"/>
              </a:xfrm>
              <a:prstGeom prst="rect">
                <a:avLst/>
              </a:prstGeom>
              <a:noFill/>
              <a:ln w="762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𝑇</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r>
                            <a:rPr lang="en-US" sz="4400" b="0" i="1" smtClean="0">
                              <a:latin typeface="Cambria Math" panose="02040503050406030204" pitchFamily="18" charset="0"/>
                            </a:rPr>
                            <m:t>)</m:t>
                          </m:r>
                        </m:sup>
                      </m:sSup>
                      <m:r>
                        <a:rPr lang="en-US" sz="4400" b="0" i="1" smtClean="0">
                          <a:latin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ℝ</m:t>
                      </m:r>
                    </m:oMath>
                  </m:oMathPara>
                </a14:m>
                <a:endParaRPr lang="en-US" sz="4400" i="1" dirty="0">
                  <a:latin typeface="Cambria Math" panose="02040503050406030204" pitchFamily="18" charset="0"/>
                </a:endParaRPr>
              </a:p>
            </p:txBody>
          </p:sp>
        </mc:Choice>
        <mc:Fallback xmlns="">
          <p:sp>
            <p:nvSpPr>
              <p:cNvPr id="6" name="TextBox 5">
                <a:extLst>
                  <a:ext uri="{FF2B5EF4-FFF2-40B4-BE49-F238E27FC236}">
                    <a16:creationId xmlns:a16="http://schemas.microsoft.com/office/drawing/2014/main" id="{F5973BB4-A83C-CB1E-D0B4-879C535213B0}"/>
                  </a:ext>
                </a:extLst>
              </p:cNvPr>
              <p:cNvSpPr txBox="1">
                <a:spLocks noRot="1" noChangeAspect="1" noMove="1" noResize="1" noEditPoints="1" noAdjustHandles="1" noChangeArrowheads="1" noChangeShapeType="1" noTextEdit="1"/>
              </p:cNvSpPr>
              <p:nvPr/>
            </p:nvSpPr>
            <p:spPr>
              <a:xfrm>
                <a:off x="9378949" y="1838048"/>
                <a:ext cx="2479041" cy="797654"/>
              </a:xfrm>
              <a:prstGeom prst="rect">
                <a:avLst/>
              </a:prstGeom>
              <a:blipFill>
                <a:blip r:embed="rId5"/>
                <a:stretch>
                  <a:fillRect/>
                </a:stretch>
              </a:blipFill>
              <a:ln w="762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32B60A48-5B95-95E1-D0B0-BCC5C7E5F77D}"/>
                  </a:ext>
                </a:extLst>
              </p:cNvPr>
              <p:cNvSpPr/>
              <p:nvPr/>
            </p:nvSpPr>
            <p:spPr>
              <a:xfrm>
                <a:off x="3124200" y="5147641"/>
                <a:ext cx="5943600" cy="867815"/>
              </a:xfrm>
              <a:prstGeom prst="roundRect">
                <a:avLst/>
              </a:prstGeom>
              <a:solidFill>
                <a:srgbClr val="FF0000">
                  <a:alpha val="50000"/>
                </a:srgbClr>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dirty="0">
                    <a:solidFill>
                      <a:schemeClr val="tx1"/>
                    </a:solidFill>
                    <a:latin typeface="Garamond" panose="02020404030301010803" pitchFamily="18" charset="0"/>
                  </a:rPr>
                  <a:t>We have </a:t>
                </a:r>
                <a14:m>
                  <m:oMath xmlns:m="http://schemas.openxmlformats.org/officeDocument/2006/math">
                    <m:r>
                      <a:rPr lang="en-US" sz="4400" b="0" i="1" smtClean="0">
                        <a:solidFill>
                          <a:schemeClr val="tx1"/>
                        </a:solidFill>
                        <a:latin typeface="Cambria Math" panose="02040503050406030204" pitchFamily="18" charset="0"/>
                      </a:rPr>
                      <m:t>𝑓</m:t>
                    </m:r>
                    <m:r>
                      <a:rPr lang="en-US" sz="4400" b="0" i="1" smtClean="0">
                        <a:solidFill>
                          <a:schemeClr val="tx1"/>
                        </a:solidFill>
                        <a:latin typeface="Cambria Math" panose="02040503050406030204" pitchFamily="18" charset="0"/>
                      </a:rPr>
                      <m:t> :</m:t>
                    </m:r>
                    <m:sSup>
                      <m:sSupPr>
                        <m:ctrlPr>
                          <a:rPr lang="en-US" sz="4400" b="0" i="1" smtClean="0">
                            <a:solidFill>
                              <a:schemeClr val="tx1"/>
                            </a:solidFill>
                            <a:latin typeface="Cambria Math" panose="02040503050406030204" pitchFamily="18" charset="0"/>
                            <a:ea typeface="Cambria Math" panose="02040503050406030204" pitchFamily="18" charset="0"/>
                          </a:rPr>
                        </m:ctrlPr>
                      </m:sSupPr>
                      <m:e>
                        <m:r>
                          <a:rPr lang="en-US" sz="4400" i="1">
                            <a:solidFill>
                              <a:schemeClr val="tx1"/>
                            </a:solidFill>
                            <a:latin typeface="Cambria Math" panose="02040503050406030204" pitchFamily="18" charset="0"/>
                            <a:ea typeface="Cambria Math" panose="02040503050406030204" pitchFamily="18" charset="0"/>
                          </a:rPr>
                          <m:t>ℝ</m:t>
                        </m:r>
                      </m:e>
                      <m:sup>
                        <m:r>
                          <a:rPr lang="en-US" sz="4400" b="0" i="1" smtClean="0">
                            <a:solidFill>
                              <a:schemeClr val="tx1"/>
                            </a:solidFill>
                            <a:latin typeface="Cambria Math" panose="02040503050406030204" pitchFamily="18" charset="0"/>
                            <a:ea typeface="Cambria Math" panose="02040503050406030204" pitchFamily="18" charset="0"/>
                          </a:rPr>
                          <m:t>𝑛</m:t>
                        </m:r>
                      </m:sup>
                    </m:sSup>
                    <m:r>
                      <a:rPr lang="en-US" sz="4400" i="1">
                        <a:solidFill>
                          <a:schemeClr val="tx1"/>
                        </a:solidFill>
                        <a:latin typeface="Cambria Math" panose="02040503050406030204" pitchFamily="18" charset="0"/>
                        <a:ea typeface="Cambria Math" panose="02040503050406030204" pitchFamily="18" charset="0"/>
                      </a:rPr>
                      <m:t>→</m:t>
                    </m:r>
                    <m:r>
                      <a:rPr lang="en-US" sz="4400" i="1">
                        <a:solidFill>
                          <a:schemeClr val="tx1"/>
                        </a:solidFill>
                        <a:latin typeface="Cambria Math" panose="02040503050406030204" pitchFamily="18" charset="0"/>
                        <a:ea typeface="Cambria Math" panose="02040503050406030204" pitchFamily="18" charset="0"/>
                      </a:rPr>
                      <m:t>ℝ</m:t>
                    </m:r>
                  </m:oMath>
                </a14:m>
                <a:r>
                  <a:rPr lang="en-US" sz="4400" dirty="0">
                    <a:solidFill>
                      <a:schemeClr val="tx1"/>
                    </a:solidFill>
                    <a:latin typeface="Garamond" panose="02020404030301010803" pitchFamily="18" charset="0"/>
                  </a:rPr>
                  <a:t>…</a:t>
                </a:r>
              </a:p>
            </p:txBody>
          </p:sp>
        </mc:Choice>
        <mc:Fallback xmlns="">
          <p:sp>
            <p:nvSpPr>
              <p:cNvPr id="10" name="Rounded Rectangle 9">
                <a:extLst>
                  <a:ext uri="{FF2B5EF4-FFF2-40B4-BE49-F238E27FC236}">
                    <a16:creationId xmlns:a16="http://schemas.microsoft.com/office/drawing/2014/main" id="{32B60A48-5B95-95E1-D0B0-BCC5C7E5F77D}"/>
                  </a:ext>
                </a:extLst>
              </p:cNvPr>
              <p:cNvSpPr>
                <a:spLocks noRot="1" noChangeAspect="1" noMove="1" noResize="1" noEditPoints="1" noAdjustHandles="1" noChangeArrowheads="1" noChangeShapeType="1" noTextEdit="1"/>
              </p:cNvSpPr>
              <p:nvPr/>
            </p:nvSpPr>
            <p:spPr>
              <a:xfrm>
                <a:off x="3124200" y="5147641"/>
                <a:ext cx="5943600" cy="867815"/>
              </a:xfrm>
              <a:prstGeom prst="roundRect">
                <a:avLst/>
              </a:prstGeom>
              <a:blipFill>
                <a:blip r:embed="rId6"/>
                <a:stretch>
                  <a:fillRect t="-7042" b="-25352"/>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95279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6"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70173B84-AD0E-4050-21FD-7180F33DD3DA}"/>
                  </a:ext>
                </a:extLst>
              </p:cNvPr>
              <p:cNvSpPr>
                <a:spLocks noGrp="1"/>
              </p:cNvSpPr>
              <p:nvPr>
                <p:ph idx="1"/>
              </p:nvPr>
            </p:nvSpPr>
            <p:spPr>
              <a:xfrm>
                <a:off x="838200" y="3192416"/>
                <a:ext cx="10515600" cy="2029824"/>
              </a:xfrm>
            </p:spPr>
            <p:txBody>
              <a:bodyPr>
                <a:noAutofit/>
              </a:bodyPr>
              <a:lstStyle/>
              <a:p>
                <a:pPr lvl="1">
                  <a:lnSpc>
                    <a:spcPct val="100000"/>
                  </a:lnSpc>
                </a:pPr>
                <a14:m>
                  <m:oMath xmlns:m="http://schemas.openxmlformats.org/officeDocument/2006/math">
                    <m:sSup>
                      <m:sSupPr>
                        <m:ctrlPr>
                          <a:rPr lang="en-US" sz="3600" b="0" i="1" smtClean="0">
                            <a:latin typeface="Cambria Math" panose="02040503050406030204" pitchFamily="18" charset="0"/>
                          </a:rPr>
                        </m:ctrlPr>
                      </m:sSupPr>
                      <m:e>
                        <m:r>
                          <a:rPr lang="en-US" sz="3600" b="1" i="1" smtClean="0">
                            <a:latin typeface="Cambria Math" panose="02040503050406030204" pitchFamily="18" charset="0"/>
                          </a:rPr>
                          <m:t>𝒘</m:t>
                        </m:r>
                      </m:e>
                      <m:sup>
                        <m:r>
                          <a:rPr lang="en-US" sz="3600" b="0" i="1" smtClean="0">
                            <a:latin typeface="Cambria Math" panose="02040503050406030204" pitchFamily="18" charset="0"/>
                          </a:rPr>
                          <m:t>⊗</m:t>
                        </m:r>
                        <m:r>
                          <a:rPr lang="en-US" sz="3600" b="0" i="1" smtClean="0">
                            <a:latin typeface="Cambria Math" panose="02040503050406030204" pitchFamily="18" charset="0"/>
                          </a:rPr>
                          <m:t>𝑟</m:t>
                        </m:r>
                      </m:sup>
                    </m:sSup>
                  </m:oMath>
                </a14:m>
                <a:r>
                  <a:rPr lang="en-US" sz="3600" dirty="0"/>
                  <a:t> is all products of </a:t>
                </a:r>
                <a14:m>
                  <m:oMath xmlns:m="http://schemas.openxmlformats.org/officeDocument/2006/math">
                    <m:r>
                      <a:rPr lang="en-US" sz="3600" b="0" i="1" smtClean="0">
                        <a:latin typeface="Cambria Math" panose="02040503050406030204" pitchFamily="18" charset="0"/>
                      </a:rPr>
                      <m:t>𝑟</m:t>
                    </m:r>
                  </m:oMath>
                </a14:m>
                <a:r>
                  <a:rPr lang="en-US" sz="3600" dirty="0"/>
                  <a:t> coordinates of </a:t>
                </a:r>
                <a14:m>
                  <m:oMath xmlns:m="http://schemas.openxmlformats.org/officeDocument/2006/math">
                    <m:r>
                      <a:rPr lang="en-US" sz="3600" b="1" i="1" smtClean="0">
                        <a:latin typeface="Cambria Math" panose="02040503050406030204" pitchFamily="18" charset="0"/>
                      </a:rPr>
                      <m:t>𝒘</m:t>
                    </m:r>
                  </m:oMath>
                </a14:m>
                <a:r>
                  <a:rPr lang="en-US" sz="3600" dirty="0"/>
                  <a:t>.</a:t>
                </a:r>
              </a:p>
              <a:p>
                <a:pPr lvl="1">
                  <a:lnSpc>
                    <a:spcPct val="100000"/>
                  </a:lnSpc>
                </a:pPr>
                <a14:m>
                  <m:oMath xmlns:m="http://schemas.openxmlformats.org/officeDocument/2006/math">
                    <m:d>
                      <m:dPr>
                        <m:begChr m:val="⟨"/>
                        <m:endChr m:val="⟩"/>
                        <m:ctrlPr>
                          <a:rPr lang="en-US" sz="3600" i="1" smtClean="0">
                            <a:latin typeface="Cambria Math" panose="02040503050406030204" pitchFamily="18" charset="0"/>
                          </a:rPr>
                        </m:ctrlPr>
                      </m:dPr>
                      <m:e>
                        <m:r>
                          <a:rPr lang="en-US" sz="3600" b="0" i="1" smtClean="0">
                            <a:latin typeface="Cambria Math" panose="02040503050406030204" pitchFamily="18" charset="0"/>
                          </a:rPr>
                          <m:t>⋅, ⋅</m:t>
                        </m:r>
                      </m:e>
                    </m:d>
                  </m:oMath>
                </a14:m>
                <a:r>
                  <a:rPr lang="en-US" sz="3600" dirty="0"/>
                  <a:t> is the inner (dot) product.</a:t>
                </a:r>
              </a:p>
            </p:txBody>
          </p:sp>
        </mc:Choice>
        <mc:Fallback xmlns="">
          <p:sp>
            <p:nvSpPr>
              <p:cNvPr id="13" name="Content Placeholder 2">
                <a:extLst>
                  <a:ext uri="{FF2B5EF4-FFF2-40B4-BE49-F238E27FC236}">
                    <a16:creationId xmlns:a16="http://schemas.microsoft.com/office/drawing/2014/main" id="{70173B84-AD0E-4050-21FD-7180F33DD3DA}"/>
                  </a:ext>
                </a:extLst>
              </p:cNvPr>
              <p:cNvSpPr>
                <a:spLocks noGrp="1" noRot="1" noChangeAspect="1" noMove="1" noResize="1" noEditPoints="1" noAdjustHandles="1" noChangeArrowheads="1" noChangeShapeType="1" noTextEdit="1"/>
              </p:cNvSpPr>
              <p:nvPr>
                <p:ph idx="1"/>
              </p:nvPr>
            </p:nvSpPr>
            <p:spPr>
              <a:xfrm>
                <a:off x="838200" y="3192416"/>
                <a:ext cx="10515600" cy="2029824"/>
              </a:xfrm>
              <a:blipFill>
                <a:blip r:embed="rId3"/>
                <a:stretch>
                  <a:fillRect t="-3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AB1862D-185A-514C-1706-6757F100EF02}"/>
                  </a:ext>
                </a:extLst>
              </p:cNvPr>
              <p:cNvSpPr txBox="1"/>
              <p:nvPr/>
            </p:nvSpPr>
            <p:spPr>
              <a:xfrm>
                <a:off x="3108039" y="1371029"/>
                <a:ext cx="5975922" cy="1731693"/>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b="0" i="1" smtClean="0">
                          <a:latin typeface="Cambria Math" panose="02040503050406030204" pitchFamily="18" charset="0"/>
                        </a:rPr>
                        <m:t>=</m:t>
                      </m:r>
                      <m:nary>
                        <m:naryPr>
                          <m:chr m:val="∑"/>
                          <m:supHide m:val="on"/>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b="0" i="1" smtClean="0">
                              <a:latin typeface="Cambria Math" panose="02040503050406030204" pitchFamily="18" charset="0"/>
                            </a:rPr>
                            <m:t>≥0</m:t>
                          </m:r>
                        </m:sub>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BAB1862D-185A-514C-1706-6757F100EF02}"/>
                  </a:ext>
                </a:extLst>
              </p:cNvPr>
              <p:cNvSpPr txBox="1">
                <a:spLocks noRot="1" noChangeAspect="1" noMove="1" noResize="1" noEditPoints="1" noAdjustHandles="1" noChangeArrowheads="1" noChangeShapeType="1" noTextEdit="1"/>
              </p:cNvSpPr>
              <p:nvPr/>
            </p:nvSpPr>
            <p:spPr>
              <a:xfrm>
                <a:off x="3108039" y="1371029"/>
                <a:ext cx="5975922" cy="1731693"/>
              </a:xfrm>
              <a:prstGeom prst="rect">
                <a:avLst/>
              </a:prstGeom>
              <a:blipFill>
                <a:blip r:embed="rId4"/>
                <a:stretch>
                  <a:fillRect t="-130769" b="-181119"/>
                </a:stretch>
              </a:blipFill>
              <a:ln w="76200">
                <a:solidFill>
                  <a:srgbClr val="00B050"/>
                </a:solidFill>
              </a:ln>
            </p:spPr>
            <p:txBody>
              <a:bodyPr/>
              <a:lstStyle/>
              <a:p>
                <a:r>
                  <a:rPr lang="en-US">
                    <a:noFill/>
                  </a:rPr>
                  <a:t> </a:t>
                </a:r>
              </a:p>
            </p:txBody>
          </p:sp>
        </mc:Fallback>
      </mc:AlternateContent>
      <p:sp>
        <p:nvSpPr>
          <p:cNvPr id="15" name="Title 1">
            <a:extLst>
              <a:ext uri="{FF2B5EF4-FFF2-40B4-BE49-F238E27FC236}">
                <a16:creationId xmlns:a16="http://schemas.microsoft.com/office/drawing/2014/main" id="{53DA77FE-53B8-96C5-6F57-14FA92292D3A}"/>
              </a:ext>
            </a:extLst>
          </p:cNvPr>
          <p:cNvSpPr>
            <a:spLocks noGrp="1"/>
          </p:cNvSpPr>
          <p:nvPr>
            <p:ph type="title"/>
          </p:nvPr>
        </p:nvSpPr>
        <p:spPr>
          <a:xfrm>
            <a:off x="838200" y="365125"/>
            <a:ext cx="3855720" cy="1325563"/>
          </a:xfrm>
        </p:spPr>
        <p:txBody>
          <a:bodyPr/>
          <a:lstStyle/>
          <a:p>
            <a:r>
              <a:rPr lang="en-US" dirty="0"/>
              <a:t>Taylor series</a:t>
            </a:r>
          </a:p>
        </p:txBody>
      </p:sp>
      <mc:AlternateContent xmlns:mc="http://schemas.openxmlformats.org/markup-compatibility/2006" xmlns:a14="http://schemas.microsoft.com/office/drawing/2010/main">
        <mc:Choice Requires="a14">
          <p:sp>
            <p:nvSpPr>
              <p:cNvPr id="5" name="Rounded Rectangle 4">
                <a:extLst>
                  <a:ext uri="{FF2B5EF4-FFF2-40B4-BE49-F238E27FC236}">
                    <a16:creationId xmlns:a16="http://schemas.microsoft.com/office/drawing/2014/main" id="{E69B0CBB-B087-4A39-4B36-5E935516D3A8}"/>
                  </a:ext>
                </a:extLst>
              </p:cNvPr>
              <p:cNvSpPr/>
              <p:nvPr/>
            </p:nvSpPr>
            <p:spPr>
              <a:xfrm>
                <a:off x="838201" y="4954385"/>
                <a:ext cx="4332316" cy="1246910"/>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sSup>
                            <m:sSupPr>
                              <m:ctrlPr>
                                <a:rPr lang="en-US" sz="2400" i="1">
                                  <a:solidFill>
                                    <a:schemeClr val="tx1"/>
                                  </a:solidFill>
                                  <a:latin typeface="Cambria Math" panose="02040503050406030204" pitchFamily="18" charset="0"/>
                                </a:rPr>
                              </m:ctrlPr>
                            </m:sSupPr>
                            <m:e>
                              <m:r>
                                <a:rPr lang="en-US" sz="2400" b="1">
                                  <a:solidFill>
                                    <a:schemeClr val="tx1"/>
                                  </a:solidFill>
                                  <a:latin typeface="Cambria Math" panose="02040503050406030204" pitchFamily="18" charset="0"/>
                                </a:rPr>
                                <m:t>𝐓</m:t>
                              </m:r>
                            </m:e>
                            <m:sup>
                              <m:d>
                                <m:dPr>
                                  <m:ctrlPr>
                                    <a:rPr lang="en-US" sz="2400" i="1">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2</m:t>
                                  </m:r>
                                </m:e>
                              </m:d>
                            </m:sup>
                          </m:sSup>
                          <m:r>
                            <a:rPr lang="en-US" sz="2400" i="1">
                              <a:solidFill>
                                <a:schemeClr val="tx1"/>
                              </a:solidFill>
                              <a:latin typeface="Cambria Math" panose="02040503050406030204" pitchFamily="18" charset="0"/>
                            </a:rPr>
                            <m:t>, </m:t>
                          </m:r>
                          <m:sSup>
                            <m:sSupPr>
                              <m:ctrlPr>
                                <a:rPr lang="en-US" sz="2400"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𝒘</m:t>
                              </m:r>
                            </m:e>
                            <m:sup>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2</m:t>
                              </m:r>
                            </m:sup>
                          </m:sSup>
                        </m:e>
                      </m:d>
                      <m:r>
                        <a:rPr lang="en-US" sz="2400" b="0" i="1" smtClean="0">
                          <a:solidFill>
                            <a:schemeClr val="tx1"/>
                          </a:solidFill>
                          <a:latin typeface="Cambria Math" panose="02040503050406030204" pitchFamily="18" charset="0"/>
                        </a:rPr>
                        <m:t>=</m:t>
                      </m:r>
                      <m:nary>
                        <m:naryPr>
                          <m:chr m:val="∑"/>
                          <m:supHide m:val="on"/>
                          <m:ctrlPr>
                            <a:rPr lang="en-US" sz="2400" b="0" i="1" smtClean="0">
                              <a:solidFill>
                                <a:schemeClr val="tx1"/>
                              </a:solidFill>
                              <a:latin typeface="Cambria Math" panose="02040503050406030204" pitchFamily="18" charset="0"/>
                            </a:rPr>
                          </m:ctrlPr>
                        </m:naryPr>
                        <m:sub>
                          <m:r>
                            <m:rPr>
                              <m:brk m:alnAt="7"/>
                            </m:rPr>
                            <a:rPr lang="en-US" sz="2400" b="0" i="1" smtClean="0">
                              <a:solidFill>
                                <a:schemeClr val="tx1"/>
                              </a:solidFill>
                              <a:latin typeface="Cambria Math" panose="02040503050406030204" pitchFamily="18" charset="0"/>
                            </a:rPr>
                            <m:t>𝑖</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𝑗</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sub>
                        <m:sup/>
                        <m:e>
                          <m:sSubSup>
                            <m:sSubSupPr>
                              <m:ctrlPr>
                                <a:rPr lang="en-US" sz="2400" b="0" i="1" smtClean="0">
                                  <a:solidFill>
                                    <a:schemeClr val="tx1"/>
                                  </a:solidFill>
                                  <a:latin typeface="Cambria Math" panose="02040503050406030204" pitchFamily="18" charset="0"/>
                                </a:rPr>
                              </m:ctrlPr>
                            </m:sSubSupPr>
                            <m:e>
                              <m:r>
                                <a:rPr lang="en-US" sz="2400" b="1" i="0" smtClean="0">
                                  <a:solidFill>
                                    <a:schemeClr val="tx1"/>
                                  </a:solidFill>
                                  <a:latin typeface="Cambria Math" panose="02040503050406030204" pitchFamily="18" charset="0"/>
                                </a:rPr>
                                <m:t>𝐓</m:t>
                              </m:r>
                            </m:e>
                            <m:sub>
                              <m:r>
                                <a:rPr lang="en-US" sz="2400" b="0" i="1" smtClean="0">
                                  <a:solidFill>
                                    <a:schemeClr val="tx1"/>
                                  </a:solidFill>
                                  <a:latin typeface="Cambria Math" panose="02040503050406030204" pitchFamily="18" charset="0"/>
                                </a:rPr>
                                <m:t>𝑖</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𝑗</m:t>
                              </m:r>
                            </m:sub>
                            <m:sup>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2</m:t>
                                  </m:r>
                                </m:e>
                              </m:d>
                            </m:sup>
                          </m:sSubSup>
                          <m:r>
                            <a:rPr lang="en-US" sz="2400" b="0" i="1" smtClean="0">
                              <a:solidFill>
                                <a:schemeClr val="tx1"/>
                              </a:solidFill>
                              <a:latin typeface="Cambria Math" panose="02040503050406030204" pitchFamily="18" charset="0"/>
                            </a:rPr>
                            <m:t> </m:t>
                          </m:r>
                          <m:sSub>
                            <m:sSubPr>
                              <m:ctrlPr>
                                <a:rPr lang="en-US" sz="2400" b="0"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𝒘</m:t>
                              </m:r>
                            </m:e>
                            <m:sub>
                              <m:r>
                                <a:rPr lang="en-US" sz="2400" b="0" i="1" smtClean="0">
                                  <a:solidFill>
                                    <a:schemeClr val="tx1"/>
                                  </a:solidFill>
                                  <a:latin typeface="Cambria Math" panose="02040503050406030204" pitchFamily="18" charset="0"/>
                                </a:rPr>
                                <m:t>𝑖</m:t>
                              </m:r>
                            </m:sub>
                          </m:sSub>
                          <m:r>
                            <a:rPr lang="en-US" sz="2400" b="0" i="1" smtClean="0">
                              <a:solidFill>
                                <a:schemeClr val="tx1"/>
                              </a:solidFill>
                              <a:latin typeface="Cambria Math" panose="02040503050406030204" pitchFamily="18" charset="0"/>
                            </a:rPr>
                            <m:t> </m:t>
                          </m:r>
                          <m:sSub>
                            <m:sSubPr>
                              <m:ctrlPr>
                                <a:rPr lang="en-US" sz="2400" b="0"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𝒘</m:t>
                              </m:r>
                            </m:e>
                            <m:sub>
                              <m:r>
                                <a:rPr lang="en-US" sz="2400" b="0" i="1" smtClean="0">
                                  <a:solidFill>
                                    <a:schemeClr val="tx1"/>
                                  </a:solidFill>
                                  <a:latin typeface="Cambria Math" panose="02040503050406030204" pitchFamily="18" charset="0"/>
                                </a:rPr>
                                <m:t>𝑗</m:t>
                              </m:r>
                            </m:sub>
                          </m:sSub>
                        </m:e>
                      </m:nary>
                    </m:oMath>
                  </m:oMathPara>
                </a14:m>
                <a:endParaRPr lang="en-US" sz="2400" dirty="0">
                  <a:solidFill>
                    <a:schemeClr val="tx1"/>
                  </a:solidFill>
                  <a:latin typeface="Garamond" panose="02020404030301010803" pitchFamily="18" charset="0"/>
                </a:endParaRPr>
              </a:p>
            </p:txBody>
          </p:sp>
        </mc:Choice>
        <mc:Fallback xmlns="">
          <p:sp>
            <p:nvSpPr>
              <p:cNvPr id="5" name="Rounded Rectangle 4">
                <a:extLst>
                  <a:ext uri="{FF2B5EF4-FFF2-40B4-BE49-F238E27FC236}">
                    <a16:creationId xmlns:a16="http://schemas.microsoft.com/office/drawing/2014/main" id="{E69B0CBB-B087-4A39-4B36-5E935516D3A8}"/>
                  </a:ext>
                </a:extLst>
              </p:cNvPr>
              <p:cNvSpPr>
                <a:spLocks noRot="1" noChangeAspect="1" noMove="1" noResize="1" noEditPoints="1" noAdjustHandles="1" noChangeArrowheads="1" noChangeShapeType="1" noTextEdit="1"/>
              </p:cNvSpPr>
              <p:nvPr/>
            </p:nvSpPr>
            <p:spPr>
              <a:xfrm>
                <a:off x="838201" y="4954385"/>
                <a:ext cx="4332316" cy="1246910"/>
              </a:xfrm>
              <a:prstGeom prst="roundRect">
                <a:avLst/>
              </a:prstGeom>
              <a:blipFill>
                <a:blip r:embed="rId5"/>
                <a:stretch>
                  <a:fillRect t="-92079" b="-127723"/>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CA8A226-FBA1-E6F8-13D7-D25A298C5379}"/>
                  </a:ext>
                </a:extLst>
              </p:cNvPr>
              <p:cNvSpPr txBox="1"/>
              <p:nvPr/>
            </p:nvSpPr>
            <p:spPr>
              <a:xfrm>
                <a:off x="9277001" y="1821056"/>
                <a:ext cx="2774029" cy="831638"/>
              </a:xfrm>
              <a:prstGeom prst="rect">
                <a:avLst/>
              </a:prstGeom>
              <a:noFill/>
              <a:ln w="762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4400" b="0" i="1" smtClean="0">
                              <a:latin typeface="Cambria Math" panose="02040503050406030204" pitchFamily="18" charset="0"/>
                            </a:rPr>
                          </m:ctrlPr>
                        </m:sSupPr>
                        <m:e>
                          <m:r>
                            <a:rPr lang="en-US" sz="4400" b="1" i="0" smtClean="0">
                              <a:latin typeface="Cambria Math" panose="02040503050406030204" pitchFamily="18" charset="0"/>
                            </a:rPr>
                            <m:t>𝐓</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r>
                            <a:rPr lang="en-US" sz="4400" b="0" i="1" smtClean="0">
                              <a:latin typeface="Cambria Math" panose="02040503050406030204" pitchFamily="18" charset="0"/>
                            </a:rPr>
                            <m:t>)</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ea typeface="Cambria Math" panose="02040503050406030204" pitchFamily="18" charset="0"/>
                            </a:rPr>
                          </m:ctrlPr>
                        </m:sSupPr>
                        <m:e>
                          <m:r>
                            <a:rPr lang="en-US" sz="4400" b="0" i="1" smtClean="0">
                              <a:latin typeface="Cambria Math" panose="02040503050406030204" pitchFamily="18" charset="0"/>
                              <a:ea typeface="Cambria Math" panose="02040503050406030204" pitchFamily="18" charset="0"/>
                            </a:rPr>
                            <m:t>ℝ</m:t>
                          </m:r>
                        </m:e>
                        <m:sup>
                          <m:sSup>
                            <m:sSupPr>
                              <m:ctrlPr>
                                <a:rPr lang="en-US" sz="4400" b="0" i="1" smtClean="0">
                                  <a:latin typeface="Cambria Math" panose="02040503050406030204" pitchFamily="18" charset="0"/>
                                  <a:ea typeface="Cambria Math" panose="02040503050406030204" pitchFamily="18" charset="0"/>
                                </a:rPr>
                              </m:ctrlPr>
                            </m:sSupPr>
                            <m:e>
                              <m:r>
                                <a:rPr lang="en-US" sz="4400" b="0" i="1" smtClean="0">
                                  <a:latin typeface="Cambria Math" panose="02040503050406030204" pitchFamily="18" charset="0"/>
                                  <a:ea typeface="Cambria Math" panose="02040503050406030204" pitchFamily="18" charset="0"/>
                                </a:rPr>
                                <m:t>𝑛</m:t>
                              </m:r>
                            </m:e>
                            <m:sup>
                              <m:r>
                                <a:rPr lang="en-US" sz="4400" b="0" i="1" smtClean="0">
                                  <a:latin typeface="Cambria Math" panose="02040503050406030204" pitchFamily="18" charset="0"/>
                                  <a:ea typeface="Cambria Math" panose="02040503050406030204" pitchFamily="18" charset="0"/>
                                </a:rPr>
                                <m:t>𝑟</m:t>
                              </m:r>
                            </m:sup>
                          </m:sSup>
                        </m:sup>
                      </m:sSup>
                    </m:oMath>
                  </m:oMathPara>
                </a14:m>
                <a:endParaRPr lang="en-US" sz="4400" i="1" dirty="0">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BCA8A226-FBA1-E6F8-13D7-D25A298C5379}"/>
                  </a:ext>
                </a:extLst>
              </p:cNvPr>
              <p:cNvSpPr txBox="1">
                <a:spLocks noRot="1" noChangeAspect="1" noMove="1" noResize="1" noEditPoints="1" noAdjustHandles="1" noChangeArrowheads="1" noChangeShapeType="1" noTextEdit="1"/>
              </p:cNvSpPr>
              <p:nvPr/>
            </p:nvSpPr>
            <p:spPr>
              <a:xfrm>
                <a:off x="9277001" y="1821056"/>
                <a:ext cx="2774029" cy="831638"/>
              </a:xfrm>
              <a:prstGeom prst="rect">
                <a:avLst/>
              </a:prstGeom>
              <a:blipFill>
                <a:blip r:embed="rId6"/>
                <a:stretch>
                  <a:fillRect l="-2740"/>
                </a:stretch>
              </a:blipFill>
              <a:ln w="762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D05994D3-787F-DF88-CD1F-619511CD1EE6}"/>
                  </a:ext>
                </a:extLst>
              </p:cNvPr>
              <p:cNvSpPr/>
              <p:nvPr/>
            </p:nvSpPr>
            <p:spPr>
              <a:xfrm>
                <a:off x="6407176" y="4458092"/>
                <a:ext cx="5353569" cy="2265876"/>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1"/>
                              </a:solidFill>
                              <a:latin typeface="Cambria Math" panose="02040503050406030204" pitchFamily="18" charset="0"/>
                            </a:rPr>
                          </m:ctrlPr>
                        </m:sSupPr>
                        <m:e>
                          <m:r>
                            <a:rPr lang="en-US" sz="2400" b="1" i="0" smtClean="0">
                              <a:solidFill>
                                <a:schemeClr val="tx1"/>
                              </a:solidFill>
                              <a:latin typeface="Cambria Math" panose="02040503050406030204" pitchFamily="18" charset="0"/>
                            </a:rPr>
                            <m:t>𝐓</m:t>
                          </m:r>
                        </m:e>
                        <m:sup>
                          <m:r>
                            <a:rPr lang="en-US" sz="2400" b="0" i="1" smtClean="0">
                              <a:solidFill>
                                <a:schemeClr val="tx1"/>
                              </a:solidFill>
                              <a:latin typeface="Cambria Math" panose="02040503050406030204" pitchFamily="18" charset="0"/>
                            </a:rPr>
                            <m:t>(2)</m:t>
                          </m:r>
                        </m:sup>
                      </m:sSup>
                      <m:r>
                        <a:rPr lang="en-US" sz="2400" b="0" i="1" smtClean="0">
                          <a:solidFill>
                            <a:schemeClr val="tx1"/>
                          </a:solidFill>
                          <a:latin typeface="Cambria Math" panose="02040503050406030204" pitchFamily="18" charset="0"/>
                        </a:rPr>
                        <m:t>=</m:t>
                      </m:r>
                      <m:f>
                        <m:fPr>
                          <m:ctrlPr>
                            <a:rPr lang="en-US" sz="2400" b="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1</m:t>
                          </m:r>
                        </m:num>
                        <m:den>
                          <m:r>
                            <a:rPr lang="en-US" sz="2400" b="0" i="1" smtClean="0">
                              <a:solidFill>
                                <a:schemeClr val="tx1"/>
                              </a:solidFill>
                              <a:latin typeface="Cambria Math" panose="02040503050406030204" pitchFamily="18" charset="0"/>
                            </a:rPr>
                            <m:t>2</m:t>
                          </m:r>
                        </m:den>
                      </m:f>
                      <m:r>
                        <a:rPr lang="en-US" sz="2400" b="0" i="1" smtClean="0">
                          <a:solidFill>
                            <a:schemeClr val="tx1"/>
                          </a:solidFill>
                          <a:latin typeface="Cambria Math" panose="02040503050406030204" pitchFamily="18" charset="0"/>
                        </a:rPr>
                        <m:t> </m:t>
                      </m:r>
                      <m:d>
                        <m:dPr>
                          <m:ctrlPr>
                            <a:rPr lang="en-US" sz="2400" b="0" i="1" smtClean="0">
                              <a:solidFill>
                                <a:schemeClr val="tx1"/>
                              </a:solidFill>
                              <a:latin typeface="Cambria Math" panose="02040503050406030204" pitchFamily="18" charset="0"/>
                            </a:rPr>
                          </m:ctrlPr>
                        </m:dPr>
                        <m:e>
                          <m:m>
                            <m:mPr>
                              <m:mcs>
                                <m:mc>
                                  <m:mcPr>
                                    <m:count m:val="3"/>
                                    <m:mcJc m:val="center"/>
                                  </m:mcPr>
                                </m:mc>
                              </m:mcs>
                              <m:ctrlPr>
                                <a:rPr lang="en-US" sz="2400" b="0" i="1" smtClean="0">
                                  <a:solidFill>
                                    <a:schemeClr val="tx1"/>
                                  </a:solidFill>
                                  <a:latin typeface="Cambria Math" panose="02040503050406030204" pitchFamily="18" charset="0"/>
                                </a:rPr>
                              </m:ctrlPr>
                            </m:mPr>
                            <m:mr>
                              <m:e>
                                <m:f>
                                  <m:fPr>
                                    <m:ctrlPr>
                                      <a:rPr lang="en-US" sz="2400" b="0" i="1" smtClean="0">
                                        <a:solidFill>
                                          <a:schemeClr val="tx1"/>
                                        </a:solidFill>
                                        <a:latin typeface="Cambria Math" panose="02040503050406030204" pitchFamily="18" charset="0"/>
                                      </a:rPr>
                                    </m:ctrlPr>
                                  </m:fPr>
                                  <m:num>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m:t>
                                        </m:r>
                                      </m:e>
                                      <m:sup>
                                        <m:r>
                                          <a:rPr lang="en-US" sz="2400" b="0" i="1" smtClean="0">
                                            <a:solidFill>
                                              <a:schemeClr val="tx1"/>
                                            </a:solidFill>
                                            <a:latin typeface="Cambria Math" panose="02040503050406030204" pitchFamily="18" charset="0"/>
                                          </a:rPr>
                                          <m:t>2</m:t>
                                        </m:r>
                                      </m:sup>
                                    </m:sSup>
                                    <m:r>
                                      <a:rPr lang="en-US" sz="2400" b="0" i="1" smtClean="0">
                                        <a:solidFill>
                                          <a:schemeClr val="tx1"/>
                                        </a:solidFill>
                                        <a:latin typeface="Cambria Math" panose="02040503050406030204" pitchFamily="18" charset="0"/>
                                      </a:rPr>
                                      <m:t>𝑓</m:t>
                                    </m:r>
                                  </m:num>
                                  <m:den>
                                    <m:r>
                                      <a:rPr lang="en-US" sz="2400" b="0" i="1" smtClean="0">
                                        <a:solidFill>
                                          <a:schemeClr val="tx1"/>
                                        </a:solidFill>
                                        <a:latin typeface="Cambria Math" panose="02040503050406030204" pitchFamily="18" charset="0"/>
                                      </a:rPr>
                                      <m:t>𝜕</m:t>
                                    </m:r>
                                    <m:sSubSup>
                                      <m:sSubSupPr>
                                        <m:ctrlPr>
                                          <a:rPr lang="en-US" sz="2400" b="0" i="1" smtClean="0">
                                            <a:solidFill>
                                              <a:schemeClr val="tx1"/>
                                            </a:solidFill>
                                            <a:latin typeface="Cambria Math" panose="02040503050406030204" pitchFamily="18" charset="0"/>
                                          </a:rPr>
                                        </m:ctrlPr>
                                      </m:sSubSupPr>
                                      <m:e>
                                        <m:r>
                                          <a:rPr lang="en-US" sz="2400" b="0" i="1" smtClean="0">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1</m:t>
                                        </m:r>
                                      </m:sub>
                                      <m:sup>
                                        <m:r>
                                          <a:rPr lang="en-US" sz="2400" b="0" i="1" smtClean="0">
                                            <a:solidFill>
                                              <a:schemeClr val="tx1"/>
                                            </a:solidFill>
                                            <a:latin typeface="Cambria Math" panose="02040503050406030204" pitchFamily="18" charset="0"/>
                                          </a:rPr>
                                          <m:t>2</m:t>
                                        </m:r>
                                      </m:sup>
                                    </m:sSubSup>
                                  </m:den>
                                </m:f>
                              </m:e>
                              <m:e>
                                <m:r>
                                  <a:rPr lang="en-US" sz="2400" b="0" i="1" smtClean="0">
                                    <a:solidFill>
                                      <a:schemeClr val="tx1"/>
                                    </a:solidFill>
                                    <a:latin typeface="Cambria Math" panose="02040503050406030204" pitchFamily="18" charset="0"/>
                                  </a:rPr>
                                  <m:t>⋯</m:t>
                                </m:r>
                              </m:e>
                              <m:e>
                                <m:f>
                                  <m:fPr>
                                    <m:ctrlPr>
                                      <a:rPr lang="en-US" sz="2400" b="0" i="1" smtClean="0">
                                        <a:solidFill>
                                          <a:schemeClr val="tx1"/>
                                        </a:solidFill>
                                        <a:latin typeface="Cambria Math" panose="02040503050406030204" pitchFamily="18" charset="0"/>
                                      </a:rPr>
                                    </m:ctrlPr>
                                  </m:fPr>
                                  <m:num>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m:t>
                                        </m:r>
                                      </m:e>
                                      <m:sup>
                                        <m:r>
                                          <a:rPr lang="en-US" sz="2400" b="0" i="1" smtClean="0">
                                            <a:solidFill>
                                              <a:schemeClr val="tx1"/>
                                            </a:solidFill>
                                            <a:latin typeface="Cambria Math" panose="02040503050406030204" pitchFamily="18" charset="0"/>
                                          </a:rPr>
                                          <m:t>2</m:t>
                                        </m:r>
                                      </m:sup>
                                    </m:sSup>
                                    <m:r>
                                      <a:rPr lang="en-US" sz="2400" b="0" i="1" smtClean="0">
                                        <a:solidFill>
                                          <a:schemeClr val="tx1"/>
                                        </a:solidFill>
                                        <a:latin typeface="Cambria Math" panose="02040503050406030204" pitchFamily="18" charset="0"/>
                                      </a:rPr>
                                      <m:t>𝑓</m:t>
                                    </m:r>
                                  </m:num>
                                  <m:den>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1</m:t>
                                        </m:r>
                                      </m:sub>
                                    </m:sSub>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𝑛</m:t>
                                        </m:r>
                                      </m:sub>
                                    </m:sSub>
                                  </m:den>
                                </m:f>
                              </m:e>
                            </m:mr>
                            <m:mr>
                              <m:e>
                                <m:r>
                                  <a:rPr lang="en-US" sz="2400" b="0" i="1" smtClean="0">
                                    <a:solidFill>
                                      <a:schemeClr val="tx1"/>
                                    </a:solidFill>
                                    <a:latin typeface="Cambria Math" panose="02040503050406030204" pitchFamily="18" charset="0"/>
                                  </a:rPr>
                                  <m:t>⋮</m:t>
                                </m:r>
                              </m:e>
                              <m:e>
                                <m:r>
                                  <a:rPr lang="en-US" sz="2400" b="0" i="1" smtClean="0">
                                    <a:solidFill>
                                      <a:schemeClr val="tx1"/>
                                    </a:solidFill>
                                    <a:latin typeface="Cambria Math" panose="02040503050406030204" pitchFamily="18" charset="0"/>
                                  </a:rPr>
                                  <m:t>⋱</m:t>
                                </m:r>
                              </m:e>
                              <m:e>
                                <m:r>
                                  <a:rPr lang="en-US" sz="2400" b="0" i="1" smtClean="0">
                                    <a:solidFill>
                                      <a:schemeClr val="tx1"/>
                                    </a:solidFill>
                                    <a:latin typeface="Cambria Math" panose="02040503050406030204" pitchFamily="18" charset="0"/>
                                  </a:rPr>
                                  <m:t>⋮</m:t>
                                </m:r>
                              </m:e>
                            </m:mr>
                            <m:mr>
                              <m:e>
                                <m:f>
                                  <m:fPr>
                                    <m:ctrlPr>
                                      <a:rPr lang="en-US" sz="2400" i="1">
                                        <a:solidFill>
                                          <a:schemeClr val="tx1"/>
                                        </a:solidFill>
                                        <a:latin typeface="Cambria Math" panose="02040503050406030204" pitchFamily="18" charset="0"/>
                                      </a:rPr>
                                    </m:ctrlPr>
                                  </m:fPr>
                                  <m:num>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m:t>
                                        </m:r>
                                      </m:e>
                                      <m:sup>
                                        <m:r>
                                          <a:rPr lang="en-US" sz="2400" i="1">
                                            <a:solidFill>
                                              <a:schemeClr val="tx1"/>
                                            </a:solidFill>
                                            <a:latin typeface="Cambria Math" panose="02040503050406030204" pitchFamily="18" charset="0"/>
                                          </a:rPr>
                                          <m:t>2</m:t>
                                        </m:r>
                                      </m:sup>
                                    </m:sSup>
                                    <m:r>
                                      <a:rPr lang="en-US" sz="2400" i="1">
                                        <a:solidFill>
                                          <a:schemeClr val="tx1"/>
                                        </a:solidFill>
                                        <a:latin typeface="Cambria Math" panose="02040503050406030204" pitchFamily="18" charset="0"/>
                                      </a:rPr>
                                      <m:t>𝑓</m:t>
                                    </m:r>
                                  </m:num>
                                  <m:den>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𝑛</m:t>
                                        </m:r>
                                      </m:sub>
                                    </m:sSub>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1</m:t>
                                        </m:r>
                                      </m:sub>
                                    </m:sSub>
                                  </m:den>
                                </m:f>
                              </m:e>
                              <m:e>
                                <m:r>
                                  <a:rPr lang="en-US" sz="2400" b="0" i="1" smtClean="0">
                                    <a:solidFill>
                                      <a:schemeClr val="tx1"/>
                                    </a:solidFill>
                                    <a:latin typeface="Cambria Math" panose="02040503050406030204" pitchFamily="18" charset="0"/>
                                  </a:rPr>
                                  <m:t>⋯</m:t>
                                </m:r>
                              </m:e>
                              <m:e>
                                <m:f>
                                  <m:fPr>
                                    <m:ctrlPr>
                                      <a:rPr lang="en-US" sz="2400" i="1">
                                        <a:solidFill>
                                          <a:schemeClr val="tx1"/>
                                        </a:solidFill>
                                        <a:latin typeface="Cambria Math" panose="02040503050406030204" pitchFamily="18" charset="0"/>
                                      </a:rPr>
                                    </m:ctrlPr>
                                  </m:fPr>
                                  <m:num>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m:t>
                                        </m:r>
                                      </m:e>
                                      <m:sup>
                                        <m:r>
                                          <a:rPr lang="en-US" sz="2400" i="1">
                                            <a:solidFill>
                                              <a:schemeClr val="tx1"/>
                                            </a:solidFill>
                                            <a:latin typeface="Cambria Math" panose="02040503050406030204" pitchFamily="18" charset="0"/>
                                          </a:rPr>
                                          <m:t>2</m:t>
                                        </m:r>
                                      </m:sup>
                                    </m:sSup>
                                    <m:r>
                                      <a:rPr lang="en-US" sz="2400" i="1">
                                        <a:solidFill>
                                          <a:schemeClr val="tx1"/>
                                        </a:solidFill>
                                        <a:latin typeface="Cambria Math" panose="02040503050406030204" pitchFamily="18" charset="0"/>
                                      </a:rPr>
                                      <m:t>𝑓</m:t>
                                    </m:r>
                                  </m:num>
                                  <m:den>
                                    <m:r>
                                      <a:rPr lang="en-US" sz="2400" i="1">
                                        <a:solidFill>
                                          <a:schemeClr val="tx1"/>
                                        </a:solidFill>
                                        <a:latin typeface="Cambria Math" panose="02040503050406030204" pitchFamily="18" charset="0"/>
                                      </a:rPr>
                                      <m:t>𝜕</m:t>
                                    </m:r>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𝑛</m:t>
                                        </m:r>
                                      </m:sub>
                                      <m:sup>
                                        <m:r>
                                          <a:rPr lang="en-US" sz="2400" i="1">
                                            <a:solidFill>
                                              <a:schemeClr val="tx1"/>
                                            </a:solidFill>
                                            <a:latin typeface="Cambria Math" panose="02040503050406030204" pitchFamily="18" charset="0"/>
                                          </a:rPr>
                                          <m:t>2</m:t>
                                        </m:r>
                                      </m:sup>
                                    </m:sSubSup>
                                  </m:den>
                                </m:f>
                              </m:e>
                            </m:mr>
                          </m:m>
                        </m:e>
                      </m:d>
                    </m:oMath>
                  </m:oMathPara>
                </a14:m>
                <a:endParaRPr lang="en-US" sz="2400" dirty="0">
                  <a:solidFill>
                    <a:schemeClr val="tx1"/>
                  </a:solidFill>
                  <a:latin typeface="Garamond" panose="02020404030301010803" pitchFamily="18" charset="0"/>
                </a:endParaRPr>
              </a:p>
            </p:txBody>
          </p:sp>
        </mc:Choice>
        <mc:Fallback xmlns="">
          <p:sp>
            <p:nvSpPr>
              <p:cNvPr id="3" name="Rounded Rectangle 2">
                <a:extLst>
                  <a:ext uri="{FF2B5EF4-FFF2-40B4-BE49-F238E27FC236}">
                    <a16:creationId xmlns:a16="http://schemas.microsoft.com/office/drawing/2014/main" id="{D05994D3-787F-DF88-CD1F-619511CD1EE6}"/>
                  </a:ext>
                </a:extLst>
              </p:cNvPr>
              <p:cNvSpPr>
                <a:spLocks noRot="1" noChangeAspect="1" noMove="1" noResize="1" noEditPoints="1" noAdjustHandles="1" noChangeArrowheads="1" noChangeShapeType="1" noTextEdit="1"/>
              </p:cNvSpPr>
              <p:nvPr/>
            </p:nvSpPr>
            <p:spPr>
              <a:xfrm>
                <a:off x="6407176" y="4458092"/>
                <a:ext cx="5353569" cy="2265876"/>
              </a:xfrm>
              <a:prstGeom prst="roundRect">
                <a:avLst/>
              </a:prstGeom>
              <a:blipFill>
                <a:blip r:embed="rId7"/>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98162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5" grpId="0" animBg="1"/>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6358A-AD68-4B34-AE92-00197829DCD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9AF31F04-EDC4-F7ED-3CA5-48E6A766E00D}"/>
                  </a:ext>
                </a:extLst>
              </p:cNvPr>
              <p:cNvSpPr txBox="1">
                <a:spLocks/>
              </p:cNvSpPr>
              <p:nvPr/>
            </p:nvSpPr>
            <p:spPr>
              <a:xfrm>
                <a:off x="2218055" y="4851653"/>
                <a:ext cx="7755889" cy="1270635"/>
              </a:xfrm>
              <a:prstGeom prst="rect">
                <a:avLst/>
              </a:prstGeom>
              <a:ln w="762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lgn="ctr"/>
                <a:r>
                  <a:rPr lang="en-US" dirty="0">
                    <a:solidFill>
                      <a:sysClr val="windowText" lastClr="000000"/>
                    </a:solidFill>
                  </a:rPr>
                  <a:t>How does </a:t>
                </a:r>
                <a14:m>
                  <m:oMath xmlns:m="http://schemas.openxmlformats.org/officeDocument/2006/math">
                    <m:d>
                      <m:dPr>
                        <m:begChr m:val="‖"/>
                        <m:endChr m:val="‖"/>
                        <m:ctrlPr>
                          <a:rPr lang="en-US" b="0" i="1" dirty="0" smtClean="0">
                            <a:solidFill>
                              <a:sysClr val="windowText" lastClr="000000"/>
                            </a:solidFill>
                            <a:latin typeface="Cambria Math" panose="02040503050406030204" pitchFamily="18" charset="0"/>
                          </a:rPr>
                        </m:ctrlPr>
                      </m:dPr>
                      <m:e>
                        <m:sSup>
                          <m:sSupPr>
                            <m:ctrlPr>
                              <a:rPr lang="en-US" b="0" i="1" dirty="0">
                                <a:solidFill>
                                  <a:sysClr val="windowText" lastClr="000000"/>
                                </a:solidFill>
                                <a:latin typeface="Cambria Math" panose="02040503050406030204" pitchFamily="18" charset="0"/>
                              </a:rPr>
                            </m:ctrlPr>
                          </m:sSupPr>
                          <m:e>
                            <m:r>
                              <a:rPr lang="en-US" dirty="0">
                                <a:solidFill>
                                  <a:sysClr val="windowText" lastClr="000000"/>
                                </a:solidFill>
                                <a:latin typeface="Cambria Math" panose="02040503050406030204" pitchFamily="18" charset="0"/>
                              </a:rPr>
                              <m:t>𝐓</m:t>
                            </m:r>
                          </m:e>
                          <m:sup>
                            <m:r>
                              <a:rPr lang="en-US" b="0" i="1" dirty="0">
                                <a:solidFill>
                                  <a:sysClr val="windowText" lastClr="000000"/>
                                </a:solidFill>
                                <a:latin typeface="Cambria Math" panose="02040503050406030204" pitchFamily="18" charset="0"/>
                              </a:rPr>
                              <m:t>(</m:t>
                            </m:r>
                            <m:r>
                              <a:rPr lang="en-US" b="0" i="1" dirty="0">
                                <a:solidFill>
                                  <a:sysClr val="windowText" lastClr="000000"/>
                                </a:solidFill>
                                <a:latin typeface="Cambria Math" panose="02040503050406030204" pitchFamily="18" charset="0"/>
                              </a:rPr>
                              <m:t>𝑟</m:t>
                            </m:r>
                            <m:r>
                              <a:rPr lang="en-US" b="0" i="1" dirty="0">
                                <a:solidFill>
                                  <a:sysClr val="windowText" lastClr="000000"/>
                                </a:solidFill>
                                <a:latin typeface="Cambria Math" panose="02040503050406030204" pitchFamily="18" charset="0"/>
                              </a:rPr>
                              <m:t>)</m:t>
                            </m:r>
                          </m:sup>
                        </m:sSup>
                      </m:e>
                    </m:d>
                  </m:oMath>
                </a14:m>
                <a:r>
                  <a:rPr lang="en-US" dirty="0">
                    <a:solidFill>
                      <a:sysClr val="windowText" lastClr="000000"/>
                    </a:solidFill>
                  </a:rPr>
                  <a:t> scale with </a:t>
                </a:r>
                <a14:m>
                  <m:oMath xmlns:m="http://schemas.openxmlformats.org/officeDocument/2006/math">
                    <m:r>
                      <a:rPr lang="en-US" b="0" i="1" smtClean="0">
                        <a:solidFill>
                          <a:sysClr val="windowText" lastClr="000000"/>
                        </a:solidFill>
                        <a:latin typeface="Cambria Math" panose="02040503050406030204" pitchFamily="18" charset="0"/>
                      </a:rPr>
                      <m:t>𝑟</m:t>
                    </m:r>
                  </m:oMath>
                </a14:m>
                <a:r>
                  <a:rPr lang="en-US" dirty="0">
                    <a:solidFill>
                      <a:sysClr val="windowText" lastClr="000000"/>
                    </a:solidFill>
                  </a:rPr>
                  <a:t>?</a:t>
                </a:r>
                <a:endParaRPr lang="en-US" dirty="0"/>
              </a:p>
            </p:txBody>
          </p:sp>
        </mc:Choice>
        <mc:Fallback xmlns="">
          <p:sp>
            <p:nvSpPr>
              <p:cNvPr id="5" name="Title 1">
                <a:extLst>
                  <a:ext uri="{FF2B5EF4-FFF2-40B4-BE49-F238E27FC236}">
                    <a16:creationId xmlns:a16="http://schemas.microsoft.com/office/drawing/2014/main" id="{9AF31F04-EDC4-F7ED-3CA5-48E6A766E00D}"/>
                  </a:ext>
                </a:extLst>
              </p:cNvPr>
              <p:cNvSpPr txBox="1">
                <a:spLocks noRot="1" noChangeAspect="1" noMove="1" noResize="1" noEditPoints="1" noAdjustHandles="1" noChangeArrowheads="1" noChangeShapeType="1" noTextEdit="1"/>
              </p:cNvSpPr>
              <p:nvPr/>
            </p:nvSpPr>
            <p:spPr>
              <a:xfrm>
                <a:off x="2218055" y="4851653"/>
                <a:ext cx="7755889" cy="1270635"/>
              </a:xfrm>
              <a:prstGeom prst="rect">
                <a:avLst/>
              </a:prstGeom>
              <a:blipFill>
                <a:blip r:embed="rId3"/>
                <a:stretch>
                  <a:fillRect l="-485" r="-485"/>
                </a:stretch>
              </a:blipFill>
              <a:ln w="762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2352D086-2670-D7B8-66F8-D94846061C15}"/>
                  </a:ext>
                </a:extLst>
              </p:cNvPr>
              <p:cNvSpPr>
                <a:spLocks noGrp="1"/>
              </p:cNvSpPr>
              <p:nvPr>
                <p:ph idx="1"/>
              </p:nvPr>
            </p:nvSpPr>
            <p:spPr>
              <a:xfrm>
                <a:off x="838200" y="3192416"/>
                <a:ext cx="10515600" cy="2029824"/>
              </a:xfrm>
            </p:spPr>
            <p:txBody>
              <a:bodyPr>
                <a:noAutofit/>
              </a:bodyPr>
              <a:lstStyle/>
              <a:p>
                <a:pPr lvl="1">
                  <a:lnSpc>
                    <a:spcPct val="100000"/>
                  </a:lnSpc>
                </a:pPr>
                <a14:m>
                  <m:oMath xmlns:m="http://schemas.openxmlformats.org/officeDocument/2006/math">
                    <m:sSup>
                      <m:sSupPr>
                        <m:ctrlPr>
                          <a:rPr lang="en-US" sz="3600" b="0" i="1" smtClean="0">
                            <a:latin typeface="Cambria Math" panose="02040503050406030204" pitchFamily="18" charset="0"/>
                          </a:rPr>
                        </m:ctrlPr>
                      </m:sSupPr>
                      <m:e>
                        <m:r>
                          <a:rPr lang="en-US" sz="3600" b="1" i="1" smtClean="0">
                            <a:latin typeface="Cambria Math" panose="02040503050406030204" pitchFamily="18" charset="0"/>
                          </a:rPr>
                          <m:t>𝒘</m:t>
                        </m:r>
                      </m:e>
                      <m:sup>
                        <m:r>
                          <a:rPr lang="en-US" sz="3600" b="0" i="1" smtClean="0">
                            <a:latin typeface="Cambria Math" panose="02040503050406030204" pitchFamily="18" charset="0"/>
                          </a:rPr>
                          <m:t>⊗</m:t>
                        </m:r>
                        <m:r>
                          <a:rPr lang="en-US" sz="3600" b="0" i="1" smtClean="0">
                            <a:latin typeface="Cambria Math" panose="02040503050406030204" pitchFamily="18" charset="0"/>
                          </a:rPr>
                          <m:t>𝑟</m:t>
                        </m:r>
                      </m:sup>
                    </m:sSup>
                  </m:oMath>
                </a14:m>
                <a:r>
                  <a:rPr lang="en-US" sz="3600" dirty="0"/>
                  <a:t> is all products of </a:t>
                </a:r>
                <a14:m>
                  <m:oMath xmlns:m="http://schemas.openxmlformats.org/officeDocument/2006/math">
                    <m:r>
                      <a:rPr lang="en-US" sz="3600" b="0" i="1" smtClean="0">
                        <a:latin typeface="Cambria Math" panose="02040503050406030204" pitchFamily="18" charset="0"/>
                      </a:rPr>
                      <m:t>𝑟</m:t>
                    </m:r>
                  </m:oMath>
                </a14:m>
                <a:r>
                  <a:rPr lang="en-US" sz="3600" dirty="0"/>
                  <a:t> coordinates of </a:t>
                </a:r>
                <a14:m>
                  <m:oMath xmlns:m="http://schemas.openxmlformats.org/officeDocument/2006/math">
                    <m:r>
                      <a:rPr lang="en-US" sz="3600" b="1" i="1" smtClean="0">
                        <a:latin typeface="Cambria Math" panose="02040503050406030204" pitchFamily="18" charset="0"/>
                      </a:rPr>
                      <m:t>𝒘</m:t>
                    </m:r>
                  </m:oMath>
                </a14:m>
                <a:r>
                  <a:rPr lang="en-US" sz="3600" dirty="0"/>
                  <a:t>.</a:t>
                </a:r>
              </a:p>
              <a:p>
                <a:pPr lvl="1">
                  <a:lnSpc>
                    <a:spcPct val="100000"/>
                  </a:lnSpc>
                </a:pPr>
                <a14:m>
                  <m:oMath xmlns:m="http://schemas.openxmlformats.org/officeDocument/2006/math">
                    <m:d>
                      <m:dPr>
                        <m:begChr m:val="⟨"/>
                        <m:endChr m:val="⟩"/>
                        <m:ctrlPr>
                          <a:rPr lang="en-US" sz="3600" i="1" smtClean="0">
                            <a:latin typeface="Cambria Math" panose="02040503050406030204" pitchFamily="18" charset="0"/>
                          </a:rPr>
                        </m:ctrlPr>
                      </m:dPr>
                      <m:e>
                        <m:r>
                          <a:rPr lang="en-US" sz="3600" b="0" i="1" smtClean="0">
                            <a:latin typeface="Cambria Math" panose="02040503050406030204" pitchFamily="18" charset="0"/>
                          </a:rPr>
                          <m:t>⋅, ⋅</m:t>
                        </m:r>
                      </m:e>
                    </m:d>
                  </m:oMath>
                </a14:m>
                <a:r>
                  <a:rPr lang="en-US" sz="3600" dirty="0"/>
                  <a:t> is the inner (dot) product.</a:t>
                </a:r>
              </a:p>
            </p:txBody>
          </p:sp>
        </mc:Choice>
        <mc:Fallback xmlns="">
          <p:sp>
            <p:nvSpPr>
              <p:cNvPr id="10" name="Content Placeholder 2">
                <a:extLst>
                  <a:ext uri="{FF2B5EF4-FFF2-40B4-BE49-F238E27FC236}">
                    <a16:creationId xmlns:a16="http://schemas.microsoft.com/office/drawing/2014/main" id="{2352D086-2670-D7B8-66F8-D94846061C15}"/>
                  </a:ext>
                </a:extLst>
              </p:cNvPr>
              <p:cNvSpPr>
                <a:spLocks noGrp="1" noRot="1" noChangeAspect="1" noMove="1" noResize="1" noEditPoints="1" noAdjustHandles="1" noChangeArrowheads="1" noChangeShapeType="1" noTextEdit="1"/>
              </p:cNvSpPr>
              <p:nvPr>
                <p:ph idx="1"/>
              </p:nvPr>
            </p:nvSpPr>
            <p:spPr>
              <a:xfrm>
                <a:off x="838200" y="3192416"/>
                <a:ext cx="10515600" cy="2029824"/>
              </a:xfrm>
              <a:blipFill>
                <a:blip r:embed="rId4"/>
                <a:stretch>
                  <a:fillRect t="-3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9CEA014-15F1-8352-4C92-C64861470319}"/>
                  </a:ext>
                </a:extLst>
              </p:cNvPr>
              <p:cNvSpPr txBox="1"/>
              <p:nvPr/>
            </p:nvSpPr>
            <p:spPr>
              <a:xfrm>
                <a:off x="3108039" y="1371029"/>
                <a:ext cx="5975922" cy="1731693"/>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b="0" i="1" smtClean="0">
                          <a:latin typeface="Cambria Math" panose="02040503050406030204" pitchFamily="18" charset="0"/>
                        </a:rPr>
                        <m:t>=</m:t>
                      </m:r>
                      <m:nary>
                        <m:naryPr>
                          <m:chr m:val="∑"/>
                          <m:supHide m:val="on"/>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b="0" i="1" smtClean="0">
                              <a:latin typeface="Cambria Math" panose="02040503050406030204" pitchFamily="18" charset="0"/>
                            </a:rPr>
                            <m:t>≥0</m:t>
                          </m:r>
                        </m:sub>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09CEA014-15F1-8352-4C92-C64861470319}"/>
                  </a:ext>
                </a:extLst>
              </p:cNvPr>
              <p:cNvSpPr txBox="1">
                <a:spLocks noRot="1" noChangeAspect="1" noMove="1" noResize="1" noEditPoints="1" noAdjustHandles="1" noChangeArrowheads="1" noChangeShapeType="1" noTextEdit="1"/>
              </p:cNvSpPr>
              <p:nvPr/>
            </p:nvSpPr>
            <p:spPr>
              <a:xfrm>
                <a:off x="3108039" y="1371029"/>
                <a:ext cx="5975922" cy="1731693"/>
              </a:xfrm>
              <a:prstGeom prst="rect">
                <a:avLst/>
              </a:prstGeom>
              <a:blipFill>
                <a:blip r:embed="rId5"/>
                <a:stretch>
                  <a:fillRect t="-130769" b="-181119"/>
                </a:stretch>
              </a:blipFill>
              <a:ln w="76200">
                <a:solidFill>
                  <a:srgbClr val="00B050"/>
                </a:solidFill>
              </a:ln>
            </p:spPr>
            <p:txBody>
              <a:bodyPr/>
              <a:lstStyle/>
              <a:p>
                <a:r>
                  <a:rPr lang="en-US">
                    <a:noFill/>
                  </a:rPr>
                  <a:t> </a:t>
                </a:r>
              </a:p>
            </p:txBody>
          </p:sp>
        </mc:Fallback>
      </mc:AlternateContent>
      <p:sp>
        <p:nvSpPr>
          <p:cNvPr id="12" name="Title 1">
            <a:extLst>
              <a:ext uri="{FF2B5EF4-FFF2-40B4-BE49-F238E27FC236}">
                <a16:creationId xmlns:a16="http://schemas.microsoft.com/office/drawing/2014/main" id="{D266F481-0468-EF14-5737-7316E4EC9A50}"/>
              </a:ext>
            </a:extLst>
          </p:cNvPr>
          <p:cNvSpPr>
            <a:spLocks noGrp="1"/>
          </p:cNvSpPr>
          <p:nvPr>
            <p:ph type="title"/>
          </p:nvPr>
        </p:nvSpPr>
        <p:spPr>
          <a:xfrm>
            <a:off x="838200" y="365125"/>
            <a:ext cx="3855720" cy="1325563"/>
          </a:xfrm>
        </p:spPr>
        <p:txBody>
          <a:bodyPr/>
          <a:lstStyle/>
          <a:p>
            <a:r>
              <a:rPr lang="en-US" dirty="0"/>
              <a:t>Taylor series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3D56CEF-1A87-77BB-19B5-C935115EC5CD}"/>
                  </a:ext>
                </a:extLst>
              </p:cNvPr>
              <p:cNvSpPr txBox="1"/>
              <p:nvPr/>
            </p:nvSpPr>
            <p:spPr>
              <a:xfrm>
                <a:off x="9277001" y="1821056"/>
                <a:ext cx="2774029" cy="831638"/>
              </a:xfrm>
              <a:prstGeom prst="rect">
                <a:avLst/>
              </a:prstGeom>
              <a:noFill/>
              <a:ln w="76200">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4400" b="0" i="1" smtClean="0">
                              <a:latin typeface="Cambria Math" panose="02040503050406030204" pitchFamily="18" charset="0"/>
                            </a:rPr>
                          </m:ctrlPr>
                        </m:sSupPr>
                        <m:e>
                          <m:r>
                            <a:rPr lang="en-US" sz="4400" b="1" i="0" smtClean="0">
                              <a:latin typeface="Cambria Math" panose="02040503050406030204" pitchFamily="18" charset="0"/>
                            </a:rPr>
                            <m:t>𝐓</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r>
                            <a:rPr lang="en-US" sz="4400" b="0" i="1" smtClean="0">
                              <a:latin typeface="Cambria Math" panose="02040503050406030204" pitchFamily="18" charset="0"/>
                            </a:rPr>
                            <m:t>)</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ea typeface="Cambria Math" panose="02040503050406030204" pitchFamily="18" charset="0"/>
                            </a:rPr>
                          </m:ctrlPr>
                        </m:sSupPr>
                        <m:e>
                          <m:r>
                            <a:rPr lang="en-US" sz="4400" b="0" i="1" smtClean="0">
                              <a:latin typeface="Cambria Math" panose="02040503050406030204" pitchFamily="18" charset="0"/>
                              <a:ea typeface="Cambria Math" panose="02040503050406030204" pitchFamily="18" charset="0"/>
                            </a:rPr>
                            <m:t>ℝ</m:t>
                          </m:r>
                        </m:e>
                        <m:sup>
                          <m:sSup>
                            <m:sSupPr>
                              <m:ctrlPr>
                                <a:rPr lang="en-US" sz="4400" b="0" i="1" smtClean="0">
                                  <a:latin typeface="Cambria Math" panose="02040503050406030204" pitchFamily="18" charset="0"/>
                                  <a:ea typeface="Cambria Math" panose="02040503050406030204" pitchFamily="18" charset="0"/>
                                </a:rPr>
                              </m:ctrlPr>
                            </m:sSupPr>
                            <m:e>
                              <m:r>
                                <a:rPr lang="en-US" sz="4400" b="0" i="1" smtClean="0">
                                  <a:latin typeface="Cambria Math" panose="02040503050406030204" pitchFamily="18" charset="0"/>
                                  <a:ea typeface="Cambria Math" panose="02040503050406030204" pitchFamily="18" charset="0"/>
                                </a:rPr>
                                <m:t>𝑛</m:t>
                              </m:r>
                            </m:e>
                            <m:sup>
                              <m:r>
                                <a:rPr lang="en-US" sz="4400" b="0" i="1" smtClean="0">
                                  <a:latin typeface="Cambria Math" panose="02040503050406030204" pitchFamily="18" charset="0"/>
                                  <a:ea typeface="Cambria Math" panose="02040503050406030204" pitchFamily="18" charset="0"/>
                                </a:rPr>
                                <m:t>𝑟</m:t>
                              </m:r>
                            </m:sup>
                          </m:sSup>
                        </m:sup>
                      </m:sSup>
                    </m:oMath>
                  </m:oMathPara>
                </a14:m>
                <a:endParaRPr lang="en-US" sz="4400" i="1" dirty="0">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53D56CEF-1A87-77BB-19B5-C935115EC5CD}"/>
                  </a:ext>
                </a:extLst>
              </p:cNvPr>
              <p:cNvSpPr txBox="1">
                <a:spLocks noRot="1" noChangeAspect="1" noMove="1" noResize="1" noEditPoints="1" noAdjustHandles="1" noChangeArrowheads="1" noChangeShapeType="1" noTextEdit="1"/>
              </p:cNvSpPr>
              <p:nvPr/>
            </p:nvSpPr>
            <p:spPr>
              <a:xfrm>
                <a:off x="9277001" y="1821056"/>
                <a:ext cx="2774029" cy="831638"/>
              </a:xfrm>
              <a:prstGeom prst="rect">
                <a:avLst/>
              </a:prstGeom>
              <a:blipFill>
                <a:blip r:embed="rId6"/>
                <a:stretch>
                  <a:fillRect l="-2740"/>
                </a:stretch>
              </a:blipFill>
              <a:ln w="76200">
                <a:noFill/>
              </a:ln>
            </p:spPr>
            <p:txBody>
              <a:bodyPr/>
              <a:lstStyle/>
              <a:p>
                <a:r>
                  <a:rPr lang="en-US">
                    <a:noFill/>
                  </a:rPr>
                  <a:t> </a:t>
                </a:r>
              </a:p>
            </p:txBody>
          </p:sp>
        </mc:Fallback>
      </mc:AlternateContent>
      <p:sp>
        <p:nvSpPr>
          <p:cNvPr id="21" name="Rounded Rectangular Callout 20">
            <a:extLst>
              <a:ext uri="{FF2B5EF4-FFF2-40B4-BE49-F238E27FC236}">
                <a16:creationId xmlns:a16="http://schemas.microsoft.com/office/drawing/2014/main" id="{5348AEF4-C44F-0A64-6973-B699A851D345}"/>
              </a:ext>
            </a:extLst>
          </p:cNvPr>
          <p:cNvSpPr/>
          <p:nvPr/>
        </p:nvSpPr>
        <p:spPr>
          <a:xfrm>
            <a:off x="58910" y="1254959"/>
            <a:ext cx="2856089" cy="2436507"/>
          </a:xfrm>
          <a:prstGeom prst="wedgeRoundRectCallout">
            <a:avLst>
              <a:gd name="adj1" fmla="val 67141"/>
              <a:gd name="adj2" fmla="val -1663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1154B2F1-9A44-C0FF-658E-D00887094AB7}"/>
              </a:ext>
            </a:extLst>
          </p:cNvPr>
          <p:cNvPicPr>
            <a:picLocks noChangeAspect="1"/>
          </p:cNvPicPr>
          <p:nvPr/>
        </p:nvPicPr>
        <p:blipFill>
          <a:blip r:embed="rId7"/>
          <a:stretch>
            <a:fillRect/>
          </a:stretch>
        </p:blipFill>
        <p:spPr>
          <a:xfrm>
            <a:off x="372037" y="1325087"/>
            <a:ext cx="2234528" cy="2292165"/>
          </a:xfrm>
          <a:prstGeom prst="rect">
            <a:avLst/>
          </a:prstGeom>
        </p:spPr>
      </p:pic>
    </p:spTree>
    <p:extLst>
      <p:ext uri="{BB962C8B-B14F-4D97-AF65-F5344CB8AC3E}">
        <p14:creationId xmlns:p14="http://schemas.microsoft.com/office/powerpoint/2010/main" val="304787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A5D08D-16B8-1B24-14D9-A07C6FF57296}"/>
              </a:ext>
            </a:extLst>
          </p:cNvPr>
          <p:cNvPicPr>
            <a:picLocks noGrp="1" noChangeAspect="1"/>
          </p:cNvPicPr>
          <p:nvPr>
            <p:ph idx="1"/>
          </p:nvPr>
        </p:nvPicPr>
        <p:blipFill>
          <a:blip r:embed="rId3"/>
          <a:srcRect l="6139" t="11313" r="7544" b="5363"/>
          <a:stretch>
            <a:fillRect/>
          </a:stretch>
        </p:blipFill>
        <p:spPr>
          <a:xfrm>
            <a:off x="582469" y="3070764"/>
            <a:ext cx="4497673" cy="3256278"/>
          </a:xfrm>
          <a:prstGeom prst="rect">
            <a:avLst/>
          </a:prstGeom>
        </p:spPr>
      </p:pic>
      <p:sp>
        <p:nvSpPr>
          <p:cNvPr id="3" name="TextBox 2">
            <a:extLst>
              <a:ext uri="{FF2B5EF4-FFF2-40B4-BE49-F238E27FC236}">
                <a16:creationId xmlns:a16="http://schemas.microsoft.com/office/drawing/2014/main" id="{7D70F851-38DE-D560-9892-9E593A04F9CD}"/>
              </a:ext>
            </a:extLst>
          </p:cNvPr>
          <p:cNvSpPr txBox="1"/>
          <p:nvPr/>
        </p:nvSpPr>
        <p:spPr>
          <a:xfrm>
            <a:off x="5080142" y="4971600"/>
            <a:ext cx="2395179" cy="1815882"/>
          </a:xfrm>
          <a:prstGeom prst="rect">
            <a:avLst/>
          </a:prstGeom>
          <a:noFill/>
        </p:spPr>
        <p:txBody>
          <a:bodyPr wrap="square" rtlCol="0">
            <a:spAutoFit/>
          </a:bodyPr>
          <a:lstStyle/>
          <a:p>
            <a:r>
              <a:rPr lang="en-US" sz="2800" dirty="0">
                <a:latin typeface="Garamond" panose="02020404030301010803" pitchFamily="18" charset="0"/>
              </a:rPr>
              <a:t>(From ongoing work with Andrew Ilyas and Nathan Ju)</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9D11DEBA-7C0E-A7AC-58EB-257F45B25594}"/>
                  </a:ext>
                </a:extLst>
              </p:cNvPr>
              <p:cNvSpPr txBox="1">
                <a:spLocks/>
              </p:cNvSpPr>
              <p:nvPr/>
            </p:nvSpPr>
            <p:spPr>
              <a:xfrm>
                <a:off x="2661745" y="3616921"/>
                <a:ext cx="1640793" cy="6143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log</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b="1">
                                  <a:latin typeface="Cambria Math" panose="02040503050406030204" pitchFamily="18" charset="0"/>
                                </a:rPr>
                                <m:t>𝐓</m:t>
                              </m:r>
                            </m:e>
                            <m: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sup>
                          </m:sSup>
                        </m:e>
                      </m:d>
                    </m:oMath>
                  </m:oMathPara>
                </a14:m>
                <a:endParaRPr lang="en-US" dirty="0"/>
              </a:p>
            </p:txBody>
          </p:sp>
        </mc:Choice>
        <mc:Fallback xmlns="">
          <p:sp>
            <p:nvSpPr>
              <p:cNvPr id="8" name="Content Placeholder 2">
                <a:extLst>
                  <a:ext uri="{FF2B5EF4-FFF2-40B4-BE49-F238E27FC236}">
                    <a16:creationId xmlns:a16="http://schemas.microsoft.com/office/drawing/2014/main" id="{9D11DEBA-7C0E-A7AC-58EB-257F45B25594}"/>
                  </a:ext>
                </a:extLst>
              </p:cNvPr>
              <p:cNvSpPr txBox="1">
                <a:spLocks noRot="1" noChangeAspect="1" noMove="1" noResize="1" noEditPoints="1" noAdjustHandles="1" noChangeArrowheads="1" noChangeShapeType="1" noTextEdit="1"/>
              </p:cNvSpPr>
              <p:nvPr/>
            </p:nvSpPr>
            <p:spPr>
              <a:xfrm>
                <a:off x="2661745" y="3616921"/>
                <a:ext cx="1640793" cy="614306"/>
              </a:xfrm>
              <a:prstGeom prst="rect">
                <a:avLst/>
              </a:prstGeom>
              <a:blipFill>
                <a:blip r:embed="rId4"/>
                <a:stretch>
                  <a:fillRect l="-4615"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D0A59671-DC3C-CADB-7845-0F95A26A0156}"/>
                  </a:ext>
                </a:extLst>
              </p:cNvPr>
              <p:cNvSpPr txBox="1">
                <a:spLocks/>
              </p:cNvSpPr>
              <p:nvPr/>
            </p:nvSpPr>
            <p:spPr>
              <a:xfrm>
                <a:off x="2465818" y="6170215"/>
                <a:ext cx="730976" cy="45498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n-US" dirty="0"/>
              </a:p>
            </p:txBody>
          </p:sp>
        </mc:Choice>
        <mc:Fallback xmlns="">
          <p:sp>
            <p:nvSpPr>
              <p:cNvPr id="9" name="Content Placeholder 2">
                <a:extLst>
                  <a:ext uri="{FF2B5EF4-FFF2-40B4-BE49-F238E27FC236}">
                    <a16:creationId xmlns:a16="http://schemas.microsoft.com/office/drawing/2014/main" id="{D0A59671-DC3C-CADB-7845-0F95A26A0156}"/>
                  </a:ext>
                </a:extLst>
              </p:cNvPr>
              <p:cNvSpPr txBox="1">
                <a:spLocks noRot="1" noChangeAspect="1" noMove="1" noResize="1" noEditPoints="1" noAdjustHandles="1" noChangeArrowheads="1" noChangeShapeType="1" noTextEdit="1"/>
              </p:cNvSpPr>
              <p:nvPr/>
            </p:nvSpPr>
            <p:spPr>
              <a:xfrm>
                <a:off x="2465818" y="6170215"/>
                <a:ext cx="730976" cy="454983"/>
              </a:xfrm>
              <a:prstGeom prst="rect">
                <a:avLst/>
              </a:prstGeom>
              <a:blipFill>
                <a:blip r:embed="rId5"/>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AE5E7A0C-2761-3D3C-CD43-DD1E212EE381}"/>
              </a:ext>
            </a:extLst>
          </p:cNvPr>
          <p:cNvSpPr/>
          <p:nvPr/>
        </p:nvSpPr>
        <p:spPr>
          <a:xfrm>
            <a:off x="582470" y="3014247"/>
            <a:ext cx="4454970" cy="354584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1F135F94-6826-EF8F-5717-E386D90B95EF}"/>
                  </a:ext>
                </a:extLst>
              </p:cNvPr>
              <p:cNvSpPr/>
              <p:nvPr/>
            </p:nvSpPr>
            <p:spPr>
              <a:xfrm>
                <a:off x="5169132" y="3256524"/>
                <a:ext cx="6959571" cy="1126152"/>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Stability: </a:t>
                </a:r>
                <a14:m>
                  <m:oMath xmlns:m="http://schemas.openxmlformats.org/officeDocument/2006/math">
                    <m:d>
                      <m:dPr>
                        <m:begChr m:val="‖"/>
                        <m:endChr m:val="‖"/>
                        <m:ctrlPr>
                          <a:rPr lang="en-US" sz="4400" b="1" i="1" smtClean="0">
                            <a:solidFill>
                              <a:sysClr val="windowText" lastClr="000000"/>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r>
                              <a:rPr lang="en-US" sz="4400" i="1">
                                <a:solidFill>
                                  <a:schemeClr val="tx1"/>
                                </a:solidFill>
                                <a:latin typeface="Cambria Math" panose="02040503050406030204" pitchFamily="18" charset="0"/>
                              </a:rPr>
                              <m:t>)</m:t>
                            </m:r>
                          </m:sup>
                        </m:sSup>
                      </m:e>
                    </m:d>
                    <m:r>
                      <a:rPr lang="en-US" sz="4400" b="0" i="1" smtClean="0">
                        <a:solidFill>
                          <a:sysClr val="windowText" lastClr="000000"/>
                        </a:solidFill>
                        <a:latin typeface="Cambria Math" panose="02040503050406030204" pitchFamily="18" charset="0"/>
                      </a:rPr>
                      <m:t>=</m:t>
                    </m:r>
                    <m:r>
                      <m:rPr>
                        <m:sty m:val="p"/>
                      </m:rPr>
                      <a:rPr lang="en-US" sz="4400" b="0" i="0" smtClean="0">
                        <a:solidFill>
                          <a:sysClr val="windowText" lastClr="000000"/>
                        </a:solidFill>
                        <a:latin typeface="Cambria Math" panose="02040503050406030204" pitchFamily="18" charset="0"/>
                      </a:rPr>
                      <m:t>exp</m:t>
                    </m:r>
                    <m:r>
                      <a:rPr lang="en-US" sz="4400" b="0" i="1" smtClean="0">
                        <a:solidFill>
                          <a:sysClr val="windowText" lastClr="000000"/>
                        </a:solidFill>
                        <a:latin typeface="Cambria Math" panose="02040503050406030204" pitchFamily="18" charset="0"/>
                      </a:rPr>
                      <m:t>⁡(−</m:t>
                    </m:r>
                    <m:r>
                      <a:rPr lang="en-US" sz="4400" b="0" i="1" smtClean="0">
                        <a:solidFill>
                          <a:sysClr val="windowText" lastClr="000000"/>
                        </a:solidFill>
                        <a:latin typeface="Cambria Math" panose="02040503050406030204" pitchFamily="18" charset="0"/>
                      </a:rPr>
                      <m:t>𝑟</m:t>
                    </m:r>
                    <m:r>
                      <a:rPr lang="en-US" sz="4400" b="0" i="1" smtClean="0">
                        <a:solidFill>
                          <a:sysClr val="windowText" lastClr="000000"/>
                        </a:solidFill>
                        <a:latin typeface="Cambria Math" panose="02040503050406030204" pitchFamily="18" charset="0"/>
                      </a:rPr>
                      <m:t>)</m:t>
                    </m:r>
                  </m:oMath>
                </a14:m>
                <a:endParaRPr lang="en-US" sz="4400" dirty="0">
                  <a:solidFill>
                    <a:sysClr val="windowText" lastClr="000000"/>
                  </a:solidFill>
                  <a:latin typeface="Garamond" panose="02020404030301010803" pitchFamily="18" charset="0"/>
                </a:endParaRPr>
              </a:p>
            </p:txBody>
          </p:sp>
        </mc:Choice>
        <mc:Fallback xmlns="">
          <p:sp>
            <p:nvSpPr>
              <p:cNvPr id="14" name="Rounded Rectangle 13">
                <a:extLst>
                  <a:ext uri="{FF2B5EF4-FFF2-40B4-BE49-F238E27FC236}">
                    <a16:creationId xmlns:a16="http://schemas.microsoft.com/office/drawing/2014/main" id="{1F135F94-6826-EF8F-5717-E386D90B95EF}"/>
                  </a:ext>
                </a:extLst>
              </p:cNvPr>
              <p:cNvSpPr>
                <a:spLocks noRot="1" noChangeAspect="1" noMove="1" noResize="1" noEditPoints="1" noAdjustHandles="1" noChangeArrowheads="1" noChangeShapeType="1" noTextEdit="1"/>
              </p:cNvSpPr>
              <p:nvPr/>
            </p:nvSpPr>
            <p:spPr>
              <a:xfrm>
                <a:off x="5169132" y="3256524"/>
                <a:ext cx="6959571" cy="1126152"/>
              </a:xfrm>
              <a:prstGeom prst="roundRect">
                <a:avLst/>
              </a:prstGeom>
              <a:blipFill>
                <a:blip r:embed="rId6"/>
                <a:stretch>
                  <a:fillRect l="-1821" r="-546" b="-11111"/>
                </a:stretch>
              </a:blipFill>
              <a:ln>
                <a:noFill/>
              </a:ln>
            </p:spPr>
            <p:txBody>
              <a:bodyPr/>
              <a:lstStyle/>
              <a:p>
                <a:r>
                  <a:rPr lang="en-US">
                    <a:noFill/>
                  </a:rPr>
                  <a:t> </a:t>
                </a:r>
              </a:p>
            </p:txBody>
          </p:sp>
        </mc:Fallback>
      </mc:AlternateContent>
      <p:sp>
        <p:nvSpPr>
          <p:cNvPr id="15" name="Rounded Rectangle 14">
            <a:extLst>
              <a:ext uri="{FF2B5EF4-FFF2-40B4-BE49-F238E27FC236}">
                <a16:creationId xmlns:a16="http://schemas.microsoft.com/office/drawing/2014/main" id="{2B487CB1-107A-A0E5-AA1D-5FEBECA29A6D}"/>
              </a:ext>
            </a:extLst>
          </p:cNvPr>
          <p:cNvSpPr/>
          <p:nvPr/>
        </p:nvSpPr>
        <p:spPr>
          <a:xfrm>
            <a:off x="8090964" y="4167225"/>
            <a:ext cx="2207942" cy="878445"/>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r>
              <a:rPr lang="en-US" sz="4000" dirty="0">
                <a:solidFill>
                  <a:schemeClr val="tx1"/>
                </a:solidFill>
                <a:latin typeface="Garamond" panose="02020404030301010803" pitchFamily="18" charset="0"/>
              </a:rPr>
              <a:t>That’s it!</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8CC31CD5-A254-1347-C087-236EE7E763A9}"/>
                  </a:ext>
                </a:extLst>
              </p:cNvPr>
              <p:cNvSpPr/>
              <p:nvPr/>
            </p:nvSpPr>
            <p:spPr>
              <a:xfrm>
                <a:off x="8287891" y="5097366"/>
                <a:ext cx="3840812" cy="1726113"/>
              </a:xfrm>
              <a:prstGeom prst="roundRect">
                <a:avLst/>
              </a:prstGeom>
              <a:solidFill>
                <a:srgbClr val="FF000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r>
                  <a:rPr lang="en-US" sz="2800" dirty="0">
                    <a:solidFill>
                      <a:sysClr val="windowText" lastClr="000000"/>
                    </a:solidFill>
                    <a:latin typeface="Garamond" panose="02020404030301010803" pitchFamily="18" charset="0"/>
                  </a:rPr>
                  <a:t>How did we estimate the norm of a vector of size </a:t>
                </a:r>
                <a14:m>
                  <m:oMath xmlns:m="http://schemas.openxmlformats.org/officeDocument/2006/math">
                    <m:sSup>
                      <m:sSupPr>
                        <m:ctrlPr>
                          <a:rPr lang="en-US" sz="2800" b="0" i="1" smtClean="0">
                            <a:solidFill>
                              <a:sysClr val="windowText" lastClr="000000"/>
                            </a:solidFill>
                            <a:latin typeface="Cambria Math" panose="02040503050406030204" pitchFamily="18" charset="0"/>
                          </a:rPr>
                        </m:ctrlPr>
                      </m:sSupPr>
                      <m:e>
                        <m:r>
                          <a:rPr lang="en-US" sz="2800" b="0" i="1" smtClean="0">
                            <a:solidFill>
                              <a:sysClr val="windowText" lastClr="000000"/>
                            </a:solidFill>
                            <a:latin typeface="Cambria Math" panose="02040503050406030204" pitchFamily="18" charset="0"/>
                          </a:rPr>
                          <m:t>50000</m:t>
                        </m:r>
                      </m:e>
                      <m:sup>
                        <m:r>
                          <a:rPr lang="en-US" sz="2800" b="0" i="1" smtClean="0">
                            <a:solidFill>
                              <a:sysClr val="windowText" lastClr="000000"/>
                            </a:solidFill>
                            <a:latin typeface="Cambria Math" panose="02040503050406030204" pitchFamily="18" charset="0"/>
                          </a:rPr>
                          <m:t>10</m:t>
                        </m:r>
                      </m:sup>
                    </m:sSup>
                    <m:r>
                      <a:rPr lang="en-US" sz="2800" b="0" i="1" smtClean="0">
                        <a:solidFill>
                          <a:sysClr val="windowText" lastClr="000000"/>
                        </a:solidFill>
                        <a:latin typeface="Cambria Math" panose="02040503050406030204" pitchFamily="18" charset="0"/>
                      </a:rPr>
                      <m:t>=</m:t>
                    </m:r>
                    <m:sSup>
                      <m:sSupPr>
                        <m:ctrlPr>
                          <a:rPr lang="en-US" sz="2800" b="0" i="1" smtClean="0">
                            <a:solidFill>
                              <a:sysClr val="windowText" lastClr="000000"/>
                            </a:solidFill>
                            <a:latin typeface="Cambria Math" panose="02040503050406030204" pitchFamily="18" charset="0"/>
                          </a:rPr>
                        </m:ctrlPr>
                      </m:sSupPr>
                      <m:e>
                        <m:r>
                          <a:rPr lang="en-US" sz="2800" b="0" i="1" smtClean="0">
                            <a:solidFill>
                              <a:sysClr val="windowText" lastClr="000000"/>
                            </a:solidFill>
                            <a:latin typeface="Cambria Math" panose="02040503050406030204" pitchFamily="18" charset="0"/>
                          </a:rPr>
                          <m:t>10</m:t>
                        </m:r>
                      </m:e>
                      <m:sup>
                        <m:r>
                          <a:rPr lang="en-US" sz="2800" b="0" i="1" smtClean="0">
                            <a:solidFill>
                              <a:sysClr val="windowText" lastClr="000000"/>
                            </a:solidFill>
                            <a:latin typeface="Cambria Math" panose="02040503050406030204" pitchFamily="18" charset="0"/>
                          </a:rPr>
                          <m:t>46</m:t>
                        </m:r>
                      </m:sup>
                    </m:sSup>
                  </m:oMath>
                </a14:m>
                <a:r>
                  <a:rPr lang="en-US" sz="2800" dirty="0">
                    <a:solidFill>
                      <a:sysClr val="windowText" lastClr="000000"/>
                    </a:solidFill>
                    <a:latin typeface="Garamond" panose="02020404030301010803" pitchFamily="18" charset="0"/>
                  </a:rPr>
                  <a:t> ?</a:t>
                </a:r>
              </a:p>
            </p:txBody>
          </p:sp>
        </mc:Choice>
        <mc:Fallback xmlns="">
          <p:sp>
            <p:nvSpPr>
              <p:cNvPr id="12" name="Rounded Rectangle 11">
                <a:extLst>
                  <a:ext uri="{FF2B5EF4-FFF2-40B4-BE49-F238E27FC236}">
                    <a16:creationId xmlns:a16="http://schemas.microsoft.com/office/drawing/2014/main" id="{8CC31CD5-A254-1347-C087-236EE7E763A9}"/>
                  </a:ext>
                </a:extLst>
              </p:cNvPr>
              <p:cNvSpPr>
                <a:spLocks noRot="1" noChangeAspect="1" noMove="1" noResize="1" noEditPoints="1" noAdjustHandles="1" noChangeArrowheads="1" noChangeShapeType="1" noTextEdit="1"/>
              </p:cNvSpPr>
              <p:nvPr/>
            </p:nvSpPr>
            <p:spPr>
              <a:xfrm>
                <a:off x="8287891" y="5097366"/>
                <a:ext cx="3840812" cy="1726113"/>
              </a:xfrm>
              <a:prstGeom prst="roundRect">
                <a:avLst/>
              </a:prstGeom>
              <a:blipFill>
                <a:blip r:embed="rId7"/>
                <a:stretch>
                  <a:fillRect l="-1316" r="-164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0116739-75CA-793A-4A16-71855ACCA84D}"/>
                  </a:ext>
                </a:extLst>
              </p:cNvPr>
              <p:cNvSpPr txBox="1"/>
              <p:nvPr/>
            </p:nvSpPr>
            <p:spPr>
              <a:xfrm>
                <a:off x="3108039" y="1371029"/>
                <a:ext cx="5975922" cy="1731693"/>
              </a:xfrm>
              <a:prstGeom prst="rect">
                <a:avLst/>
              </a:prstGeom>
              <a:noFill/>
              <a:ln w="7620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b="0" i="1" smtClean="0">
                          <a:latin typeface="Cambria Math" panose="02040503050406030204" pitchFamily="18" charset="0"/>
                        </a:rPr>
                        <m:t>=</m:t>
                      </m:r>
                      <m:nary>
                        <m:naryPr>
                          <m:chr m:val="∑"/>
                          <m:supHide m:val="on"/>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b="0" i="1" smtClean="0">
                              <a:latin typeface="Cambria Math" panose="02040503050406030204" pitchFamily="18" charset="0"/>
                            </a:rPr>
                            <m:t>≥0</m:t>
                          </m:r>
                        </m:sub>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40116739-75CA-793A-4A16-71855ACCA84D}"/>
                  </a:ext>
                </a:extLst>
              </p:cNvPr>
              <p:cNvSpPr txBox="1">
                <a:spLocks noRot="1" noChangeAspect="1" noMove="1" noResize="1" noEditPoints="1" noAdjustHandles="1" noChangeArrowheads="1" noChangeShapeType="1" noTextEdit="1"/>
              </p:cNvSpPr>
              <p:nvPr/>
            </p:nvSpPr>
            <p:spPr>
              <a:xfrm>
                <a:off x="3108039" y="1371029"/>
                <a:ext cx="5975922" cy="1731693"/>
              </a:xfrm>
              <a:prstGeom prst="rect">
                <a:avLst/>
              </a:prstGeom>
              <a:blipFill>
                <a:blip r:embed="rId8"/>
                <a:stretch>
                  <a:fillRect t="-138686" b="-191241"/>
                </a:stretch>
              </a:blipFill>
              <a:ln w="762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itle 1">
                <a:extLst>
                  <a:ext uri="{FF2B5EF4-FFF2-40B4-BE49-F238E27FC236}">
                    <a16:creationId xmlns:a16="http://schemas.microsoft.com/office/drawing/2014/main" id="{8598E0C9-A237-9B0F-E064-8D89DF162368}"/>
                  </a:ext>
                </a:extLst>
              </p:cNvPr>
              <p:cNvSpPr>
                <a:spLocks noGrp="1"/>
              </p:cNvSpPr>
              <p:nvPr>
                <p:ph type="title"/>
              </p:nvPr>
            </p:nvSpPr>
            <p:spPr>
              <a:xfrm>
                <a:off x="838200" y="365125"/>
                <a:ext cx="7940040" cy="1325563"/>
              </a:xfrm>
            </p:spPr>
            <p:txBody>
              <a:bodyPr>
                <a:normAutofit/>
              </a:bodyPr>
              <a:lstStyle/>
              <a:p>
                <a:r>
                  <a:rPr lang="en-US" dirty="0">
                    <a:solidFill>
                      <a:sysClr val="windowText" lastClr="000000"/>
                    </a:solidFill>
                  </a:rPr>
                  <a:t>How does </a:t>
                </a:r>
                <a14:m>
                  <m:oMath xmlns:m="http://schemas.openxmlformats.org/officeDocument/2006/math">
                    <m:d>
                      <m:dPr>
                        <m:begChr m:val="‖"/>
                        <m:endChr m:val="‖"/>
                        <m:ctrlPr>
                          <a:rPr lang="en-US" b="0" i="1" dirty="0">
                            <a:solidFill>
                              <a:sysClr val="windowText" lastClr="000000"/>
                            </a:solidFill>
                            <a:latin typeface="Cambria Math" panose="02040503050406030204" pitchFamily="18" charset="0"/>
                          </a:rPr>
                        </m:ctrlPr>
                      </m:dPr>
                      <m:e>
                        <m:sSup>
                          <m:sSupPr>
                            <m:ctrlPr>
                              <a:rPr lang="en-US" b="0" i="1" dirty="0">
                                <a:solidFill>
                                  <a:sysClr val="windowText" lastClr="000000"/>
                                </a:solidFill>
                                <a:latin typeface="Cambria Math" panose="02040503050406030204" pitchFamily="18" charset="0"/>
                              </a:rPr>
                            </m:ctrlPr>
                          </m:sSupPr>
                          <m:e>
                            <m:r>
                              <a:rPr lang="en-US" dirty="0">
                                <a:solidFill>
                                  <a:sysClr val="windowText" lastClr="000000"/>
                                </a:solidFill>
                                <a:latin typeface="Cambria Math" panose="02040503050406030204" pitchFamily="18" charset="0"/>
                              </a:rPr>
                              <m:t>𝐓</m:t>
                            </m:r>
                          </m:e>
                          <m:sup>
                            <m:r>
                              <a:rPr lang="en-US" b="0" i="1" dirty="0">
                                <a:solidFill>
                                  <a:sysClr val="windowText" lastClr="000000"/>
                                </a:solidFill>
                                <a:latin typeface="Cambria Math" panose="02040503050406030204" pitchFamily="18" charset="0"/>
                              </a:rPr>
                              <m:t>(</m:t>
                            </m:r>
                            <m:r>
                              <a:rPr lang="en-US" b="0" i="1" dirty="0">
                                <a:solidFill>
                                  <a:sysClr val="windowText" lastClr="000000"/>
                                </a:solidFill>
                                <a:latin typeface="Cambria Math" panose="02040503050406030204" pitchFamily="18" charset="0"/>
                              </a:rPr>
                              <m:t>𝑟</m:t>
                            </m:r>
                            <m:r>
                              <a:rPr lang="en-US" b="0" i="1" dirty="0">
                                <a:solidFill>
                                  <a:sysClr val="windowText" lastClr="000000"/>
                                </a:solidFill>
                                <a:latin typeface="Cambria Math" panose="02040503050406030204" pitchFamily="18" charset="0"/>
                              </a:rPr>
                              <m:t>)</m:t>
                            </m:r>
                          </m:sup>
                        </m:sSup>
                      </m:e>
                    </m:d>
                  </m:oMath>
                </a14:m>
                <a:r>
                  <a:rPr lang="en-US" dirty="0">
                    <a:solidFill>
                      <a:sysClr val="windowText" lastClr="000000"/>
                    </a:solidFill>
                  </a:rPr>
                  <a:t> scale with </a:t>
                </a:r>
                <a14:m>
                  <m:oMath xmlns:m="http://schemas.openxmlformats.org/officeDocument/2006/math">
                    <m:r>
                      <a:rPr lang="en-US" b="0" i="1">
                        <a:solidFill>
                          <a:sysClr val="windowText" lastClr="000000"/>
                        </a:solidFill>
                        <a:latin typeface="Cambria Math" panose="02040503050406030204" pitchFamily="18" charset="0"/>
                      </a:rPr>
                      <m:t>𝑟</m:t>
                    </m:r>
                  </m:oMath>
                </a14:m>
                <a:r>
                  <a:rPr lang="en-US" dirty="0">
                    <a:solidFill>
                      <a:sysClr val="windowText" lastClr="000000"/>
                    </a:solidFill>
                  </a:rPr>
                  <a:t>?</a:t>
                </a:r>
                <a:endParaRPr lang="en-US" dirty="0"/>
              </a:p>
            </p:txBody>
          </p:sp>
        </mc:Choice>
        <mc:Fallback xmlns="">
          <p:sp>
            <p:nvSpPr>
              <p:cNvPr id="16" name="Title 1">
                <a:extLst>
                  <a:ext uri="{FF2B5EF4-FFF2-40B4-BE49-F238E27FC236}">
                    <a16:creationId xmlns:a16="http://schemas.microsoft.com/office/drawing/2014/main" id="{8598E0C9-A237-9B0F-E064-8D89DF162368}"/>
                  </a:ext>
                </a:extLst>
              </p:cNvPr>
              <p:cNvSpPr>
                <a:spLocks noGrp="1" noRot="1" noChangeAspect="1" noMove="1" noResize="1" noEditPoints="1" noAdjustHandles="1" noChangeArrowheads="1" noChangeShapeType="1" noTextEdit="1"/>
              </p:cNvSpPr>
              <p:nvPr>
                <p:ph type="title"/>
              </p:nvPr>
            </p:nvSpPr>
            <p:spPr>
              <a:xfrm>
                <a:off x="838200" y="365125"/>
                <a:ext cx="7940040" cy="1325563"/>
              </a:xfrm>
              <a:blipFill>
                <a:blip r:embed="rId9"/>
                <a:stretch>
                  <a:fillRect l="-3195"/>
                </a:stretch>
              </a:blipFill>
            </p:spPr>
            <p:txBody>
              <a:bodyPr/>
              <a:lstStyle/>
              <a:p>
                <a:r>
                  <a:rPr lang="en-US">
                    <a:noFill/>
                  </a:rPr>
                  <a:t> </a:t>
                </a:r>
              </a:p>
            </p:txBody>
          </p:sp>
        </mc:Fallback>
      </mc:AlternateContent>
    </p:spTree>
    <p:extLst>
      <p:ext uri="{BB962C8B-B14F-4D97-AF65-F5344CB8AC3E}">
        <p14:creationId xmlns:p14="http://schemas.microsoft.com/office/powerpoint/2010/main" val="1766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animBg="1"/>
      <p:bldP spid="14" grpId="1" animBg="1"/>
      <p:bldP spid="15"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2E759-CFC1-CE3C-C3DE-DA67F1BDD91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C348423-D609-C63A-165C-527A8A10D633}"/>
                  </a:ext>
                </a:extLst>
              </p:cNvPr>
              <p:cNvSpPr txBox="1"/>
              <p:nvPr/>
            </p:nvSpPr>
            <p:spPr>
              <a:xfrm>
                <a:off x="249766" y="375591"/>
                <a:ext cx="11692467" cy="2000548"/>
              </a:xfrm>
              <a:prstGeom prst="rect">
                <a:avLst/>
              </a:prstGeom>
              <a:noFill/>
              <a:ln w="76200">
                <a:noFill/>
              </a:ln>
            </p:spPr>
            <p:txBody>
              <a:bodyPr wrap="square" rtlCol="0">
                <a:spAutoFit/>
              </a:bodyPr>
              <a:lstStyle/>
              <a:p>
                <a:pPr algn="ctr"/>
                <a:r>
                  <a:rPr lang="en-US" sz="4400" b="1" u="sng" dirty="0">
                    <a:latin typeface="Garamond" panose="02020404030301010803" pitchFamily="18" charset="0"/>
                  </a:rPr>
                  <a:t>Goal:</a:t>
                </a:r>
                <a:endParaRPr lang="en-US" sz="4000" dirty="0">
                  <a:latin typeface="Garamond" panose="02020404030301010803" pitchFamily="18" charset="0"/>
                </a:endParaRPr>
              </a:p>
              <a:p>
                <a:r>
                  <a:rPr lang="en-US" sz="4000" dirty="0">
                    <a:latin typeface="Garamond" panose="02020404030301010803" pitchFamily="18" charset="0"/>
                  </a:rPr>
                  <a:t>Let </a:t>
                </a:r>
                <a14:m>
                  <m:oMath xmlns:m="http://schemas.openxmlformats.org/officeDocument/2006/math">
                    <m:r>
                      <a:rPr lang="en-US" sz="4000" b="0" i="1" smtClean="0">
                        <a:latin typeface="Cambria Math" panose="02040503050406030204" pitchFamily="18" charset="0"/>
                      </a:rPr>
                      <m:t>𝑓</m:t>
                    </m:r>
                    <m:r>
                      <a:rPr lang="en-US" sz="4000" b="0" i="1" smtClean="0">
                        <a:latin typeface="Cambria Math" panose="02040503050406030204" pitchFamily="18" charset="0"/>
                      </a:rPr>
                      <m:t> : </m:t>
                    </m:r>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ℝ</m:t>
                        </m:r>
                      </m:e>
                      <m:sup>
                        <m:r>
                          <a:rPr lang="en-US" sz="4000" b="0" i="1" smtClean="0">
                            <a:latin typeface="Cambria Math" panose="02040503050406030204" pitchFamily="18" charset="0"/>
                            <a:ea typeface="Cambria Math" panose="02040503050406030204" pitchFamily="18" charset="0"/>
                          </a:rPr>
                          <m:t>𝑛</m:t>
                        </m:r>
                      </m:sup>
                    </m:sSup>
                    <m:r>
                      <a:rPr lang="en-US" sz="4000" b="0" i="1" smtClean="0">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ℝ</m:t>
                    </m:r>
                  </m:oMath>
                </a14:m>
                <a:r>
                  <a:rPr lang="en-US" sz="4000" dirty="0">
                    <a:latin typeface="Garamond" panose="02020404030301010803" pitchFamily="18" charset="0"/>
                  </a:rPr>
                  <a:t> be an arithmetic circuit and let </a:t>
                </a:r>
                <a14:m>
                  <m:oMath xmlns:m="http://schemas.openxmlformats.org/officeDocument/2006/math">
                    <m:r>
                      <a:rPr lang="en-US" sz="4000" b="0" i="1" smtClean="0">
                        <a:latin typeface="Cambria Math" panose="02040503050406030204" pitchFamily="18" charset="0"/>
                      </a:rPr>
                      <m:t>𝑋</m:t>
                    </m:r>
                    <m:r>
                      <a:rPr lang="en-US" sz="4000" b="0" i="1" smtClean="0">
                        <a:latin typeface="Cambria Math" panose="02040503050406030204" pitchFamily="18" charset="0"/>
                      </a:rPr>
                      <m:t>⊆[</m:t>
                    </m:r>
                    <m:r>
                      <a:rPr lang="en-US" sz="4000" b="0" i="1" smtClean="0">
                        <a:latin typeface="Cambria Math" panose="02040503050406030204" pitchFamily="18" charset="0"/>
                      </a:rPr>
                      <m:t>𝑛</m:t>
                    </m:r>
                    <m:r>
                      <a:rPr lang="en-US" sz="4000" b="0" i="1" smtClean="0">
                        <a:latin typeface="Cambria Math" panose="02040503050406030204" pitchFamily="18" charset="0"/>
                      </a:rPr>
                      <m:t>]</m:t>
                    </m:r>
                  </m:oMath>
                </a14:m>
                <a:r>
                  <a:rPr lang="en-US" sz="4000" dirty="0">
                    <a:latin typeface="Garamond" panose="02020404030301010803" pitchFamily="18" charset="0"/>
                  </a:rPr>
                  <a:t>.</a:t>
                </a:r>
              </a:p>
              <a:p>
                <a:r>
                  <a:rPr lang="en-US" sz="4000" dirty="0">
                    <a:latin typeface="Garamond" panose="02020404030301010803" pitchFamily="18" charset="0"/>
                  </a:rPr>
                  <a:t>Divide the computation of </a:t>
                </a:r>
                <a14:m>
                  <m:oMath xmlns:m="http://schemas.openxmlformats.org/officeDocument/2006/math">
                    <m:r>
                      <a:rPr lang="en-US" sz="4000" b="0" i="1" smtClean="0">
                        <a:latin typeface="Cambria Math" panose="02040503050406030204" pitchFamily="18" charset="0"/>
                      </a:rPr>
                      <m:t>𝑓</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𝒆</m:t>
                            </m:r>
                          </m:e>
                          <m:sub>
                            <m:r>
                              <a:rPr lang="en-US" sz="4000" b="0" i="1" smtClean="0">
                                <a:latin typeface="Cambria Math" panose="02040503050406030204" pitchFamily="18" charset="0"/>
                              </a:rPr>
                              <m:t>𝑋</m:t>
                            </m:r>
                          </m:sub>
                        </m:sSub>
                      </m:e>
                    </m:d>
                  </m:oMath>
                </a14:m>
                <a:r>
                  <a:rPr lang="en-US" sz="4000" dirty="0">
                    <a:latin typeface="Garamond" panose="02020404030301010803" pitchFamily="18" charset="0"/>
                  </a:rPr>
                  <a:t> into two parts:</a:t>
                </a:r>
              </a:p>
            </p:txBody>
          </p:sp>
        </mc:Choice>
        <mc:Fallback xmlns="">
          <p:sp>
            <p:nvSpPr>
              <p:cNvPr id="4" name="TextBox 3">
                <a:extLst>
                  <a:ext uri="{FF2B5EF4-FFF2-40B4-BE49-F238E27FC236}">
                    <a16:creationId xmlns:a16="http://schemas.microsoft.com/office/drawing/2014/main" id="{AC348423-D609-C63A-165C-527A8A10D633}"/>
                  </a:ext>
                </a:extLst>
              </p:cNvPr>
              <p:cNvSpPr txBox="1">
                <a:spLocks noRot="1" noChangeAspect="1" noMove="1" noResize="1" noEditPoints="1" noAdjustHandles="1" noChangeArrowheads="1" noChangeShapeType="1" noTextEdit="1"/>
              </p:cNvSpPr>
              <p:nvPr/>
            </p:nvSpPr>
            <p:spPr>
              <a:xfrm>
                <a:off x="249766" y="375591"/>
                <a:ext cx="11692467" cy="2000548"/>
              </a:xfrm>
              <a:prstGeom prst="rect">
                <a:avLst/>
              </a:prstGeom>
              <a:blipFill>
                <a:blip r:embed="rId3"/>
                <a:stretch>
                  <a:fillRect l="-1844" t="-6289" r="-325" b="-11950"/>
                </a:stretch>
              </a:blipFill>
              <a:ln w="762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18DEF137-0759-19D0-8B09-C32BD5BA3A7A}"/>
                  </a:ext>
                </a:extLst>
              </p:cNvPr>
              <p:cNvSpPr/>
              <p:nvPr/>
            </p:nvSpPr>
            <p:spPr>
              <a:xfrm>
                <a:off x="55031" y="2440356"/>
                <a:ext cx="5067302" cy="2440158"/>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Slow computation depending only on </a:t>
                </a:r>
                <a14:m>
                  <m:oMath xmlns:m="http://schemas.openxmlformats.org/officeDocument/2006/math">
                    <m:r>
                      <a:rPr lang="en-US" sz="4400" b="0" i="1" smtClean="0">
                        <a:solidFill>
                          <a:schemeClr val="tx1"/>
                        </a:solidFill>
                        <a:latin typeface="Cambria Math" panose="02040503050406030204" pitchFamily="18" charset="0"/>
                      </a:rPr>
                      <m:t>𝑓</m:t>
                    </m:r>
                  </m:oMath>
                </a14:m>
                <a:r>
                  <a:rPr lang="en-US" sz="4400" dirty="0">
                    <a:solidFill>
                      <a:schemeClr val="tx1"/>
                    </a:solidFill>
                    <a:latin typeface="Garamond" panose="02020404030301010803" pitchFamily="18" charset="0"/>
                  </a:rPr>
                  <a:t>.</a:t>
                </a:r>
              </a:p>
            </p:txBody>
          </p:sp>
        </mc:Choice>
        <mc:Fallback xmlns="">
          <p:sp>
            <p:nvSpPr>
              <p:cNvPr id="9" name="Rounded Rectangle 8">
                <a:extLst>
                  <a:ext uri="{FF2B5EF4-FFF2-40B4-BE49-F238E27FC236}">
                    <a16:creationId xmlns:a16="http://schemas.microsoft.com/office/drawing/2014/main" id="{18DEF137-0759-19D0-8B09-C32BD5BA3A7A}"/>
                  </a:ext>
                </a:extLst>
              </p:cNvPr>
              <p:cNvSpPr>
                <a:spLocks noRot="1" noChangeAspect="1" noMove="1" noResize="1" noEditPoints="1" noAdjustHandles="1" noChangeArrowheads="1" noChangeShapeType="1" noTextEdit="1"/>
              </p:cNvSpPr>
              <p:nvPr/>
            </p:nvSpPr>
            <p:spPr>
              <a:xfrm>
                <a:off x="55031" y="2440356"/>
                <a:ext cx="5067302" cy="2440158"/>
              </a:xfrm>
              <a:prstGeom prst="roundRect">
                <a:avLst/>
              </a:prstGeom>
              <a:blipFill>
                <a:blip r:embed="rId4"/>
                <a:stretch>
                  <a:fillRect l="-2500" t="-518" r="-2250" b="-259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22C33E1B-1ED7-9989-6005-29978895D051}"/>
                  </a:ext>
                </a:extLst>
              </p:cNvPr>
              <p:cNvSpPr/>
              <p:nvPr/>
            </p:nvSpPr>
            <p:spPr>
              <a:xfrm>
                <a:off x="7069670" y="2446134"/>
                <a:ext cx="4999566" cy="2434379"/>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b="1" dirty="0">
                    <a:solidFill>
                      <a:schemeClr val="tx1"/>
                    </a:solidFill>
                    <a:latin typeface="Garamond" panose="02020404030301010803" pitchFamily="18" charset="0"/>
                  </a:rPr>
                  <a:t>Prediction:</a:t>
                </a:r>
              </a:p>
              <a:p>
                <a:r>
                  <a:rPr lang="en-US" sz="4400" dirty="0">
                    <a:solidFill>
                      <a:schemeClr val="tx1"/>
                    </a:solidFill>
                    <a:latin typeface="Garamond" panose="02020404030301010803" pitchFamily="18" charset="0"/>
                  </a:rPr>
                  <a:t>Fast computation depending on </a:t>
                </a:r>
                <a14:m>
                  <m:oMath xmlns:m="http://schemas.openxmlformats.org/officeDocument/2006/math">
                    <m:r>
                      <a:rPr lang="en-US" sz="4400" b="0" i="1" smtClean="0">
                        <a:solidFill>
                          <a:schemeClr val="tx1"/>
                        </a:solidFill>
                        <a:latin typeface="Cambria Math" panose="02040503050406030204" pitchFamily="18" charset="0"/>
                      </a:rPr>
                      <m:t>𝑋</m:t>
                    </m:r>
                  </m:oMath>
                </a14:m>
                <a:r>
                  <a:rPr lang="en-US" sz="4400" dirty="0">
                    <a:solidFill>
                      <a:schemeClr val="tx1"/>
                    </a:solidFill>
                    <a:latin typeface="Garamond" panose="02020404030301010803" pitchFamily="18" charset="0"/>
                  </a:rPr>
                  <a:t>.</a:t>
                </a:r>
              </a:p>
            </p:txBody>
          </p:sp>
        </mc:Choice>
        <mc:Fallback xmlns="">
          <p:sp>
            <p:nvSpPr>
              <p:cNvPr id="10" name="Rounded Rectangle 9">
                <a:extLst>
                  <a:ext uri="{FF2B5EF4-FFF2-40B4-BE49-F238E27FC236}">
                    <a16:creationId xmlns:a16="http://schemas.microsoft.com/office/drawing/2014/main" id="{22C33E1B-1ED7-9989-6005-29978895D051}"/>
                  </a:ext>
                </a:extLst>
              </p:cNvPr>
              <p:cNvSpPr>
                <a:spLocks noRot="1" noChangeAspect="1" noMove="1" noResize="1" noEditPoints="1" noAdjustHandles="1" noChangeArrowheads="1" noChangeShapeType="1" noTextEdit="1"/>
              </p:cNvSpPr>
              <p:nvPr/>
            </p:nvSpPr>
            <p:spPr>
              <a:xfrm>
                <a:off x="7069670" y="2446134"/>
                <a:ext cx="4999566" cy="2434379"/>
              </a:xfrm>
              <a:prstGeom prst="roundRect">
                <a:avLst/>
              </a:prstGeom>
              <a:blipFill>
                <a:blip r:embed="rId5"/>
                <a:stretch>
                  <a:fillRect l="-2532" b="-310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554B8745-C0B2-E062-4DC6-078DD33094C0}"/>
                  </a:ext>
                </a:extLst>
              </p:cNvPr>
              <p:cNvSpPr/>
              <p:nvPr/>
            </p:nvSpPr>
            <p:spPr>
              <a:xfrm>
                <a:off x="6296718" y="5253994"/>
                <a:ext cx="4999567" cy="1126152"/>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4400" b="1" i="1" smtClean="0">
                              <a:solidFill>
                                <a:sysClr val="windowText" lastClr="000000"/>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r>
                                <a:rPr lang="en-US" sz="4400" i="1">
                                  <a:solidFill>
                                    <a:schemeClr val="tx1"/>
                                  </a:solidFill>
                                  <a:latin typeface="Cambria Math" panose="02040503050406030204" pitchFamily="18" charset="0"/>
                                </a:rPr>
                                <m:t>)</m:t>
                              </m:r>
                            </m:sup>
                          </m:sSup>
                        </m:e>
                      </m:d>
                      <m:r>
                        <a:rPr lang="en-US" sz="4400" b="0" i="1" smtClean="0">
                          <a:solidFill>
                            <a:sysClr val="windowText" lastClr="000000"/>
                          </a:solidFill>
                          <a:latin typeface="Cambria Math" panose="02040503050406030204" pitchFamily="18" charset="0"/>
                        </a:rPr>
                        <m:t>=</m:t>
                      </m:r>
                      <m:r>
                        <m:rPr>
                          <m:sty m:val="p"/>
                        </m:rPr>
                        <a:rPr lang="en-US" sz="4400" b="0" i="0" smtClean="0">
                          <a:solidFill>
                            <a:sysClr val="windowText" lastClr="000000"/>
                          </a:solidFill>
                          <a:latin typeface="Cambria Math" panose="02040503050406030204" pitchFamily="18" charset="0"/>
                        </a:rPr>
                        <m:t>exp</m:t>
                      </m:r>
                      <m:r>
                        <a:rPr lang="en-US" sz="4400" b="0" i="1" smtClean="0">
                          <a:solidFill>
                            <a:sysClr val="windowText" lastClr="000000"/>
                          </a:solidFill>
                          <a:latin typeface="Cambria Math" panose="02040503050406030204" pitchFamily="18" charset="0"/>
                        </a:rPr>
                        <m:t>⁡(−</m:t>
                      </m:r>
                      <m:r>
                        <a:rPr lang="en-US" sz="4400" b="0" i="1" smtClean="0">
                          <a:solidFill>
                            <a:sysClr val="windowText" lastClr="000000"/>
                          </a:solidFill>
                          <a:latin typeface="Cambria Math" panose="02040503050406030204" pitchFamily="18" charset="0"/>
                        </a:rPr>
                        <m:t>𝑟</m:t>
                      </m:r>
                      <m:r>
                        <a:rPr lang="en-US" sz="4400" b="0" i="1" smtClean="0">
                          <a:solidFill>
                            <a:sysClr val="windowText" lastClr="000000"/>
                          </a:solidFill>
                          <a:latin typeface="Cambria Math" panose="02040503050406030204" pitchFamily="18" charset="0"/>
                        </a:rPr>
                        <m:t>)</m:t>
                      </m:r>
                    </m:oMath>
                  </m:oMathPara>
                </a14:m>
                <a:endParaRPr lang="en-US" sz="4400" dirty="0">
                  <a:solidFill>
                    <a:sysClr val="windowText" lastClr="000000"/>
                  </a:solidFill>
                  <a:latin typeface="Garamond" panose="02020404030301010803" pitchFamily="18" charset="0"/>
                </a:endParaRPr>
              </a:p>
            </p:txBody>
          </p:sp>
        </mc:Choice>
        <mc:Fallback xmlns="">
          <p:sp>
            <p:nvSpPr>
              <p:cNvPr id="13" name="Rounded Rectangle 12">
                <a:extLst>
                  <a:ext uri="{FF2B5EF4-FFF2-40B4-BE49-F238E27FC236}">
                    <a16:creationId xmlns:a16="http://schemas.microsoft.com/office/drawing/2014/main" id="{554B8745-C0B2-E062-4DC6-078DD33094C0}"/>
                  </a:ext>
                </a:extLst>
              </p:cNvPr>
              <p:cNvSpPr>
                <a:spLocks noRot="1" noChangeAspect="1" noMove="1" noResize="1" noEditPoints="1" noAdjustHandles="1" noChangeArrowheads="1" noChangeShapeType="1" noTextEdit="1"/>
              </p:cNvSpPr>
              <p:nvPr/>
            </p:nvSpPr>
            <p:spPr>
              <a:xfrm>
                <a:off x="6296718" y="5253994"/>
                <a:ext cx="4999567" cy="1126152"/>
              </a:xfrm>
              <a:prstGeom prst="roundRect">
                <a:avLst/>
              </a:prstGeom>
              <a:blipFill>
                <a:blip r:embed="rId6"/>
                <a:stretch>
                  <a:fillRect b="-4444"/>
                </a:stretch>
              </a:blipFill>
              <a:ln>
                <a:noFill/>
              </a:ln>
            </p:spPr>
            <p:txBody>
              <a:bodyPr/>
              <a:lstStyle/>
              <a:p>
                <a:r>
                  <a:rPr lang="en-US">
                    <a:noFill/>
                  </a:rPr>
                  <a:t> </a:t>
                </a:r>
              </a:p>
            </p:txBody>
          </p:sp>
        </mc:Fallback>
      </mc:AlternateContent>
      <p:sp>
        <p:nvSpPr>
          <p:cNvPr id="20" name="Arc 19">
            <a:extLst>
              <a:ext uri="{FF2B5EF4-FFF2-40B4-BE49-F238E27FC236}">
                <a16:creationId xmlns:a16="http://schemas.microsoft.com/office/drawing/2014/main" id="{1D114257-96BB-CD42-0F12-F2C538122E06}"/>
              </a:ext>
            </a:extLst>
          </p:cNvPr>
          <p:cNvSpPr/>
          <p:nvPr/>
        </p:nvSpPr>
        <p:spPr>
          <a:xfrm rot="18900000">
            <a:off x="4868296" y="3237854"/>
            <a:ext cx="2455405" cy="2455405"/>
          </a:xfrm>
          <a:prstGeom prst="arc">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5DD8EBA9-5E1B-BBF2-9C71-746D2A9B8519}"/>
              </a:ext>
            </a:extLst>
          </p:cNvPr>
          <p:cNvSpPr txBox="1"/>
          <p:nvPr/>
        </p:nvSpPr>
        <p:spPr>
          <a:xfrm>
            <a:off x="568838" y="5432350"/>
            <a:ext cx="5511181" cy="769441"/>
          </a:xfrm>
          <a:prstGeom prst="rect">
            <a:avLst/>
          </a:prstGeom>
          <a:noFill/>
          <a:ln w="76200">
            <a:noFill/>
          </a:ln>
        </p:spPr>
        <p:txBody>
          <a:bodyPr wrap="square" rtlCol="0">
            <a:spAutoFit/>
          </a:bodyPr>
          <a:lstStyle/>
          <a:p>
            <a:pPr algn="ctr"/>
            <a:r>
              <a:rPr lang="en-US" sz="4400" b="1" u="sng" dirty="0">
                <a:latin typeface="Garamond" panose="02020404030301010803" pitchFamily="18" charset="0"/>
              </a:rPr>
              <a:t>Assuming “stability”:</a:t>
            </a:r>
            <a:endParaRPr lang="en-US" sz="4000" dirty="0">
              <a:latin typeface="Garamond" panose="02020404030301010803" pitchFamily="18" charset="0"/>
            </a:endParaRPr>
          </a:p>
        </p:txBody>
      </p:sp>
      <p:pic>
        <p:nvPicPr>
          <p:cNvPr id="2" name="Graphic 1" descr="Usb Stick with solid fill">
            <a:extLst>
              <a:ext uri="{FF2B5EF4-FFF2-40B4-BE49-F238E27FC236}">
                <a16:creationId xmlns:a16="http://schemas.microsoft.com/office/drawing/2014/main" id="{177C1FF8-6CE7-F79E-52EB-189DA79D092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86964" y="3359575"/>
            <a:ext cx="618066" cy="618066"/>
          </a:xfrm>
          <a:prstGeom prst="rect">
            <a:avLst/>
          </a:prstGeom>
        </p:spPr>
      </p:pic>
    </p:spTree>
    <p:extLst>
      <p:ext uri="{BB962C8B-B14F-4D97-AF65-F5344CB8AC3E}">
        <p14:creationId xmlns:p14="http://schemas.microsoft.com/office/powerpoint/2010/main" val="2879360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E6212-E9ED-1825-13B3-F02022827526}"/>
              </a:ext>
            </a:extLst>
          </p:cNvPr>
          <p:cNvSpPr>
            <a:spLocks noGrp="1"/>
          </p:cNvSpPr>
          <p:nvPr>
            <p:ph type="title"/>
          </p:nvPr>
        </p:nvSpPr>
        <p:spPr/>
        <p:txBody>
          <a:bodyPr/>
          <a:lstStyle/>
          <a:p>
            <a:r>
              <a:rPr lang="en-US" dirty="0"/>
              <a:t>The ideas</a:t>
            </a:r>
          </a:p>
        </p:txBody>
      </p:sp>
    </p:spTree>
    <p:extLst>
      <p:ext uri="{BB962C8B-B14F-4D97-AF65-F5344CB8AC3E}">
        <p14:creationId xmlns:p14="http://schemas.microsoft.com/office/powerpoint/2010/main" val="2101768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4BB7-E5BD-AF38-12DE-AC7FCCF1184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3E2BCE5-2E23-A735-7A2F-47167BE2DF74}"/>
                  </a:ext>
                </a:extLst>
              </p:cNvPr>
              <p:cNvSpPr txBox="1"/>
              <p:nvPr/>
            </p:nvSpPr>
            <p:spPr>
              <a:xfrm>
                <a:off x="109445" y="1271495"/>
                <a:ext cx="5975922" cy="17359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b="0" i="1" smtClean="0">
                          <a:latin typeface="Cambria Math" panose="02040503050406030204" pitchFamily="18" charset="0"/>
                        </a:rPr>
                        <m:t>=</m:t>
                      </m:r>
                      <m:nary>
                        <m:naryPr>
                          <m:chr m:val="∑"/>
                          <m:supHide m:val="on"/>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b="0" i="1" smtClean="0">
                              <a:latin typeface="Cambria Math" panose="02040503050406030204" pitchFamily="18" charset="0"/>
                            </a:rPr>
                            <m:t>≥</m:t>
                          </m:r>
                          <m:r>
                            <a:rPr lang="en-US" sz="4400" i="1">
                              <a:latin typeface="Cambria Math" panose="02040503050406030204" pitchFamily="18" charset="0"/>
                            </a:rPr>
                            <m:t>0</m:t>
                          </m:r>
                        </m:sub>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33E2BCE5-2E23-A735-7A2F-47167BE2DF74}"/>
                  </a:ext>
                </a:extLst>
              </p:cNvPr>
              <p:cNvSpPr txBox="1">
                <a:spLocks noRot="1" noChangeAspect="1" noMove="1" noResize="1" noEditPoints="1" noAdjustHandles="1" noChangeArrowheads="1" noChangeShapeType="1" noTextEdit="1"/>
              </p:cNvSpPr>
              <p:nvPr/>
            </p:nvSpPr>
            <p:spPr>
              <a:xfrm>
                <a:off x="109445" y="1271495"/>
                <a:ext cx="5975922" cy="1735924"/>
              </a:xfrm>
              <a:prstGeom prst="rect">
                <a:avLst/>
              </a:prstGeom>
              <a:blipFill>
                <a:blip r:embed="rId3"/>
                <a:stretch>
                  <a:fillRect t="-138686" b="-191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0A0833EB-1774-DB57-4644-2C7AB1FEF3B9}"/>
                  </a:ext>
                </a:extLst>
              </p:cNvPr>
              <p:cNvSpPr/>
              <p:nvPr/>
            </p:nvSpPr>
            <p:spPr>
              <a:xfrm>
                <a:off x="109445" y="4636285"/>
                <a:ext cx="6959571" cy="1126152"/>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Stability: </a:t>
                </a:r>
                <a14:m>
                  <m:oMath xmlns:m="http://schemas.openxmlformats.org/officeDocument/2006/math">
                    <m:d>
                      <m:dPr>
                        <m:begChr m:val="‖"/>
                        <m:endChr m:val="‖"/>
                        <m:ctrlPr>
                          <a:rPr lang="en-US" sz="4400" b="1" i="1" smtClean="0">
                            <a:solidFill>
                              <a:sysClr val="windowText" lastClr="000000"/>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r>
                              <a:rPr lang="en-US" sz="4400" i="1">
                                <a:solidFill>
                                  <a:schemeClr val="tx1"/>
                                </a:solidFill>
                                <a:latin typeface="Cambria Math" panose="02040503050406030204" pitchFamily="18" charset="0"/>
                              </a:rPr>
                              <m:t>)</m:t>
                            </m:r>
                          </m:sup>
                        </m:sSup>
                      </m:e>
                    </m:d>
                    <m:r>
                      <a:rPr lang="en-US" sz="4400" b="0" i="1" smtClean="0">
                        <a:solidFill>
                          <a:sysClr val="windowText" lastClr="000000"/>
                        </a:solidFill>
                        <a:latin typeface="Cambria Math" panose="02040503050406030204" pitchFamily="18" charset="0"/>
                      </a:rPr>
                      <m:t>=</m:t>
                    </m:r>
                    <m:r>
                      <m:rPr>
                        <m:sty m:val="p"/>
                      </m:rPr>
                      <a:rPr lang="en-US" sz="4400" b="0" i="0" smtClean="0">
                        <a:solidFill>
                          <a:sysClr val="windowText" lastClr="000000"/>
                        </a:solidFill>
                        <a:latin typeface="Cambria Math" panose="02040503050406030204" pitchFamily="18" charset="0"/>
                      </a:rPr>
                      <m:t>exp</m:t>
                    </m:r>
                    <m:r>
                      <a:rPr lang="en-US" sz="4400" b="0" i="1" smtClean="0">
                        <a:solidFill>
                          <a:sysClr val="windowText" lastClr="000000"/>
                        </a:solidFill>
                        <a:latin typeface="Cambria Math" panose="02040503050406030204" pitchFamily="18" charset="0"/>
                      </a:rPr>
                      <m:t>⁡(−</m:t>
                    </m:r>
                    <m:r>
                      <a:rPr lang="en-US" sz="4400" b="0" i="1" smtClean="0">
                        <a:solidFill>
                          <a:sysClr val="windowText" lastClr="000000"/>
                        </a:solidFill>
                        <a:latin typeface="Cambria Math" panose="02040503050406030204" pitchFamily="18" charset="0"/>
                      </a:rPr>
                      <m:t>𝑟</m:t>
                    </m:r>
                    <m:r>
                      <a:rPr lang="en-US" sz="4400" b="0" i="1" smtClean="0">
                        <a:solidFill>
                          <a:sysClr val="windowText" lastClr="000000"/>
                        </a:solidFill>
                        <a:latin typeface="Cambria Math" panose="02040503050406030204" pitchFamily="18" charset="0"/>
                      </a:rPr>
                      <m:t>)</m:t>
                    </m:r>
                  </m:oMath>
                </a14:m>
                <a:endParaRPr lang="en-US" sz="4400" dirty="0">
                  <a:solidFill>
                    <a:sysClr val="windowText" lastClr="000000"/>
                  </a:solidFill>
                  <a:latin typeface="Garamond" panose="02020404030301010803" pitchFamily="18" charset="0"/>
                </a:endParaRPr>
              </a:p>
            </p:txBody>
          </p:sp>
        </mc:Choice>
        <mc:Fallback xmlns="">
          <p:sp>
            <p:nvSpPr>
              <p:cNvPr id="14" name="Rounded Rectangle 13">
                <a:extLst>
                  <a:ext uri="{FF2B5EF4-FFF2-40B4-BE49-F238E27FC236}">
                    <a16:creationId xmlns:a16="http://schemas.microsoft.com/office/drawing/2014/main" id="{0A0833EB-1774-DB57-4644-2C7AB1FEF3B9}"/>
                  </a:ext>
                </a:extLst>
              </p:cNvPr>
              <p:cNvSpPr>
                <a:spLocks noRot="1" noChangeAspect="1" noMove="1" noResize="1" noEditPoints="1" noAdjustHandles="1" noChangeArrowheads="1" noChangeShapeType="1" noTextEdit="1"/>
              </p:cNvSpPr>
              <p:nvPr/>
            </p:nvSpPr>
            <p:spPr>
              <a:xfrm>
                <a:off x="109445" y="4636285"/>
                <a:ext cx="6959571" cy="1126152"/>
              </a:xfrm>
              <a:prstGeom prst="roundRect">
                <a:avLst/>
              </a:prstGeom>
              <a:blipFill>
                <a:blip r:embed="rId4"/>
                <a:stretch>
                  <a:fillRect l="-1639" r="-546" b="-12360"/>
                </a:stretch>
              </a:blipFill>
              <a:ln>
                <a:noFill/>
              </a:ln>
            </p:spPr>
            <p:txBody>
              <a:bodyPr/>
              <a:lstStyle/>
              <a:p>
                <a:r>
                  <a:rPr lang="en-US">
                    <a:noFill/>
                  </a:rPr>
                  <a:t> </a:t>
                </a:r>
              </a:p>
            </p:txBody>
          </p:sp>
        </mc:Fallback>
      </mc:AlternateContent>
      <p:sp>
        <p:nvSpPr>
          <p:cNvPr id="7" name="Cloud Callout 6">
            <a:extLst>
              <a:ext uri="{FF2B5EF4-FFF2-40B4-BE49-F238E27FC236}">
                <a16:creationId xmlns:a16="http://schemas.microsoft.com/office/drawing/2014/main" id="{A8A8B4C9-2954-CE36-AA3F-2C6BF9BB26A2}"/>
              </a:ext>
            </a:extLst>
          </p:cNvPr>
          <p:cNvSpPr/>
          <p:nvPr/>
        </p:nvSpPr>
        <p:spPr>
          <a:xfrm>
            <a:off x="7060766" y="1010093"/>
            <a:ext cx="4454293" cy="3318365"/>
          </a:xfrm>
          <a:prstGeom prst="cloudCallout">
            <a:avLst>
              <a:gd name="adj1" fmla="val -83156"/>
              <a:gd name="adj2" fmla="val 5562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4">
            <a:extLst>
              <a:ext uri="{FF2B5EF4-FFF2-40B4-BE49-F238E27FC236}">
                <a16:creationId xmlns:a16="http://schemas.microsoft.com/office/drawing/2014/main" id="{2B27C29B-1895-3CB6-E276-AF4492CE3B9F}"/>
              </a:ext>
            </a:extLst>
          </p:cNvPr>
          <p:cNvPicPr>
            <a:picLocks noGrp="1" noChangeAspect="1"/>
          </p:cNvPicPr>
          <p:nvPr>
            <p:ph idx="1"/>
          </p:nvPr>
        </p:nvPicPr>
        <p:blipFill>
          <a:blip r:embed="rId5"/>
          <a:srcRect l="6139" t="11313" r="7544" b="5363"/>
          <a:stretch>
            <a:fillRect/>
          </a:stretch>
        </p:blipFill>
        <p:spPr>
          <a:xfrm>
            <a:off x="7928277" y="1478410"/>
            <a:ext cx="2804359" cy="2030334"/>
          </a:xfrm>
          <a:prstGeom prst="rect">
            <a:avLst/>
          </a:prstGeom>
        </p:spPr>
      </p:pic>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2AD49518-6161-1D56-6DE8-0B703B4226CF}"/>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4" name="Rounded Rectangle 3">
                <a:extLst>
                  <a:ext uri="{FF2B5EF4-FFF2-40B4-BE49-F238E27FC236}">
                    <a16:creationId xmlns:a16="http://schemas.microsoft.com/office/drawing/2014/main" id="{2AD49518-6161-1D56-6DE8-0B703B4226CF}"/>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6"/>
                <a:stretch>
                  <a:fillRect l="-1705" t="-10606" b="-303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85154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7" grpId="0" animBg="1"/>
      <p:bldP spid="7"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C5ADB-472F-6E47-AFC2-FF716A2D82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08800B4-A693-0EB3-0BC4-43662908BEC7}"/>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smtClean="0">
                              <a:solidFill>
                                <a:srgbClr val="FF0000"/>
                              </a:solidFill>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C08800B4-A693-0EB3-0BC4-43662908BEC7}"/>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EFA9DADF-6D84-F2A7-2F24-8B50A5376E04}"/>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9" name="Rounded Rectangle 8">
                <a:extLst>
                  <a:ext uri="{FF2B5EF4-FFF2-40B4-BE49-F238E27FC236}">
                    <a16:creationId xmlns:a16="http://schemas.microsoft.com/office/drawing/2014/main" id="{EFA9DADF-6D84-F2A7-2F24-8B50A5376E04}"/>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4"/>
                <a:stretch>
                  <a:fillRect l="-1705" t="-10606" b="-303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719502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640C6-7C97-3B6F-F8A4-AEA7C03B440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8CED60F-3270-1C2C-DEA4-9B08E9B9D3A0}"/>
              </a:ext>
            </a:extLst>
          </p:cNvPr>
          <p:cNvSpPr txBox="1">
            <a:spLocks/>
          </p:cNvSpPr>
          <p:nvPr/>
        </p:nvSpPr>
        <p:spPr>
          <a:xfrm>
            <a:off x="7848368" y="1479444"/>
            <a:ext cx="2591265" cy="9085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u="sng" dirty="0"/>
              <a:t>Attempt</a:t>
            </a:r>
            <a:endParaRPr lang="en-US" b="0" u="sng"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CA51C3B-D131-AD70-57E9-DD56F4CC961A}"/>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ECA51C3B-D131-AD70-57E9-DD56F4CC961A}"/>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7"/>
                <a:stretch>
                  <a:fillRect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1087D7BE-B797-4312-E06D-199FE366D3DF}"/>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19" name="Rounded Rectangle 18">
                <a:extLst>
                  <a:ext uri="{FF2B5EF4-FFF2-40B4-BE49-F238E27FC236}">
                    <a16:creationId xmlns:a16="http://schemas.microsoft.com/office/drawing/2014/main" id="{1087D7BE-B797-4312-E06D-199FE366D3DF}"/>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8"/>
                <a:stretch>
                  <a:fillRect l="-1705" t="-10606" b="-30303"/>
                </a:stretch>
              </a:blipFill>
              <a:ln>
                <a:noFill/>
              </a:ln>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id="{5B2F9667-F410-3C03-7C3B-DFD7D982EAA1}"/>
              </a:ext>
            </a:extLst>
          </p:cNvPr>
          <p:cNvSpPr/>
          <p:nvPr/>
        </p:nvSpPr>
        <p:spPr>
          <a:xfrm>
            <a:off x="1652932" y="4159888"/>
            <a:ext cx="8886136" cy="1395337"/>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600" dirty="0">
                <a:solidFill>
                  <a:schemeClr val="tx1"/>
                </a:solidFill>
                <a:latin typeface="Garamond" panose="02020404030301010803" pitchFamily="18" charset="0"/>
              </a:rPr>
              <a:t>Let’s not worry about the run-time of pre-computation yet. We’ll come back to that.</a:t>
            </a:r>
          </a:p>
        </p:txBody>
      </p:sp>
    </p:spTree>
    <p:extLst>
      <p:ext uri="{BB962C8B-B14F-4D97-AF65-F5344CB8AC3E}">
        <p14:creationId xmlns:p14="http://schemas.microsoft.com/office/powerpoint/2010/main" val="416090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FE22B-D7D7-2BC7-754C-4EA33D7D881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F7F0570C-E1AC-2B29-9861-7694FA2DBCC1}"/>
                  </a:ext>
                </a:extLst>
              </p:cNvPr>
              <p:cNvSpPr/>
              <p:nvPr/>
            </p:nvSpPr>
            <p:spPr>
              <a:xfrm>
                <a:off x="6417426" y="2150012"/>
                <a:ext cx="5453150" cy="1637142"/>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Store </a:t>
                </a:r>
                <a14:m>
                  <m:oMath xmlns:m="http://schemas.openxmlformats.org/officeDocument/2006/math">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r>
                          <a:rPr lang="en-US" sz="4400" i="1">
                            <a:solidFill>
                              <a:schemeClr val="tx1"/>
                            </a:solidFill>
                            <a:latin typeface="Cambria Math" panose="02040503050406030204" pitchFamily="18" charset="0"/>
                          </a:rPr>
                          <m:t>)</m:t>
                        </m:r>
                      </m:sup>
                    </m:sSup>
                  </m:oMath>
                </a14:m>
                <a:r>
                  <a:rPr lang="en-US" sz="4400" dirty="0">
                    <a:solidFill>
                      <a:schemeClr val="tx1"/>
                    </a:solidFill>
                    <a:latin typeface="Garamond" panose="02020404030301010803" pitchFamily="18" charset="0"/>
                  </a:rPr>
                  <a:t>.</a:t>
                </a:r>
              </a:p>
            </p:txBody>
          </p:sp>
        </mc:Choice>
        <mc:Fallback xmlns="">
          <p:sp>
            <p:nvSpPr>
              <p:cNvPr id="8" name="Rounded Rectangle 7">
                <a:extLst>
                  <a:ext uri="{FF2B5EF4-FFF2-40B4-BE49-F238E27FC236}">
                    <a16:creationId xmlns:a16="http://schemas.microsoft.com/office/drawing/2014/main" id="{ACE26D48-0030-1168-2390-0299A735C610}"/>
                  </a:ext>
                </a:extLst>
              </p:cNvPr>
              <p:cNvSpPr>
                <a:spLocks noRot="1" noChangeAspect="1" noMove="1" noResize="1" noEditPoints="1" noAdjustHandles="1" noChangeArrowheads="1" noChangeShapeType="1" noTextEdit="1"/>
              </p:cNvSpPr>
              <p:nvPr/>
            </p:nvSpPr>
            <p:spPr>
              <a:xfrm>
                <a:off x="6417426" y="2150012"/>
                <a:ext cx="5453150" cy="1637142"/>
              </a:xfrm>
              <a:prstGeom prst="roundRect">
                <a:avLst/>
              </a:prstGeom>
              <a:blipFill>
                <a:blip r:embed="rId3"/>
                <a:stretch>
                  <a:fillRect l="-3023" t="-2308" b="-1230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778B2996-DBFE-15C8-2E24-3DEC9938EDC4}"/>
                  </a:ext>
                </a:extLst>
              </p:cNvPr>
              <p:cNvSpPr/>
              <p:nvPr/>
            </p:nvSpPr>
            <p:spPr>
              <a:xfrm>
                <a:off x="6417426" y="4003470"/>
                <a:ext cx="5453150" cy="1637142"/>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Prediction (delete </a:t>
                </a:r>
                <a14:m>
                  <m:oMath xmlns:m="http://schemas.openxmlformats.org/officeDocument/2006/math">
                    <m:r>
                      <a:rPr lang="en-US" sz="4400" i="1">
                        <a:solidFill>
                          <a:schemeClr val="tx1"/>
                        </a:solidFill>
                        <a:latin typeface="Cambria Math" panose="02040503050406030204" pitchFamily="18" charset="0"/>
                      </a:rPr>
                      <m:t>𝑋</m:t>
                    </m:r>
                  </m:oMath>
                </a14:m>
                <a:r>
                  <a:rPr lang="en-US" sz="4400" b="1" dirty="0">
                    <a:solidFill>
                      <a:schemeClr val="tx1"/>
                    </a:solidFill>
                    <a:latin typeface="Garamond" panose="02020404030301010803" pitchFamily="18" charset="0"/>
                  </a:rPr>
                  <a:t>):</a:t>
                </a:r>
              </a:p>
              <a:p>
                <a:r>
                  <a:rPr lang="en-US" sz="4400" dirty="0">
                    <a:solidFill>
                      <a:schemeClr val="tx1"/>
                    </a:solidFill>
                    <a:latin typeface="Garamond" panose="02020404030301010803" pitchFamily="18" charset="0"/>
                  </a:rPr>
                  <a:t>Compute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 </m:t>
                        </m:r>
                        <m:sSubSup>
                          <m:sSubSupPr>
                            <m:ctrlPr>
                              <a:rPr lang="en-US" sz="4400" b="0" i="1" smtClean="0">
                                <a:solidFill>
                                  <a:schemeClr val="tx1"/>
                                </a:solidFill>
                                <a:latin typeface="Cambria Math" panose="02040503050406030204" pitchFamily="18" charset="0"/>
                              </a:rPr>
                            </m:ctrlPr>
                          </m:sSubSupPr>
                          <m:e>
                            <m:r>
                              <a:rPr lang="en-US" sz="4400" b="1" i="1" smtClean="0">
                                <a:solidFill>
                                  <a:schemeClr val="tx1"/>
                                </a:solidFill>
                                <a:latin typeface="Cambria Math" panose="02040503050406030204" pitchFamily="18" charset="0"/>
                              </a:rPr>
                              <m:t>𝒆</m:t>
                            </m:r>
                          </m:e>
                          <m:sub>
                            <m:r>
                              <a:rPr lang="en-US" sz="4400" b="0" i="1" smtClean="0">
                                <a:solidFill>
                                  <a:schemeClr val="tx1"/>
                                </a:solidFill>
                                <a:latin typeface="Cambria Math" panose="02040503050406030204" pitchFamily="18" charset="0"/>
                              </a:rPr>
                              <m:t>𝑋</m:t>
                            </m:r>
                          </m:sub>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sup>
                        </m:sSubSup>
                      </m:e>
                    </m:d>
                    <m:r>
                      <a:rPr lang="en-US" sz="4400" b="0" i="1" smtClean="0">
                        <a:solidFill>
                          <a:schemeClr val="tx1"/>
                        </a:solidFill>
                        <a:latin typeface="Cambria Math" panose="02040503050406030204" pitchFamily="18" charset="0"/>
                      </a:rPr>
                      <m:t>.</m:t>
                    </m:r>
                  </m:oMath>
                </a14:m>
                <a:endParaRPr lang="en-US" sz="4400" dirty="0">
                  <a:solidFill>
                    <a:schemeClr val="tx1"/>
                  </a:solidFill>
                  <a:latin typeface="Garamond" panose="02020404030301010803" pitchFamily="18" charset="0"/>
                </a:endParaRPr>
              </a:p>
            </p:txBody>
          </p:sp>
        </mc:Choice>
        <mc:Fallback xmlns="">
          <p:sp>
            <p:nvSpPr>
              <p:cNvPr id="9" name="Rounded Rectangle 8">
                <a:extLst>
                  <a:ext uri="{FF2B5EF4-FFF2-40B4-BE49-F238E27FC236}">
                    <a16:creationId xmlns:a16="http://schemas.microsoft.com/office/drawing/2014/main" id="{942FF93F-40DC-3031-F77D-68252E00CCD0}"/>
                  </a:ext>
                </a:extLst>
              </p:cNvPr>
              <p:cNvSpPr>
                <a:spLocks noRot="1" noChangeAspect="1" noMove="1" noResize="1" noEditPoints="1" noAdjustHandles="1" noChangeArrowheads="1" noChangeShapeType="1" noTextEdit="1"/>
              </p:cNvSpPr>
              <p:nvPr/>
            </p:nvSpPr>
            <p:spPr>
              <a:xfrm>
                <a:off x="6417426" y="4003470"/>
                <a:ext cx="5453150" cy="1637142"/>
              </a:xfrm>
              <a:prstGeom prst="roundRect">
                <a:avLst/>
              </a:prstGeom>
              <a:blipFill>
                <a:blip r:embed="rId4"/>
                <a:stretch>
                  <a:fillRect l="-3023" t="-4615" r="-2791" b="-1461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530B0093-C873-736A-E2C1-E7CADD3AA2D6}"/>
                  </a:ext>
                </a:extLst>
              </p:cNvPr>
              <p:cNvSpPr/>
              <p:nvPr/>
            </p:nvSpPr>
            <p:spPr>
              <a:xfrm>
                <a:off x="224443" y="3429000"/>
                <a:ext cx="5871557" cy="1812809"/>
              </a:xfrm>
              <a:prstGeom prst="roundRect">
                <a:avLst/>
              </a:prstGeom>
              <a:solidFill>
                <a:srgbClr val="FF0000">
                  <a:alpha val="75000"/>
                </a:srgb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 xmlns:m="http://schemas.openxmlformats.org/officeDocument/2006/math">
                    <m:sSup>
                      <m:sSupPr>
                        <m:ctrlPr>
                          <a:rPr lang="en-US" sz="4400" b="0" i="1" smtClean="0">
                            <a:solidFill>
                              <a:sysClr val="windowText" lastClr="000000"/>
                            </a:solidFill>
                            <a:latin typeface="Cambria Math" panose="02040503050406030204" pitchFamily="18" charset="0"/>
                          </a:rPr>
                        </m:ctrlPr>
                      </m:sSupPr>
                      <m:e>
                        <m:r>
                          <a:rPr lang="en-US" sz="4400" b="1" i="0" smtClean="0">
                            <a:solidFill>
                              <a:sysClr val="windowText" lastClr="000000"/>
                            </a:solidFill>
                            <a:latin typeface="Cambria Math" panose="02040503050406030204" pitchFamily="18" charset="0"/>
                          </a:rPr>
                          <m:t>𝐓</m:t>
                        </m:r>
                      </m:e>
                      <m:sup>
                        <m:r>
                          <a:rPr lang="en-US" sz="4400" b="0" i="1" smtClean="0">
                            <a:solidFill>
                              <a:sysClr val="windowText" lastClr="000000"/>
                            </a:solidFill>
                            <a:latin typeface="Cambria Math" panose="02040503050406030204" pitchFamily="18" charset="0"/>
                          </a:rPr>
                          <m:t>(</m:t>
                        </m:r>
                        <m:r>
                          <a:rPr lang="en-US" sz="4400" b="0" i="1" smtClean="0">
                            <a:solidFill>
                              <a:sysClr val="windowText" lastClr="000000"/>
                            </a:solidFill>
                            <a:latin typeface="Cambria Math" panose="02040503050406030204" pitchFamily="18" charset="0"/>
                          </a:rPr>
                          <m:t>𝑟</m:t>
                        </m:r>
                        <m:r>
                          <a:rPr lang="en-US" sz="4400" b="0" i="1" smtClean="0">
                            <a:solidFill>
                              <a:sysClr val="windowText" lastClr="000000"/>
                            </a:solidFill>
                            <a:latin typeface="Cambria Math" panose="02040503050406030204" pitchFamily="18" charset="0"/>
                          </a:rPr>
                          <m:t>)</m:t>
                        </m:r>
                      </m:sup>
                    </m:sSup>
                  </m:oMath>
                </a14:m>
                <a:r>
                  <a:rPr lang="en-US" sz="4400" dirty="0">
                    <a:solidFill>
                      <a:sysClr val="windowText" lastClr="000000"/>
                    </a:solidFill>
                    <a:latin typeface="Garamond" panose="02020404030301010803" pitchFamily="18" charset="0"/>
                  </a:rPr>
                  <a:t> has size </a:t>
                </a:r>
                <a14:m>
                  <m:oMath xmlns:m="http://schemas.openxmlformats.org/officeDocument/2006/math">
                    <m:sSup>
                      <m:sSupPr>
                        <m:ctrlPr>
                          <a:rPr lang="en-US" sz="4400" b="0" i="1" smtClean="0">
                            <a:solidFill>
                              <a:sysClr val="windowText" lastClr="000000"/>
                            </a:solidFill>
                            <a:latin typeface="Cambria Math" panose="02040503050406030204" pitchFamily="18" charset="0"/>
                          </a:rPr>
                        </m:ctrlPr>
                      </m:sSupPr>
                      <m:e>
                        <m:r>
                          <a:rPr lang="en-US" sz="4400" b="0" i="1" smtClean="0">
                            <a:solidFill>
                              <a:sysClr val="windowText" lastClr="000000"/>
                            </a:solidFill>
                            <a:latin typeface="Cambria Math" panose="02040503050406030204" pitchFamily="18" charset="0"/>
                          </a:rPr>
                          <m:t>𝑛</m:t>
                        </m:r>
                      </m:e>
                      <m:sup>
                        <m:r>
                          <a:rPr lang="en-US" sz="4400" b="0" i="1" smtClean="0">
                            <a:solidFill>
                              <a:sysClr val="windowText" lastClr="000000"/>
                            </a:solidFill>
                            <a:latin typeface="Cambria Math" panose="02040503050406030204" pitchFamily="18" charset="0"/>
                          </a:rPr>
                          <m:t>𝑟</m:t>
                        </m:r>
                      </m:sup>
                    </m:sSup>
                  </m:oMath>
                </a14:m>
                <a:r>
                  <a:rPr lang="en-US" sz="4400" dirty="0">
                    <a:solidFill>
                      <a:sysClr val="windowText" lastClr="000000"/>
                    </a:solidFill>
                    <a:latin typeface="Garamond" panose="02020404030301010803" pitchFamily="18" charset="0"/>
                  </a:rPr>
                  <a:t>, too large to even write down!</a:t>
                </a:r>
              </a:p>
            </p:txBody>
          </p:sp>
        </mc:Choice>
        <mc:Fallback xmlns="">
          <p:sp>
            <p:nvSpPr>
              <p:cNvPr id="6" name="Rounded Rectangle 5">
                <a:extLst>
                  <a:ext uri="{FF2B5EF4-FFF2-40B4-BE49-F238E27FC236}">
                    <a16:creationId xmlns:a16="http://schemas.microsoft.com/office/drawing/2014/main" id="{8042AE64-05F0-6A34-22A7-D82709B95854}"/>
                  </a:ext>
                </a:extLst>
              </p:cNvPr>
              <p:cNvSpPr>
                <a:spLocks noRot="1" noChangeAspect="1" noMove="1" noResize="1" noEditPoints="1" noAdjustHandles="1" noChangeArrowheads="1" noChangeShapeType="1" noTextEdit="1"/>
              </p:cNvSpPr>
              <p:nvPr/>
            </p:nvSpPr>
            <p:spPr>
              <a:xfrm>
                <a:off x="224443" y="3429000"/>
                <a:ext cx="5871557" cy="1812809"/>
              </a:xfrm>
              <a:prstGeom prst="roundRect">
                <a:avLst/>
              </a:prstGeom>
              <a:blipFill>
                <a:blip r:embed="rId5"/>
                <a:stretch>
                  <a:fillRect l="-2371" r="-2371" b="-6294"/>
                </a:stretch>
              </a:blipFill>
              <a:ln>
                <a:noFill/>
              </a:ln>
            </p:spPr>
            <p:txBody>
              <a:bodyPr/>
              <a:lstStyle/>
              <a:p>
                <a:r>
                  <a:rPr lang="en-US">
                    <a:noFill/>
                  </a:rPr>
                  <a:t> </a:t>
                </a:r>
              </a:p>
            </p:txBody>
          </p:sp>
        </mc:Fallback>
      </mc:AlternateContent>
      <p:sp>
        <p:nvSpPr>
          <p:cNvPr id="5" name="Title 1">
            <a:extLst>
              <a:ext uri="{FF2B5EF4-FFF2-40B4-BE49-F238E27FC236}">
                <a16:creationId xmlns:a16="http://schemas.microsoft.com/office/drawing/2014/main" id="{29DF2C9C-4787-2C81-9791-67ADF704C818}"/>
              </a:ext>
            </a:extLst>
          </p:cNvPr>
          <p:cNvSpPr txBox="1">
            <a:spLocks/>
          </p:cNvSpPr>
          <p:nvPr/>
        </p:nvSpPr>
        <p:spPr>
          <a:xfrm>
            <a:off x="7848368" y="1479444"/>
            <a:ext cx="2591265" cy="9085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u="sng" dirty="0"/>
              <a:t>Attempt</a:t>
            </a:r>
            <a:endParaRPr lang="en-US" b="0" u="sng" dirty="0"/>
          </a:p>
        </p:txBody>
      </p:sp>
      <mc:AlternateContent xmlns:mc="http://schemas.openxmlformats.org/markup-compatibility/2006" xmlns:a14="http://schemas.microsoft.com/office/drawing/2010/main">
        <mc:Choice Requires="a14">
          <p:sp>
            <p:nvSpPr>
              <p:cNvPr id="10" name="Title 1">
                <a:extLst>
                  <a:ext uri="{FF2B5EF4-FFF2-40B4-BE49-F238E27FC236}">
                    <a16:creationId xmlns:a16="http://schemas.microsoft.com/office/drawing/2014/main" id="{23DB1A55-AB52-8E12-E0B0-AF9BA72E79C1}"/>
                  </a:ext>
                </a:extLst>
              </p:cNvPr>
              <p:cNvSpPr txBox="1">
                <a:spLocks/>
              </p:cNvSpPr>
              <p:nvPr/>
            </p:nvSpPr>
            <p:spPr>
              <a:xfrm>
                <a:off x="8082649" y="5856928"/>
                <a:ext cx="3787927" cy="72474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b="0" dirty="0"/>
                  <a:t>(for each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b="0" dirty="0"/>
              </a:p>
            </p:txBody>
          </p:sp>
        </mc:Choice>
        <mc:Fallback xmlns="">
          <p:sp>
            <p:nvSpPr>
              <p:cNvPr id="10" name="Title 1">
                <a:extLst>
                  <a:ext uri="{FF2B5EF4-FFF2-40B4-BE49-F238E27FC236}">
                    <a16:creationId xmlns:a16="http://schemas.microsoft.com/office/drawing/2014/main" id="{B77C31A0-6887-FCA2-0DA4-4DD5E6BDDC0E}"/>
                  </a:ext>
                </a:extLst>
              </p:cNvPr>
              <p:cNvSpPr txBox="1">
                <a:spLocks noRot="1" noChangeAspect="1" noMove="1" noResize="1" noEditPoints="1" noAdjustHandles="1" noChangeArrowheads="1" noChangeShapeType="1" noTextEdit="1"/>
              </p:cNvSpPr>
              <p:nvPr/>
            </p:nvSpPr>
            <p:spPr>
              <a:xfrm>
                <a:off x="8082649" y="5856928"/>
                <a:ext cx="3787927" cy="724740"/>
              </a:xfrm>
              <a:prstGeom prst="rect">
                <a:avLst/>
              </a:prstGeom>
              <a:blipFill>
                <a:blip r:embed="rId6"/>
                <a:stretch>
                  <a:fillRect l="-6689" t="-24138" r="-4013" b="-362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F2B23D6-DFD4-CC1E-8C64-805CFDFA45F0}"/>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ECA51C3B-D131-AD70-57E9-DD56F4CC961A}"/>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7"/>
                <a:stretch>
                  <a:fillRect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742CAE56-A275-C480-A7A4-2153F1BC5C8C}"/>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19" name="Rounded Rectangle 18">
                <a:extLst>
                  <a:ext uri="{FF2B5EF4-FFF2-40B4-BE49-F238E27FC236}">
                    <a16:creationId xmlns:a16="http://schemas.microsoft.com/office/drawing/2014/main" id="{1087D7BE-B797-4312-E06D-199FE366D3DF}"/>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8"/>
                <a:stretch>
                  <a:fillRect l="-1705" t="-10606" b="-303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89502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8400D-4BE5-A03B-E4AB-7BC8E8B14DC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3027A48B-4DB4-8080-9902-7C72A7D23539}"/>
                  </a:ext>
                </a:extLst>
              </p:cNvPr>
              <p:cNvSpPr/>
              <p:nvPr/>
            </p:nvSpPr>
            <p:spPr>
              <a:xfrm>
                <a:off x="6710790" y="4341665"/>
                <a:ext cx="5158278" cy="2038315"/>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Stability:</a:t>
                </a:r>
              </a:p>
              <a:p>
                <a:pPr algn="ctr"/>
                <a14:m>
                  <m:oMathPara xmlns:m="http://schemas.openxmlformats.org/officeDocument/2006/math">
                    <m:oMathParaPr>
                      <m:jc m:val="centerGroup"/>
                    </m:oMathParaPr>
                    <m:oMath xmlns:m="http://schemas.openxmlformats.org/officeDocument/2006/math">
                      <m:d>
                        <m:dPr>
                          <m:begChr m:val="‖"/>
                          <m:endChr m:val="‖"/>
                          <m:ctrlPr>
                            <a:rPr lang="en-US" sz="4400" b="1" i="1" smtClean="0">
                              <a:solidFill>
                                <a:sysClr val="windowText" lastClr="000000"/>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r>
                                <a:rPr lang="en-US" sz="4400" i="1">
                                  <a:solidFill>
                                    <a:schemeClr val="tx1"/>
                                  </a:solidFill>
                                  <a:latin typeface="Cambria Math" panose="02040503050406030204" pitchFamily="18" charset="0"/>
                                </a:rPr>
                                <m:t>)</m:t>
                              </m:r>
                            </m:sup>
                          </m:sSup>
                        </m:e>
                      </m:d>
                      <m:r>
                        <a:rPr lang="en-US" sz="4400" b="0" i="1" smtClean="0">
                          <a:solidFill>
                            <a:sysClr val="windowText" lastClr="000000"/>
                          </a:solidFill>
                          <a:latin typeface="Cambria Math" panose="02040503050406030204" pitchFamily="18" charset="0"/>
                        </a:rPr>
                        <m:t>=</m:t>
                      </m:r>
                      <m:r>
                        <m:rPr>
                          <m:sty m:val="p"/>
                        </m:rPr>
                        <a:rPr lang="en-US" sz="4400" b="0" i="0" smtClean="0">
                          <a:solidFill>
                            <a:sysClr val="windowText" lastClr="000000"/>
                          </a:solidFill>
                          <a:latin typeface="Cambria Math" panose="02040503050406030204" pitchFamily="18" charset="0"/>
                        </a:rPr>
                        <m:t>exp</m:t>
                      </m:r>
                      <m:r>
                        <a:rPr lang="en-US" sz="4400" b="0" i="1" smtClean="0">
                          <a:solidFill>
                            <a:sysClr val="windowText" lastClr="000000"/>
                          </a:solidFill>
                          <a:latin typeface="Cambria Math" panose="02040503050406030204" pitchFamily="18" charset="0"/>
                        </a:rPr>
                        <m:t>⁡(−</m:t>
                      </m:r>
                      <m:r>
                        <a:rPr lang="en-US" sz="4400" b="0" i="1" smtClean="0">
                          <a:solidFill>
                            <a:sysClr val="windowText" lastClr="000000"/>
                          </a:solidFill>
                          <a:latin typeface="Cambria Math" panose="02040503050406030204" pitchFamily="18" charset="0"/>
                        </a:rPr>
                        <m:t>𝑟</m:t>
                      </m:r>
                      <m:r>
                        <a:rPr lang="en-US" sz="4400" b="0" i="1" smtClean="0">
                          <a:solidFill>
                            <a:sysClr val="windowText" lastClr="000000"/>
                          </a:solidFill>
                          <a:latin typeface="Cambria Math" panose="02040503050406030204" pitchFamily="18" charset="0"/>
                        </a:rPr>
                        <m:t>)</m:t>
                      </m:r>
                    </m:oMath>
                  </m:oMathPara>
                </a14:m>
                <a:endParaRPr lang="en-US" sz="4400" dirty="0">
                  <a:solidFill>
                    <a:sysClr val="windowText" lastClr="000000"/>
                  </a:solidFill>
                  <a:latin typeface="Garamond" panose="02020404030301010803" pitchFamily="18" charset="0"/>
                </a:endParaRPr>
              </a:p>
            </p:txBody>
          </p:sp>
        </mc:Choice>
        <mc:Fallback xmlns="">
          <p:sp>
            <p:nvSpPr>
              <p:cNvPr id="15" name="Rounded Rectangle 14">
                <a:extLst>
                  <a:ext uri="{FF2B5EF4-FFF2-40B4-BE49-F238E27FC236}">
                    <a16:creationId xmlns:a16="http://schemas.microsoft.com/office/drawing/2014/main" id="{3027A48B-4DB4-8080-9902-7C72A7D23539}"/>
                  </a:ext>
                </a:extLst>
              </p:cNvPr>
              <p:cNvSpPr>
                <a:spLocks noRot="1" noChangeAspect="1" noMove="1" noResize="1" noEditPoints="1" noAdjustHandles="1" noChangeArrowheads="1" noChangeShapeType="1" noTextEdit="1"/>
              </p:cNvSpPr>
              <p:nvPr/>
            </p:nvSpPr>
            <p:spPr>
              <a:xfrm>
                <a:off x="6710790" y="4341665"/>
                <a:ext cx="5158278" cy="2038315"/>
              </a:xfrm>
              <a:prstGeom prst="roundRect">
                <a:avLst/>
              </a:prstGeom>
              <a:blipFill>
                <a:blip r:embed="rId3"/>
                <a:stretch>
                  <a:fillRect/>
                </a:stretch>
              </a:blipFill>
              <a:ln>
                <a:noFill/>
              </a:ln>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1F71243B-C43E-3509-98F7-BEA663F3C346}"/>
              </a:ext>
            </a:extLst>
          </p:cNvPr>
          <p:cNvGrpSpPr/>
          <p:nvPr/>
        </p:nvGrpSpPr>
        <p:grpSpPr>
          <a:xfrm>
            <a:off x="5684065" y="282969"/>
            <a:ext cx="6387857" cy="914400"/>
            <a:chOff x="5684065" y="282969"/>
            <a:chExt cx="6387857" cy="914400"/>
          </a:xfrm>
        </p:grpSpPr>
        <p:sp>
          <p:nvSpPr>
            <p:cNvPr id="13" name="TextBox 12">
              <a:extLst>
                <a:ext uri="{FF2B5EF4-FFF2-40B4-BE49-F238E27FC236}">
                  <a16:creationId xmlns:a16="http://schemas.microsoft.com/office/drawing/2014/main" id="{F9BD9BB2-66E9-8745-0699-0E1DCCE5EC7C}"/>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Random projections [JL]</a:t>
              </a:r>
              <a:endParaRPr lang="en-US" sz="4400" i="1" dirty="0">
                <a:latin typeface="Cambria Math" panose="02040503050406030204" pitchFamily="18" charset="0"/>
              </a:endParaRPr>
            </a:p>
          </p:txBody>
        </p:sp>
        <p:pic>
          <p:nvPicPr>
            <p:cNvPr id="19" name="Graphic 18" descr="Lightbulb with solid fill">
              <a:extLst>
                <a:ext uri="{FF2B5EF4-FFF2-40B4-BE49-F238E27FC236}">
                  <a16:creationId xmlns:a16="http://schemas.microsoft.com/office/drawing/2014/main" id="{50BE3DB1-565E-221A-398E-59BB189395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84065" y="282969"/>
              <a:ext cx="914400" cy="914400"/>
            </a:xfrm>
            <a:prstGeom prst="rect">
              <a:avLst/>
            </a:prstGeom>
          </p:spPr>
        </p:pic>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DA5BF32-D728-9562-FD73-827D9C089AA6}"/>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9DA5BF32-D728-9562-FD73-827D9C089AA6}"/>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5"/>
                <a:stretch>
                  <a:fillRect t="-112987" b="-170130"/>
                </a:stretch>
              </a:blipFill>
            </p:spPr>
            <p:txBody>
              <a:bodyPr/>
              <a:lstStyle/>
              <a:p>
                <a:r>
                  <a:rPr lang="en-US">
                    <a:noFill/>
                  </a:rPr>
                  <a:t> </a:t>
                </a:r>
              </a:p>
            </p:txBody>
          </p:sp>
        </mc:Fallback>
      </mc:AlternateContent>
      <p:sp>
        <p:nvSpPr>
          <p:cNvPr id="21" name="Left Brace 20">
            <a:extLst>
              <a:ext uri="{FF2B5EF4-FFF2-40B4-BE49-F238E27FC236}">
                <a16:creationId xmlns:a16="http://schemas.microsoft.com/office/drawing/2014/main" id="{64179F1A-AE6E-5591-4804-ECE1AE781151}"/>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46E7CD2-0C82-AEF8-44F5-01B4E1AB62EB}"/>
                  </a:ext>
                </a:extLst>
              </p:cNvPr>
              <p:cNvSpPr txBox="1"/>
              <p:nvPr/>
            </p:nvSpPr>
            <p:spPr>
              <a:xfrm>
                <a:off x="798236" y="3281887"/>
                <a:ext cx="4815903" cy="866456"/>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r>
                            <a:rPr lang="en-US" sz="4400" b="1">
                              <a:solidFill>
                                <a:srgbClr val="FF0000"/>
                              </a:solidFill>
                              <a:latin typeface="Cambria Math" panose="02040503050406030204" pitchFamily="18" charset="0"/>
                            </a:rPr>
                            <m:t>𝚿</m:t>
                          </m:r>
                        </m:e>
                      </m:d>
                      <m:r>
                        <a:rPr lang="en-US" sz="4400" i="1">
                          <a:latin typeface="Cambria Math" panose="02040503050406030204" pitchFamily="18" charset="0"/>
                        </a:rPr>
                        <m:t> </m:t>
                      </m:r>
                      <m:d>
                        <m:dPr>
                          <m:begChr m:val="⟨"/>
                          <m:endChr m:val="⟩"/>
                          <m:ctrlPr>
                            <a:rPr lang="en-US" sz="4400" i="1">
                              <a:latin typeface="Cambria Math" panose="02040503050406030204" pitchFamily="18" charset="0"/>
                            </a:rPr>
                          </m:ctrlPr>
                        </m:dPr>
                        <m:e>
                          <m:r>
                            <a:rPr lang="en-US" sz="4400" b="1">
                              <a:solidFill>
                                <a:srgbClr val="FF0000"/>
                              </a:solidFill>
                              <a:latin typeface="Cambria Math" panose="02040503050406030204" pitchFamily="18" charset="0"/>
                            </a:rPr>
                            <m:t>𝚿</m:t>
                          </m:r>
                          <m:r>
                            <a:rPr lang="en-US" sz="4400" i="1">
                              <a:latin typeface="Cambria Math" panose="02040503050406030204" pitchFamily="18" charset="0"/>
                            </a:rPr>
                            <m:t>, </m:t>
                          </m:r>
                          <m:sSup>
                            <m:sSupPr>
                              <m:ctrlPr>
                                <a:rPr lang="en-US" sz="4400" b="1"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oMath>
                  </m:oMathPara>
                </a14:m>
                <a:endParaRPr lang="en-US" sz="4400" i="1" dirty="0">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D46E7CD2-0C82-AEF8-44F5-01B4E1AB62EB}"/>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6"/>
                <a:stretch>
                  <a:fillRect b="-13158"/>
                </a:stretch>
              </a:blipFill>
              <a:ln w="76200">
                <a:solidFill>
                  <a:srgbClr val="00B050"/>
                </a:solidFill>
              </a:ln>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4867B233-EC2F-8FE1-DC07-098077B9AFAE}"/>
              </a:ext>
            </a:extLst>
          </p:cNvPr>
          <p:cNvGrpSpPr/>
          <p:nvPr/>
        </p:nvGrpSpPr>
        <p:grpSpPr>
          <a:xfrm>
            <a:off x="6096000" y="1497177"/>
            <a:ext cx="5975922" cy="2505519"/>
            <a:chOff x="6096000" y="2054961"/>
            <a:chExt cx="5975922" cy="2505519"/>
          </a:xfrm>
        </p:grpSpPr>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2343CD53-010C-C561-034F-3DE089A234F1}"/>
                    </a:ext>
                  </a:extLst>
                </p:cNvPr>
                <p:cNvSpPr/>
                <p:nvPr/>
              </p:nvSpPr>
              <p:spPr>
                <a:xfrm>
                  <a:off x="6096000" y="2054961"/>
                  <a:ext cx="5975922" cy="2505519"/>
                </a:xfrm>
                <a:prstGeom prst="rect">
                  <a:avLst/>
                </a:prstGeom>
                <a:solidFill>
                  <a:schemeClr val="tx2">
                    <a:lumMod val="50000"/>
                    <a:lumOff val="50000"/>
                    <a:alpha val="50000"/>
                  </a:schemeClr>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200" b="1" dirty="0">
                      <a:solidFill>
                        <a:sysClr val="windowText" lastClr="000000"/>
                      </a:solidFill>
                      <a:latin typeface="Garamond" panose="02020404030301010803" pitchFamily="18" charset="0"/>
                    </a:rPr>
                    <a:t>Fact:</a:t>
                  </a:r>
                </a:p>
                <a:p>
                  <a:pPr algn="ctr">
                    <a:lnSpc>
                      <a:spcPct val="150000"/>
                    </a:lnSpc>
                  </a:pPr>
                  <a14:m>
                    <m:oMathPara xmlns:m="http://schemas.openxmlformats.org/officeDocument/2006/math">
                      <m:oMathParaPr>
                        <m:jc m:val="centerGroup"/>
                      </m:oMathParaPr>
                      <m:oMath xmlns:m="http://schemas.openxmlformats.org/officeDocument/2006/math">
                        <m:r>
                          <a:rPr lang="en-US" sz="3200" i="1" dirty="0">
                            <a:solidFill>
                              <a:sysClr val="windowText" lastClr="000000"/>
                            </a:solidFill>
                            <a:latin typeface="Cambria Math" panose="02040503050406030204" pitchFamily="18" charset="0"/>
                            <a:ea typeface="Cambria Math" panose="02040503050406030204" pitchFamily="18" charset="0"/>
                          </a:rPr>
                          <m:t>𝔼</m:t>
                        </m:r>
                        <m:d>
                          <m:dPr>
                            <m:begChr m:val="["/>
                            <m:endChr m:val="]"/>
                            <m:ctrlPr>
                              <a:rPr lang="en-US" sz="3200" i="1" dirty="0">
                                <a:solidFill>
                                  <a:sysClr val="windowText" lastClr="000000"/>
                                </a:solidFill>
                                <a:latin typeface="Cambria Math" panose="02040503050406030204" pitchFamily="18" charset="0"/>
                                <a:ea typeface="Cambria Math" panose="02040503050406030204" pitchFamily="18" charset="0"/>
                              </a:rPr>
                            </m:ctrlPr>
                          </m:dPr>
                          <m:e>
                            <m:d>
                              <m:dPr>
                                <m:begChr m:val="⟨"/>
                                <m:endChr m:val="⟩"/>
                                <m:ctrlPr>
                                  <a:rPr lang="en-US" sz="3200" i="1" dirty="0">
                                    <a:solidFill>
                                      <a:sysClr val="windowText" lastClr="000000"/>
                                    </a:solidFill>
                                    <a:latin typeface="Cambria Math" panose="02040503050406030204" pitchFamily="18" charset="0"/>
                                    <a:ea typeface="Cambria Math" panose="02040503050406030204" pitchFamily="18" charset="0"/>
                                  </a:rPr>
                                </m:ctrlPr>
                              </m:dPr>
                              <m:e>
                                <m:r>
                                  <a:rPr lang="en-US" sz="3200" b="1" dirty="0">
                                    <a:solidFill>
                                      <a:sysClr val="windowText" lastClr="000000"/>
                                    </a:solidFill>
                                    <a:latin typeface="Cambria Math" panose="02040503050406030204" pitchFamily="18" charset="0"/>
                                    <a:ea typeface="Cambria Math" panose="02040503050406030204" pitchFamily="18" charset="0"/>
                                  </a:rPr>
                                  <m:t>𝐓</m:t>
                                </m:r>
                                <m:r>
                                  <a:rPr lang="en-US" sz="3200" i="1" dirty="0">
                                    <a:solidFill>
                                      <a:sysClr val="windowText" lastClr="000000"/>
                                    </a:solidFill>
                                    <a:latin typeface="Cambria Math" panose="02040503050406030204" pitchFamily="18" charset="0"/>
                                    <a:ea typeface="Cambria Math" panose="02040503050406030204" pitchFamily="18" charset="0"/>
                                  </a:rPr>
                                  <m:t>,</m:t>
                                </m:r>
                                <m:r>
                                  <a:rPr lang="en-US" sz="3200" b="1" i="0" dirty="0" smtClean="0">
                                    <a:solidFill>
                                      <a:srgbClr val="FF0000"/>
                                    </a:solidFill>
                                    <a:latin typeface="Cambria Math" panose="02040503050406030204" pitchFamily="18" charset="0"/>
                                    <a:ea typeface="Cambria Math" panose="02040503050406030204" pitchFamily="18" charset="0"/>
                                  </a:rPr>
                                  <m:t>𝚿</m:t>
                                </m:r>
                                <m:r>
                                  <a:rPr lang="en-US" sz="3200" i="1" dirty="0" smtClean="0">
                                    <a:solidFill>
                                      <a:sysClr val="windowText" lastClr="000000"/>
                                    </a:solidFill>
                                    <a:latin typeface="Cambria Math" panose="02040503050406030204" pitchFamily="18" charset="0"/>
                                    <a:ea typeface="Cambria Math" panose="02040503050406030204" pitchFamily="18" charset="0"/>
                                  </a:rPr>
                                  <m:t> </m:t>
                                </m:r>
                              </m:e>
                            </m:d>
                            <m:d>
                              <m:dPr>
                                <m:begChr m:val="⟨"/>
                                <m:endChr m:val="⟩"/>
                                <m:ctrlPr>
                                  <a:rPr lang="en-US" sz="3200" i="1" dirty="0" smtClean="0">
                                    <a:solidFill>
                                      <a:schemeClr val="tx1"/>
                                    </a:solidFill>
                                    <a:latin typeface="Cambria Math" panose="02040503050406030204" pitchFamily="18" charset="0"/>
                                    <a:ea typeface="Cambria Math" panose="02040503050406030204" pitchFamily="18" charset="0"/>
                                  </a:rPr>
                                </m:ctrlPr>
                              </m:dPr>
                              <m:e>
                                <m:r>
                                  <a:rPr lang="en-US" sz="3200" b="1" i="0" dirty="0" smtClean="0">
                                    <a:solidFill>
                                      <a:srgbClr val="FF0000"/>
                                    </a:solidFill>
                                    <a:latin typeface="Cambria Math" panose="02040503050406030204" pitchFamily="18" charset="0"/>
                                    <a:ea typeface="Cambria Math" panose="02040503050406030204" pitchFamily="18" charset="0"/>
                                  </a:rPr>
                                  <m:t>𝚿</m:t>
                                </m:r>
                                <m:r>
                                  <a:rPr lang="en-US" sz="3200" b="0" i="1" dirty="0" smtClean="0">
                                    <a:solidFill>
                                      <a:schemeClr val="tx1"/>
                                    </a:solidFill>
                                    <a:latin typeface="Cambria Math" panose="02040503050406030204" pitchFamily="18" charset="0"/>
                                    <a:ea typeface="Cambria Math" panose="02040503050406030204" pitchFamily="18" charset="0"/>
                                  </a:rPr>
                                  <m:t>,</m:t>
                                </m:r>
                                <m:sSup>
                                  <m:sSupPr>
                                    <m:ctrlPr>
                                      <a:rPr lang="en-US" sz="3200" b="0" i="1" dirty="0" smtClean="0">
                                        <a:solidFill>
                                          <a:schemeClr val="tx1"/>
                                        </a:solidFill>
                                        <a:latin typeface="Cambria Math" panose="02040503050406030204" pitchFamily="18" charset="0"/>
                                        <a:ea typeface="Cambria Math" panose="02040503050406030204" pitchFamily="18" charset="0"/>
                                      </a:rPr>
                                    </m:ctrlPr>
                                  </m:sSupPr>
                                  <m:e>
                                    <m:r>
                                      <a:rPr lang="en-US" sz="3200" b="1" i="1" dirty="0" smtClean="0">
                                        <a:solidFill>
                                          <a:schemeClr val="tx1"/>
                                        </a:solidFill>
                                        <a:latin typeface="Cambria Math" panose="02040503050406030204" pitchFamily="18" charset="0"/>
                                        <a:ea typeface="Cambria Math" panose="02040503050406030204" pitchFamily="18" charset="0"/>
                                      </a:rPr>
                                      <m:t>𝒘</m:t>
                                    </m:r>
                                  </m:e>
                                  <m:sup>
                                    <m:r>
                                      <a:rPr lang="en-US" sz="3200" b="0" i="1" dirty="0" smtClean="0">
                                        <a:solidFill>
                                          <a:schemeClr val="tx1"/>
                                        </a:solidFill>
                                        <a:latin typeface="Cambria Math" panose="02040503050406030204" pitchFamily="18" charset="0"/>
                                        <a:ea typeface="Cambria Math" panose="02040503050406030204" pitchFamily="18" charset="0"/>
                                      </a:rPr>
                                      <m:t>⊗</m:t>
                                    </m:r>
                                    <m:r>
                                      <a:rPr lang="en-US" sz="3200" b="0" i="1" dirty="0" smtClean="0">
                                        <a:solidFill>
                                          <a:schemeClr val="tx1"/>
                                        </a:solidFill>
                                        <a:latin typeface="Cambria Math" panose="02040503050406030204" pitchFamily="18" charset="0"/>
                                        <a:ea typeface="Cambria Math" panose="02040503050406030204" pitchFamily="18" charset="0"/>
                                      </a:rPr>
                                      <m:t>𝑟</m:t>
                                    </m:r>
                                  </m:sup>
                                </m:sSup>
                              </m:e>
                            </m:d>
                          </m:e>
                        </m:d>
                        <m:r>
                          <a:rPr lang="en-US" sz="3200" i="1" dirty="0">
                            <a:solidFill>
                              <a:sysClr val="windowText" lastClr="000000"/>
                            </a:solidFill>
                            <a:latin typeface="Cambria Math" panose="02040503050406030204" pitchFamily="18" charset="0"/>
                            <a:ea typeface="Cambria Math" panose="02040503050406030204" pitchFamily="18" charset="0"/>
                          </a:rPr>
                          <m:t>=</m:t>
                        </m:r>
                        <m:d>
                          <m:dPr>
                            <m:begChr m:val="⟨"/>
                            <m:endChr m:val="⟩"/>
                            <m:ctrlPr>
                              <a:rPr lang="en-US" sz="3200" i="1" dirty="0">
                                <a:solidFill>
                                  <a:sysClr val="windowText" lastClr="000000"/>
                                </a:solidFill>
                                <a:latin typeface="Cambria Math" panose="02040503050406030204" pitchFamily="18" charset="0"/>
                                <a:ea typeface="Cambria Math" panose="02040503050406030204" pitchFamily="18" charset="0"/>
                              </a:rPr>
                            </m:ctrlPr>
                          </m:dPr>
                          <m:e>
                            <m:r>
                              <a:rPr lang="en-US" sz="3200" b="1" dirty="0">
                                <a:solidFill>
                                  <a:sysClr val="windowText" lastClr="000000"/>
                                </a:solidFill>
                                <a:latin typeface="Cambria Math" panose="02040503050406030204" pitchFamily="18" charset="0"/>
                                <a:ea typeface="Cambria Math" panose="02040503050406030204" pitchFamily="18" charset="0"/>
                              </a:rPr>
                              <m:t>𝐓</m:t>
                            </m:r>
                            <m:r>
                              <a:rPr lang="en-US" sz="3200" i="1" dirty="0">
                                <a:solidFill>
                                  <a:sysClr val="windowText" lastClr="000000"/>
                                </a:solidFill>
                                <a:latin typeface="Cambria Math" panose="02040503050406030204" pitchFamily="18" charset="0"/>
                                <a:ea typeface="Cambria Math" panose="02040503050406030204" pitchFamily="18" charset="0"/>
                              </a:rPr>
                              <m:t>, </m:t>
                            </m:r>
                            <m:sSup>
                              <m:sSupPr>
                                <m:ctrlPr>
                                  <a:rPr lang="en-US" sz="3200" b="1" i="1" dirty="0">
                                    <a:solidFill>
                                      <a:sysClr val="windowText" lastClr="000000"/>
                                    </a:solidFill>
                                    <a:latin typeface="Cambria Math" panose="02040503050406030204" pitchFamily="18" charset="0"/>
                                    <a:ea typeface="Cambria Math" panose="02040503050406030204" pitchFamily="18" charset="0"/>
                                  </a:rPr>
                                </m:ctrlPr>
                              </m:sSupPr>
                              <m:e>
                                <m:r>
                                  <a:rPr lang="en-US" sz="3200" b="1" i="1" dirty="0">
                                    <a:solidFill>
                                      <a:sysClr val="windowText" lastClr="000000"/>
                                    </a:solidFill>
                                    <a:latin typeface="Cambria Math" panose="02040503050406030204" pitchFamily="18" charset="0"/>
                                    <a:ea typeface="Cambria Math" panose="02040503050406030204" pitchFamily="18" charset="0"/>
                                  </a:rPr>
                                  <m:t>𝒘</m:t>
                                </m:r>
                              </m:e>
                              <m:sup>
                                <m:r>
                                  <a:rPr lang="en-US" sz="3200" b="1" i="1" dirty="0">
                                    <a:solidFill>
                                      <a:sysClr val="windowText" lastClr="000000"/>
                                    </a:solidFill>
                                    <a:latin typeface="Cambria Math" panose="02040503050406030204" pitchFamily="18" charset="0"/>
                                    <a:ea typeface="Cambria Math" panose="02040503050406030204" pitchFamily="18" charset="0"/>
                                  </a:rPr>
                                  <m:t>⊗</m:t>
                                </m:r>
                                <m:r>
                                  <a:rPr lang="en-US" sz="3200" i="1" dirty="0">
                                    <a:solidFill>
                                      <a:sysClr val="windowText" lastClr="000000"/>
                                    </a:solidFill>
                                    <a:latin typeface="Cambria Math" panose="02040503050406030204" pitchFamily="18" charset="0"/>
                                    <a:ea typeface="Cambria Math" panose="02040503050406030204" pitchFamily="18" charset="0"/>
                                  </a:rPr>
                                  <m:t>𝑟</m:t>
                                </m:r>
                              </m:sup>
                            </m:sSup>
                          </m:e>
                        </m:d>
                      </m:oMath>
                    </m:oMathPara>
                  </a14:m>
                  <a:endParaRPr lang="en-US" sz="3200" b="1" dirty="0">
                    <a:solidFill>
                      <a:sysClr val="windowText" lastClr="000000"/>
                    </a:solidFill>
                    <a:latin typeface="Garamond" panose="02020404030301010803" pitchFamily="18" charset="0"/>
                  </a:endParaRPr>
                </a:p>
                <a:p>
                  <a:pPr>
                    <a:lnSpc>
                      <a:spcPct val="250000"/>
                    </a:lnSpc>
                  </a:pPr>
                  <a:r>
                    <a:rPr lang="en-US" sz="3200" dirty="0">
                      <a:solidFill>
                        <a:schemeClr val="tx1"/>
                      </a:solidFill>
                      <a:latin typeface="Garamond" panose="02020404030301010803" pitchFamily="18" charset="0"/>
                    </a:rPr>
                    <a:t>where</a:t>
                  </a:r>
                  <a:r>
                    <a:rPr lang="en-US" sz="3200" b="1" dirty="0">
                      <a:solidFill>
                        <a:schemeClr val="tx1"/>
                      </a:solidFill>
                      <a:latin typeface="Garamond" panose="02020404030301010803" pitchFamily="18" charset="0"/>
                    </a:rPr>
                    <a:t> </a:t>
                  </a:r>
                  <a14:m>
                    <m:oMath xmlns:m="http://schemas.openxmlformats.org/officeDocument/2006/math">
                      <m:r>
                        <a:rPr lang="en-US" sz="3200" b="1" i="0" smtClean="0">
                          <a:solidFill>
                            <a:srgbClr val="FF0000"/>
                          </a:solidFill>
                          <a:latin typeface="Cambria Math" panose="02040503050406030204" pitchFamily="18" charset="0"/>
                        </a:rPr>
                        <m:t>𝚿</m:t>
                      </m:r>
                      <m:r>
                        <a:rPr lang="en-US" sz="3200" b="0" i="1" smtClean="0">
                          <a:solidFill>
                            <a:schemeClr val="tx1"/>
                          </a:solidFill>
                          <a:latin typeface="Cambria Math" panose="02040503050406030204" pitchFamily="18" charset="0"/>
                        </a:rPr>
                        <m:t>←</m:t>
                      </m:r>
                      <m:r>
                        <m:rPr>
                          <m:lit/>
                        </m:rP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−1, 1</m:t>
                      </m:r>
                      <m:sSup>
                        <m:sSupPr>
                          <m:ctrlPr>
                            <a:rPr lang="en-US" sz="3200" b="0" i="1" smtClean="0">
                              <a:solidFill>
                                <a:schemeClr val="tx1"/>
                              </a:solidFill>
                              <a:latin typeface="Cambria Math" panose="02040503050406030204" pitchFamily="18" charset="0"/>
                            </a:rPr>
                          </m:ctrlPr>
                        </m:sSupPr>
                        <m:e>
                          <m:r>
                            <m:rPr>
                              <m:lit/>
                            </m:rPr>
                            <a:rPr lang="en-US" sz="3200" b="0" i="1" smtClean="0">
                              <a:solidFill>
                                <a:schemeClr val="tx1"/>
                              </a:solidFill>
                              <a:latin typeface="Cambria Math" panose="02040503050406030204" pitchFamily="18" charset="0"/>
                            </a:rPr>
                            <m:t>}</m:t>
                          </m:r>
                        </m:e>
                        <m:sup>
                          <m:sSup>
                            <m:sSupPr>
                              <m:ctrlPr>
                                <a:rPr lang="en-US" sz="3200" b="0" i="1" smtClean="0">
                                  <a:solidFill>
                                    <a:schemeClr val="tx1"/>
                                  </a:solidFill>
                                  <a:latin typeface="Cambria Math" panose="02040503050406030204" pitchFamily="18" charset="0"/>
                                </a:rPr>
                              </m:ctrlPr>
                            </m:sSupPr>
                            <m:e>
                              <m:r>
                                <a:rPr lang="en-US" sz="3200" b="0" i="1" smtClean="0">
                                  <a:solidFill>
                                    <a:schemeClr val="tx1"/>
                                  </a:solidFill>
                                  <a:latin typeface="Cambria Math" panose="02040503050406030204" pitchFamily="18" charset="0"/>
                                </a:rPr>
                                <m:t>𝑛</m:t>
                              </m:r>
                            </m:e>
                            <m:sup>
                              <m:r>
                                <a:rPr lang="en-US" sz="3200" b="0" i="1" smtClean="0">
                                  <a:solidFill>
                                    <a:schemeClr val="tx1"/>
                                  </a:solidFill>
                                  <a:latin typeface="Cambria Math" panose="02040503050406030204" pitchFamily="18" charset="0"/>
                                </a:rPr>
                                <m:t>𝑟</m:t>
                              </m:r>
                            </m:sup>
                          </m:sSup>
                        </m:sup>
                      </m:sSup>
                    </m:oMath>
                  </a14:m>
                  <a:r>
                    <a:rPr lang="en-US" sz="3200" dirty="0">
                      <a:solidFill>
                        <a:schemeClr val="tx1"/>
                      </a:solidFill>
                      <a:latin typeface="Cambria Math" panose="02040503050406030204" pitchFamily="18" charset="0"/>
                    </a:rPr>
                    <a:t>.</a:t>
                  </a:r>
                  <a:endParaRPr lang="en-US" sz="3200" dirty="0">
                    <a:latin typeface="Cambria Math" panose="02040503050406030204" pitchFamily="18" charset="0"/>
                  </a:endParaRPr>
                </a:p>
              </p:txBody>
            </p:sp>
          </mc:Choice>
          <mc:Fallback xmlns="">
            <p:sp>
              <p:nvSpPr>
                <p:cNvPr id="25" name="Rectangle 24">
                  <a:extLst>
                    <a:ext uri="{FF2B5EF4-FFF2-40B4-BE49-F238E27FC236}">
                      <a16:creationId xmlns:a16="http://schemas.microsoft.com/office/drawing/2014/main" id="{2343CD53-010C-C561-034F-3DE089A234F1}"/>
                    </a:ext>
                  </a:extLst>
                </p:cNvPr>
                <p:cNvSpPr>
                  <a:spLocks noRot="1" noChangeAspect="1" noMove="1" noResize="1" noEditPoints="1" noAdjustHandles="1" noChangeArrowheads="1" noChangeShapeType="1" noTextEdit="1"/>
                </p:cNvSpPr>
                <p:nvPr/>
              </p:nvSpPr>
              <p:spPr>
                <a:xfrm>
                  <a:off x="6096000" y="2054961"/>
                  <a:ext cx="5975922" cy="2505519"/>
                </a:xfrm>
                <a:prstGeom prst="rect">
                  <a:avLst/>
                </a:prstGeom>
                <a:blipFill>
                  <a:blip r:embed="rId7"/>
                  <a:stretch>
                    <a:fillRect l="-2326" t="-3000" b="-7500"/>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D7F92CF-D35E-AD15-2CC4-A74184EC3AD6}"/>
                    </a:ext>
                  </a:extLst>
                </p:cNvPr>
                <p:cNvSpPr txBox="1"/>
                <p:nvPr/>
              </p:nvSpPr>
              <p:spPr>
                <a:xfrm>
                  <a:off x="6327995" y="3151556"/>
                  <a:ext cx="40267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solidFill>
                              <a:srgbClr val="FF0000"/>
                            </a:solidFill>
                            <a:latin typeface="Cambria Math" panose="02040503050406030204" pitchFamily="18" charset="0"/>
                          </a:rPr>
                          <m:t>𝚿</m:t>
                        </m:r>
                      </m:oMath>
                    </m:oMathPara>
                  </a14:m>
                  <a:endParaRPr lang="en-US" sz="2400" b="1" i="1" dirty="0">
                    <a:latin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6D7F92CF-D35E-AD15-2CC4-A74184EC3AD6}"/>
                    </a:ext>
                  </a:extLst>
                </p:cNvPr>
                <p:cNvSpPr txBox="1">
                  <a:spLocks noRot="1" noChangeAspect="1" noMove="1" noResize="1" noEditPoints="1" noAdjustHandles="1" noChangeArrowheads="1" noChangeShapeType="1" noTextEdit="1"/>
                </p:cNvSpPr>
                <p:nvPr/>
              </p:nvSpPr>
              <p:spPr>
                <a:xfrm>
                  <a:off x="6327995" y="3151556"/>
                  <a:ext cx="402673" cy="461665"/>
                </a:xfrm>
                <a:prstGeom prst="rect">
                  <a:avLst/>
                </a:prstGeom>
                <a:blipFill>
                  <a:blip r:embed="rId8"/>
                  <a:stretch>
                    <a:fillRect l="-3125" r="-125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2817BB0E-4F5F-5A3F-5BAB-380EA5765388}"/>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30" name="Rounded Rectangle 29">
                <a:extLst>
                  <a:ext uri="{FF2B5EF4-FFF2-40B4-BE49-F238E27FC236}">
                    <a16:creationId xmlns:a16="http://schemas.microsoft.com/office/drawing/2014/main" id="{2817BB0E-4F5F-5A3F-5BAB-380EA5765388}"/>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9"/>
                <a:stretch>
                  <a:fillRect l="-1705" t="-10606" b="-30303"/>
                </a:stretch>
              </a:blipFill>
              <a:ln>
                <a:noFill/>
              </a:ln>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6ED85AB8-6A64-8D10-5BB5-1729D7D3AFCD}"/>
              </a:ext>
            </a:extLst>
          </p:cNvPr>
          <p:cNvSpPr/>
          <p:nvPr/>
        </p:nvSpPr>
        <p:spPr>
          <a:xfrm>
            <a:off x="592274" y="4667200"/>
            <a:ext cx="5714340" cy="1387244"/>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600" dirty="0">
                <a:solidFill>
                  <a:schemeClr val="tx1"/>
                </a:solidFill>
                <a:latin typeface="Garamond" panose="02020404030301010803" pitchFamily="18" charset="0"/>
              </a:rPr>
              <a:t>The variance is independent of the dimension!</a:t>
            </a:r>
          </a:p>
        </p:txBody>
      </p:sp>
      <p:sp>
        <p:nvSpPr>
          <p:cNvPr id="32" name="Right Arrow 31">
            <a:extLst>
              <a:ext uri="{FF2B5EF4-FFF2-40B4-BE49-F238E27FC236}">
                <a16:creationId xmlns:a16="http://schemas.microsoft.com/office/drawing/2014/main" id="{7987F600-8497-642A-4F62-B4F5A0394A94}"/>
              </a:ext>
            </a:extLst>
          </p:cNvPr>
          <p:cNvSpPr/>
          <p:nvPr/>
        </p:nvSpPr>
        <p:spPr>
          <a:xfrm rot="19288305">
            <a:off x="4717824" y="3413676"/>
            <a:ext cx="2520236" cy="993913"/>
          </a:xfrm>
          <a:prstGeom prst="rightArrow">
            <a:avLst/>
          </a:prstGeom>
          <a:solidFill>
            <a:srgbClr val="FFC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770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22" grpId="0" animBg="1"/>
      <p:bldP spid="31" grpId="1" animBg="1"/>
      <p:bldP spid="3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045CD-7CC1-9877-9D70-CCEEFBBB9D5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5EF73F2-A78C-06D4-F526-B35265BD89C5}"/>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D5EF73F2-A78C-06D4-F526-B35265BD89C5}"/>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8A70B871-5255-CEDA-A42B-200F4F167865}"/>
                  </a:ext>
                </a:extLst>
              </p:cNvPr>
              <p:cNvSpPr/>
              <p:nvPr/>
            </p:nvSpPr>
            <p:spPr>
              <a:xfrm>
                <a:off x="6332261" y="1805135"/>
                <a:ext cx="5567425" cy="1637142"/>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Store </a:t>
                </a:r>
                <a14:m>
                  <m:oMath xmlns:m="http://schemas.openxmlformats.org/officeDocument/2006/math">
                    <m:r>
                      <a:rPr lang="en-US" sz="4400" b="1">
                        <a:solidFill>
                          <a:srgbClr val="FF0000"/>
                        </a:solidFill>
                        <a:latin typeface="Cambria Math" panose="02040503050406030204" pitchFamily="18" charset="0"/>
                      </a:rPr>
                      <m:t>𝚿</m:t>
                    </m:r>
                  </m:oMath>
                </a14:m>
                <a:r>
                  <a:rPr lang="en-US" sz="4400" dirty="0">
                    <a:solidFill>
                      <a:schemeClr val="tx1"/>
                    </a:solidFill>
                    <a:latin typeface="Garamond" panose="02020404030301010803" pitchFamily="18" charset="0"/>
                  </a:rPr>
                  <a:t> and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 </m:t>
                        </m:r>
                        <m:r>
                          <a:rPr lang="en-US" sz="4400" b="1" smtClean="0">
                            <a:solidFill>
                              <a:srgbClr val="FF0000"/>
                            </a:solidFill>
                            <a:latin typeface="Cambria Math" panose="02040503050406030204" pitchFamily="18" charset="0"/>
                          </a:rPr>
                          <m:t>𝚿</m:t>
                        </m:r>
                      </m:e>
                    </m:d>
                  </m:oMath>
                </a14:m>
                <a:r>
                  <a:rPr lang="en-US" sz="4400" dirty="0">
                    <a:solidFill>
                      <a:schemeClr val="tx1"/>
                    </a:solidFill>
                    <a:latin typeface="Garamond" panose="02020404030301010803" pitchFamily="18" charset="0"/>
                  </a:rPr>
                  <a:t>.</a:t>
                </a:r>
              </a:p>
            </p:txBody>
          </p:sp>
        </mc:Choice>
        <mc:Fallback xmlns="">
          <p:sp>
            <p:nvSpPr>
              <p:cNvPr id="7" name="Rounded Rectangle 6">
                <a:extLst>
                  <a:ext uri="{FF2B5EF4-FFF2-40B4-BE49-F238E27FC236}">
                    <a16:creationId xmlns:a16="http://schemas.microsoft.com/office/drawing/2014/main" id="{8A70B871-5255-CEDA-A42B-200F4F167865}"/>
                  </a:ext>
                </a:extLst>
              </p:cNvPr>
              <p:cNvSpPr>
                <a:spLocks noRot="1" noChangeAspect="1" noMove="1" noResize="1" noEditPoints="1" noAdjustHandles="1" noChangeArrowheads="1" noChangeShapeType="1" noTextEdit="1"/>
              </p:cNvSpPr>
              <p:nvPr/>
            </p:nvSpPr>
            <p:spPr>
              <a:xfrm>
                <a:off x="6332261" y="1805135"/>
                <a:ext cx="5567425" cy="1637142"/>
              </a:xfrm>
              <a:prstGeom prst="roundRect">
                <a:avLst/>
              </a:prstGeom>
              <a:blipFill>
                <a:blip r:embed="rId4"/>
                <a:stretch>
                  <a:fillRect l="-2961" t="-4615" b="-1230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0DD58CFE-0DE0-B819-F0C3-2DDBFD45D51A}"/>
                  </a:ext>
                </a:extLst>
              </p:cNvPr>
              <p:cNvSpPr/>
              <p:nvPr/>
            </p:nvSpPr>
            <p:spPr>
              <a:xfrm>
                <a:off x="6332261" y="3658593"/>
                <a:ext cx="5567425" cy="2376678"/>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Prediction (delete </a:t>
                </a:r>
                <a14:m>
                  <m:oMath xmlns:m="http://schemas.openxmlformats.org/officeDocument/2006/math">
                    <m:r>
                      <a:rPr lang="en-US" sz="4400" i="1">
                        <a:solidFill>
                          <a:schemeClr val="tx1"/>
                        </a:solidFill>
                        <a:latin typeface="Cambria Math" panose="02040503050406030204" pitchFamily="18" charset="0"/>
                      </a:rPr>
                      <m:t>𝑋</m:t>
                    </m:r>
                  </m:oMath>
                </a14:m>
                <a:r>
                  <a:rPr lang="en-US" sz="4400" b="1" dirty="0">
                    <a:solidFill>
                      <a:schemeClr val="tx1"/>
                    </a:solidFill>
                    <a:latin typeface="Garamond" panose="02020404030301010803" pitchFamily="18" charset="0"/>
                  </a:rPr>
                  <a:t>):</a:t>
                </a:r>
              </a:p>
              <a:p>
                <a:r>
                  <a:rPr lang="en-US" sz="4400" dirty="0">
                    <a:solidFill>
                      <a:schemeClr val="tx1"/>
                    </a:solidFill>
                    <a:latin typeface="Garamond" panose="02020404030301010803" pitchFamily="18" charset="0"/>
                  </a:rPr>
                  <a:t>Compute</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 </m:t>
                        </m:r>
                        <m:r>
                          <a:rPr lang="en-US" sz="4400" b="1" smtClean="0">
                            <a:solidFill>
                              <a:srgbClr val="FF0000"/>
                            </a:solidFill>
                            <a:latin typeface="Cambria Math" panose="02040503050406030204" pitchFamily="18" charset="0"/>
                          </a:rPr>
                          <m:t>𝚿</m:t>
                        </m:r>
                      </m:e>
                    </m:d>
                    <m:r>
                      <a:rPr lang="en-US" sz="4400" i="1">
                        <a:solidFill>
                          <a:schemeClr val="tx1"/>
                        </a:solidFill>
                        <a:latin typeface="Cambria Math" panose="02040503050406030204" pitchFamily="18" charset="0"/>
                      </a:rPr>
                      <m:t> </m:t>
                    </m:r>
                    <m:d>
                      <m:dPr>
                        <m:begChr m:val="⟨"/>
                        <m:endChr m:val="⟩"/>
                        <m:ctrlPr>
                          <a:rPr lang="en-US" sz="4400" i="1">
                            <a:solidFill>
                              <a:schemeClr val="tx1"/>
                            </a:solidFill>
                            <a:latin typeface="Cambria Math" panose="02040503050406030204" pitchFamily="18" charset="0"/>
                          </a:rPr>
                        </m:ctrlPr>
                      </m:dPr>
                      <m:e>
                        <m:r>
                          <a:rPr lang="en-US" sz="4400" b="1" smtClean="0">
                            <a:solidFill>
                              <a:srgbClr val="FF0000"/>
                            </a:solidFill>
                            <a:latin typeface="Cambria Math" panose="02040503050406030204" pitchFamily="18" charset="0"/>
                          </a:rPr>
                          <m:t>𝚿</m:t>
                        </m:r>
                        <m:r>
                          <a:rPr lang="en-US" sz="4400" i="1">
                            <a:solidFill>
                              <a:schemeClr val="tx1"/>
                            </a:solidFill>
                            <a:latin typeface="Cambria Math" panose="02040503050406030204" pitchFamily="18" charset="0"/>
                          </a:rPr>
                          <m:t>, </m:t>
                        </m:r>
                        <m:sSubSup>
                          <m:sSubSupPr>
                            <m:ctrlPr>
                              <a:rPr lang="en-US" sz="4400" i="1">
                                <a:solidFill>
                                  <a:schemeClr val="tx1"/>
                                </a:solidFill>
                                <a:latin typeface="Cambria Math" panose="02040503050406030204" pitchFamily="18" charset="0"/>
                              </a:rPr>
                            </m:ctrlPr>
                          </m:sSubSupPr>
                          <m:e>
                            <m:r>
                              <a:rPr lang="en-US" sz="4400" b="1" i="1">
                                <a:solidFill>
                                  <a:schemeClr val="tx1"/>
                                </a:solidFill>
                                <a:latin typeface="Cambria Math" panose="02040503050406030204" pitchFamily="18" charset="0"/>
                              </a:rPr>
                              <m:t>𝒆</m:t>
                            </m:r>
                          </m:e>
                          <m:sub>
                            <m:r>
                              <a:rPr lang="en-US" sz="4400" i="1">
                                <a:solidFill>
                                  <a:schemeClr val="tx1"/>
                                </a:solidFill>
                                <a:latin typeface="Cambria Math" panose="02040503050406030204" pitchFamily="18" charset="0"/>
                              </a:rPr>
                              <m:t>𝑋</m:t>
                            </m:r>
                          </m:sub>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sup>
                        </m:sSubSup>
                      </m:e>
                    </m:d>
                  </m:oMath>
                </a14:m>
                <a:r>
                  <a:rPr lang="en-US" sz="4400" dirty="0">
                    <a:solidFill>
                      <a:schemeClr val="tx1"/>
                    </a:solidFill>
                    <a:latin typeface="Garamond" panose="02020404030301010803" pitchFamily="18" charset="0"/>
                  </a:rPr>
                  <a:t>.</a:t>
                </a:r>
              </a:p>
            </p:txBody>
          </p:sp>
        </mc:Choice>
        <mc:Fallback xmlns="">
          <p:sp>
            <p:nvSpPr>
              <p:cNvPr id="10" name="Rounded Rectangle 9">
                <a:extLst>
                  <a:ext uri="{FF2B5EF4-FFF2-40B4-BE49-F238E27FC236}">
                    <a16:creationId xmlns:a16="http://schemas.microsoft.com/office/drawing/2014/main" id="{0DD58CFE-0DE0-B819-F0C3-2DDBFD45D51A}"/>
                  </a:ext>
                </a:extLst>
              </p:cNvPr>
              <p:cNvSpPr>
                <a:spLocks noRot="1" noChangeAspect="1" noMove="1" noResize="1" noEditPoints="1" noAdjustHandles="1" noChangeArrowheads="1" noChangeShapeType="1" noTextEdit="1"/>
              </p:cNvSpPr>
              <p:nvPr/>
            </p:nvSpPr>
            <p:spPr>
              <a:xfrm>
                <a:off x="6332261" y="3658593"/>
                <a:ext cx="5567425" cy="2376678"/>
              </a:xfrm>
              <a:prstGeom prst="roundRect">
                <a:avLst/>
              </a:prstGeom>
              <a:blipFill>
                <a:blip r:embed="rId5"/>
                <a:stretch>
                  <a:fillRect l="-2278" t="-2128" r="-1822" b="-7979"/>
                </a:stretch>
              </a:blipFill>
              <a:ln>
                <a:noFill/>
              </a:ln>
            </p:spPr>
            <p:txBody>
              <a:bodyPr/>
              <a:lstStyle/>
              <a:p>
                <a:r>
                  <a:rPr lang="en-US">
                    <a:noFill/>
                  </a:rPr>
                  <a:t> </a:t>
                </a:r>
              </a:p>
            </p:txBody>
          </p:sp>
        </mc:Fallback>
      </mc:AlternateContent>
      <p:sp>
        <p:nvSpPr>
          <p:cNvPr id="12" name="Title 1">
            <a:extLst>
              <a:ext uri="{FF2B5EF4-FFF2-40B4-BE49-F238E27FC236}">
                <a16:creationId xmlns:a16="http://schemas.microsoft.com/office/drawing/2014/main" id="{49924F66-A92F-1569-2098-83933BF7636C}"/>
              </a:ext>
            </a:extLst>
          </p:cNvPr>
          <p:cNvSpPr txBox="1">
            <a:spLocks/>
          </p:cNvSpPr>
          <p:nvPr/>
        </p:nvSpPr>
        <p:spPr>
          <a:xfrm>
            <a:off x="7515298" y="1134567"/>
            <a:ext cx="3315625" cy="9085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u="sng" dirty="0"/>
              <a:t>New attempt</a:t>
            </a:r>
            <a:endParaRPr lang="en-US" b="0" u="sng" dirty="0"/>
          </a:p>
        </p:txBody>
      </p:sp>
      <p:sp>
        <p:nvSpPr>
          <p:cNvPr id="13" name="TextBox 12">
            <a:extLst>
              <a:ext uri="{FF2B5EF4-FFF2-40B4-BE49-F238E27FC236}">
                <a16:creationId xmlns:a16="http://schemas.microsoft.com/office/drawing/2014/main" id="{AD99B4E6-B7AF-D6CD-54CD-BD8F70179813}"/>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Random projections [JL]</a:t>
            </a:r>
            <a:endParaRPr lang="en-US" sz="440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08C6E050-C70F-04DC-5285-74B152E1EFA1}"/>
                  </a:ext>
                </a:extLst>
              </p:cNvPr>
              <p:cNvSpPr/>
              <p:nvPr/>
            </p:nvSpPr>
            <p:spPr>
              <a:xfrm>
                <a:off x="1658380" y="5017885"/>
                <a:ext cx="2007909" cy="951394"/>
              </a:xfrm>
              <a:prstGeom prst="roundRect">
                <a:avLst/>
              </a:prstGeom>
              <a:solidFill>
                <a:srgbClr val="FF0000">
                  <a:alpha val="75000"/>
                </a:srgb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dirty="0">
                    <a:solidFill>
                      <a:sysClr val="windowText" lastClr="000000"/>
                    </a:solidFill>
                    <a:latin typeface="Garamond" panose="02020404030301010803" pitchFamily="18" charset="0"/>
                  </a:rPr>
                  <a:t>Size </a:t>
                </a:r>
                <a14:m>
                  <m:oMath xmlns:m="http://schemas.openxmlformats.org/officeDocument/2006/math">
                    <m:sSup>
                      <m:sSupPr>
                        <m:ctrlPr>
                          <a:rPr lang="en-US" sz="4400" b="0" i="1" smtClean="0">
                            <a:solidFill>
                              <a:sysClr val="windowText" lastClr="000000"/>
                            </a:solidFill>
                            <a:latin typeface="Cambria Math" panose="02040503050406030204" pitchFamily="18" charset="0"/>
                          </a:rPr>
                        </m:ctrlPr>
                      </m:sSupPr>
                      <m:e>
                        <m:r>
                          <a:rPr lang="en-US" sz="4400" b="0" i="1" smtClean="0">
                            <a:solidFill>
                              <a:sysClr val="windowText" lastClr="000000"/>
                            </a:solidFill>
                            <a:latin typeface="Cambria Math" panose="02040503050406030204" pitchFamily="18" charset="0"/>
                          </a:rPr>
                          <m:t>𝑛</m:t>
                        </m:r>
                      </m:e>
                      <m:sup>
                        <m:r>
                          <a:rPr lang="en-US" sz="4400" b="0" i="1" smtClean="0">
                            <a:solidFill>
                              <a:sysClr val="windowText" lastClr="000000"/>
                            </a:solidFill>
                            <a:latin typeface="Cambria Math" panose="02040503050406030204" pitchFamily="18" charset="0"/>
                          </a:rPr>
                          <m:t>𝑟</m:t>
                        </m:r>
                      </m:sup>
                    </m:sSup>
                  </m:oMath>
                </a14:m>
                <a:endParaRPr lang="en-US" sz="4400" dirty="0">
                  <a:solidFill>
                    <a:sysClr val="windowText" lastClr="000000"/>
                  </a:solidFill>
                  <a:latin typeface="Garamond" panose="02020404030301010803" pitchFamily="18" charset="0"/>
                </a:endParaRPr>
              </a:p>
            </p:txBody>
          </p:sp>
        </mc:Choice>
        <mc:Fallback xmlns="">
          <p:sp>
            <p:nvSpPr>
              <p:cNvPr id="14" name="Rounded Rectangle 13">
                <a:extLst>
                  <a:ext uri="{FF2B5EF4-FFF2-40B4-BE49-F238E27FC236}">
                    <a16:creationId xmlns:a16="http://schemas.microsoft.com/office/drawing/2014/main" id="{08C6E050-C70F-04DC-5285-74B152E1EFA1}"/>
                  </a:ext>
                </a:extLst>
              </p:cNvPr>
              <p:cNvSpPr>
                <a:spLocks noRot="1" noChangeAspect="1" noMove="1" noResize="1" noEditPoints="1" noAdjustHandles="1" noChangeArrowheads="1" noChangeShapeType="1" noTextEdit="1"/>
              </p:cNvSpPr>
              <p:nvPr/>
            </p:nvSpPr>
            <p:spPr>
              <a:xfrm>
                <a:off x="1658380" y="5017885"/>
                <a:ext cx="2007909" cy="951394"/>
              </a:xfrm>
              <a:prstGeom prst="roundRect">
                <a:avLst/>
              </a:prstGeom>
              <a:blipFill>
                <a:blip r:embed="rId6"/>
                <a:stretch>
                  <a:fillRect l="-6289" t="-2667" b="-21333"/>
                </a:stretch>
              </a:blipFill>
              <a:ln>
                <a:noFill/>
              </a:ln>
            </p:spPr>
            <p:txBody>
              <a:bodyPr/>
              <a:lstStyle/>
              <a:p>
                <a:r>
                  <a:rPr lang="en-US">
                    <a:noFill/>
                  </a:rPr>
                  <a:t> </a:t>
                </a:r>
              </a:p>
            </p:txBody>
          </p:sp>
        </mc:Fallback>
      </mc:AlternateContent>
      <p:pic>
        <p:nvPicPr>
          <p:cNvPr id="6" name="Graphic 5" descr="Lightbulb with solid fill">
            <a:extLst>
              <a:ext uri="{FF2B5EF4-FFF2-40B4-BE49-F238E27FC236}">
                <a16:creationId xmlns:a16="http://schemas.microsoft.com/office/drawing/2014/main" id="{8FE773F4-96B7-FFD4-BE62-D603351EB6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84065" y="282969"/>
            <a:ext cx="914400" cy="914400"/>
          </a:xfrm>
          <a:prstGeom prst="rect">
            <a:avLst/>
          </a:prstGeom>
        </p:spPr>
      </p:pic>
      <p:sp>
        <p:nvSpPr>
          <p:cNvPr id="8" name="Left Brace 7">
            <a:extLst>
              <a:ext uri="{FF2B5EF4-FFF2-40B4-BE49-F238E27FC236}">
                <a16:creationId xmlns:a16="http://schemas.microsoft.com/office/drawing/2014/main" id="{048F71D9-836D-AC17-980A-C33FFD3EBF92}"/>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69172BC-134B-E01E-CFB3-A9D2A3CE2ECF}"/>
                  </a:ext>
                </a:extLst>
              </p:cNvPr>
              <p:cNvSpPr txBox="1"/>
              <p:nvPr/>
            </p:nvSpPr>
            <p:spPr>
              <a:xfrm>
                <a:off x="798236" y="3281887"/>
                <a:ext cx="4815903" cy="866456"/>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r>
                            <a:rPr lang="en-US" sz="4400" b="1">
                              <a:solidFill>
                                <a:srgbClr val="FF0000"/>
                              </a:solidFill>
                              <a:latin typeface="Cambria Math" panose="02040503050406030204" pitchFamily="18" charset="0"/>
                            </a:rPr>
                            <m:t>𝚿</m:t>
                          </m:r>
                        </m:e>
                      </m:d>
                      <m:r>
                        <a:rPr lang="en-US" sz="4400" i="1">
                          <a:latin typeface="Cambria Math" panose="02040503050406030204" pitchFamily="18" charset="0"/>
                        </a:rPr>
                        <m:t> </m:t>
                      </m:r>
                      <m:d>
                        <m:dPr>
                          <m:begChr m:val="⟨"/>
                          <m:endChr m:val="⟩"/>
                          <m:ctrlPr>
                            <a:rPr lang="en-US" sz="4400" i="1">
                              <a:latin typeface="Cambria Math" panose="02040503050406030204" pitchFamily="18" charset="0"/>
                            </a:rPr>
                          </m:ctrlPr>
                        </m:dPr>
                        <m:e>
                          <m:r>
                            <a:rPr lang="en-US" sz="4400" b="1">
                              <a:solidFill>
                                <a:srgbClr val="FF0000"/>
                              </a:solidFill>
                              <a:latin typeface="Cambria Math" panose="02040503050406030204" pitchFamily="18" charset="0"/>
                            </a:rPr>
                            <m:t>𝚿</m:t>
                          </m:r>
                          <m:r>
                            <a:rPr lang="en-US" sz="4400" i="1">
                              <a:latin typeface="Cambria Math" panose="02040503050406030204" pitchFamily="18" charset="0"/>
                            </a:rPr>
                            <m:t>, </m:t>
                          </m:r>
                          <m:sSup>
                            <m:sSupPr>
                              <m:ctrlPr>
                                <a:rPr lang="en-US" sz="4400" b="1"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oMath>
                  </m:oMathPara>
                </a14:m>
                <a:endParaRPr lang="en-US" sz="4400" i="1" dirty="0">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E69172BC-134B-E01E-CFB3-A9D2A3CE2ECF}"/>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8"/>
                <a:stretch>
                  <a:fillRect b="-13158"/>
                </a:stretch>
              </a:blipFill>
              <a:ln w="76200">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itle 1">
                <a:extLst>
                  <a:ext uri="{FF2B5EF4-FFF2-40B4-BE49-F238E27FC236}">
                    <a16:creationId xmlns:a16="http://schemas.microsoft.com/office/drawing/2014/main" id="{25DD3875-F114-3E4A-143C-270B2723D7B2}"/>
                  </a:ext>
                </a:extLst>
              </p:cNvPr>
              <p:cNvSpPr txBox="1">
                <a:spLocks/>
              </p:cNvSpPr>
              <p:nvPr/>
            </p:nvSpPr>
            <p:spPr>
              <a:xfrm>
                <a:off x="6303151" y="6133260"/>
                <a:ext cx="5596535" cy="724740"/>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lgn="r"/>
                <a:r>
                  <a:rPr lang="en-US" b="0" dirty="0"/>
                  <a:t>(</a:t>
                </a:r>
                <a14:m>
                  <m:oMath xmlns:m="http://schemas.openxmlformats.org/officeDocument/2006/math">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𝜀</m:t>
                        </m:r>
                      </m:e>
                      <m:sup>
                        <m:r>
                          <a:rPr lang="en-US" b="0" i="1" smtClean="0">
                            <a:latin typeface="Cambria Math" panose="02040503050406030204" pitchFamily="18" charset="0"/>
                          </a:rPr>
                          <m:t>2</m:t>
                        </m:r>
                      </m:sup>
                    </m:sSup>
                  </m:oMath>
                </a14:m>
                <a:r>
                  <a:rPr lang="en-US" b="0" dirty="0"/>
                  <a:t> times, for each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b="0" dirty="0"/>
              </a:p>
            </p:txBody>
          </p:sp>
        </mc:Choice>
        <mc:Fallback xmlns="">
          <p:sp>
            <p:nvSpPr>
              <p:cNvPr id="16" name="Title 1">
                <a:extLst>
                  <a:ext uri="{FF2B5EF4-FFF2-40B4-BE49-F238E27FC236}">
                    <a16:creationId xmlns:a16="http://schemas.microsoft.com/office/drawing/2014/main" id="{25DD3875-F114-3E4A-143C-270B2723D7B2}"/>
                  </a:ext>
                </a:extLst>
              </p:cNvPr>
              <p:cNvSpPr txBox="1">
                <a:spLocks noRot="1" noChangeAspect="1" noMove="1" noResize="1" noEditPoints="1" noAdjustHandles="1" noChangeArrowheads="1" noChangeShapeType="1" noTextEdit="1"/>
              </p:cNvSpPr>
              <p:nvPr/>
            </p:nvSpPr>
            <p:spPr>
              <a:xfrm>
                <a:off x="6303151" y="6133260"/>
                <a:ext cx="5596535" cy="724740"/>
              </a:xfrm>
              <a:prstGeom prst="rect">
                <a:avLst/>
              </a:prstGeom>
              <a:blipFill>
                <a:blip r:embed="rId9"/>
                <a:stretch>
                  <a:fillRect l="-680" t="-24138" r="-2494"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5BE25BB7-56A7-77FE-6B7E-EA05434353F7}"/>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19" name="Rounded Rectangle 18">
                <a:extLst>
                  <a:ext uri="{FF2B5EF4-FFF2-40B4-BE49-F238E27FC236}">
                    <a16:creationId xmlns:a16="http://schemas.microsoft.com/office/drawing/2014/main" id="{5BE25BB7-56A7-77FE-6B7E-EA05434353F7}"/>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10"/>
                <a:stretch>
                  <a:fillRect l="-1705" t="-10606" b="-30303"/>
                </a:stretch>
              </a:blipFill>
              <a:ln>
                <a:noFill/>
              </a:ln>
            </p:spPr>
            <p:txBody>
              <a:bodyPr/>
              <a:lstStyle/>
              <a:p>
                <a:r>
                  <a:rPr lang="en-US">
                    <a:noFill/>
                  </a:rPr>
                  <a:t> </a:t>
                </a:r>
              </a:p>
            </p:txBody>
          </p:sp>
        </mc:Fallback>
      </mc:AlternateContent>
      <p:sp>
        <p:nvSpPr>
          <p:cNvPr id="2" name="Up Arrow 1">
            <a:extLst>
              <a:ext uri="{FF2B5EF4-FFF2-40B4-BE49-F238E27FC236}">
                <a16:creationId xmlns:a16="http://schemas.microsoft.com/office/drawing/2014/main" id="{FBFAB7E4-2D59-1FCC-6651-334E408C3CCA}"/>
              </a:ext>
            </a:extLst>
          </p:cNvPr>
          <p:cNvSpPr/>
          <p:nvPr/>
        </p:nvSpPr>
        <p:spPr>
          <a:xfrm>
            <a:off x="2281287" y="4014328"/>
            <a:ext cx="726939" cy="1003557"/>
          </a:xfrm>
          <a:prstGeom prst="up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E190292-5BBE-22B5-C3DF-842E7C0E0548}"/>
              </a:ext>
            </a:extLst>
          </p:cNvPr>
          <p:cNvSpPr/>
          <p:nvPr/>
        </p:nvSpPr>
        <p:spPr>
          <a:xfrm>
            <a:off x="2375555" y="3442276"/>
            <a:ext cx="527901" cy="57205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088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p:bldP spid="14" grpId="0" animBg="1"/>
      <p:bldP spid="16" grpId="0"/>
      <p:bldP spid="2" grpId="0" animBg="1"/>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A7AE-0E01-C84E-5124-531FFA9A99E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4319E8D-CBF7-64B2-6AFF-F3424123D9E9}"/>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14319E8D-CBF7-64B2-6AFF-F3424123D9E9}"/>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AFD00AE4-9454-2D9A-E66B-D324E1224A03}"/>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C74A661-59EB-FA4C-3C2D-6FFFBAECE112}"/>
                  </a:ext>
                </a:extLst>
              </p:cNvPr>
              <p:cNvSpPr txBox="1"/>
              <p:nvPr/>
            </p:nvSpPr>
            <p:spPr>
              <a:xfrm>
                <a:off x="798236" y="3281887"/>
                <a:ext cx="4815903" cy="866456"/>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r>
                            <a:rPr lang="en-US" sz="4400" b="1">
                              <a:solidFill>
                                <a:srgbClr val="FF0000"/>
                              </a:solidFill>
                              <a:latin typeface="Cambria Math" panose="02040503050406030204" pitchFamily="18" charset="0"/>
                            </a:rPr>
                            <m:t>𝚿</m:t>
                          </m:r>
                        </m:e>
                      </m:d>
                      <m:r>
                        <a:rPr lang="en-US" sz="4400" i="1">
                          <a:latin typeface="Cambria Math" panose="02040503050406030204" pitchFamily="18" charset="0"/>
                        </a:rPr>
                        <m:t> </m:t>
                      </m:r>
                      <m:d>
                        <m:dPr>
                          <m:begChr m:val="⟨"/>
                          <m:endChr m:val="⟩"/>
                          <m:ctrlPr>
                            <a:rPr lang="en-US" sz="4400" i="1">
                              <a:latin typeface="Cambria Math" panose="02040503050406030204" pitchFamily="18" charset="0"/>
                            </a:rPr>
                          </m:ctrlPr>
                        </m:dPr>
                        <m:e>
                          <m:r>
                            <a:rPr lang="en-US" sz="4400" b="1">
                              <a:solidFill>
                                <a:srgbClr val="FF0000"/>
                              </a:solidFill>
                              <a:latin typeface="Cambria Math" panose="02040503050406030204" pitchFamily="18" charset="0"/>
                            </a:rPr>
                            <m:t>𝚿</m:t>
                          </m:r>
                          <m:r>
                            <a:rPr lang="en-US" sz="4400" i="1">
                              <a:latin typeface="Cambria Math" panose="02040503050406030204" pitchFamily="18" charset="0"/>
                            </a:rPr>
                            <m:t>, </m:t>
                          </m:r>
                          <m:sSup>
                            <m:sSupPr>
                              <m:ctrlPr>
                                <a:rPr lang="en-US" sz="4400" b="1"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oMath>
                  </m:oMathPara>
                </a14:m>
                <a:endParaRPr lang="en-US" sz="4400" i="1" dirty="0">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5C74A661-59EB-FA4C-3C2D-6FFFBAECE112}"/>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4"/>
                <a:stretch>
                  <a:fillRect b="-13158"/>
                </a:stretch>
              </a:blipFill>
              <a:ln w="76200">
                <a:solidFill>
                  <a:srgbClr val="00B050"/>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04CE95F4-F784-4D82-7BE6-F0D6B18D7159}"/>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Symmetric projections</a:t>
            </a:r>
            <a:endParaRPr lang="en-US" sz="4400" i="1" dirty="0">
              <a:latin typeface="Cambria Math" panose="02040503050406030204" pitchFamily="18" charset="0"/>
            </a:endParaRPr>
          </a:p>
        </p:txBody>
      </p:sp>
      <p:pic>
        <p:nvPicPr>
          <p:cNvPr id="3" name="Graphic 2" descr="Lightbulb with solid fill">
            <a:extLst>
              <a:ext uri="{FF2B5EF4-FFF2-40B4-BE49-F238E27FC236}">
                <a16:creationId xmlns:a16="http://schemas.microsoft.com/office/drawing/2014/main" id="{5EF56603-58AB-58C0-F35B-81753724DA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40BEBCC-D585-8C2A-AE23-3823C6B2FA66}"/>
                  </a:ext>
                </a:extLst>
              </p:cNvPr>
              <p:cNvSpPr txBox="1"/>
              <p:nvPr/>
            </p:nvSpPr>
            <p:spPr>
              <a:xfrm>
                <a:off x="7133522" y="1094862"/>
                <a:ext cx="1699206"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1" i="0" smtClean="0">
                          <a:solidFill>
                            <a:srgbClr val="FF0000"/>
                          </a:solidFill>
                          <a:latin typeface="Cambria Math" panose="02040503050406030204" pitchFamily="18" charset="0"/>
                        </a:rPr>
                        <m:t>𝚿</m:t>
                      </m:r>
                    </m:oMath>
                  </m:oMathPara>
                </a14:m>
                <a:endParaRPr lang="en-US" sz="4400" b="1" i="1" dirty="0">
                  <a:solidFill>
                    <a:srgbClr val="FF0000"/>
                  </a:solidFill>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140BEBCC-D585-8C2A-AE23-3823C6B2FA66}"/>
                  </a:ext>
                </a:extLst>
              </p:cNvPr>
              <p:cNvSpPr txBox="1">
                <a:spLocks noRot="1" noChangeAspect="1" noMove="1" noResize="1" noEditPoints="1" noAdjustHandles="1" noChangeArrowheads="1" noChangeShapeType="1" noTextEdit="1"/>
              </p:cNvSpPr>
              <p:nvPr/>
            </p:nvSpPr>
            <p:spPr>
              <a:xfrm>
                <a:off x="7133522" y="1094862"/>
                <a:ext cx="1699206" cy="76944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CD051F-A0C4-E4CA-9FAD-A4D689F460AA}"/>
                  </a:ext>
                </a:extLst>
              </p:cNvPr>
              <p:cNvSpPr txBox="1"/>
              <p:nvPr/>
            </p:nvSpPr>
            <p:spPr>
              <a:xfrm>
                <a:off x="9005612" y="1069470"/>
                <a:ext cx="1699206" cy="7948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4400" b="1" i="1" smtClean="0">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sup>
                      </m:sSup>
                    </m:oMath>
                  </m:oMathPara>
                </a14:m>
                <a:endParaRPr lang="en-US" sz="4400" b="1" i="1" dirty="0">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D5CD051F-A0C4-E4CA-9FAD-A4D689F460AA}"/>
                  </a:ext>
                </a:extLst>
              </p:cNvPr>
              <p:cNvSpPr txBox="1">
                <a:spLocks noRot="1" noChangeAspect="1" noMove="1" noResize="1" noEditPoints="1" noAdjustHandles="1" noChangeArrowheads="1" noChangeShapeType="1" noTextEdit="1"/>
              </p:cNvSpPr>
              <p:nvPr/>
            </p:nvSpPr>
            <p:spPr>
              <a:xfrm>
                <a:off x="9005612" y="1069470"/>
                <a:ext cx="1699206" cy="794833"/>
              </a:xfrm>
              <a:prstGeom prst="rect">
                <a:avLst/>
              </a:prstGeom>
              <a:blipFill>
                <a:blip r:embed="rId7"/>
                <a:stretch>
                  <a:fillRect b="-22222"/>
                </a:stretch>
              </a:blipFill>
            </p:spPr>
            <p:txBody>
              <a:bodyPr/>
              <a:lstStyle/>
              <a:p>
                <a:r>
                  <a:rPr lang="en-US">
                    <a:noFill/>
                  </a:rPr>
                  <a:t> </a:t>
                </a:r>
              </a:p>
            </p:txBody>
          </p:sp>
        </mc:Fallback>
      </mc:AlternateContent>
      <p:sp>
        <p:nvSpPr>
          <p:cNvPr id="17" name="Right Arrow 16">
            <a:extLst>
              <a:ext uri="{FF2B5EF4-FFF2-40B4-BE49-F238E27FC236}">
                <a16:creationId xmlns:a16="http://schemas.microsoft.com/office/drawing/2014/main" id="{5D3230F4-8C73-9ECB-86DC-6F04C32CD49B}"/>
              </a:ext>
            </a:extLst>
          </p:cNvPr>
          <p:cNvSpPr/>
          <p:nvPr/>
        </p:nvSpPr>
        <p:spPr>
          <a:xfrm>
            <a:off x="8425480" y="1312027"/>
            <a:ext cx="789272" cy="30971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ounded Rectangle 20">
                <a:extLst>
                  <a:ext uri="{FF2B5EF4-FFF2-40B4-BE49-F238E27FC236}">
                    <a16:creationId xmlns:a16="http://schemas.microsoft.com/office/drawing/2014/main" id="{C1D4C09C-FAF7-215F-2186-CDEC61356B11}"/>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21" name="Rounded Rectangle 20">
                <a:extLst>
                  <a:ext uri="{FF2B5EF4-FFF2-40B4-BE49-F238E27FC236}">
                    <a16:creationId xmlns:a16="http://schemas.microsoft.com/office/drawing/2014/main" id="{C1D4C09C-FAF7-215F-2186-CDEC61356B11}"/>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8"/>
                <a:stretch>
                  <a:fillRect l="-1705" t="-10606" b="-303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220B5CD4-A257-B41C-AEE3-6D04BF6F1F5B}"/>
                  </a:ext>
                </a:extLst>
              </p:cNvPr>
              <p:cNvSpPr/>
              <p:nvPr/>
            </p:nvSpPr>
            <p:spPr>
              <a:xfrm>
                <a:off x="1658380" y="5017885"/>
                <a:ext cx="2007909" cy="951394"/>
              </a:xfrm>
              <a:prstGeom prst="roundRect">
                <a:avLst/>
              </a:prstGeom>
              <a:solidFill>
                <a:srgbClr val="FF0000">
                  <a:alpha val="75000"/>
                </a:srgb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dirty="0">
                    <a:solidFill>
                      <a:sysClr val="windowText" lastClr="000000"/>
                    </a:solidFill>
                    <a:latin typeface="Garamond" panose="02020404030301010803" pitchFamily="18" charset="0"/>
                  </a:rPr>
                  <a:t>Size </a:t>
                </a:r>
                <a14:m>
                  <m:oMath xmlns:m="http://schemas.openxmlformats.org/officeDocument/2006/math">
                    <m:sSup>
                      <m:sSupPr>
                        <m:ctrlPr>
                          <a:rPr lang="en-US" sz="4400" b="0" i="1" smtClean="0">
                            <a:solidFill>
                              <a:sysClr val="windowText" lastClr="000000"/>
                            </a:solidFill>
                            <a:latin typeface="Cambria Math" panose="02040503050406030204" pitchFamily="18" charset="0"/>
                          </a:rPr>
                        </m:ctrlPr>
                      </m:sSupPr>
                      <m:e>
                        <m:r>
                          <a:rPr lang="en-US" sz="4400" b="0" i="1" smtClean="0">
                            <a:solidFill>
                              <a:sysClr val="windowText" lastClr="000000"/>
                            </a:solidFill>
                            <a:latin typeface="Cambria Math" panose="02040503050406030204" pitchFamily="18" charset="0"/>
                          </a:rPr>
                          <m:t>𝑛</m:t>
                        </m:r>
                      </m:e>
                      <m:sup>
                        <m:r>
                          <a:rPr lang="en-US" sz="4400" b="0" i="1" smtClean="0">
                            <a:solidFill>
                              <a:sysClr val="windowText" lastClr="000000"/>
                            </a:solidFill>
                            <a:latin typeface="Cambria Math" panose="02040503050406030204" pitchFamily="18" charset="0"/>
                          </a:rPr>
                          <m:t>𝑟</m:t>
                        </m:r>
                      </m:sup>
                    </m:sSup>
                  </m:oMath>
                </a14:m>
                <a:endParaRPr lang="en-US" sz="4400" dirty="0">
                  <a:solidFill>
                    <a:sysClr val="windowText" lastClr="000000"/>
                  </a:solidFill>
                  <a:latin typeface="Garamond" panose="02020404030301010803" pitchFamily="18" charset="0"/>
                </a:endParaRPr>
              </a:p>
            </p:txBody>
          </p:sp>
        </mc:Choice>
        <mc:Fallback xmlns="">
          <p:sp>
            <p:nvSpPr>
              <p:cNvPr id="4" name="Rounded Rectangle 3">
                <a:extLst>
                  <a:ext uri="{FF2B5EF4-FFF2-40B4-BE49-F238E27FC236}">
                    <a16:creationId xmlns:a16="http://schemas.microsoft.com/office/drawing/2014/main" id="{220B5CD4-A257-B41C-AEE3-6D04BF6F1F5B}"/>
                  </a:ext>
                </a:extLst>
              </p:cNvPr>
              <p:cNvSpPr>
                <a:spLocks noRot="1" noChangeAspect="1" noMove="1" noResize="1" noEditPoints="1" noAdjustHandles="1" noChangeArrowheads="1" noChangeShapeType="1" noTextEdit="1"/>
              </p:cNvSpPr>
              <p:nvPr/>
            </p:nvSpPr>
            <p:spPr>
              <a:xfrm>
                <a:off x="1658380" y="5017885"/>
                <a:ext cx="2007909" cy="951394"/>
              </a:xfrm>
              <a:prstGeom prst="roundRect">
                <a:avLst/>
              </a:prstGeom>
              <a:blipFill>
                <a:blip r:embed="rId9"/>
                <a:stretch>
                  <a:fillRect l="-6289" t="-2667" b="-21333"/>
                </a:stretch>
              </a:blipFill>
              <a:ln>
                <a:noFill/>
              </a:ln>
            </p:spPr>
            <p:txBody>
              <a:bodyPr/>
              <a:lstStyle/>
              <a:p>
                <a:r>
                  <a:rPr lang="en-US">
                    <a:noFill/>
                  </a:rPr>
                  <a:t> </a:t>
                </a:r>
              </a:p>
            </p:txBody>
          </p:sp>
        </mc:Fallback>
      </mc:AlternateContent>
      <p:sp>
        <p:nvSpPr>
          <p:cNvPr id="5" name="Up Arrow 4">
            <a:extLst>
              <a:ext uri="{FF2B5EF4-FFF2-40B4-BE49-F238E27FC236}">
                <a16:creationId xmlns:a16="http://schemas.microsoft.com/office/drawing/2014/main" id="{AC8F9D0D-8EF9-85C1-77CF-997AF080D42A}"/>
              </a:ext>
            </a:extLst>
          </p:cNvPr>
          <p:cNvSpPr/>
          <p:nvPr/>
        </p:nvSpPr>
        <p:spPr>
          <a:xfrm>
            <a:off x="2281287" y="4014328"/>
            <a:ext cx="726939" cy="1003557"/>
          </a:xfrm>
          <a:prstGeom prst="up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6ABF64D-98C6-10FA-82AE-C1B4FCA50D51}"/>
              </a:ext>
            </a:extLst>
          </p:cNvPr>
          <p:cNvSpPr/>
          <p:nvPr/>
        </p:nvSpPr>
        <p:spPr>
          <a:xfrm>
            <a:off x="2375555" y="3442276"/>
            <a:ext cx="527901" cy="57205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1495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P spid="16" grpId="0"/>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7E36-2A95-D241-CB9B-DFDE568BCCE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BFC2851-BA63-BD73-AA8F-101EAEE4B831}"/>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EBFC2851-BA63-BD73-AA8F-101EAEE4B831}"/>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7176365D-F81C-8CAB-6A90-E03FACF1ACF7}"/>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Symmetric projections</a:t>
            </a:r>
            <a:endParaRPr lang="en-US" sz="4400" i="1" dirty="0">
              <a:latin typeface="Cambria Math" panose="02040503050406030204" pitchFamily="18" charset="0"/>
            </a:endParaRPr>
          </a:p>
        </p:txBody>
      </p:sp>
      <p:pic>
        <p:nvPicPr>
          <p:cNvPr id="16" name="Graphic 15" descr="Lightbulb with solid fill">
            <a:extLst>
              <a:ext uri="{FF2B5EF4-FFF2-40B4-BE49-F238E27FC236}">
                <a16:creationId xmlns:a16="http://schemas.microsoft.com/office/drawing/2014/main" id="{7C7216D9-F446-9BA8-ADAA-70EEC3BA2B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84065" y="282969"/>
            <a:ext cx="914400" cy="914400"/>
          </a:xfrm>
          <a:prstGeom prst="rect">
            <a:avLst/>
          </a:prstGeom>
        </p:spPr>
      </p:pic>
      <p:sp>
        <p:nvSpPr>
          <p:cNvPr id="2" name="Left Brace 1">
            <a:extLst>
              <a:ext uri="{FF2B5EF4-FFF2-40B4-BE49-F238E27FC236}">
                <a16:creationId xmlns:a16="http://schemas.microsoft.com/office/drawing/2014/main" id="{B5E11352-E59A-BE54-4268-4BD5255023D6}"/>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34C75D8-B1A4-9822-574D-CDD050A5E0FC}"/>
                  </a:ext>
                </a:extLst>
              </p:cNvPr>
              <p:cNvSpPr txBox="1"/>
              <p:nvPr/>
            </p:nvSpPr>
            <p:spPr>
              <a:xfrm>
                <a:off x="798236" y="3281887"/>
                <a:ext cx="5800229" cy="866456"/>
              </a:xfrm>
              <a:prstGeom prst="rect">
                <a:avLst/>
              </a:prstGeom>
              <a:noFill/>
              <a:ln w="76200">
                <a:solidFill>
                  <a:srgbClr val="00B050"/>
                </a:solidFill>
              </a:ln>
            </p:spPr>
            <p:txBody>
              <a:bodyPr wrap="square" rtlCol="0">
                <a:spAutoFit/>
              </a:bodyPr>
              <a:lstStyle/>
              <a:p>
                <a14:m>
                  <m:oMath xmlns:m="http://schemas.openxmlformats.org/officeDocument/2006/math">
                    <m:d>
                      <m:dPr>
                        <m:begChr m:val="⟨"/>
                        <m:endChr m:val="⟩"/>
                        <m:ctrlPr>
                          <a:rPr lang="en-US" sz="4400" i="1" smtClean="0">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m:t>
                        </m:r>
                        <m:sSup>
                          <m:sSupPr>
                            <m:ctrlPr>
                              <a:rPr lang="en-US" sz="4400" b="1" i="1" smtClean="0">
                                <a:solidFill>
                                  <a:srgbClr val="FF0000"/>
                                </a:solidFill>
                                <a:latin typeface="Cambria Math" panose="02040503050406030204" pitchFamily="18" charset="0"/>
                              </a:rPr>
                            </m:ctrlPr>
                          </m:sSupPr>
                          <m:e>
                            <m:r>
                              <a:rPr lang="en-US" sz="4400" b="1" i="1">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oMath>
                </a14:m>
                <a:r>
                  <a:rPr lang="en-US" sz="4400" dirty="0"/>
                  <a:t> </a:t>
                </a:r>
                <a14:m>
                  <m:oMath xmlns:m="http://schemas.openxmlformats.org/officeDocument/2006/math">
                    <m:d>
                      <m:dPr>
                        <m:begChr m:val="⟨"/>
                        <m:endChr m:val="⟩"/>
                        <m:ctrlPr>
                          <a:rPr lang="en-US" sz="4400" i="1">
                            <a:latin typeface="Cambria Math" panose="02040503050406030204" pitchFamily="18" charset="0"/>
                          </a:rPr>
                        </m:ctrlPr>
                      </m:dPr>
                      <m:e>
                        <m:sSup>
                          <m:sSupPr>
                            <m:ctrlPr>
                              <a:rPr lang="en-US" sz="4400" b="1" i="1" smtClean="0">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sup>
                        </m:sSup>
                        <m:r>
                          <a:rPr lang="en-US" sz="4400" i="1">
                            <a:latin typeface="Cambria Math" panose="02040503050406030204" pitchFamily="18" charset="0"/>
                          </a:rPr>
                          <m:t>, </m:t>
                        </m:r>
                        <m:sSup>
                          <m:sSupPr>
                            <m:ctrlPr>
                              <a:rPr lang="en-US" sz="4400" b="1"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oMath>
                </a14:m>
                <a:endParaRPr lang="en-US" sz="4400" i="1" dirty="0">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D34C75D8-B1A4-9822-574D-CDD050A5E0FC}"/>
                  </a:ext>
                </a:extLst>
              </p:cNvPr>
              <p:cNvSpPr txBox="1">
                <a:spLocks noRot="1" noChangeAspect="1" noMove="1" noResize="1" noEditPoints="1" noAdjustHandles="1" noChangeArrowheads="1" noChangeShapeType="1" noTextEdit="1"/>
              </p:cNvSpPr>
              <p:nvPr/>
            </p:nvSpPr>
            <p:spPr>
              <a:xfrm>
                <a:off x="798236" y="3281887"/>
                <a:ext cx="5800229" cy="866456"/>
              </a:xfrm>
              <a:prstGeom prst="rect">
                <a:avLst/>
              </a:prstGeom>
              <a:blipFill>
                <a:blip r:embed="rId5"/>
                <a:stretch>
                  <a:fillRect b="-9211"/>
                </a:stretch>
              </a:blipFill>
              <a:ln w="76200">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9A43377-8DEC-DCE1-9756-023EC4FE6341}"/>
                  </a:ext>
                </a:extLst>
              </p:cNvPr>
              <p:cNvSpPr txBox="1"/>
              <p:nvPr/>
            </p:nvSpPr>
            <p:spPr>
              <a:xfrm>
                <a:off x="7133522" y="1094862"/>
                <a:ext cx="1699206"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1" i="0" smtClean="0">
                          <a:solidFill>
                            <a:srgbClr val="FF0000"/>
                          </a:solidFill>
                          <a:latin typeface="Cambria Math" panose="02040503050406030204" pitchFamily="18" charset="0"/>
                        </a:rPr>
                        <m:t>𝚿</m:t>
                      </m:r>
                    </m:oMath>
                  </m:oMathPara>
                </a14:m>
                <a:endParaRPr lang="en-US" sz="4400" b="1" i="1" dirty="0">
                  <a:solidFill>
                    <a:srgbClr val="FF000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D9A43377-8DEC-DCE1-9756-023EC4FE6341}"/>
                  </a:ext>
                </a:extLst>
              </p:cNvPr>
              <p:cNvSpPr txBox="1">
                <a:spLocks noRot="1" noChangeAspect="1" noMove="1" noResize="1" noEditPoints="1" noAdjustHandles="1" noChangeArrowheads="1" noChangeShapeType="1" noTextEdit="1"/>
              </p:cNvSpPr>
              <p:nvPr/>
            </p:nvSpPr>
            <p:spPr>
              <a:xfrm>
                <a:off x="7133522" y="1094862"/>
                <a:ext cx="1699206" cy="76944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F260FF2-1006-C9A5-BC6E-1A443A5B0C78}"/>
                  </a:ext>
                </a:extLst>
              </p:cNvPr>
              <p:cNvSpPr txBox="1"/>
              <p:nvPr/>
            </p:nvSpPr>
            <p:spPr>
              <a:xfrm>
                <a:off x="9005612" y="1069470"/>
                <a:ext cx="1699206" cy="7948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4400" b="1" i="1" smtClean="0">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sup>
                      </m:sSup>
                    </m:oMath>
                  </m:oMathPara>
                </a14:m>
                <a:endParaRPr lang="en-US" sz="4400" b="1" i="1" dirty="0">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6F260FF2-1006-C9A5-BC6E-1A443A5B0C78}"/>
                  </a:ext>
                </a:extLst>
              </p:cNvPr>
              <p:cNvSpPr txBox="1">
                <a:spLocks noRot="1" noChangeAspect="1" noMove="1" noResize="1" noEditPoints="1" noAdjustHandles="1" noChangeArrowheads="1" noChangeShapeType="1" noTextEdit="1"/>
              </p:cNvSpPr>
              <p:nvPr/>
            </p:nvSpPr>
            <p:spPr>
              <a:xfrm>
                <a:off x="9005612" y="1069470"/>
                <a:ext cx="1699206" cy="794833"/>
              </a:xfrm>
              <a:prstGeom prst="rect">
                <a:avLst/>
              </a:prstGeom>
              <a:blipFill>
                <a:blip r:embed="rId7"/>
                <a:stretch>
                  <a:fillRect b="-22222"/>
                </a:stretch>
              </a:blipFill>
            </p:spPr>
            <p:txBody>
              <a:bodyPr/>
              <a:lstStyle/>
              <a:p>
                <a:r>
                  <a:rPr lang="en-US">
                    <a:noFill/>
                  </a:rPr>
                  <a:t> </a:t>
                </a:r>
              </a:p>
            </p:txBody>
          </p:sp>
        </mc:Fallback>
      </mc:AlternateContent>
      <p:sp>
        <p:nvSpPr>
          <p:cNvPr id="25" name="Right Arrow 24">
            <a:extLst>
              <a:ext uri="{FF2B5EF4-FFF2-40B4-BE49-F238E27FC236}">
                <a16:creationId xmlns:a16="http://schemas.microsoft.com/office/drawing/2014/main" id="{5F96CFF5-B13E-6110-00E6-E9ACA0A6D8F8}"/>
              </a:ext>
            </a:extLst>
          </p:cNvPr>
          <p:cNvSpPr/>
          <p:nvPr/>
        </p:nvSpPr>
        <p:spPr>
          <a:xfrm>
            <a:off x="8425480" y="1312027"/>
            <a:ext cx="789272" cy="30971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673AF425-FC54-CD5F-5C09-325AA97657FE}"/>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6" name="Rounded Rectangle 5">
                <a:extLst>
                  <a:ext uri="{FF2B5EF4-FFF2-40B4-BE49-F238E27FC236}">
                    <a16:creationId xmlns:a16="http://schemas.microsoft.com/office/drawing/2014/main" id="{673AF425-FC54-CD5F-5C09-325AA97657FE}"/>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8"/>
                <a:stretch>
                  <a:fillRect l="-1705" t="-10606" b="-303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361880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18B9-8B9E-8217-C008-CC7B2EA6F71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9114877-E170-0778-3C8F-C909C2D0F9E7}"/>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A9114877-E170-0778-3C8F-C909C2D0F9E7}"/>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FECAC07-0BEB-48D5-C8F0-ADE2E0E2B9EA}"/>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Symmetric projections</a:t>
            </a:r>
            <a:endParaRPr lang="en-US" sz="4400" i="1" dirty="0">
              <a:latin typeface="Cambria Math" panose="02040503050406030204" pitchFamily="18" charset="0"/>
            </a:endParaRPr>
          </a:p>
        </p:txBody>
      </p:sp>
      <p:pic>
        <p:nvPicPr>
          <p:cNvPr id="16" name="Graphic 15" descr="Lightbulb with solid fill">
            <a:extLst>
              <a:ext uri="{FF2B5EF4-FFF2-40B4-BE49-F238E27FC236}">
                <a16:creationId xmlns:a16="http://schemas.microsoft.com/office/drawing/2014/main" id="{4C065B5C-4138-62C0-6D8C-CC40581E40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82FA932A-E8FD-6AFD-3D71-71401B9215B5}"/>
                  </a:ext>
                </a:extLst>
              </p:cNvPr>
              <p:cNvSpPr/>
              <p:nvPr/>
            </p:nvSpPr>
            <p:spPr>
              <a:xfrm>
                <a:off x="6226791" y="5249468"/>
                <a:ext cx="5714340" cy="1325563"/>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14:m>
                  <m:oMath xmlns:m="http://schemas.openxmlformats.org/officeDocument/2006/math">
                    <m:d>
                      <m:dPr>
                        <m:ctrlPr>
                          <a:rPr lang="en-US" sz="2800" i="1">
                            <a:solidFill>
                              <a:schemeClr val="tx1"/>
                            </a:solidFill>
                            <a:latin typeface="Cambria Math" panose="02040503050406030204" pitchFamily="18" charset="0"/>
                          </a:rPr>
                        </m:ctrlPr>
                      </m:dPr>
                      <m:e>
                        <m:f>
                          <m:fPr>
                            <m:type m:val="noBa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rPr>
                              <m:t>𝑛</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𝑟</m:t>
                            </m:r>
                            <m:r>
                              <a:rPr lang="en-US" sz="2800" i="1">
                                <a:solidFill>
                                  <a:schemeClr val="tx1"/>
                                </a:solidFill>
                                <a:latin typeface="Cambria Math" panose="02040503050406030204" pitchFamily="18" charset="0"/>
                              </a:rPr>
                              <m:t>−1</m:t>
                            </m:r>
                          </m:num>
                          <m:den>
                            <m:r>
                              <a:rPr lang="en-US" sz="2800" i="1">
                                <a:solidFill>
                                  <a:schemeClr val="tx1"/>
                                </a:solidFill>
                                <a:latin typeface="Cambria Math" panose="02040503050406030204" pitchFamily="18" charset="0"/>
                              </a:rPr>
                              <m:t>𝑟</m:t>
                            </m:r>
                          </m:den>
                        </m:f>
                      </m:e>
                    </m:d>
                  </m:oMath>
                </a14:m>
                <a:r>
                  <a:rPr lang="en-US" sz="2800" dirty="0">
                    <a:solidFill>
                      <a:schemeClr val="tx1"/>
                    </a:solidFill>
                    <a:latin typeface="Garamond" panose="02020404030301010803" pitchFamily="18" charset="0"/>
                  </a:rPr>
                  <a:t> is the dimension of the symmetric subspace of </a:t>
                </a:r>
                <a14:m>
                  <m:oMath xmlns:m="http://schemas.openxmlformats.org/officeDocument/2006/math">
                    <m:sSup>
                      <m:sSupPr>
                        <m:ctrlPr>
                          <a:rPr lang="en-US" sz="2800" i="1">
                            <a:solidFill>
                              <a:schemeClr val="tx1"/>
                            </a:solidFill>
                            <a:latin typeface="Cambria Math" panose="02040503050406030204" pitchFamily="18" charset="0"/>
                            <a:ea typeface="Cambria Math" panose="02040503050406030204" pitchFamily="18" charset="0"/>
                          </a:rPr>
                        </m:ctrlPr>
                      </m:sSupPr>
                      <m:e>
                        <m:d>
                          <m:dPr>
                            <m:ctrlPr>
                              <a:rPr lang="en-US" sz="2800" i="1">
                                <a:solidFill>
                                  <a:sysClr val="windowText" lastClr="000000"/>
                                </a:solidFill>
                                <a:latin typeface="Cambria Math" panose="02040503050406030204" pitchFamily="18" charset="0"/>
                                <a:ea typeface="Cambria Math" panose="02040503050406030204" pitchFamily="18" charset="0"/>
                              </a:rPr>
                            </m:ctrlPr>
                          </m:dPr>
                          <m:e>
                            <m:sSup>
                              <m:sSupPr>
                                <m:ctrlPr>
                                  <a:rPr lang="en-US" sz="2800" i="1">
                                    <a:solidFill>
                                      <a:schemeClr val="tx1"/>
                                    </a:solidFill>
                                    <a:latin typeface="Cambria Math" panose="02040503050406030204" pitchFamily="18" charset="0"/>
                                    <a:ea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ℂ</m:t>
                                </m:r>
                              </m:e>
                              <m:sup>
                                <m:r>
                                  <a:rPr lang="en-US" sz="2800" i="1">
                                    <a:solidFill>
                                      <a:schemeClr val="tx1"/>
                                    </a:solidFill>
                                    <a:latin typeface="Cambria Math" panose="02040503050406030204" pitchFamily="18" charset="0"/>
                                    <a:ea typeface="Cambria Math" panose="02040503050406030204" pitchFamily="18" charset="0"/>
                                  </a:rPr>
                                  <m:t>𝑛</m:t>
                                </m:r>
                              </m:sup>
                            </m:sSup>
                          </m:e>
                        </m:d>
                      </m:e>
                      <m:sup>
                        <m:r>
                          <a:rPr lang="en-US" sz="2800" i="1">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rPr>
                          <m:t>𝑟</m:t>
                        </m:r>
                      </m:sup>
                    </m:sSup>
                  </m:oMath>
                </a14:m>
                <a:r>
                  <a:rPr lang="en-US" sz="2800" dirty="0">
                    <a:solidFill>
                      <a:schemeClr val="tx1"/>
                    </a:solidFill>
                    <a:latin typeface="Garamond" panose="02020404030301010803" pitchFamily="18" charset="0"/>
                  </a:rPr>
                  <a:t>.</a:t>
                </a:r>
              </a:p>
            </p:txBody>
          </p:sp>
        </mc:Choice>
        <mc:Fallback xmlns="">
          <p:sp>
            <p:nvSpPr>
              <p:cNvPr id="18" name="Rounded Rectangle 17">
                <a:extLst>
                  <a:ext uri="{FF2B5EF4-FFF2-40B4-BE49-F238E27FC236}">
                    <a16:creationId xmlns:a16="http://schemas.microsoft.com/office/drawing/2014/main" id="{82FA932A-E8FD-6AFD-3D71-71401B9215B5}"/>
                  </a:ext>
                </a:extLst>
              </p:cNvPr>
              <p:cNvSpPr>
                <a:spLocks noRot="1" noChangeAspect="1" noMove="1" noResize="1" noEditPoints="1" noAdjustHandles="1" noChangeArrowheads="1" noChangeShapeType="1" noTextEdit="1"/>
              </p:cNvSpPr>
              <p:nvPr/>
            </p:nvSpPr>
            <p:spPr>
              <a:xfrm>
                <a:off x="6226791" y="5249468"/>
                <a:ext cx="5714340" cy="1325563"/>
              </a:xfrm>
              <a:prstGeom prst="roundRect">
                <a:avLst/>
              </a:prstGeom>
              <a:blipFill>
                <a:blip r:embed="rId5"/>
                <a:stretch>
                  <a:fillRect/>
                </a:stretch>
              </a:blipFill>
              <a:ln>
                <a:solidFill>
                  <a:schemeClr val="tx1"/>
                </a:solidFill>
              </a:ln>
            </p:spPr>
            <p:txBody>
              <a:bodyPr/>
              <a:lstStyle/>
              <a:p>
                <a:r>
                  <a:rPr lang="en-US">
                    <a:noFill/>
                  </a:rPr>
                  <a:t> </a:t>
                </a:r>
              </a:p>
            </p:txBody>
          </p:sp>
        </mc:Fallback>
      </mc:AlternateContent>
      <p:sp>
        <p:nvSpPr>
          <p:cNvPr id="2" name="Left Brace 1">
            <a:extLst>
              <a:ext uri="{FF2B5EF4-FFF2-40B4-BE49-F238E27FC236}">
                <a16:creationId xmlns:a16="http://schemas.microsoft.com/office/drawing/2014/main" id="{B243EC47-CA57-B399-AB22-95435602644D}"/>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FDA690D-8BA6-1EA9-5D92-ACFD52FDBE7F}"/>
                  </a:ext>
                </a:extLst>
              </p:cNvPr>
              <p:cNvSpPr txBox="1"/>
              <p:nvPr/>
            </p:nvSpPr>
            <p:spPr>
              <a:xfrm>
                <a:off x="798236" y="3281887"/>
                <a:ext cx="4815903" cy="866456"/>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smtClean="0">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m:t>
                          </m:r>
                          <m:sSup>
                            <m:sSupPr>
                              <m:ctrlPr>
                                <a:rPr lang="en-US" sz="4400" b="1" i="1" smtClean="0">
                                  <a:solidFill>
                                    <a:srgbClr val="FF0000"/>
                                  </a:solidFill>
                                  <a:latin typeface="Cambria Math" panose="02040503050406030204" pitchFamily="18" charset="0"/>
                                </a:rPr>
                              </m:ctrlPr>
                            </m:sSupPr>
                            <m:e>
                              <m:r>
                                <a:rPr lang="en-US" sz="4400" b="1" i="1">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b="0" i="1" smtClean="0">
                          <a:latin typeface="Cambria Math" panose="02040503050406030204" pitchFamily="18" charset="0"/>
                        </a:rPr>
                        <m:t> </m:t>
                      </m:r>
                      <m:sSup>
                        <m:sSupPr>
                          <m:ctrlPr>
                            <a:rPr lang="en-US" sz="4400" b="1" i="1" smtClean="0">
                              <a:latin typeface="Cambria Math" panose="02040503050406030204" pitchFamily="18" charset="0"/>
                            </a:rPr>
                          </m:ctrlPr>
                        </m:sSupPr>
                        <m:e>
                          <m:d>
                            <m:dPr>
                              <m:begChr m:val="⟨"/>
                              <m:endChr m:val="⟩"/>
                              <m:ctrlPr>
                                <a:rPr lang="en-US" sz="4400" i="1">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latin typeface="Cambria Math" panose="02040503050406030204" pitchFamily="18" charset="0"/>
                                </a:rPr>
                                <m:t>, </m:t>
                              </m:r>
                              <m:r>
                                <a:rPr lang="en-US" sz="4400" b="1" i="1" smtClean="0">
                                  <a:latin typeface="Cambria Math" panose="02040503050406030204" pitchFamily="18" charset="0"/>
                                </a:rPr>
                                <m:t>𝒘</m:t>
                              </m:r>
                            </m:e>
                          </m:d>
                        </m:e>
                        <m:sup>
                          <m:r>
                            <a:rPr lang="en-US" sz="4400" b="0" i="1" smtClean="0">
                              <a:latin typeface="Cambria Math" panose="02040503050406030204" pitchFamily="18" charset="0"/>
                            </a:rPr>
                            <m:t>𝑟</m:t>
                          </m:r>
                        </m:sup>
                      </m:sSup>
                    </m:oMath>
                  </m:oMathPara>
                </a14:m>
                <a:endParaRPr lang="en-US" sz="4400" i="1" dirty="0">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5FDA690D-8BA6-1EA9-5D92-ACFD52FDBE7F}"/>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6"/>
                <a:stretch>
                  <a:fillRect b="-13158"/>
                </a:stretch>
              </a:blipFill>
              <a:ln w="76200">
                <a:solidFill>
                  <a:srgbClr val="00B050"/>
                </a:solidFill>
              </a:ln>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2B3E691B-EE4D-D4D3-4B63-C382A12CD08A}"/>
              </a:ext>
            </a:extLst>
          </p:cNvPr>
          <p:cNvGrpSpPr/>
          <p:nvPr/>
        </p:nvGrpSpPr>
        <p:grpSpPr>
          <a:xfrm>
            <a:off x="6096000" y="2054961"/>
            <a:ext cx="5975922" cy="2505519"/>
            <a:chOff x="6096000" y="2054961"/>
            <a:chExt cx="5975922" cy="2505519"/>
          </a:xfrm>
        </p:grpSpPr>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F2EF50AF-D716-58E4-773B-BB2846CB147E}"/>
                    </a:ext>
                  </a:extLst>
                </p:cNvPr>
                <p:cNvSpPr/>
                <p:nvPr/>
              </p:nvSpPr>
              <p:spPr>
                <a:xfrm>
                  <a:off x="6096000" y="2054961"/>
                  <a:ext cx="5975922" cy="2505519"/>
                </a:xfrm>
                <a:prstGeom prst="rect">
                  <a:avLst/>
                </a:prstGeom>
                <a:solidFill>
                  <a:schemeClr val="tx2">
                    <a:lumMod val="50000"/>
                    <a:lumOff val="50000"/>
                    <a:alpha val="50000"/>
                  </a:schemeClr>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3200" b="1" dirty="0">
                      <a:solidFill>
                        <a:sysClr val="windowText" lastClr="000000"/>
                      </a:solidFill>
                      <a:latin typeface="Garamond" panose="02020404030301010803" pitchFamily="18" charset="0"/>
                    </a:rPr>
                    <a:t>Key fact:</a:t>
                  </a:r>
                </a:p>
                <a:p>
                  <a:pPr algn="ctr"/>
                  <a14:m>
                    <m:oMathPara xmlns:m="http://schemas.openxmlformats.org/officeDocument/2006/math">
                      <m:oMathParaPr>
                        <m:jc m:val="centerGroup"/>
                      </m:oMathParaPr>
                      <m:oMath xmlns:m="http://schemas.openxmlformats.org/officeDocument/2006/math">
                        <m:r>
                          <a:rPr lang="en-US" sz="3200" i="1" dirty="0">
                            <a:solidFill>
                              <a:sysClr val="windowText" lastClr="000000"/>
                            </a:solidFill>
                            <a:latin typeface="Cambria Math" panose="02040503050406030204" pitchFamily="18" charset="0"/>
                            <a:ea typeface="Cambria Math" panose="02040503050406030204" pitchFamily="18" charset="0"/>
                          </a:rPr>
                          <m:t>𝔼</m:t>
                        </m:r>
                        <m:d>
                          <m:dPr>
                            <m:begChr m:val="["/>
                            <m:endChr m:val="]"/>
                            <m:ctrlPr>
                              <a:rPr lang="en-US" sz="3200" i="1" dirty="0">
                                <a:solidFill>
                                  <a:sysClr val="windowText" lastClr="000000"/>
                                </a:solidFill>
                                <a:latin typeface="Cambria Math" panose="02040503050406030204" pitchFamily="18" charset="0"/>
                                <a:ea typeface="Cambria Math" panose="02040503050406030204" pitchFamily="18" charset="0"/>
                              </a:rPr>
                            </m:ctrlPr>
                          </m:dPr>
                          <m:e>
                            <m:d>
                              <m:dPr>
                                <m:begChr m:val="⟨"/>
                                <m:endChr m:val="⟩"/>
                                <m:ctrlPr>
                                  <a:rPr lang="en-US" sz="3200" i="1" dirty="0">
                                    <a:solidFill>
                                      <a:sysClr val="windowText" lastClr="000000"/>
                                    </a:solidFill>
                                    <a:latin typeface="Cambria Math" panose="02040503050406030204" pitchFamily="18" charset="0"/>
                                    <a:ea typeface="Cambria Math" panose="02040503050406030204" pitchFamily="18" charset="0"/>
                                  </a:rPr>
                                </m:ctrlPr>
                              </m:dPr>
                              <m:e>
                                <m:r>
                                  <a:rPr lang="en-US" sz="3200" b="1" dirty="0">
                                    <a:solidFill>
                                      <a:sysClr val="windowText" lastClr="000000"/>
                                    </a:solidFill>
                                    <a:latin typeface="Cambria Math" panose="02040503050406030204" pitchFamily="18" charset="0"/>
                                    <a:ea typeface="Cambria Math" panose="02040503050406030204" pitchFamily="18" charset="0"/>
                                  </a:rPr>
                                  <m:t>𝐓</m:t>
                                </m:r>
                                <m:r>
                                  <a:rPr lang="en-US" sz="3200" i="1" dirty="0">
                                    <a:solidFill>
                                      <a:sysClr val="windowText" lastClr="000000"/>
                                    </a:solidFill>
                                    <a:latin typeface="Cambria Math" panose="02040503050406030204" pitchFamily="18" charset="0"/>
                                    <a:ea typeface="Cambria Math" panose="02040503050406030204" pitchFamily="18" charset="0"/>
                                  </a:rPr>
                                  <m:t>,</m:t>
                                </m:r>
                                <m:sSup>
                                  <m:sSupPr>
                                    <m:ctrlPr>
                                      <a:rPr lang="en-US" sz="3200" i="1" dirty="0">
                                        <a:solidFill>
                                          <a:sysClr val="windowText" lastClr="000000"/>
                                        </a:solidFill>
                                        <a:latin typeface="Cambria Math" panose="02040503050406030204" pitchFamily="18" charset="0"/>
                                        <a:ea typeface="Cambria Math" panose="02040503050406030204" pitchFamily="18" charset="0"/>
                                      </a:rPr>
                                    </m:ctrlPr>
                                  </m:sSupPr>
                                  <m:e>
                                    <m:r>
                                      <a:rPr lang="en-US" sz="3200" b="1" i="1" dirty="0">
                                        <a:solidFill>
                                          <a:srgbClr val="FF0000"/>
                                        </a:solidFill>
                                        <a:latin typeface="Cambria Math" panose="02040503050406030204" pitchFamily="18" charset="0"/>
                                        <a:ea typeface="Cambria Math" panose="02040503050406030204" pitchFamily="18" charset="0"/>
                                      </a:rPr>
                                      <m:t>𝝍</m:t>
                                    </m:r>
                                  </m:e>
                                  <m:sup>
                                    <m:r>
                                      <a:rPr lang="en-US" sz="3200" i="1" dirty="0">
                                        <a:solidFill>
                                          <a:schemeClr val="tx1"/>
                                        </a:solidFill>
                                        <a:latin typeface="Cambria Math" panose="02040503050406030204" pitchFamily="18" charset="0"/>
                                        <a:ea typeface="Cambria Math" panose="02040503050406030204" pitchFamily="18" charset="0"/>
                                      </a:rPr>
                                      <m:t>⊗</m:t>
                                    </m:r>
                                    <m:r>
                                      <a:rPr lang="en-US" sz="3200" i="1" dirty="0">
                                        <a:solidFill>
                                          <a:schemeClr val="tx1"/>
                                        </a:solidFill>
                                        <a:latin typeface="Cambria Math" panose="02040503050406030204" pitchFamily="18" charset="0"/>
                                        <a:ea typeface="Cambria Math" panose="02040503050406030204" pitchFamily="18" charset="0"/>
                                      </a:rPr>
                                      <m:t>𝑟</m:t>
                                    </m:r>
                                  </m:sup>
                                </m:sSup>
                              </m:e>
                            </m:d>
                            <m:sSup>
                              <m:sSupPr>
                                <m:ctrlPr>
                                  <a:rPr lang="en-US" sz="3200" i="1" dirty="0">
                                    <a:solidFill>
                                      <a:sysClr val="windowText" lastClr="000000"/>
                                    </a:solidFill>
                                    <a:latin typeface="Cambria Math" panose="02040503050406030204" pitchFamily="18" charset="0"/>
                                    <a:ea typeface="Cambria Math" panose="02040503050406030204" pitchFamily="18" charset="0"/>
                                  </a:rPr>
                                </m:ctrlPr>
                              </m:sSupPr>
                              <m:e>
                                <m:d>
                                  <m:dPr>
                                    <m:begChr m:val="⟨"/>
                                    <m:endChr m:val="⟩"/>
                                    <m:ctrlPr>
                                      <a:rPr lang="en-US" sz="3200" i="1" dirty="0">
                                        <a:solidFill>
                                          <a:sysClr val="windowText" lastClr="000000"/>
                                        </a:solidFill>
                                        <a:latin typeface="Cambria Math" panose="02040503050406030204" pitchFamily="18" charset="0"/>
                                        <a:ea typeface="Cambria Math" panose="02040503050406030204" pitchFamily="18" charset="0"/>
                                      </a:rPr>
                                    </m:ctrlPr>
                                  </m:dPr>
                                  <m:e>
                                    <m:r>
                                      <a:rPr lang="en-US" sz="3200" b="1" i="1" dirty="0">
                                        <a:solidFill>
                                          <a:srgbClr val="FF0000"/>
                                        </a:solidFill>
                                        <a:latin typeface="Cambria Math" panose="02040503050406030204" pitchFamily="18" charset="0"/>
                                        <a:ea typeface="Cambria Math" panose="02040503050406030204" pitchFamily="18" charset="0"/>
                                      </a:rPr>
                                      <m:t>𝝍</m:t>
                                    </m:r>
                                    <m:r>
                                      <a:rPr lang="en-US" sz="3200" i="1" dirty="0">
                                        <a:solidFill>
                                          <a:sysClr val="windowText" lastClr="000000"/>
                                        </a:solidFill>
                                        <a:latin typeface="Cambria Math" panose="02040503050406030204" pitchFamily="18" charset="0"/>
                                        <a:ea typeface="Cambria Math" panose="02040503050406030204" pitchFamily="18" charset="0"/>
                                      </a:rPr>
                                      <m:t>, </m:t>
                                    </m:r>
                                    <m:r>
                                      <a:rPr lang="en-US" sz="3200" b="1" i="1" dirty="0">
                                        <a:solidFill>
                                          <a:sysClr val="windowText" lastClr="000000"/>
                                        </a:solidFill>
                                        <a:latin typeface="Cambria Math" panose="02040503050406030204" pitchFamily="18" charset="0"/>
                                        <a:ea typeface="Cambria Math" panose="02040503050406030204" pitchFamily="18" charset="0"/>
                                      </a:rPr>
                                      <m:t>𝒘</m:t>
                                    </m:r>
                                  </m:e>
                                </m:d>
                              </m:e>
                              <m:sup>
                                <m:r>
                                  <a:rPr lang="en-US" sz="3200" i="1" dirty="0">
                                    <a:solidFill>
                                      <a:sysClr val="windowText" lastClr="000000"/>
                                    </a:solidFill>
                                    <a:latin typeface="Cambria Math" panose="02040503050406030204" pitchFamily="18" charset="0"/>
                                    <a:ea typeface="Cambria Math" panose="02040503050406030204" pitchFamily="18" charset="0"/>
                                  </a:rPr>
                                  <m:t>𝑟</m:t>
                                </m:r>
                              </m:sup>
                            </m:sSup>
                          </m:e>
                        </m:d>
                        <m:r>
                          <a:rPr lang="en-US" sz="3200" i="1" dirty="0">
                            <a:solidFill>
                              <a:sysClr val="windowText" lastClr="000000"/>
                            </a:solidFill>
                            <a:latin typeface="Cambria Math" panose="02040503050406030204" pitchFamily="18" charset="0"/>
                            <a:ea typeface="Cambria Math" panose="02040503050406030204" pitchFamily="18" charset="0"/>
                          </a:rPr>
                          <m:t>=</m:t>
                        </m:r>
                        <m:f>
                          <m:fPr>
                            <m:ctrlPr>
                              <a:rPr lang="en-US" sz="3200" i="1" dirty="0">
                                <a:solidFill>
                                  <a:sysClr val="windowText" lastClr="000000"/>
                                </a:solidFill>
                                <a:latin typeface="Cambria Math" panose="02040503050406030204" pitchFamily="18" charset="0"/>
                                <a:ea typeface="Cambria Math" panose="02040503050406030204" pitchFamily="18" charset="0"/>
                              </a:rPr>
                            </m:ctrlPr>
                          </m:fPr>
                          <m:num>
                            <m:d>
                              <m:dPr>
                                <m:begChr m:val="⟨"/>
                                <m:endChr m:val="⟩"/>
                                <m:ctrlPr>
                                  <a:rPr lang="en-US" sz="3200" i="1" dirty="0">
                                    <a:solidFill>
                                      <a:sysClr val="windowText" lastClr="000000"/>
                                    </a:solidFill>
                                    <a:latin typeface="Cambria Math" panose="02040503050406030204" pitchFamily="18" charset="0"/>
                                    <a:ea typeface="Cambria Math" panose="02040503050406030204" pitchFamily="18" charset="0"/>
                                  </a:rPr>
                                </m:ctrlPr>
                              </m:dPr>
                              <m:e>
                                <m:r>
                                  <a:rPr lang="en-US" sz="3200" b="1" dirty="0">
                                    <a:solidFill>
                                      <a:sysClr val="windowText" lastClr="000000"/>
                                    </a:solidFill>
                                    <a:latin typeface="Cambria Math" panose="02040503050406030204" pitchFamily="18" charset="0"/>
                                    <a:ea typeface="Cambria Math" panose="02040503050406030204" pitchFamily="18" charset="0"/>
                                  </a:rPr>
                                  <m:t>𝐓</m:t>
                                </m:r>
                                <m:r>
                                  <a:rPr lang="en-US" sz="3200" i="1" dirty="0">
                                    <a:solidFill>
                                      <a:sysClr val="windowText" lastClr="000000"/>
                                    </a:solidFill>
                                    <a:latin typeface="Cambria Math" panose="02040503050406030204" pitchFamily="18" charset="0"/>
                                    <a:ea typeface="Cambria Math" panose="02040503050406030204" pitchFamily="18" charset="0"/>
                                  </a:rPr>
                                  <m:t>, </m:t>
                                </m:r>
                                <m:sSup>
                                  <m:sSupPr>
                                    <m:ctrlPr>
                                      <a:rPr lang="en-US" sz="3200" b="1" i="1" dirty="0">
                                        <a:solidFill>
                                          <a:sysClr val="windowText" lastClr="000000"/>
                                        </a:solidFill>
                                        <a:latin typeface="Cambria Math" panose="02040503050406030204" pitchFamily="18" charset="0"/>
                                        <a:ea typeface="Cambria Math" panose="02040503050406030204" pitchFamily="18" charset="0"/>
                                      </a:rPr>
                                    </m:ctrlPr>
                                  </m:sSupPr>
                                  <m:e>
                                    <m:r>
                                      <a:rPr lang="en-US" sz="3200" b="1" i="1" dirty="0">
                                        <a:solidFill>
                                          <a:sysClr val="windowText" lastClr="000000"/>
                                        </a:solidFill>
                                        <a:latin typeface="Cambria Math" panose="02040503050406030204" pitchFamily="18" charset="0"/>
                                        <a:ea typeface="Cambria Math" panose="02040503050406030204" pitchFamily="18" charset="0"/>
                                      </a:rPr>
                                      <m:t>𝒘</m:t>
                                    </m:r>
                                  </m:e>
                                  <m:sup>
                                    <m:r>
                                      <a:rPr lang="en-US" sz="3200" b="1" i="1" dirty="0">
                                        <a:solidFill>
                                          <a:sysClr val="windowText" lastClr="000000"/>
                                        </a:solidFill>
                                        <a:latin typeface="Cambria Math" panose="02040503050406030204" pitchFamily="18" charset="0"/>
                                        <a:ea typeface="Cambria Math" panose="02040503050406030204" pitchFamily="18" charset="0"/>
                                      </a:rPr>
                                      <m:t>⊗</m:t>
                                    </m:r>
                                    <m:r>
                                      <a:rPr lang="en-US" sz="3200" i="1" dirty="0">
                                        <a:solidFill>
                                          <a:sysClr val="windowText" lastClr="000000"/>
                                        </a:solidFill>
                                        <a:latin typeface="Cambria Math" panose="02040503050406030204" pitchFamily="18" charset="0"/>
                                        <a:ea typeface="Cambria Math" panose="02040503050406030204" pitchFamily="18" charset="0"/>
                                      </a:rPr>
                                      <m:t>𝑟</m:t>
                                    </m:r>
                                  </m:sup>
                                </m:sSup>
                              </m:e>
                            </m:d>
                          </m:num>
                          <m:den>
                            <m:d>
                              <m:dPr>
                                <m:ctrlPr>
                                  <a:rPr lang="en-US" sz="3200" i="1">
                                    <a:solidFill>
                                      <a:schemeClr val="tx1"/>
                                    </a:solidFill>
                                    <a:latin typeface="Cambria Math" panose="02040503050406030204" pitchFamily="18" charset="0"/>
                                  </a:rPr>
                                </m:ctrlPr>
                              </m:dPr>
                              <m:e>
                                <m:f>
                                  <m:fPr>
                                    <m:type m:val="noBar"/>
                                    <m:ctrlPr>
                                      <a:rPr lang="en-US" sz="3200" i="1">
                                        <a:solidFill>
                                          <a:schemeClr val="tx1"/>
                                        </a:solidFill>
                                        <a:latin typeface="Cambria Math" panose="02040503050406030204" pitchFamily="18" charset="0"/>
                                      </a:rPr>
                                    </m:ctrlPr>
                                  </m:fPr>
                                  <m:num>
                                    <m:r>
                                      <a:rPr lang="en-US" sz="3200" i="1">
                                        <a:solidFill>
                                          <a:schemeClr val="tx1"/>
                                        </a:solidFill>
                                        <a:latin typeface="Cambria Math" panose="02040503050406030204" pitchFamily="18" charset="0"/>
                                      </a:rPr>
                                      <m:t>𝑛</m:t>
                                    </m:r>
                                    <m:r>
                                      <a:rPr lang="en-US" sz="3200" i="1">
                                        <a:solidFill>
                                          <a:schemeClr val="tx1"/>
                                        </a:solidFill>
                                        <a:latin typeface="Cambria Math" panose="02040503050406030204" pitchFamily="18" charset="0"/>
                                      </a:rPr>
                                      <m:t>+</m:t>
                                    </m:r>
                                    <m:r>
                                      <a:rPr lang="en-US" sz="3200" i="1">
                                        <a:solidFill>
                                          <a:schemeClr val="tx1"/>
                                        </a:solidFill>
                                        <a:latin typeface="Cambria Math" panose="02040503050406030204" pitchFamily="18" charset="0"/>
                                      </a:rPr>
                                      <m:t>𝑟</m:t>
                                    </m:r>
                                    <m:r>
                                      <a:rPr lang="en-US" sz="3200" i="1">
                                        <a:solidFill>
                                          <a:schemeClr val="tx1"/>
                                        </a:solidFill>
                                        <a:latin typeface="Cambria Math" panose="02040503050406030204" pitchFamily="18" charset="0"/>
                                      </a:rPr>
                                      <m:t>−1</m:t>
                                    </m:r>
                                  </m:num>
                                  <m:den>
                                    <m:r>
                                      <a:rPr lang="en-US" sz="3200" i="1">
                                        <a:solidFill>
                                          <a:schemeClr val="tx1"/>
                                        </a:solidFill>
                                        <a:latin typeface="Cambria Math" panose="02040503050406030204" pitchFamily="18" charset="0"/>
                                      </a:rPr>
                                      <m:t>𝑟</m:t>
                                    </m:r>
                                  </m:den>
                                </m:f>
                              </m:e>
                            </m:d>
                          </m:den>
                        </m:f>
                      </m:oMath>
                    </m:oMathPara>
                  </a14:m>
                  <a:endParaRPr lang="en-US" sz="3200" b="1" dirty="0">
                    <a:solidFill>
                      <a:sysClr val="windowText" lastClr="000000"/>
                    </a:solidFill>
                    <a:latin typeface="Garamond" panose="02020404030301010803" pitchFamily="18" charset="0"/>
                  </a:endParaRPr>
                </a:p>
                <a:p>
                  <a:pPr>
                    <a:lnSpc>
                      <a:spcPct val="150000"/>
                    </a:lnSpc>
                  </a:pPr>
                  <a:r>
                    <a:rPr lang="en-US" sz="2800" dirty="0">
                      <a:solidFill>
                        <a:schemeClr val="tx1"/>
                      </a:solidFill>
                      <a:latin typeface="Garamond" panose="02020404030301010803" pitchFamily="18" charset="0"/>
                    </a:rPr>
                    <a:t>where</a:t>
                  </a:r>
                  <a:r>
                    <a:rPr lang="en-US" sz="2800" b="1" dirty="0">
                      <a:solidFill>
                        <a:schemeClr val="tx1"/>
                      </a:solidFill>
                      <a:latin typeface="Garamond" panose="02020404030301010803" pitchFamily="18" charset="0"/>
                    </a:rPr>
                    <a:t> </a:t>
                  </a:r>
                  <a14:m>
                    <m:oMath xmlns:m="http://schemas.openxmlformats.org/officeDocument/2006/math">
                      <m:r>
                        <a:rPr lang="en-US" sz="2800" b="1" i="1">
                          <a:solidFill>
                            <a:srgbClr val="FF0000"/>
                          </a:solidFill>
                          <a:latin typeface="Cambria Math" panose="02040503050406030204" pitchFamily="18" charset="0"/>
                        </a:rPr>
                        <m:t>𝝍</m:t>
                      </m:r>
                    </m:oMath>
                  </a14:m>
                  <a:r>
                    <a:rPr lang="en-US" sz="2800" dirty="0">
                      <a:solidFill>
                        <a:schemeClr val="tx1"/>
                      </a:solidFill>
                      <a:latin typeface="Garamond" panose="02020404030301010803" pitchFamily="18" charset="0"/>
                    </a:rPr>
                    <a:t> is a random unit vector in </a:t>
                  </a:r>
                  <a14:m>
                    <m:oMath xmlns:m="http://schemas.openxmlformats.org/officeDocument/2006/math">
                      <m:sSup>
                        <m:sSupPr>
                          <m:ctrlPr>
                            <a:rPr lang="en-US" sz="2800" i="1">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ℂ</m:t>
                          </m:r>
                        </m:e>
                        <m:sup>
                          <m:r>
                            <a:rPr lang="en-US" sz="2800" i="1">
                              <a:solidFill>
                                <a:schemeClr val="tx1"/>
                              </a:solidFill>
                              <a:latin typeface="Cambria Math" panose="02040503050406030204" pitchFamily="18" charset="0"/>
                            </a:rPr>
                            <m:t>𝑛</m:t>
                          </m:r>
                        </m:sup>
                      </m:sSup>
                    </m:oMath>
                  </a14:m>
                  <a:r>
                    <a:rPr lang="en-US" sz="2800" dirty="0">
                      <a:solidFill>
                        <a:schemeClr val="tx1"/>
                      </a:solidFill>
                      <a:latin typeface="Cambria Math" panose="02040503050406030204" pitchFamily="18" charset="0"/>
                    </a:rPr>
                    <a:t>.</a:t>
                  </a:r>
                  <a:endParaRPr lang="en-US" sz="2800" dirty="0">
                    <a:latin typeface="Cambria Math" panose="02040503050406030204" pitchFamily="18" charset="0"/>
                  </a:endParaRPr>
                </a:p>
              </p:txBody>
            </p:sp>
          </mc:Choice>
          <mc:Fallback xmlns="">
            <p:sp>
              <p:nvSpPr>
                <p:cNvPr id="29" name="Rectangle 28">
                  <a:extLst>
                    <a:ext uri="{FF2B5EF4-FFF2-40B4-BE49-F238E27FC236}">
                      <a16:creationId xmlns:a16="http://schemas.microsoft.com/office/drawing/2014/main" id="{F2EF50AF-D716-58E4-773B-BB2846CB147E}"/>
                    </a:ext>
                  </a:extLst>
                </p:cNvPr>
                <p:cNvSpPr>
                  <a:spLocks noRot="1" noChangeAspect="1" noMove="1" noResize="1" noEditPoints="1" noAdjustHandles="1" noChangeArrowheads="1" noChangeShapeType="1" noTextEdit="1"/>
                </p:cNvSpPr>
                <p:nvPr/>
              </p:nvSpPr>
              <p:spPr>
                <a:xfrm>
                  <a:off x="6096000" y="2054961"/>
                  <a:ext cx="5975922" cy="2505519"/>
                </a:xfrm>
                <a:prstGeom prst="rect">
                  <a:avLst/>
                </a:prstGeom>
                <a:blipFill>
                  <a:blip r:embed="rId7"/>
                  <a:stretch>
                    <a:fillRect l="-2114" t="-3015" b="-1005"/>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10759C1-D0A1-444D-E5B3-AD9777B2A658}"/>
                    </a:ext>
                  </a:extLst>
                </p:cNvPr>
                <p:cNvSpPr txBox="1"/>
                <p:nvPr/>
              </p:nvSpPr>
              <p:spPr>
                <a:xfrm>
                  <a:off x="6347840" y="3263599"/>
                  <a:ext cx="40267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a:solidFill>
                              <a:srgbClr val="FF0000"/>
                            </a:solidFill>
                            <a:latin typeface="Cambria Math" panose="02040503050406030204" pitchFamily="18" charset="0"/>
                          </a:rPr>
                          <m:t>𝝍</m:t>
                        </m:r>
                      </m:oMath>
                    </m:oMathPara>
                  </a14:m>
                  <a:endParaRPr lang="en-US" sz="2400" i="1" dirty="0">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C10759C1-D0A1-444D-E5B3-AD9777B2A658}"/>
                    </a:ext>
                  </a:extLst>
                </p:cNvPr>
                <p:cNvSpPr txBox="1">
                  <a:spLocks noRot="1" noChangeAspect="1" noMove="1" noResize="1" noEditPoints="1" noAdjustHandles="1" noChangeArrowheads="1" noChangeShapeType="1" noTextEdit="1"/>
                </p:cNvSpPr>
                <p:nvPr/>
              </p:nvSpPr>
              <p:spPr>
                <a:xfrm>
                  <a:off x="6347840" y="3263599"/>
                  <a:ext cx="402673" cy="461665"/>
                </a:xfrm>
                <a:prstGeom prst="rect">
                  <a:avLst/>
                </a:prstGeom>
                <a:blipFill>
                  <a:blip r:embed="rId8"/>
                  <a:stretch>
                    <a:fillRect l="-12121" r="-18182" b="-1578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D128508-10FD-E367-CD25-F23FDD2DD5DC}"/>
                  </a:ext>
                </a:extLst>
              </p:cNvPr>
              <p:cNvSpPr txBox="1"/>
              <p:nvPr/>
            </p:nvSpPr>
            <p:spPr>
              <a:xfrm>
                <a:off x="7133522" y="1094862"/>
                <a:ext cx="1699206"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1" i="0" smtClean="0">
                          <a:solidFill>
                            <a:srgbClr val="FF0000"/>
                          </a:solidFill>
                          <a:latin typeface="Cambria Math" panose="02040503050406030204" pitchFamily="18" charset="0"/>
                        </a:rPr>
                        <m:t>𝚿</m:t>
                      </m:r>
                    </m:oMath>
                  </m:oMathPara>
                </a14:m>
                <a:endParaRPr lang="en-US" sz="4400" b="1" i="1" dirty="0">
                  <a:solidFill>
                    <a:srgbClr val="FF000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2D128508-10FD-E367-CD25-F23FDD2DD5DC}"/>
                  </a:ext>
                </a:extLst>
              </p:cNvPr>
              <p:cNvSpPr txBox="1">
                <a:spLocks noRot="1" noChangeAspect="1" noMove="1" noResize="1" noEditPoints="1" noAdjustHandles="1" noChangeArrowheads="1" noChangeShapeType="1" noTextEdit="1"/>
              </p:cNvSpPr>
              <p:nvPr/>
            </p:nvSpPr>
            <p:spPr>
              <a:xfrm>
                <a:off x="7133522" y="1094862"/>
                <a:ext cx="1699206" cy="76944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09D48AA-84F3-425A-391C-BB8F63DE8238}"/>
                  </a:ext>
                </a:extLst>
              </p:cNvPr>
              <p:cNvSpPr txBox="1"/>
              <p:nvPr/>
            </p:nvSpPr>
            <p:spPr>
              <a:xfrm>
                <a:off x="9005612" y="1069470"/>
                <a:ext cx="1699206" cy="7948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4400" b="1" i="1" smtClean="0">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b="0" i="1" smtClean="0">
                              <a:latin typeface="Cambria Math" panose="02040503050406030204" pitchFamily="18" charset="0"/>
                            </a:rPr>
                            <m:t>⊗</m:t>
                          </m:r>
                          <m:r>
                            <a:rPr lang="en-US" sz="4400" b="0" i="1" smtClean="0">
                              <a:latin typeface="Cambria Math" panose="02040503050406030204" pitchFamily="18" charset="0"/>
                            </a:rPr>
                            <m:t>𝑟</m:t>
                          </m:r>
                        </m:sup>
                      </m:sSup>
                    </m:oMath>
                  </m:oMathPara>
                </a14:m>
                <a:endParaRPr lang="en-US" sz="4400" b="1" i="1" dirty="0">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A09D48AA-84F3-425A-391C-BB8F63DE8238}"/>
                  </a:ext>
                </a:extLst>
              </p:cNvPr>
              <p:cNvSpPr txBox="1">
                <a:spLocks noRot="1" noChangeAspect="1" noMove="1" noResize="1" noEditPoints="1" noAdjustHandles="1" noChangeArrowheads="1" noChangeShapeType="1" noTextEdit="1"/>
              </p:cNvSpPr>
              <p:nvPr/>
            </p:nvSpPr>
            <p:spPr>
              <a:xfrm>
                <a:off x="9005612" y="1069470"/>
                <a:ext cx="1699206" cy="794833"/>
              </a:xfrm>
              <a:prstGeom prst="rect">
                <a:avLst/>
              </a:prstGeom>
              <a:blipFill>
                <a:blip r:embed="rId10"/>
                <a:stretch>
                  <a:fillRect b="-22222"/>
                </a:stretch>
              </a:blipFill>
            </p:spPr>
            <p:txBody>
              <a:bodyPr/>
              <a:lstStyle/>
              <a:p>
                <a:r>
                  <a:rPr lang="en-US">
                    <a:noFill/>
                  </a:rPr>
                  <a:t> </a:t>
                </a:r>
              </a:p>
            </p:txBody>
          </p:sp>
        </mc:Fallback>
      </mc:AlternateContent>
      <p:sp>
        <p:nvSpPr>
          <p:cNvPr id="25" name="Right Arrow 24">
            <a:extLst>
              <a:ext uri="{FF2B5EF4-FFF2-40B4-BE49-F238E27FC236}">
                <a16:creationId xmlns:a16="http://schemas.microsoft.com/office/drawing/2014/main" id="{CE1F4443-0673-C820-8E26-BF53BAEC55B8}"/>
              </a:ext>
            </a:extLst>
          </p:cNvPr>
          <p:cNvSpPr/>
          <p:nvPr/>
        </p:nvSpPr>
        <p:spPr>
          <a:xfrm>
            <a:off x="8425480" y="1312027"/>
            <a:ext cx="789272" cy="30971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B7237090-493B-25E3-24F9-E17158004EF0}"/>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33" name="Rounded Rectangle 32">
                <a:extLst>
                  <a:ext uri="{FF2B5EF4-FFF2-40B4-BE49-F238E27FC236}">
                    <a16:creationId xmlns:a16="http://schemas.microsoft.com/office/drawing/2014/main" id="{B7237090-493B-25E3-24F9-E17158004EF0}"/>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11"/>
                <a:stretch>
                  <a:fillRect l="-1705" t="-10606" b="-303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61651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3DA61-3F28-156A-39C5-7367ACE65D49}"/>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18499E7-A3DD-448D-C456-3574916DA19A}"/>
              </a:ext>
            </a:extLst>
          </p:cNvPr>
          <p:cNvSpPr txBox="1">
            <a:spLocks/>
          </p:cNvSpPr>
          <p:nvPr/>
        </p:nvSpPr>
        <p:spPr>
          <a:xfrm>
            <a:off x="7486188" y="1232556"/>
            <a:ext cx="3315625" cy="9085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u="sng" dirty="0"/>
              <a:t>New attempt</a:t>
            </a:r>
            <a:endParaRPr lang="en-US" b="0" u="sng" dirty="0"/>
          </a:p>
        </p:txBody>
      </p:sp>
      <p:sp>
        <p:nvSpPr>
          <p:cNvPr id="13" name="TextBox 12">
            <a:extLst>
              <a:ext uri="{FF2B5EF4-FFF2-40B4-BE49-F238E27FC236}">
                <a16:creationId xmlns:a16="http://schemas.microsoft.com/office/drawing/2014/main" id="{2338850B-E4C9-08E7-57A8-45669CB5C3B7}"/>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Symmetric projections</a:t>
            </a:r>
            <a:endParaRPr lang="en-US" sz="440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A1A0F416-4CCA-E883-3B82-ADAE16001A0C}"/>
                  </a:ext>
                </a:extLst>
              </p:cNvPr>
              <p:cNvSpPr/>
              <p:nvPr/>
            </p:nvSpPr>
            <p:spPr>
              <a:xfrm>
                <a:off x="6189044" y="1903124"/>
                <a:ext cx="5882878" cy="1637142"/>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wrap="none" rtlCol="0" anchor="ctr"/>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Store </a:t>
                </a:r>
                <a14:m>
                  <m:oMath xmlns:m="http://schemas.openxmlformats.org/officeDocument/2006/math">
                    <m:r>
                      <a:rPr lang="en-US" sz="4400" b="1" i="1">
                        <a:solidFill>
                          <a:srgbClr val="FF0000"/>
                        </a:solidFill>
                        <a:latin typeface="Cambria Math" panose="02040503050406030204" pitchFamily="18" charset="0"/>
                      </a:rPr>
                      <m:t>𝝍</m:t>
                    </m:r>
                  </m:oMath>
                </a14:m>
                <a:r>
                  <a:rPr lang="en-US" sz="4400" dirty="0">
                    <a:solidFill>
                      <a:schemeClr val="tx1"/>
                    </a:solidFill>
                    <a:latin typeface="Garamond" panose="02020404030301010803" pitchFamily="18" charset="0"/>
                  </a:rPr>
                  <a:t> and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oMath>
                </a14:m>
                <a:r>
                  <a:rPr lang="en-US" sz="4400" dirty="0">
                    <a:solidFill>
                      <a:schemeClr val="tx1"/>
                    </a:solidFill>
                    <a:latin typeface="Garamond" panose="02020404030301010803" pitchFamily="18" charset="0"/>
                  </a:rPr>
                  <a:t>.</a:t>
                </a:r>
              </a:p>
            </p:txBody>
          </p:sp>
        </mc:Choice>
        <mc:Fallback xmlns="">
          <p:sp>
            <p:nvSpPr>
              <p:cNvPr id="8" name="Rounded Rectangle 7">
                <a:extLst>
                  <a:ext uri="{FF2B5EF4-FFF2-40B4-BE49-F238E27FC236}">
                    <a16:creationId xmlns:a16="http://schemas.microsoft.com/office/drawing/2014/main" id="{A1A0F416-4CCA-E883-3B82-ADAE16001A0C}"/>
                  </a:ext>
                </a:extLst>
              </p:cNvPr>
              <p:cNvSpPr>
                <a:spLocks noRot="1" noChangeAspect="1" noMove="1" noResize="1" noEditPoints="1" noAdjustHandles="1" noChangeArrowheads="1" noChangeShapeType="1" noTextEdit="1"/>
              </p:cNvSpPr>
              <p:nvPr/>
            </p:nvSpPr>
            <p:spPr>
              <a:xfrm>
                <a:off x="6189044" y="1903124"/>
                <a:ext cx="5882878" cy="1637142"/>
              </a:xfrm>
              <a:prstGeom prst="roundRect">
                <a:avLst/>
              </a:prstGeom>
              <a:blipFill>
                <a:blip r:embed="rId3"/>
                <a:stretch>
                  <a:fillRect l="-2802" t="-3846" r="-3664" b="-130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FBDE29F1-1F5C-F702-0A43-06165BA81EBA}"/>
                  </a:ext>
                </a:extLst>
              </p:cNvPr>
              <p:cNvSpPr/>
              <p:nvPr/>
            </p:nvSpPr>
            <p:spPr>
              <a:xfrm>
                <a:off x="6189044" y="3756582"/>
                <a:ext cx="5882878" cy="2376678"/>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Prediction (delete </a:t>
                </a:r>
                <a14:m>
                  <m:oMath xmlns:m="http://schemas.openxmlformats.org/officeDocument/2006/math">
                    <m:r>
                      <a:rPr lang="en-US" sz="4400" i="1">
                        <a:solidFill>
                          <a:schemeClr val="tx1"/>
                        </a:solidFill>
                        <a:latin typeface="Cambria Math" panose="02040503050406030204" pitchFamily="18" charset="0"/>
                      </a:rPr>
                      <m:t>𝑋</m:t>
                    </m:r>
                  </m:oMath>
                </a14:m>
                <a:r>
                  <a:rPr lang="en-US" sz="4400" b="1" dirty="0">
                    <a:solidFill>
                      <a:schemeClr val="tx1"/>
                    </a:solidFill>
                    <a:latin typeface="Garamond" panose="02020404030301010803" pitchFamily="18" charset="0"/>
                  </a:rPr>
                  <a:t>):</a:t>
                </a:r>
              </a:p>
              <a:p>
                <a:r>
                  <a:rPr lang="en-US" sz="4400" dirty="0">
                    <a:solidFill>
                      <a:schemeClr val="tx1"/>
                    </a:solidFill>
                    <a:latin typeface="Garamond" panose="02020404030301010803" pitchFamily="18" charset="0"/>
                  </a:rPr>
                  <a:t>Compute</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i="1">
                        <a:solidFill>
                          <a:schemeClr val="tx1"/>
                        </a:solidFill>
                        <a:latin typeface="Cambria Math" panose="02040503050406030204" pitchFamily="18" charset="0"/>
                      </a:rPr>
                      <m:t> </m:t>
                    </m:r>
                    <m:sSup>
                      <m:sSupPr>
                        <m:ctrlPr>
                          <a:rPr lang="en-US" sz="4400" b="1" i="1">
                            <a:solidFill>
                              <a:schemeClr val="tx1"/>
                            </a:solidFill>
                            <a:latin typeface="Cambria Math" panose="02040503050406030204" pitchFamily="18" charset="0"/>
                          </a:rPr>
                        </m:ctrlPr>
                      </m:sSupPr>
                      <m:e>
                        <m:d>
                          <m:dPr>
                            <m:begChr m:val="⟨"/>
                            <m:endChr m:val="⟩"/>
                            <m:ctrlPr>
                              <a:rPr lang="en-US" sz="4400" i="1">
                                <a:solidFill>
                                  <a:schemeClr val="tx1"/>
                                </a:solidFill>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solidFill>
                                  <a:schemeClr val="tx1"/>
                                </a:solidFill>
                                <a:latin typeface="Cambria Math" panose="02040503050406030204" pitchFamily="18" charset="0"/>
                              </a:rPr>
                              <m:t>, </m:t>
                            </m:r>
                            <m:sSub>
                              <m:sSubPr>
                                <m:ctrlPr>
                                  <a:rPr lang="en-US" sz="4400" i="1">
                                    <a:solidFill>
                                      <a:schemeClr val="tx1"/>
                                    </a:solidFill>
                                    <a:latin typeface="Cambria Math" panose="02040503050406030204" pitchFamily="18" charset="0"/>
                                  </a:rPr>
                                </m:ctrlPr>
                              </m:sSubPr>
                              <m:e>
                                <m:r>
                                  <a:rPr lang="en-US" sz="4400" b="1" i="1">
                                    <a:solidFill>
                                      <a:schemeClr val="tx1"/>
                                    </a:solidFill>
                                    <a:latin typeface="Cambria Math" panose="02040503050406030204" pitchFamily="18" charset="0"/>
                                  </a:rPr>
                                  <m:t>𝒆</m:t>
                                </m:r>
                              </m:e>
                              <m:sub>
                                <m:r>
                                  <a:rPr lang="en-US" sz="4400" i="1">
                                    <a:solidFill>
                                      <a:schemeClr val="tx1"/>
                                    </a:solidFill>
                                    <a:latin typeface="Cambria Math" panose="02040503050406030204" pitchFamily="18" charset="0"/>
                                  </a:rPr>
                                  <m:t>𝑋</m:t>
                                </m:r>
                              </m:sub>
                            </m:sSub>
                          </m:e>
                        </m:d>
                      </m:e>
                      <m:sup>
                        <m:r>
                          <a:rPr lang="en-US" sz="4400" i="1">
                            <a:solidFill>
                              <a:schemeClr val="tx1"/>
                            </a:solidFill>
                            <a:latin typeface="Cambria Math" panose="02040503050406030204" pitchFamily="18" charset="0"/>
                          </a:rPr>
                          <m:t>𝑟</m:t>
                        </m:r>
                      </m:sup>
                    </m:sSup>
                  </m:oMath>
                </a14:m>
                <a:r>
                  <a:rPr lang="en-US" sz="4400" dirty="0">
                    <a:solidFill>
                      <a:schemeClr val="tx1"/>
                    </a:solidFill>
                    <a:latin typeface="Garamond" panose="02020404030301010803" pitchFamily="18" charset="0"/>
                  </a:rPr>
                  <a:t>.</a:t>
                </a:r>
              </a:p>
            </p:txBody>
          </p:sp>
        </mc:Choice>
        <mc:Fallback xmlns="">
          <p:sp>
            <p:nvSpPr>
              <p:cNvPr id="9" name="Rounded Rectangle 8">
                <a:extLst>
                  <a:ext uri="{FF2B5EF4-FFF2-40B4-BE49-F238E27FC236}">
                    <a16:creationId xmlns:a16="http://schemas.microsoft.com/office/drawing/2014/main" id="{FBDE29F1-1F5C-F702-0A43-06165BA81EBA}"/>
                  </a:ext>
                </a:extLst>
              </p:cNvPr>
              <p:cNvSpPr>
                <a:spLocks noRot="1" noChangeAspect="1" noMove="1" noResize="1" noEditPoints="1" noAdjustHandles="1" noChangeArrowheads="1" noChangeShapeType="1" noTextEdit="1"/>
              </p:cNvSpPr>
              <p:nvPr/>
            </p:nvSpPr>
            <p:spPr>
              <a:xfrm>
                <a:off x="6189044" y="3756582"/>
                <a:ext cx="5882878" cy="2376678"/>
              </a:xfrm>
              <a:prstGeom prst="roundRect">
                <a:avLst/>
              </a:prstGeom>
              <a:blipFill>
                <a:blip r:embed="rId4"/>
                <a:stretch>
                  <a:fillRect l="-2155" t="-1064" b="-7979"/>
                </a:stretch>
              </a:blipFill>
              <a:ln>
                <a:noFill/>
              </a:ln>
            </p:spPr>
            <p:txBody>
              <a:bodyPr/>
              <a:lstStyle/>
              <a:p>
                <a:r>
                  <a:rPr lang="en-US">
                    <a:noFill/>
                  </a:rPr>
                  <a:t> </a:t>
                </a:r>
              </a:p>
            </p:txBody>
          </p:sp>
        </mc:Fallback>
      </mc:AlternateContent>
      <p:pic>
        <p:nvPicPr>
          <p:cNvPr id="16" name="Graphic 15" descr="Lightbulb with solid fill">
            <a:extLst>
              <a:ext uri="{FF2B5EF4-FFF2-40B4-BE49-F238E27FC236}">
                <a16:creationId xmlns:a16="http://schemas.microsoft.com/office/drawing/2014/main" id="{7B67EDFB-B39E-D0CA-19A1-A291E37CB3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3C23C98-7E54-FC75-1E37-2E9785C6A186}"/>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63C23C98-7E54-FC75-1E37-2E9785C6A186}"/>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6"/>
                <a:stretch>
                  <a:fillRect t="-112987" b="-170130"/>
                </a:stretch>
              </a:blipFill>
            </p:spPr>
            <p:txBody>
              <a:bodyPr/>
              <a:lstStyle/>
              <a:p>
                <a:r>
                  <a:rPr lang="en-US">
                    <a:noFill/>
                  </a:rPr>
                  <a:t> </a:t>
                </a:r>
              </a:p>
            </p:txBody>
          </p:sp>
        </mc:Fallback>
      </mc:AlternateContent>
      <p:sp>
        <p:nvSpPr>
          <p:cNvPr id="19" name="Left Brace 18">
            <a:extLst>
              <a:ext uri="{FF2B5EF4-FFF2-40B4-BE49-F238E27FC236}">
                <a16:creationId xmlns:a16="http://schemas.microsoft.com/office/drawing/2014/main" id="{EB71C89C-A3E4-D35B-4551-296E835B8C3D}"/>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2A0D68D-6788-D2AF-C498-08F256D55CD3}"/>
                  </a:ext>
                </a:extLst>
              </p:cNvPr>
              <p:cNvSpPr txBox="1"/>
              <p:nvPr/>
            </p:nvSpPr>
            <p:spPr>
              <a:xfrm>
                <a:off x="798236" y="3281887"/>
                <a:ext cx="4815903" cy="866456"/>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smtClean="0">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smtClean="0">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b="0" i="1" smtClean="0">
                          <a:solidFill>
                            <a:schemeClr val="tx1"/>
                          </a:solidFill>
                          <a:latin typeface="Cambria Math" panose="02040503050406030204" pitchFamily="18" charset="0"/>
                        </a:rPr>
                        <m:t> </m:t>
                      </m:r>
                      <m:sSup>
                        <m:sSupPr>
                          <m:ctrlPr>
                            <a:rPr lang="en-US" sz="4400" b="1" i="1" smtClean="0">
                              <a:solidFill>
                                <a:schemeClr val="tx1"/>
                              </a:solidFill>
                              <a:latin typeface="Cambria Math" panose="02040503050406030204" pitchFamily="18" charset="0"/>
                            </a:rPr>
                          </m:ctrlPr>
                        </m:sSupPr>
                        <m:e>
                          <m:d>
                            <m:dPr>
                              <m:begChr m:val="⟨"/>
                              <m:endChr m:val="⟩"/>
                              <m:ctrlPr>
                                <a:rPr lang="en-US" sz="4400" i="1">
                                  <a:solidFill>
                                    <a:schemeClr val="tx1"/>
                                  </a:solidFill>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solidFill>
                                    <a:schemeClr val="tx1"/>
                                  </a:solidFill>
                                  <a:latin typeface="Cambria Math" panose="02040503050406030204" pitchFamily="18" charset="0"/>
                                </a:rPr>
                                <m:t>, </m:t>
                              </m:r>
                              <m:r>
                                <a:rPr lang="en-US" sz="4400" b="1" i="1" smtClean="0">
                                  <a:solidFill>
                                    <a:schemeClr val="tx1"/>
                                  </a:solidFill>
                                  <a:latin typeface="Cambria Math" panose="02040503050406030204" pitchFamily="18" charset="0"/>
                                </a:rPr>
                                <m:t>𝒘</m:t>
                              </m:r>
                            </m:e>
                          </m:d>
                        </m:e>
                        <m:sup>
                          <m:r>
                            <a:rPr lang="en-US" sz="4400" b="0" i="1" smtClean="0">
                              <a:solidFill>
                                <a:schemeClr val="tx1"/>
                              </a:solidFill>
                              <a:latin typeface="Cambria Math" panose="02040503050406030204" pitchFamily="18" charset="0"/>
                            </a:rPr>
                            <m:t>𝑟</m:t>
                          </m:r>
                        </m:sup>
                      </m:sSup>
                    </m:oMath>
                  </m:oMathPara>
                </a14:m>
                <a:endParaRPr lang="en-US" sz="4400" i="1" dirty="0">
                  <a:solidFill>
                    <a:schemeClr val="tx1"/>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42A0D68D-6788-D2AF-C498-08F256D55CD3}"/>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7"/>
                <a:stretch>
                  <a:fillRect b="-13158"/>
                </a:stretch>
              </a:blipFill>
              <a:ln w="76200">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ounded Rectangle 26">
                <a:extLst>
                  <a:ext uri="{FF2B5EF4-FFF2-40B4-BE49-F238E27FC236}">
                    <a16:creationId xmlns:a16="http://schemas.microsoft.com/office/drawing/2014/main" id="{8FEEE413-B914-8FE6-E29A-2712365EA733}"/>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27" name="Rounded Rectangle 26">
                <a:extLst>
                  <a:ext uri="{FF2B5EF4-FFF2-40B4-BE49-F238E27FC236}">
                    <a16:creationId xmlns:a16="http://schemas.microsoft.com/office/drawing/2014/main" id="{8FEEE413-B914-8FE6-E29A-2712365EA733}"/>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8"/>
                <a:stretch>
                  <a:fillRect l="-1705" t="-10606" b="-303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itle 1">
                <a:extLst>
                  <a:ext uri="{FF2B5EF4-FFF2-40B4-BE49-F238E27FC236}">
                    <a16:creationId xmlns:a16="http://schemas.microsoft.com/office/drawing/2014/main" id="{E8CAA264-2E85-A385-5E9F-3EE0EAC8AAF1}"/>
                  </a:ext>
                </a:extLst>
              </p:cNvPr>
              <p:cNvSpPr txBox="1">
                <a:spLocks/>
              </p:cNvSpPr>
              <p:nvPr/>
            </p:nvSpPr>
            <p:spPr>
              <a:xfrm>
                <a:off x="6303151" y="6261652"/>
                <a:ext cx="5596535" cy="596348"/>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lgn="r"/>
                <a:r>
                  <a:rPr lang="en-US" b="0" dirty="0"/>
                  <a:t>(</a:t>
                </a:r>
                <a14:m>
                  <m:oMath xmlns:m="http://schemas.openxmlformats.org/officeDocument/2006/math">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𝜀</m:t>
                        </m:r>
                      </m:e>
                      <m:sup>
                        <m:r>
                          <a:rPr lang="en-US" b="0" i="1" smtClean="0">
                            <a:latin typeface="Cambria Math" panose="02040503050406030204" pitchFamily="18" charset="0"/>
                          </a:rPr>
                          <m:t>2</m:t>
                        </m:r>
                      </m:sup>
                    </m:sSup>
                  </m:oMath>
                </a14:m>
                <a:r>
                  <a:rPr lang="en-US" b="0" dirty="0"/>
                  <a:t> times, for each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b="0" dirty="0"/>
              </a:p>
            </p:txBody>
          </p:sp>
        </mc:Choice>
        <mc:Fallback xmlns="">
          <p:sp>
            <p:nvSpPr>
              <p:cNvPr id="29" name="Title 1">
                <a:extLst>
                  <a:ext uri="{FF2B5EF4-FFF2-40B4-BE49-F238E27FC236}">
                    <a16:creationId xmlns:a16="http://schemas.microsoft.com/office/drawing/2014/main" id="{E8CAA264-2E85-A385-5E9F-3EE0EAC8AAF1}"/>
                  </a:ext>
                </a:extLst>
              </p:cNvPr>
              <p:cNvSpPr txBox="1">
                <a:spLocks noRot="1" noChangeAspect="1" noMove="1" noResize="1" noEditPoints="1" noAdjustHandles="1" noChangeArrowheads="1" noChangeShapeType="1" noTextEdit="1"/>
              </p:cNvSpPr>
              <p:nvPr/>
            </p:nvSpPr>
            <p:spPr>
              <a:xfrm>
                <a:off x="6303151" y="6261652"/>
                <a:ext cx="5596535" cy="596348"/>
              </a:xfrm>
              <a:prstGeom prst="rect">
                <a:avLst/>
              </a:prstGeom>
              <a:blipFill>
                <a:blip r:embed="rId9"/>
                <a:stretch>
                  <a:fillRect l="-680" t="-29167" r="-2494" b="-33333"/>
                </a:stretch>
              </a:blipFill>
            </p:spPr>
            <p:txBody>
              <a:bodyPr/>
              <a:lstStyle/>
              <a:p>
                <a:r>
                  <a:rPr lang="en-US">
                    <a:noFill/>
                  </a:rPr>
                  <a:t> </a:t>
                </a:r>
              </a:p>
            </p:txBody>
          </p:sp>
        </mc:Fallback>
      </mc:AlternateContent>
    </p:spTree>
    <p:extLst>
      <p:ext uri="{BB962C8B-B14F-4D97-AF65-F5344CB8AC3E}">
        <p14:creationId xmlns:p14="http://schemas.microsoft.com/office/powerpoint/2010/main" val="376858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55826-C529-AD16-3307-1805199E5BE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25ACE26D-8930-619E-0D6E-2E48A3C76CD7}"/>
                  </a:ext>
                </a:extLst>
              </p:cNvPr>
              <p:cNvSpPr/>
              <p:nvPr/>
            </p:nvSpPr>
            <p:spPr>
              <a:xfrm>
                <a:off x="6189044" y="1903124"/>
                <a:ext cx="5882878" cy="1637142"/>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wrap="none" rtlCol="0" anchor="ctr"/>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Store </a:t>
                </a:r>
                <a14:m>
                  <m:oMath xmlns:m="http://schemas.openxmlformats.org/officeDocument/2006/math">
                    <m:r>
                      <a:rPr lang="en-US" sz="4400" b="1" i="1">
                        <a:solidFill>
                          <a:srgbClr val="FF0000"/>
                        </a:solidFill>
                        <a:latin typeface="Cambria Math" panose="02040503050406030204" pitchFamily="18" charset="0"/>
                      </a:rPr>
                      <m:t>𝝍</m:t>
                    </m:r>
                  </m:oMath>
                </a14:m>
                <a:r>
                  <a:rPr lang="en-US" sz="4400" dirty="0">
                    <a:solidFill>
                      <a:schemeClr val="tx1"/>
                    </a:solidFill>
                    <a:latin typeface="Garamond" panose="02020404030301010803" pitchFamily="18" charset="0"/>
                  </a:rPr>
                  <a:t> and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oMath>
                </a14:m>
                <a:r>
                  <a:rPr lang="en-US" sz="4400" dirty="0">
                    <a:solidFill>
                      <a:schemeClr val="tx1"/>
                    </a:solidFill>
                    <a:latin typeface="Garamond" panose="02020404030301010803" pitchFamily="18" charset="0"/>
                  </a:rPr>
                  <a:t>.</a:t>
                </a:r>
              </a:p>
            </p:txBody>
          </p:sp>
        </mc:Choice>
        <mc:Fallback xmlns="">
          <p:sp>
            <p:nvSpPr>
              <p:cNvPr id="2" name="Rounded Rectangle 1">
                <a:extLst>
                  <a:ext uri="{FF2B5EF4-FFF2-40B4-BE49-F238E27FC236}">
                    <a16:creationId xmlns:a16="http://schemas.microsoft.com/office/drawing/2014/main" id="{25ACE26D-8930-619E-0D6E-2E48A3C76CD7}"/>
                  </a:ext>
                </a:extLst>
              </p:cNvPr>
              <p:cNvSpPr>
                <a:spLocks noRot="1" noChangeAspect="1" noMove="1" noResize="1" noEditPoints="1" noAdjustHandles="1" noChangeArrowheads="1" noChangeShapeType="1" noTextEdit="1"/>
              </p:cNvSpPr>
              <p:nvPr/>
            </p:nvSpPr>
            <p:spPr>
              <a:xfrm>
                <a:off x="6189044" y="1903124"/>
                <a:ext cx="5882878" cy="1637142"/>
              </a:xfrm>
              <a:prstGeom prst="roundRect">
                <a:avLst/>
              </a:prstGeom>
              <a:blipFill>
                <a:blip r:embed="rId3"/>
                <a:stretch>
                  <a:fillRect l="-2802" t="-3846" r="-3664" b="-130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CAA74DE9-694C-AA75-FCE7-F183D3721902}"/>
                  </a:ext>
                </a:extLst>
              </p:cNvPr>
              <p:cNvSpPr/>
              <p:nvPr/>
            </p:nvSpPr>
            <p:spPr>
              <a:xfrm>
                <a:off x="6189044" y="3756582"/>
                <a:ext cx="5882878" cy="2376678"/>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Prediction (delete </a:t>
                </a:r>
                <a14:m>
                  <m:oMath xmlns:m="http://schemas.openxmlformats.org/officeDocument/2006/math">
                    <m:r>
                      <a:rPr lang="en-US" sz="4400" i="1">
                        <a:solidFill>
                          <a:schemeClr val="tx1"/>
                        </a:solidFill>
                        <a:latin typeface="Cambria Math" panose="02040503050406030204" pitchFamily="18" charset="0"/>
                      </a:rPr>
                      <m:t>𝑋</m:t>
                    </m:r>
                  </m:oMath>
                </a14:m>
                <a:r>
                  <a:rPr lang="en-US" sz="4400" b="1" dirty="0">
                    <a:solidFill>
                      <a:schemeClr val="tx1"/>
                    </a:solidFill>
                    <a:latin typeface="Garamond" panose="02020404030301010803" pitchFamily="18" charset="0"/>
                  </a:rPr>
                  <a:t>):</a:t>
                </a:r>
              </a:p>
              <a:p>
                <a:r>
                  <a:rPr lang="en-US" sz="4400" dirty="0">
                    <a:solidFill>
                      <a:schemeClr val="tx1"/>
                    </a:solidFill>
                    <a:latin typeface="Garamond" panose="02020404030301010803" pitchFamily="18" charset="0"/>
                  </a:rPr>
                  <a:t>Compute</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i="1">
                        <a:solidFill>
                          <a:schemeClr val="tx1"/>
                        </a:solidFill>
                        <a:latin typeface="Cambria Math" panose="02040503050406030204" pitchFamily="18" charset="0"/>
                      </a:rPr>
                      <m:t> </m:t>
                    </m:r>
                    <m:sSup>
                      <m:sSupPr>
                        <m:ctrlPr>
                          <a:rPr lang="en-US" sz="4400" b="1" i="1">
                            <a:solidFill>
                              <a:schemeClr val="tx1"/>
                            </a:solidFill>
                            <a:latin typeface="Cambria Math" panose="02040503050406030204" pitchFamily="18" charset="0"/>
                          </a:rPr>
                        </m:ctrlPr>
                      </m:sSupPr>
                      <m:e>
                        <m:d>
                          <m:dPr>
                            <m:begChr m:val="⟨"/>
                            <m:endChr m:val="⟩"/>
                            <m:ctrlPr>
                              <a:rPr lang="en-US" sz="4400" i="1">
                                <a:solidFill>
                                  <a:schemeClr val="tx1"/>
                                </a:solidFill>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solidFill>
                                  <a:schemeClr val="tx1"/>
                                </a:solidFill>
                                <a:latin typeface="Cambria Math" panose="02040503050406030204" pitchFamily="18" charset="0"/>
                              </a:rPr>
                              <m:t>, </m:t>
                            </m:r>
                            <m:sSub>
                              <m:sSubPr>
                                <m:ctrlPr>
                                  <a:rPr lang="en-US" sz="4400" i="1">
                                    <a:solidFill>
                                      <a:schemeClr val="tx1"/>
                                    </a:solidFill>
                                    <a:latin typeface="Cambria Math" panose="02040503050406030204" pitchFamily="18" charset="0"/>
                                  </a:rPr>
                                </m:ctrlPr>
                              </m:sSubPr>
                              <m:e>
                                <m:r>
                                  <a:rPr lang="en-US" sz="4400" b="1" i="1">
                                    <a:solidFill>
                                      <a:schemeClr val="tx1"/>
                                    </a:solidFill>
                                    <a:latin typeface="Cambria Math" panose="02040503050406030204" pitchFamily="18" charset="0"/>
                                  </a:rPr>
                                  <m:t>𝒆</m:t>
                                </m:r>
                              </m:e>
                              <m:sub>
                                <m:r>
                                  <a:rPr lang="en-US" sz="4400" i="1">
                                    <a:solidFill>
                                      <a:schemeClr val="tx1"/>
                                    </a:solidFill>
                                    <a:latin typeface="Cambria Math" panose="02040503050406030204" pitchFamily="18" charset="0"/>
                                  </a:rPr>
                                  <m:t>𝑋</m:t>
                                </m:r>
                              </m:sub>
                            </m:sSub>
                          </m:e>
                        </m:d>
                      </m:e>
                      <m:sup>
                        <m:r>
                          <a:rPr lang="en-US" sz="4400" i="1">
                            <a:solidFill>
                              <a:schemeClr val="tx1"/>
                            </a:solidFill>
                            <a:latin typeface="Cambria Math" panose="02040503050406030204" pitchFamily="18" charset="0"/>
                          </a:rPr>
                          <m:t>𝑟</m:t>
                        </m:r>
                      </m:sup>
                    </m:sSup>
                  </m:oMath>
                </a14:m>
                <a:r>
                  <a:rPr lang="en-US" sz="4400" dirty="0">
                    <a:solidFill>
                      <a:schemeClr val="tx1"/>
                    </a:solidFill>
                    <a:latin typeface="Garamond" panose="02020404030301010803" pitchFamily="18" charset="0"/>
                  </a:rPr>
                  <a:t>.</a:t>
                </a:r>
              </a:p>
            </p:txBody>
          </p:sp>
        </mc:Choice>
        <mc:Fallback xmlns="">
          <p:sp>
            <p:nvSpPr>
              <p:cNvPr id="10" name="Rounded Rectangle 9">
                <a:extLst>
                  <a:ext uri="{FF2B5EF4-FFF2-40B4-BE49-F238E27FC236}">
                    <a16:creationId xmlns:a16="http://schemas.microsoft.com/office/drawing/2014/main" id="{CAA74DE9-694C-AA75-FCE7-F183D3721902}"/>
                  </a:ext>
                </a:extLst>
              </p:cNvPr>
              <p:cNvSpPr>
                <a:spLocks noRot="1" noChangeAspect="1" noMove="1" noResize="1" noEditPoints="1" noAdjustHandles="1" noChangeArrowheads="1" noChangeShapeType="1" noTextEdit="1"/>
              </p:cNvSpPr>
              <p:nvPr/>
            </p:nvSpPr>
            <p:spPr>
              <a:xfrm>
                <a:off x="6189044" y="3756582"/>
                <a:ext cx="5882878" cy="2376678"/>
              </a:xfrm>
              <a:prstGeom prst="roundRect">
                <a:avLst/>
              </a:prstGeom>
              <a:blipFill>
                <a:blip r:embed="rId4"/>
                <a:stretch>
                  <a:fillRect l="-2155" t="-1064" b="-7979"/>
                </a:stretch>
              </a:blipFill>
              <a:ln>
                <a:noFill/>
              </a:ln>
            </p:spPr>
            <p:txBody>
              <a:bodyPr/>
              <a:lstStyle/>
              <a:p>
                <a:r>
                  <a:rPr lang="en-US">
                    <a:noFill/>
                  </a:rPr>
                  <a:t> </a:t>
                </a:r>
              </a:p>
            </p:txBody>
          </p:sp>
        </mc:Fallback>
      </mc:AlternateContent>
      <p:sp>
        <p:nvSpPr>
          <p:cNvPr id="12" name="Title 1">
            <a:extLst>
              <a:ext uri="{FF2B5EF4-FFF2-40B4-BE49-F238E27FC236}">
                <a16:creationId xmlns:a16="http://schemas.microsoft.com/office/drawing/2014/main" id="{A49F1D62-1844-85D5-3B1F-12F828F4384B}"/>
              </a:ext>
            </a:extLst>
          </p:cNvPr>
          <p:cNvSpPr txBox="1">
            <a:spLocks/>
          </p:cNvSpPr>
          <p:nvPr/>
        </p:nvSpPr>
        <p:spPr>
          <a:xfrm>
            <a:off x="7486188" y="1232556"/>
            <a:ext cx="3315625" cy="9085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u="sng" dirty="0"/>
              <a:t>New attempt</a:t>
            </a:r>
            <a:endParaRPr lang="en-US" b="0" u="sng" dirty="0"/>
          </a:p>
        </p:txBody>
      </p:sp>
      <p:sp>
        <p:nvSpPr>
          <p:cNvPr id="13" name="TextBox 12">
            <a:extLst>
              <a:ext uri="{FF2B5EF4-FFF2-40B4-BE49-F238E27FC236}">
                <a16:creationId xmlns:a16="http://schemas.microsoft.com/office/drawing/2014/main" id="{ABF8BAC9-25B0-4BE6-ED26-97412C18C77F}"/>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Symmetric projections</a:t>
            </a:r>
            <a:endParaRPr lang="en-US" sz="4400" i="1" dirty="0">
              <a:latin typeface="Cambria Math" panose="02040503050406030204" pitchFamily="18" charset="0"/>
            </a:endParaRPr>
          </a:p>
        </p:txBody>
      </p:sp>
      <p:pic>
        <p:nvPicPr>
          <p:cNvPr id="16" name="Graphic 15" descr="Lightbulb with solid fill">
            <a:extLst>
              <a:ext uri="{FF2B5EF4-FFF2-40B4-BE49-F238E27FC236}">
                <a16:creationId xmlns:a16="http://schemas.microsoft.com/office/drawing/2014/main" id="{535B301A-DEA6-3D28-07AB-8C3810D83ED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4952FC1-BC99-5364-F56A-70F38F7BBC98}"/>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solidFill>
                            <a:schemeClr val="tx1">
                              <a:alpha val="50000"/>
                            </a:schemeClr>
                          </a:solidFill>
                          <a:latin typeface="Cambria Math" panose="02040503050406030204" pitchFamily="18" charset="0"/>
                        </a:rPr>
                        <m:t>𝑓</m:t>
                      </m:r>
                      <m:d>
                        <m:dPr>
                          <m:ctrlPr>
                            <a:rPr lang="en-US" sz="4400" i="1">
                              <a:solidFill>
                                <a:schemeClr val="tx1">
                                  <a:alpha val="50000"/>
                                </a:schemeClr>
                              </a:solidFill>
                              <a:latin typeface="Cambria Math" panose="02040503050406030204" pitchFamily="18" charset="0"/>
                            </a:rPr>
                          </m:ctrlPr>
                        </m:dPr>
                        <m:e>
                          <m:r>
                            <a:rPr lang="en-US" sz="4400" b="1" i="1">
                              <a:solidFill>
                                <a:schemeClr val="tx1">
                                  <a:alpha val="50000"/>
                                </a:schemeClr>
                              </a:solidFill>
                              <a:latin typeface="Cambria Math" panose="02040503050406030204" pitchFamily="18" charset="0"/>
                            </a:rPr>
                            <m:t>𝒘</m:t>
                          </m:r>
                        </m:e>
                      </m:d>
                      <m:r>
                        <a:rPr lang="en-US" sz="4400" i="1">
                          <a:solidFill>
                            <a:schemeClr val="tx1">
                              <a:alpha val="50000"/>
                            </a:schemeClr>
                          </a:solidFill>
                          <a:latin typeface="Cambria Math" panose="02040503050406030204" pitchFamily="18" charset="0"/>
                        </a:rPr>
                        <m:t>≈</m:t>
                      </m:r>
                      <m:nary>
                        <m:naryPr>
                          <m:chr m:val="∑"/>
                          <m:ctrlPr>
                            <a:rPr lang="en-US" sz="4400" i="1">
                              <a:solidFill>
                                <a:schemeClr val="tx1">
                                  <a:alpha val="50000"/>
                                </a:schemeClr>
                              </a:solidFill>
                              <a:latin typeface="Cambria Math" panose="02040503050406030204" pitchFamily="18" charset="0"/>
                            </a:rPr>
                          </m:ctrlPr>
                        </m:naryPr>
                        <m:sub>
                          <m:r>
                            <m:rPr>
                              <m:brk m:alnAt="7"/>
                            </m:rPr>
                            <a:rPr lang="en-US" sz="4400" i="1">
                              <a:solidFill>
                                <a:schemeClr val="tx1">
                                  <a:alpha val="50000"/>
                                </a:schemeClr>
                              </a:solidFill>
                              <a:latin typeface="Cambria Math" panose="02040503050406030204" pitchFamily="18" charset="0"/>
                            </a:rPr>
                            <m:t>𝑟</m:t>
                          </m:r>
                          <m:r>
                            <a:rPr lang="en-US" sz="4400" i="1">
                              <a:solidFill>
                                <a:schemeClr val="tx1">
                                  <a:alpha val="50000"/>
                                </a:schemeClr>
                              </a:solidFill>
                              <a:latin typeface="Cambria Math" panose="02040503050406030204" pitchFamily="18" charset="0"/>
                            </a:rPr>
                            <m:t>=0</m:t>
                          </m:r>
                        </m:sub>
                        <m:sup>
                          <m:r>
                            <a:rPr lang="en-US" sz="4400" i="1">
                              <a:solidFill>
                                <a:schemeClr val="tx1">
                                  <a:alpha val="50000"/>
                                </a:schemeClr>
                              </a:solidFill>
                              <a:latin typeface="Cambria Math" panose="02040503050406030204" pitchFamily="18" charset="0"/>
                            </a:rPr>
                            <m:t>𝑠</m:t>
                          </m:r>
                        </m:sup>
                        <m:e>
                          <m:d>
                            <m:dPr>
                              <m:begChr m:val="⟨"/>
                              <m:endChr m:val="⟩"/>
                              <m:ctrlPr>
                                <a:rPr lang="en-US" sz="4400" i="1">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 </m:t>
                              </m:r>
                              <m:sSup>
                                <m:sSupPr>
                                  <m:ctrlPr>
                                    <a:rPr lang="en-US" sz="4400" i="1">
                                      <a:solidFill>
                                        <a:schemeClr val="tx1">
                                          <a:alpha val="50000"/>
                                        </a:schemeClr>
                                      </a:solidFill>
                                      <a:latin typeface="Cambria Math" panose="02040503050406030204" pitchFamily="18" charset="0"/>
                                    </a:rPr>
                                  </m:ctrlPr>
                                </m:sSupPr>
                                <m:e>
                                  <m:r>
                                    <a:rPr lang="en-US" sz="4400" b="1" i="1">
                                      <a:solidFill>
                                        <a:schemeClr val="tx1">
                                          <a:alpha val="50000"/>
                                        </a:schemeClr>
                                      </a:solidFill>
                                      <a:latin typeface="Cambria Math" panose="02040503050406030204" pitchFamily="18" charset="0"/>
                                    </a:rPr>
                                    <m:t>𝒘</m:t>
                                  </m:r>
                                </m:e>
                                <m:sup>
                                  <m:r>
                                    <a:rPr lang="en-US" sz="4400" i="1">
                                      <a:solidFill>
                                        <a:schemeClr val="tx1">
                                          <a:alpha val="50000"/>
                                        </a:schemeClr>
                                      </a:solidFill>
                                      <a:latin typeface="Cambria Math" panose="02040503050406030204" pitchFamily="18" charset="0"/>
                                    </a:rPr>
                                    <m:t>⊗</m:t>
                                  </m:r>
                                  <m:r>
                                    <a:rPr lang="en-US" sz="4400" i="1">
                                      <a:solidFill>
                                        <a:schemeClr val="tx1">
                                          <a:alpha val="50000"/>
                                        </a:schemeClr>
                                      </a:solidFill>
                                      <a:latin typeface="Cambria Math" panose="02040503050406030204" pitchFamily="18" charset="0"/>
                                    </a:rPr>
                                    <m:t>𝑟</m:t>
                                  </m:r>
                                </m:sup>
                              </m:sSup>
                            </m:e>
                          </m:d>
                        </m:e>
                      </m:nary>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94952FC1-BC99-5364-F56A-70F38F7BBC98}"/>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6"/>
                <a:stretch>
                  <a:fillRect t="-112987" b="-170130"/>
                </a:stretch>
              </a:blipFill>
            </p:spPr>
            <p:txBody>
              <a:bodyPr/>
              <a:lstStyle/>
              <a:p>
                <a:r>
                  <a:rPr lang="en-US">
                    <a:noFill/>
                  </a:rPr>
                  <a:t> </a:t>
                </a:r>
              </a:p>
            </p:txBody>
          </p:sp>
        </mc:Fallback>
      </mc:AlternateContent>
      <p:sp>
        <p:nvSpPr>
          <p:cNvPr id="19" name="Left Brace 18">
            <a:extLst>
              <a:ext uri="{FF2B5EF4-FFF2-40B4-BE49-F238E27FC236}">
                <a16:creationId xmlns:a16="http://schemas.microsoft.com/office/drawing/2014/main" id="{C2BE5A19-937C-5B5C-B6FB-EDA04C8CFE65}"/>
              </a:ext>
            </a:extLst>
          </p:cNvPr>
          <p:cNvSpPr/>
          <p:nvPr/>
        </p:nvSpPr>
        <p:spPr>
          <a:xfrm rot="16200000">
            <a:off x="4035048" y="1562516"/>
            <a:ext cx="866458" cy="2524178"/>
          </a:xfrm>
          <a:prstGeom prst="leftBrace">
            <a:avLst>
              <a:gd name="adj1" fmla="val 36581"/>
              <a:gd name="adj2" fmla="val 46778"/>
            </a:avLst>
          </a:prstGeom>
          <a:ln w="76200">
            <a:solidFill>
              <a:srgbClr val="00B050">
                <a:alpha val="50000"/>
              </a:srgb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solidFill>
                <a:schemeClr val="tx1">
                  <a:alpha val="50000"/>
                </a:schemeClr>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AAD1F5D-C30D-B73A-4761-2DD21CFBA179}"/>
                  </a:ext>
                </a:extLst>
              </p:cNvPr>
              <p:cNvSpPr txBox="1"/>
              <p:nvPr/>
            </p:nvSpPr>
            <p:spPr>
              <a:xfrm>
                <a:off x="798236" y="3281887"/>
                <a:ext cx="4815903" cy="866456"/>
              </a:xfrm>
              <a:prstGeom prst="rect">
                <a:avLst/>
              </a:prstGeom>
              <a:noFill/>
              <a:ln w="76200">
                <a:solidFill>
                  <a:srgbClr val="00B050">
                    <a:alpha val="50000"/>
                  </a:srgb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smtClean="0">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m:t>
                          </m:r>
                          <m:sSup>
                            <m:sSupPr>
                              <m:ctrlPr>
                                <a:rPr lang="en-US" sz="4400" b="1" i="1" smtClean="0">
                                  <a:solidFill>
                                    <a:schemeClr val="tx1">
                                      <a:alpha val="50000"/>
                                    </a:schemeClr>
                                  </a:solidFill>
                                  <a:latin typeface="Cambria Math" panose="02040503050406030204" pitchFamily="18" charset="0"/>
                                </a:rPr>
                              </m:ctrlPr>
                            </m:sSupPr>
                            <m:e>
                              <m:r>
                                <a:rPr lang="en-US" sz="4400" b="1" i="1" smtClean="0">
                                  <a:solidFill>
                                    <a:srgbClr val="FF0000">
                                      <a:alpha val="50000"/>
                                    </a:srgbClr>
                                  </a:solidFill>
                                  <a:latin typeface="Cambria Math" panose="02040503050406030204" pitchFamily="18" charset="0"/>
                                </a:rPr>
                                <m:t>𝝍</m:t>
                              </m:r>
                            </m:e>
                            <m:sup>
                              <m:r>
                                <a:rPr lang="en-US" sz="4400" i="1" smtClean="0">
                                  <a:solidFill>
                                    <a:schemeClr val="tx1">
                                      <a:alpha val="50000"/>
                                    </a:schemeClr>
                                  </a:solidFill>
                                  <a:latin typeface="Cambria Math" panose="02040503050406030204" pitchFamily="18" charset="0"/>
                                </a:rPr>
                                <m:t>⊗</m:t>
                              </m:r>
                              <m:r>
                                <a:rPr lang="en-US" sz="4400" i="1" smtClean="0">
                                  <a:solidFill>
                                    <a:schemeClr val="tx1">
                                      <a:alpha val="50000"/>
                                    </a:schemeClr>
                                  </a:solidFill>
                                  <a:latin typeface="Cambria Math" panose="02040503050406030204" pitchFamily="18" charset="0"/>
                                </a:rPr>
                                <m:t>𝑟</m:t>
                              </m:r>
                            </m:sup>
                          </m:sSup>
                        </m:e>
                      </m:d>
                      <m:r>
                        <a:rPr lang="en-US" sz="4400" b="0" i="1" smtClean="0">
                          <a:solidFill>
                            <a:schemeClr val="tx1">
                              <a:alpha val="50000"/>
                            </a:schemeClr>
                          </a:solidFill>
                          <a:latin typeface="Cambria Math" panose="02040503050406030204" pitchFamily="18" charset="0"/>
                        </a:rPr>
                        <m:t> </m:t>
                      </m:r>
                      <m:sSup>
                        <m:sSupPr>
                          <m:ctrlPr>
                            <a:rPr lang="en-US" sz="4400" b="1" i="1" smtClean="0">
                              <a:solidFill>
                                <a:schemeClr val="tx1">
                                  <a:alpha val="50000"/>
                                </a:schemeClr>
                              </a:solidFill>
                              <a:latin typeface="Cambria Math" panose="02040503050406030204" pitchFamily="18" charset="0"/>
                            </a:rPr>
                          </m:ctrlPr>
                        </m:sSupPr>
                        <m:e>
                          <m:d>
                            <m:dPr>
                              <m:begChr m:val="⟨"/>
                              <m:endChr m:val="⟩"/>
                              <m:ctrlPr>
                                <a:rPr lang="en-US" sz="4400" i="1">
                                  <a:solidFill>
                                    <a:schemeClr val="tx1">
                                      <a:alpha val="50000"/>
                                    </a:schemeClr>
                                  </a:solidFill>
                                  <a:latin typeface="Cambria Math" panose="02040503050406030204" pitchFamily="18" charset="0"/>
                                </a:rPr>
                              </m:ctrlPr>
                            </m:dPr>
                            <m:e>
                              <m:r>
                                <a:rPr lang="en-US" sz="4400" b="1" i="1" smtClean="0">
                                  <a:solidFill>
                                    <a:srgbClr val="FF0000">
                                      <a:alpha val="50000"/>
                                    </a:srgbClr>
                                  </a:solidFill>
                                  <a:latin typeface="Cambria Math" panose="02040503050406030204" pitchFamily="18" charset="0"/>
                                </a:rPr>
                                <m:t>𝝍</m:t>
                              </m:r>
                              <m:r>
                                <a:rPr lang="en-US" sz="4400" i="1">
                                  <a:solidFill>
                                    <a:schemeClr val="tx1">
                                      <a:alpha val="50000"/>
                                    </a:schemeClr>
                                  </a:solidFill>
                                  <a:latin typeface="Cambria Math" panose="02040503050406030204" pitchFamily="18" charset="0"/>
                                </a:rPr>
                                <m:t>, </m:t>
                              </m:r>
                              <m:r>
                                <a:rPr lang="en-US" sz="4400" b="1" i="1" smtClean="0">
                                  <a:solidFill>
                                    <a:schemeClr val="tx1">
                                      <a:alpha val="50000"/>
                                    </a:schemeClr>
                                  </a:solidFill>
                                  <a:latin typeface="Cambria Math" panose="02040503050406030204" pitchFamily="18" charset="0"/>
                                </a:rPr>
                                <m:t>𝒘</m:t>
                              </m:r>
                            </m:e>
                          </m:d>
                        </m:e>
                        <m:sup>
                          <m:r>
                            <a:rPr lang="en-US" sz="4400" b="0" i="1" smtClean="0">
                              <a:solidFill>
                                <a:schemeClr val="tx1">
                                  <a:alpha val="50000"/>
                                </a:schemeClr>
                              </a:solidFill>
                              <a:latin typeface="Cambria Math" panose="02040503050406030204" pitchFamily="18" charset="0"/>
                            </a:rPr>
                            <m:t>𝑟</m:t>
                          </m:r>
                        </m:sup>
                      </m:sSup>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AAAD1F5D-C30D-B73A-4761-2DD21CFBA179}"/>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7"/>
                <a:stretch>
                  <a:fillRect b="-13158"/>
                </a:stretch>
              </a:blipFill>
              <a:ln w="76200">
                <a:solidFill>
                  <a:srgbClr val="00B050">
                    <a:alpha val="50000"/>
                  </a:srgb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ounded Rectangle 26">
                <a:extLst>
                  <a:ext uri="{FF2B5EF4-FFF2-40B4-BE49-F238E27FC236}">
                    <a16:creationId xmlns:a16="http://schemas.microsoft.com/office/drawing/2014/main" id="{0D6E6781-3621-6510-8D5B-4DCC6CE70894}"/>
                  </a:ext>
                </a:extLst>
              </p:cNvPr>
              <p:cNvSpPr/>
              <p:nvPr/>
            </p:nvSpPr>
            <p:spPr>
              <a:xfrm>
                <a:off x="592274" y="192365"/>
                <a:ext cx="4454293" cy="824478"/>
              </a:xfrm>
              <a:prstGeom prst="roundRect">
                <a:avLst/>
              </a:prstGeom>
              <a:solidFill>
                <a:schemeClr val="accent6">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alpha val="50000"/>
                      </a:sysClr>
                    </a:solidFill>
                    <a:latin typeface="Garamond" panose="02020404030301010803" pitchFamily="18" charset="0"/>
                  </a:rPr>
                  <a:t>Goal:</a:t>
                </a:r>
                <a:r>
                  <a:rPr lang="en-US" sz="4400" dirty="0">
                    <a:solidFill>
                      <a:sysClr val="windowText" lastClr="000000">
                        <a:alpha val="50000"/>
                      </a:sysClr>
                    </a:solidFill>
                    <a:latin typeface="Garamond" panose="02020404030301010803" pitchFamily="18" charset="0"/>
                  </a:rPr>
                  <a:t> compress </a:t>
                </a:r>
                <a14:m>
                  <m:oMath xmlns:m="http://schemas.openxmlformats.org/officeDocument/2006/math">
                    <m:r>
                      <a:rPr lang="en-US" sz="4400" b="0" i="1" smtClean="0">
                        <a:solidFill>
                          <a:sysClr val="windowText" lastClr="000000">
                            <a:alpha val="50000"/>
                          </a:sysClr>
                        </a:solidFill>
                        <a:latin typeface="Cambria Math" panose="02040503050406030204" pitchFamily="18" charset="0"/>
                      </a:rPr>
                      <m:t>𝑓</m:t>
                    </m:r>
                  </m:oMath>
                </a14:m>
                <a:endParaRPr lang="en-US" sz="4400" dirty="0">
                  <a:solidFill>
                    <a:sysClr val="windowText" lastClr="000000">
                      <a:alpha val="50000"/>
                    </a:sysClr>
                  </a:solidFill>
                  <a:latin typeface="Garamond" panose="02020404030301010803" pitchFamily="18" charset="0"/>
                </a:endParaRPr>
              </a:p>
            </p:txBody>
          </p:sp>
        </mc:Choice>
        <mc:Fallback xmlns="">
          <p:sp>
            <p:nvSpPr>
              <p:cNvPr id="27" name="Rounded Rectangle 26">
                <a:extLst>
                  <a:ext uri="{FF2B5EF4-FFF2-40B4-BE49-F238E27FC236}">
                    <a16:creationId xmlns:a16="http://schemas.microsoft.com/office/drawing/2014/main" id="{0D6E6781-3621-6510-8D5B-4DCC6CE70894}"/>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8"/>
                <a:stretch>
                  <a:fillRect l="-1705" t="-10606" b="-303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DF4909CA-7615-11A0-CAF7-38DE5E672643}"/>
                  </a:ext>
                </a:extLst>
              </p:cNvPr>
              <p:cNvSpPr/>
              <p:nvPr/>
            </p:nvSpPr>
            <p:spPr>
              <a:xfrm>
                <a:off x="294290" y="2092747"/>
                <a:ext cx="5398734" cy="1941302"/>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dirty="0">
                    <a:solidFill>
                      <a:schemeClr val="tx1"/>
                    </a:solidFill>
                    <a:latin typeface="Garamond" panose="02020404030301010803" pitchFamily="18" charset="0"/>
                  </a:rPr>
                  <a:t>Storage </a:t>
                </a:r>
                <a14:m>
                  <m:oMath xmlns:m="http://schemas.openxmlformats.org/officeDocument/2006/math">
                    <m:r>
                      <a:rPr lang="en-US" sz="4400" b="0" i="1" smtClean="0">
                        <a:solidFill>
                          <a:schemeClr val="tx1"/>
                        </a:solidFill>
                        <a:latin typeface="Cambria Math" panose="02040503050406030204" pitchFamily="18" charset="0"/>
                      </a:rPr>
                      <m:t>≈</m:t>
                    </m:r>
                    <m:r>
                      <a:rPr lang="en-US" sz="4400" b="0" i="1" smtClean="0">
                        <a:solidFill>
                          <a:schemeClr val="tx1"/>
                        </a:solidFill>
                        <a:latin typeface="Cambria Math" panose="02040503050406030204" pitchFamily="18" charset="0"/>
                      </a:rPr>
                      <m:t>𝑛</m:t>
                    </m:r>
                  </m:oMath>
                </a14:m>
                <a:endParaRPr lang="en-US" sz="4400" dirty="0">
                  <a:solidFill>
                    <a:schemeClr val="tx1"/>
                  </a:solidFill>
                  <a:latin typeface="Garamond" panose="02020404030301010803" pitchFamily="18" charset="0"/>
                </a:endParaRPr>
              </a:p>
              <a:p>
                <a:pPr algn="ctr"/>
                <a:r>
                  <a:rPr lang="en-US" sz="4400" dirty="0">
                    <a:solidFill>
                      <a:schemeClr val="tx1"/>
                    </a:solidFill>
                    <a:latin typeface="Garamond" panose="02020404030301010803" pitchFamily="18" charset="0"/>
                  </a:rPr>
                  <a:t>for </a:t>
                </a:r>
                <a14:m>
                  <m:oMath xmlns:m="http://schemas.openxmlformats.org/officeDocument/2006/math">
                    <m:r>
                      <a:rPr lang="en-US" sz="4400" b="1" i="1" smtClean="0">
                        <a:solidFill>
                          <a:srgbClr val="FF0000"/>
                        </a:solidFill>
                        <a:latin typeface="Cambria Math" panose="02040503050406030204" pitchFamily="18" charset="0"/>
                      </a:rPr>
                      <m:t>𝝍</m:t>
                    </m:r>
                  </m:oMath>
                </a14:m>
                <a:r>
                  <a:rPr lang="en-US" sz="4400" dirty="0">
                    <a:solidFill>
                      <a:schemeClr val="tx1"/>
                    </a:solidFill>
                    <a:latin typeface="Garamond" panose="02020404030301010803" pitchFamily="18" charset="0"/>
                  </a:rPr>
                  <a:t> and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a:solidFill>
                                  <a:srgbClr val="FF0000"/>
                                </a:solidFill>
                                <a:latin typeface="Cambria Math" panose="02040503050406030204" pitchFamily="18" charset="0"/>
                              </a:rPr>
                              <m:t>𝝍</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sup>
                        </m:sSup>
                      </m:e>
                    </m:d>
                  </m:oMath>
                </a14:m>
                <a:endParaRPr lang="en-US" sz="4400" dirty="0">
                  <a:solidFill>
                    <a:schemeClr val="tx1"/>
                  </a:solidFill>
                  <a:latin typeface="Garamond" panose="02020404030301010803" pitchFamily="18" charset="0"/>
                </a:endParaRPr>
              </a:p>
            </p:txBody>
          </p:sp>
        </mc:Choice>
        <mc:Fallback xmlns="">
          <p:sp>
            <p:nvSpPr>
              <p:cNvPr id="3" name="Rounded Rectangle 2">
                <a:extLst>
                  <a:ext uri="{FF2B5EF4-FFF2-40B4-BE49-F238E27FC236}">
                    <a16:creationId xmlns:a16="http://schemas.microsoft.com/office/drawing/2014/main" id="{DF4909CA-7615-11A0-CAF7-38DE5E672643}"/>
                  </a:ext>
                </a:extLst>
              </p:cNvPr>
              <p:cNvSpPr>
                <a:spLocks noRot="1" noChangeAspect="1" noMove="1" noResize="1" noEditPoints="1" noAdjustHandles="1" noChangeArrowheads="1" noChangeShapeType="1" noTextEdit="1"/>
              </p:cNvSpPr>
              <p:nvPr/>
            </p:nvSpPr>
            <p:spPr>
              <a:xfrm>
                <a:off x="294290" y="2092747"/>
                <a:ext cx="5398734" cy="1941302"/>
              </a:xfrm>
              <a:prstGeom prst="roundRect">
                <a:avLst/>
              </a:prstGeom>
              <a:blipFill>
                <a:blip r:embed="rId9"/>
                <a:stretch>
                  <a:fillRect l="-2336" t="-645"/>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C2FC0DD2-86BC-8036-9DEE-21CB03AB8F1B}"/>
                  </a:ext>
                </a:extLst>
              </p:cNvPr>
              <p:cNvSpPr/>
              <p:nvPr/>
            </p:nvSpPr>
            <p:spPr>
              <a:xfrm>
                <a:off x="292313" y="4834984"/>
                <a:ext cx="5391751" cy="1634169"/>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dirty="0">
                    <a:solidFill>
                      <a:schemeClr val="tx1"/>
                    </a:solidFill>
                    <a:latin typeface="Garamond" panose="02020404030301010803" pitchFamily="18" charset="0"/>
                  </a:rPr>
                  <a:t>Computation </a:t>
                </a:r>
                <a14:m>
                  <m:oMath xmlns:m="http://schemas.openxmlformats.org/officeDocument/2006/math">
                    <m:r>
                      <a:rPr lang="en-US" sz="4400" b="0" i="1" smtClean="0">
                        <a:solidFill>
                          <a:schemeClr val="tx1"/>
                        </a:solidFill>
                        <a:latin typeface="Cambria Math" panose="02040503050406030204" pitchFamily="18" charset="0"/>
                      </a:rPr>
                      <m:t>≈</m:t>
                    </m:r>
                    <m:d>
                      <m:dPr>
                        <m:begChr m:val="|"/>
                        <m:endChr m:val="|"/>
                        <m:ctrlPr>
                          <a:rPr lang="en-US" sz="4400" b="0" i="1" smtClean="0">
                            <a:solidFill>
                              <a:schemeClr val="tx1"/>
                            </a:solidFill>
                            <a:latin typeface="Cambria Math" panose="02040503050406030204" pitchFamily="18" charset="0"/>
                          </a:rPr>
                        </m:ctrlPr>
                      </m:dPr>
                      <m:e>
                        <m:r>
                          <a:rPr lang="en-US" sz="4400" b="0" i="1" smtClean="0">
                            <a:solidFill>
                              <a:schemeClr val="tx1"/>
                            </a:solidFill>
                            <a:latin typeface="Cambria Math" panose="02040503050406030204" pitchFamily="18" charset="0"/>
                          </a:rPr>
                          <m:t>𝑋</m:t>
                        </m:r>
                      </m:e>
                    </m:d>
                  </m:oMath>
                </a14:m>
                <a:endParaRPr lang="en-US" sz="4400" dirty="0">
                  <a:solidFill>
                    <a:schemeClr val="tx1"/>
                  </a:solidFill>
                  <a:latin typeface="Garamond" panose="02020404030301010803" pitchFamily="18" charset="0"/>
                </a:endParaRPr>
              </a:p>
              <a:p>
                <a:pPr algn="ctr"/>
                <a:r>
                  <a:rPr lang="en-US" sz="4400" dirty="0">
                    <a:solidFill>
                      <a:schemeClr val="tx1"/>
                    </a:solidFill>
                    <a:latin typeface="Garamond" panose="02020404030301010803" pitchFamily="18" charset="0"/>
                  </a:rPr>
                  <a:t>for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r>
                          <a:rPr lang="en-US" sz="4400" b="1" i="1">
                            <a:solidFill>
                              <a:srgbClr val="FF0000"/>
                            </a:solidFill>
                            <a:latin typeface="Cambria Math" panose="02040503050406030204" pitchFamily="18" charset="0"/>
                          </a:rPr>
                          <m:t>𝝍</m:t>
                        </m:r>
                        <m:r>
                          <a:rPr lang="en-US" sz="4400" i="1">
                            <a:solidFill>
                              <a:schemeClr val="tx1"/>
                            </a:solidFill>
                            <a:latin typeface="Cambria Math" panose="02040503050406030204" pitchFamily="18" charset="0"/>
                          </a:rPr>
                          <m:t>, </m:t>
                        </m:r>
                        <m:sSub>
                          <m:sSubPr>
                            <m:ctrlPr>
                              <a:rPr lang="en-US" sz="4400" i="1">
                                <a:solidFill>
                                  <a:schemeClr val="tx1"/>
                                </a:solidFill>
                                <a:latin typeface="Cambria Math" panose="02040503050406030204" pitchFamily="18" charset="0"/>
                              </a:rPr>
                            </m:ctrlPr>
                          </m:sSubPr>
                          <m:e>
                            <m:r>
                              <a:rPr lang="en-US" sz="4400" b="1" i="1">
                                <a:solidFill>
                                  <a:schemeClr val="tx1"/>
                                </a:solidFill>
                                <a:latin typeface="Cambria Math" panose="02040503050406030204" pitchFamily="18" charset="0"/>
                              </a:rPr>
                              <m:t>𝒆</m:t>
                            </m:r>
                          </m:e>
                          <m:sub>
                            <m:r>
                              <a:rPr lang="en-US" sz="4400" i="1">
                                <a:solidFill>
                                  <a:schemeClr val="tx1"/>
                                </a:solidFill>
                                <a:latin typeface="Cambria Math" panose="02040503050406030204" pitchFamily="18" charset="0"/>
                              </a:rPr>
                              <m:t>𝑋</m:t>
                            </m:r>
                          </m:sub>
                        </m:sSub>
                      </m:e>
                    </m:d>
                  </m:oMath>
                </a14:m>
                <a:endParaRPr lang="en-US" sz="4400" dirty="0">
                  <a:solidFill>
                    <a:schemeClr val="tx1"/>
                  </a:solidFill>
                  <a:latin typeface="Garamond" panose="02020404030301010803" pitchFamily="18" charset="0"/>
                </a:endParaRPr>
              </a:p>
            </p:txBody>
          </p:sp>
        </mc:Choice>
        <mc:Fallback xmlns="">
          <p:sp>
            <p:nvSpPr>
              <p:cNvPr id="4" name="Rounded Rectangle 3">
                <a:extLst>
                  <a:ext uri="{FF2B5EF4-FFF2-40B4-BE49-F238E27FC236}">
                    <a16:creationId xmlns:a16="http://schemas.microsoft.com/office/drawing/2014/main" id="{C2FC0DD2-86BC-8036-9DEE-21CB03AB8F1B}"/>
                  </a:ext>
                </a:extLst>
              </p:cNvPr>
              <p:cNvSpPr>
                <a:spLocks noRot="1" noChangeAspect="1" noMove="1" noResize="1" noEditPoints="1" noAdjustHandles="1" noChangeArrowheads="1" noChangeShapeType="1" noTextEdit="1"/>
              </p:cNvSpPr>
              <p:nvPr/>
            </p:nvSpPr>
            <p:spPr>
              <a:xfrm>
                <a:off x="292313" y="4834984"/>
                <a:ext cx="5391751" cy="1634169"/>
              </a:xfrm>
              <a:prstGeom prst="roundRect">
                <a:avLst/>
              </a:prstGeom>
              <a:blipFill>
                <a:blip r:embed="rId10"/>
                <a:stretch>
                  <a:fillRect t="-1527" b="-9924"/>
                </a:stretch>
              </a:blipFill>
              <a:ln>
                <a:solidFill>
                  <a:schemeClr val="tx1"/>
                </a:solidFill>
              </a:ln>
            </p:spPr>
            <p:txBody>
              <a:bodyPr/>
              <a:lstStyle/>
              <a:p>
                <a:r>
                  <a:rPr lang="en-US">
                    <a:noFill/>
                  </a:rPr>
                  <a:t> </a:t>
                </a:r>
              </a:p>
            </p:txBody>
          </p:sp>
        </mc:Fallback>
      </mc:AlternateContent>
      <p:sp>
        <p:nvSpPr>
          <p:cNvPr id="5" name="Right Arrow 4">
            <a:extLst>
              <a:ext uri="{FF2B5EF4-FFF2-40B4-BE49-F238E27FC236}">
                <a16:creationId xmlns:a16="http://schemas.microsoft.com/office/drawing/2014/main" id="{491BB0DC-EBE6-4C5F-0093-30D6B1217B07}"/>
              </a:ext>
            </a:extLst>
          </p:cNvPr>
          <p:cNvSpPr/>
          <p:nvPr/>
        </p:nvSpPr>
        <p:spPr>
          <a:xfrm>
            <a:off x="5699564" y="2650211"/>
            <a:ext cx="559822" cy="84356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24191CE0-F19C-0C18-5D17-CE3D55498192}"/>
              </a:ext>
            </a:extLst>
          </p:cNvPr>
          <p:cNvSpPr/>
          <p:nvPr/>
        </p:nvSpPr>
        <p:spPr>
          <a:xfrm>
            <a:off x="5699564" y="5230289"/>
            <a:ext cx="559822" cy="84356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1ECFD629-3B88-5742-BF27-9768BE682078}"/>
                  </a:ext>
                </a:extLst>
              </p:cNvPr>
              <p:cNvSpPr txBox="1">
                <a:spLocks/>
              </p:cNvSpPr>
              <p:nvPr/>
            </p:nvSpPr>
            <p:spPr>
              <a:xfrm>
                <a:off x="6303151" y="6261652"/>
                <a:ext cx="5596535" cy="596348"/>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lgn="r"/>
                <a:r>
                  <a:rPr lang="en-US" b="0" dirty="0"/>
                  <a:t>(</a:t>
                </a:r>
                <a14:m>
                  <m:oMath xmlns:m="http://schemas.openxmlformats.org/officeDocument/2006/math">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𝜀</m:t>
                        </m:r>
                      </m:e>
                      <m:sup>
                        <m:r>
                          <a:rPr lang="en-US" b="0" i="1" smtClean="0">
                            <a:latin typeface="Cambria Math" panose="02040503050406030204" pitchFamily="18" charset="0"/>
                          </a:rPr>
                          <m:t>2</m:t>
                        </m:r>
                      </m:sup>
                    </m:sSup>
                  </m:oMath>
                </a14:m>
                <a:r>
                  <a:rPr lang="en-US" b="0" dirty="0"/>
                  <a:t> times, for each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b="0" dirty="0"/>
              </a:p>
            </p:txBody>
          </p:sp>
        </mc:Choice>
        <mc:Fallback xmlns="">
          <p:sp>
            <p:nvSpPr>
              <p:cNvPr id="7" name="Title 1">
                <a:extLst>
                  <a:ext uri="{FF2B5EF4-FFF2-40B4-BE49-F238E27FC236}">
                    <a16:creationId xmlns:a16="http://schemas.microsoft.com/office/drawing/2014/main" id="{1ECFD629-3B88-5742-BF27-9768BE682078}"/>
                  </a:ext>
                </a:extLst>
              </p:cNvPr>
              <p:cNvSpPr txBox="1">
                <a:spLocks noRot="1" noChangeAspect="1" noMove="1" noResize="1" noEditPoints="1" noAdjustHandles="1" noChangeArrowheads="1" noChangeShapeType="1" noTextEdit="1"/>
              </p:cNvSpPr>
              <p:nvPr/>
            </p:nvSpPr>
            <p:spPr>
              <a:xfrm>
                <a:off x="6303151" y="6261652"/>
                <a:ext cx="5596535" cy="596348"/>
              </a:xfrm>
              <a:prstGeom prst="rect">
                <a:avLst/>
              </a:prstGeom>
              <a:blipFill>
                <a:blip r:embed="rId11"/>
                <a:stretch>
                  <a:fillRect l="-680" t="-29167" r="-2494" b="-33333"/>
                </a:stretch>
              </a:blipFill>
            </p:spPr>
            <p:txBody>
              <a:bodyPr/>
              <a:lstStyle/>
              <a:p>
                <a:r>
                  <a:rPr lang="en-US">
                    <a:noFill/>
                  </a:rPr>
                  <a:t> </a:t>
                </a:r>
              </a:p>
            </p:txBody>
          </p:sp>
        </mc:Fallback>
      </mc:AlternateContent>
    </p:spTree>
    <p:extLst>
      <p:ext uri="{BB962C8B-B14F-4D97-AF65-F5344CB8AC3E}">
        <p14:creationId xmlns:p14="http://schemas.microsoft.com/office/powerpoint/2010/main" val="262965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97A6D-C8CC-CCF3-4EED-DB156A90D2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7F2CF484-75EE-2259-79CA-71E9AF003D28}"/>
                  </a:ext>
                </a:extLst>
              </p:cNvPr>
              <p:cNvSpPr/>
              <p:nvPr/>
            </p:nvSpPr>
            <p:spPr>
              <a:xfrm>
                <a:off x="6189044" y="1903124"/>
                <a:ext cx="5882878" cy="1637142"/>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wrap="none" rtlCol="0" anchor="ctr"/>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Store </a:t>
                </a:r>
                <a14:m>
                  <m:oMath xmlns:m="http://schemas.openxmlformats.org/officeDocument/2006/math">
                    <m:r>
                      <a:rPr lang="en-US" sz="4400" b="1" i="1">
                        <a:solidFill>
                          <a:srgbClr val="FF0000"/>
                        </a:solidFill>
                        <a:latin typeface="Cambria Math" panose="02040503050406030204" pitchFamily="18" charset="0"/>
                      </a:rPr>
                      <m:t>𝝍</m:t>
                    </m:r>
                  </m:oMath>
                </a14:m>
                <a:r>
                  <a:rPr lang="en-US" sz="4400" dirty="0">
                    <a:solidFill>
                      <a:schemeClr val="tx1"/>
                    </a:solidFill>
                    <a:latin typeface="Garamond" panose="02020404030301010803" pitchFamily="18" charset="0"/>
                  </a:rPr>
                  <a:t> and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oMath>
                </a14:m>
                <a:r>
                  <a:rPr lang="en-US" sz="4400" dirty="0">
                    <a:solidFill>
                      <a:schemeClr val="tx1"/>
                    </a:solidFill>
                    <a:latin typeface="Garamond" panose="02020404030301010803" pitchFamily="18" charset="0"/>
                  </a:rPr>
                  <a:t>.</a:t>
                </a:r>
              </a:p>
            </p:txBody>
          </p:sp>
        </mc:Choice>
        <mc:Fallback xmlns="">
          <p:sp>
            <p:nvSpPr>
              <p:cNvPr id="4" name="Rounded Rectangle 3">
                <a:extLst>
                  <a:ext uri="{FF2B5EF4-FFF2-40B4-BE49-F238E27FC236}">
                    <a16:creationId xmlns:a16="http://schemas.microsoft.com/office/drawing/2014/main" id="{7F2CF484-75EE-2259-79CA-71E9AF003D28}"/>
                  </a:ext>
                </a:extLst>
              </p:cNvPr>
              <p:cNvSpPr>
                <a:spLocks noRot="1" noChangeAspect="1" noMove="1" noResize="1" noEditPoints="1" noAdjustHandles="1" noChangeArrowheads="1" noChangeShapeType="1" noTextEdit="1"/>
              </p:cNvSpPr>
              <p:nvPr/>
            </p:nvSpPr>
            <p:spPr>
              <a:xfrm>
                <a:off x="6189044" y="1903124"/>
                <a:ext cx="5882878" cy="1637142"/>
              </a:xfrm>
              <a:prstGeom prst="roundRect">
                <a:avLst/>
              </a:prstGeom>
              <a:blipFill>
                <a:blip r:embed="rId3"/>
                <a:stretch>
                  <a:fillRect l="-2802" t="-3846" r="-3664" b="-130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ounded Rectangle 4">
                <a:extLst>
                  <a:ext uri="{FF2B5EF4-FFF2-40B4-BE49-F238E27FC236}">
                    <a16:creationId xmlns:a16="http://schemas.microsoft.com/office/drawing/2014/main" id="{C73F811B-E824-E6CB-6850-8D135EFE0F9B}"/>
                  </a:ext>
                </a:extLst>
              </p:cNvPr>
              <p:cNvSpPr/>
              <p:nvPr/>
            </p:nvSpPr>
            <p:spPr>
              <a:xfrm>
                <a:off x="6189044" y="3756582"/>
                <a:ext cx="5882878" cy="2376678"/>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Prediction (delete </a:t>
                </a:r>
                <a14:m>
                  <m:oMath xmlns:m="http://schemas.openxmlformats.org/officeDocument/2006/math">
                    <m:r>
                      <a:rPr lang="en-US" sz="4400" i="1">
                        <a:solidFill>
                          <a:schemeClr val="tx1"/>
                        </a:solidFill>
                        <a:latin typeface="Cambria Math" panose="02040503050406030204" pitchFamily="18" charset="0"/>
                      </a:rPr>
                      <m:t>𝑋</m:t>
                    </m:r>
                  </m:oMath>
                </a14:m>
                <a:r>
                  <a:rPr lang="en-US" sz="4400" b="1" dirty="0">
                    <a:solidFill>
                      <a:schemeClr val="tx1"/>
                    </a:solidFill>
                    <a:latin typeface="Garamond" panose="02020404030301010803" pitchFamily="18" charset="0"/>
                  </a:rPr>
                  <a:t>):</a:t>
                </a:r>
              </a:p>
              <a:p>
                <a:r>
                  <a:rPr lang="en-US" sz="4400" dirty="0">
                    <a:solidFill>
                      <a:schemeClr val="tx1"/>
                    </a:solidFill>
                    <a:latin typeface="Garamond" panose="02020404030301010803" pitchFamily="18" charset="0"/>
                  </a:rPr>
                  <a:t>Compute</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i="1">
                        <a:solidFill>
                          <a:schemeClr val="tx1"/>
                        </a:solidFill>
                        <a:latin typeface="Cambria Math" panose="02040503050406030204" pitchFamily="18" charset="0"/>
                      </a:rPr>
                      <m:t> </m:t>
                    </m:r>
                    <m:sSup>
                      <m:sSupPr>
                        <m:ctrlPr>
                          <a:rPr lang="en-US" sz="4400" b="1" i="1">
                            <a:solidFill>
                              <a:schemeClr val="tx1"/>
                            </a:solidFill>
                            <a:latin typeface="Cambria Math" panose="02040503050406030204" pitchFamily="18" charset="0"/>
                          </a:rPr>
                        </m:ctrlPr>
                      </m:sSupPr>
                      <m:e>
                        <m:d>
                          <m:dPr>
                            <m:begChr m:val="⟨"/>
                            <m:endChr m:val="⟩"/>
                            <m:ctrlPr>
                              <a:rPr lang="en-US" sz="4400" i="1">
                                <a:solidFill>
                                  <a:schemeClr val="tx1"/>
                                </a:solidFill>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solidFill>
                                  <a:schemeClr val="tx1"/>
                                </a:solidFill>
                                <a:latin typeface="Cambria Math" panose="02040503050406030204" pitchFamily="18" charset="0"/>
                              </a:rPr>
                              <m:t>, </m:t>
                            </m:r>
                            <m:sSub>
                              <m:sSubPr>
                                <m:ctrlPr>
                                  <a:rPr lang="en-US" sz="4400" i="1">
                                    <a:solidFill>
                                      <a:schemeClr val="tx1"/>
                                    </a:solidFill>
                                    <a:latin typeface="Cambria Math" panose="02040503050406030204" pitchFamily="18" charset="0"/>
                                  </a:rPr>
                                </m:ctrlPr>
                              </m:sSubPr>
                              <m:e>
                                <m:r>
                                  <a:rPr lang="en-US" sz="4400" b="1" i="1">
                                    <a:solidFill>
                                      <a:schemeClr val="tx1"/>
                                    </a:solidFill>
                                    <a:latin typeface="Cambria Math" panose="02040503050406030204" pitchFamily="18" charset="0"/>
                                  </a:rPr>
                                  <m:t>𝒆</m:t>
                                </m:r>
                              </m:e>
                              <m:sub>
                                <m:r>
                                  <a:rPr lang="en-US" sz="4400" i="1">
                                    <a:solidFill>
                                      <a:schemeClr val="tx1"/>
                                    </a:solidFill>
                                    <a:latin typeface="Cambria Math" panose="02040503050406030204" pitchFamily="18" charset="0"/>
                                  </a:rPr>
                                  <m:t>𝑋</m:t>
                                </m:r>
                              </m:sub>
                            </m:sSub>
                          </m:e>
                        </m:d>
                      </m:e>
                      <m:sup>
                        <m:r>
                          <a:rPr lang="en-US" sz="4400" i="1">
                            <a:solidFill>
                              <a:schemeClr val="tx1"/>
                            </a:solidFill>
                            <a:latin typeface="Cambria Math" panose="02040503050406030204" pitchFamily="18" charset="0"/>
                          </a:rPr>
                          <m:t>𝑟</m:t>
                        </m:r>
                      </m:sup>
                    </m:sSup>
                  </m:oMath>
                </a14:m>
                <a:r>
                  <a:rPr lang="en-US" sz="4400" dirty="0">
                    <a:solidFill>
                      <a:schemeClr val="tx1"/>
                    </a:solidFill>
                    <a:latin typeface="Garamond" panose="02020404030301010803" pitchFamily="18" charset="0"/>
                  </a:rPr>
                  <a:t>.</a:t>
                </a:r>
              </a:p>
            </p:txBody>
          </p:sp>
        </mc:Choice>
        <mc:Fallback xmlns="">
          <p:sp>
            <p:nvSpPr>
              <p:cNvPr id="5" name="Rounded Rectangle 4">
                <a:extLst>
                  <a:ext uri="{FF2B5EF4-FFF2-40B4-BE49-F238E27FC236}">
                    <a16:creationId xmlns:a16="http://schemas.microsoft.com/office/drawing/2014/main" id="{C73F811B-E824-E6CB-6850-8D135EFE0F9B}"/>
                  </a:ext>
                </a:extLst>
              </p:cNvPr>
              <p:cNvSpPr>
                <a:spLocks noRot="1" noChangeAspect="1" noMove="1" noResize="1" noEditPoints="1" noAdjustHandles="1" noChangeArrowheads="1" noChangeShapeType="1" noTextEdit="1"/>
              </p:cNvSpPr>
              <p:nvPr/>
            </p:nvSpPr>
            <p:spPr>
              <a:xfrm>
                <a:off x="6189044" y="3756582"/>
                <a:ext cx="5882878" cy="2376678"/>
              </a:xfrm>
              <a:prstGeom prst="roundRect">
                <a:avLst/>
              </a:prstGeom>
              <a:blipFill>
                <a:blip r:embed="rId4"/>
                <a:stretch>
                  <a:fillRect l="-2155" t="-1064" b="-7979"/>
                </a:stretch>
              </a:blipFill>
              <a:ln>
                <a:noFill/>
              </a:ln>
            </p:spPr>
            <p:txBody>
              <a:bodyPr/>
              <a:lstStyle/>
              <a:p>
                <a:r>
                  <a:rPr lang="en-US">
                    <a:noFill/>
                  </a:rPr>
                  <a:t> </a:t>
                </a:r>
              </a:p>
            </p:txBody>
          </p:sp>
        </mc:Fallback>
      </mc:AlternateContent>
      <p:sp>
        <p:nvSpPr>
          <p:cNvPr id="12" name="Title 1">
            <a:extLst>
              <a:ext uri="{FF2B5EF4-FFF2-40B4-BE49-F238E27FC236}">
                <a16:creationId xmlns:a16="http://schemas.microsoft.com/office/drawing/2014/main" id="{14FF6AA6-2203-7BB9-3ED3-33D6FA6618A6}"/>
              </a:ext>
            </a:extLst>
          </p:cNvPr>
          <p:cNvSpPr txBox="1">
            <a:spLocks/>
          </p:cNvSpPr>
          <p:nvPr/>
        </p:nvSpPr>
        <p:spPr>
          <a:xfrm>
            <a:off x="7486188" y="1232556"/>
            <a:ext cx="3315625" cy="9085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u="sng" dirty="0"/>
              <a:t>New attempt</a:t>
            </a:r>
            <a:endParaRPr lang="en-US" b="0" u="sng" dirty="0"/>
          </a:p>
        </p:txBody>
      </p:sp>
      <p:sp>
        <p:nvSpPr>
          <p:cNvPr id="13" name="TextBox 12">
            <a:extLst>
              <a:ext uri="{FF2B5EF4-FFF2-40B4-BE49-F238E27FC236}">
                <a16:creationId xmlns:a16="http://schemas.microsoft.com/office/drawing/2014/main" id="{359A2194-86D0-6FD7-B151-815C60417FD3}"/>
              </a:ext>
            </a:extLst>
          </p:cNvPr>
          <p:cNvSpPr txBox="1"/>
          <p:nvPr/>
        </p:nvSpPr>
        <p:spPr>
          <a:xfrm>
            <a:off x="6507936" y="365126"/>
            <a:ext cx="5563986" cy="769441"/>
          </a:xfrm>
          <a:prstGeom prst="rect">
            <a:avLst/>
          </a:prstGeom>
          <a:noFill/>
        </p:spPr>
        <p:txBody>
          <a:bodyPr wrap="square" rtlCol="0">
            <a:spAutoFit/>
          </a:bodyPr>
          <a:lstStyle/>
          <a:p>
            <a:r>
              <a:rPr lang="en-US" sz="4400" dirty="0">
                <a:latin typeface="Garamond" panose="02020404030301010803" pitchFamily="18" charset="0"/>
              </a:rPr>
              <a:t>Symmetric projections</a:t>
            </a:r>
            <a:endParaRPr lang="en-US" sz="4400" i="1" dirty="0">
              <a:latin typeface="Cambria Math" panose="02040503050406030204" pitchFamily="18" charset="0"/>
            </a:endParaRPr>
          </a:p>
        </p:txBody>
      </p:sp>
      <p:pic>
        <p:nvPicPr>
          <p:cNvPr id="16" name="Graphic 15" descr="Lightbulb with solid fill">
            <a:extLst>
              <a:ext uri="{FF2B5EF4-FFF2-40B4-BE49-F238E27FC236}">
                <a16:creationId xmlns:a16="http://schemas.microsoft.com/office/drawing/2014/main" id="{09BE9804-BEC4-1350-C1B2-2B7DCBD6049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0755889-6768-D522-768E-04FC44634AEC}"/>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50755889-6768-D522-768E-04FC44634AEC}"/>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6"/>
                <a:stretch>
                  <a:fillRect t="-112987" b="-170130"/>
                </a:stretch>
              </a:blipFill>
            </p:spPr>
            <p:txBody>
              <a:bodyPr/>
              <a:lstStyle/>
              <a:p>
                <a:r>
                  <a:rPr lang="en-US">
                    <a:noFill/>
                  </a:rPr>
                  <a:t> </a:t>
                </a:r>
              </a:p>
            </p:txBody>
          </p:sp>
        </mc:Fallback>
      </mc:AlternateContent>
      <p:sp>
        <p:nvSpPr>
          <p:cNvPr id="19" name="Left Brace 18">
            <a:extLst>
              <a:ext uri="{FF2B5EF4-FFF2-40B4-BE49-F238E27FC236}">
                <a16:creationId xmlns:a16="http://schemas.microsoft.com/office/drawing/2014/main" id="{BCDAE28F-6005-DC7E-4580-BD8795CAED9F}"/>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B4790D-2425-678B-9249-97A356AABC20}"/>
                  </a:ext>
                </a:extLst>
              </p:cNvPr>
              <p:cNvSpPr txBox="1"/>
              <p:nvPr/>
            </p:nvSpPr>
            <p:spPr>
              <a:xfrm>
                <a:off x="798236" y="3281887"/>
                <a:ext cx="4815903" cy="866456"/>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smtClean="0">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smtClean="0">
                                  <a:solidFill>
                                    <a:schemeClr val="tx1"/>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b="0" i="1" smtClean="0">
                          <a:solidFill>
                            <a:schemeClr val="tx1"/>
                          </a:solidFill>
                          <a:latin typeface="Cambria Math" panose="02040503050406030204" pitchFamily="18" charset="0"/>
                        </a:rPr>
                        <m:t> </m:t>
                      </m:r>
                      <m:sSup>
                        <m:sSupPr>
                          <m:ctrlPr>
                            <a:rPr lang="en-US" sz="4400" b="1" i="1" smtClean="0">
                              <a:solidFill>
                                <a:schemeClr val="tx1"/>
                              </a:solidFill>
                              <a:latin typeface="Cambria Math" panose="02040503050406030204" pitchFamily="18" charset="0"/>
                            </a:rPr>
                          </m:ctrlPr>
                        </m:sSupPr>
                        <m:e>
                          <m:d>
                            <m:dPr>
                              <m:begChr m:val="⟨"/>
                              <m:endChr m:val="⟩"/>
                              <m:ctrlPr>
                                <a:rPr lang="en-US" sz="4400" i="1">
                                  <a:solidFill>
                                    <a:schemeClr val="tx1"/>
                                  </a:solidFill>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solidFill>
                                    <a:schemeClr val="tx1"/>
                                  </a:solidFill>
                                  <a:latin typeface="Cambria Math" panose="02040503050406030204" pitchFamily="18" charset="0"/>
                                </a:rPr>
                                <m:t>, </m:t>
                              </m:r>
                              <m:r>
                                <a:rPr lang="en-US" sz="4400" b="1" i="1" smtClean="0">
                                  <a:solidFill>
                                    <a:schemeClr val="tx1"/>
                                  </a:solidFill>
                                  <a:latin typeface="Cambria Math" panose="02040503050406030204" pitchFamily="18" charset="0"/>
                                </a:rPr>
                                <m:t>𝒘</m:t>
                              </m:r>
                            </m:e>
                          </m:d>
                        </m:e>
                        <m:sup>
                          <m:r>
                            <a:rPr lang="en-US" sz="4400" b="0" i="1" smtClean="0">
                              <a:solidFill>
                                <a:schemeClr val="tx1"/>
                              </a:solidFill>
                              <a:latin typeface="Cambria Math" panose="02040503050406030204" pitchFamily="18" charset="0"/>
                            </a:rPr>
                            <m:t>𝑟</m:t>
                          </m:r>
                        </m:sup>
                      </m:sSup>
                    </m:oMath>
                  </m:oMathPara>
                </a14:m>
                <a:endParaRPr lang="en-US" sz="4400" i="1" dirty="0">
                  <a:solidFill>
                    <a:schemeClr val="tx1"/>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16B4790D-2425-678B-9249-97A356AABC20}"/>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7"/>
                <a:stretch>
                  <a:fillRect b="-13158"/>
                </a:stretch>
              </a:blipFill>
              <a:ln w="76200">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08E123DF-880B-54F8-CA4D-63BBF913ADD4}"/>
                  </a:ext>
                </a:extLst>
              </p:cNvPr>
              <p:cNvSpPr/>
              <p:nvPr/>
            </p:nvSpPr>
            <p:spPr>
              <a:xfrm>
                <a:off x="1158677" y="4724410"/>
                <a:ext cx="4095019" cy="1595626"/>
              </a:xfrm>
              <a:prstGeom prst="roundRect">
                <a:avLst/>
              </a:prstGeom>
              <a:noFill/>
              <a:ln w="7620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600" dirty="0">
                    <a:solidFill>
                      <a:schemeClr val="tx1"/>
                    </a:solidFill>
                    <a:latin typeface="Garamond" panose="02020404030301010803" pitchFamily="18" charset="0"/>
                  </a:rPr>
                  <a:t>How do we compute </a:t>
                </a:r>
                <a14:m>
                  <m:oMath xmlns:m="http://schemas.openxmlformats.org/officeDocument/2006/math">
                    <m:d>
                      <m:dPr>
                        <m:begChr m:val="⟨"/>
                        <m:endChr m:val="⟩"/>
                        <m:ctrlPr>
                          <a:rPr lang="en-US" sz="3600" i="1">
                            <a:solidFill>
                              <a:schemeClr val="tx1"/>
                            </a:solidFill>
                            <a:latin typeface="Cambria Math" panose="02040503050406030204" pitchFamily="18" charset="0"/>
                          </a:rPr>
                        </m:ctrlPr>
                      </m:dPr>
                      <m:e>
                        <m:sSup>
                          <m:sSupPr>
                            <m:ctrlPr>
                              <a:rPr lang="en-US" sz="3600" i="1">
                                <a:solidFill>
                                  <a:schemeClr val="tx1"/>
                                </a:solidFill>
                                <a:latin typeface="Cambria Math" panose="02040503050406030204" pitchFamily="18" charset="0"/>
                              </a:rPr>
                            </m:ctrlPr>
                          </m:sSupPr>
                          <m:e>
                            <m:r>
                              <a:rPr lang="en-US" sz="3600" b="1">
                                <a:solidFill>
                                  <a:schemeClr val="tx1"/>
                                </a:solidFill>
                                <a:latin typeface="Cambria Math" panose="02040503050406030204" pitchFamily="18" charset="0"/>
                              </a:rPr>
                              <m:t>𝐓</m:t>
                            </m:r>
                          </m:e>
                          <m:sup>
                            <m:d>
                              <m:dPr>
                                <m:ctrlPr>
                                  <a:rPr lang="en-US" sz="3600" i="1">
                                    <a:solidFill>
                                      <a:schemeClr val="tx1"/>
                                    </a:solidFill>
                                    <a:latin typeface="Cambria Math" panose="02040503050406030204" pitchFamily="18" charset="0"/>
                                  </a:rPr>
                                </m:ctrlPr>
                              </m:dPr>
                              <m:e>
                                <m:r>
                                  <a:rPr lang="en-US" sz="3600" i="1">
                                    <a:solidFill>
                                      <a:schemeClr val="tx1"/>
                                    </a:solidFill>
                                    <a:latin typeface="Cambria Math" panose="02040503050406030204" pitchFamily="18" charset="0"/>
                                  </a:rPr>
                                  <m:t>𝑟</m:t>
                                </m:r>
                              </m:e>
                            </m:d>
                          </m:sup>
                        </m:sSup>
                        <m:r>
                          <a:rPr lang="en-US" sz="3600" i="1">
                            <a:solidFill>
                              <a:schemeClr val="tx1"/>
                            </a:solidFill>
                            <a:latin typeface="Cambria Math" panose="02040503050406030204" pitchFamily="18" charset="0"/>
                          </a:rPr>
                          <m:t>,</m:t>
                        </m:r>
                        <m:sSup>
                          <m:sSupPr>
                            <m:ctrlPr>
                              <a:rPr lang="en-US" sz="3600" b="1" i="1" smtClean="0">
                                <a:solidFill>
                                  <a:schemeClr val="tx1"/>
                                </a:solidFill>
                                <a:latin typeface="Cambria Math" panose="02040503050406030204" pitchFamily="18" charset="0"/>
                              </a:rPr>
                            </m:ctrlPr>
                          </m:sSupPr>
                          <m:e>
                            <m:r>
                              <a:rPr lang="en-US" sz="3600" b="1" i="1" smtClean="0">
                                <a:solidFill>
                                  <a:srgbClr val="FF0000"/>
                                </a:solidFill>
                                <a:latin typeface="Cambria Math" panose="02040503050406030204" pitchFamily="18" charset="0"/>
                              </a:rPr>
                              <m:t>𝝍</m:t>
                            </m:r>
                          </m:e>
                          <m:sup>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𝑟</m:t>
                            </m:r>
                          </m:sup>
                        </m:sSup>
                      </m:e>
                    </m:d>
                  </m:oMath>
                </a14:m>
                <a:r>
                  <a:rPr lang="en-US" sz="3600" dirty="0">
                    <a:solidFill>
                      <a:schemeClr val="tx1"/>
                    </a:solidFill>
                    <a:latin typeface="Garamond" panose="02020404030301010803" pitchFamily="18" charset="0"/>
                  </a:rPr>
                  <a:t> ?</a:t>
                </a:r>
              </a:p>
            </p:txBody>
          </p:sp>
        </mc:Choice>
        <mc:Fallback xmlns="">
          <p:sp>
            <p:nvSpPr>
              <p:cNvPr id="23" name="Rounded Rectangle 22">
                <a:extLst>
                  <a:ext uri="{FF2B5EF4-FFF2-40B4-BE49-F238E27FC236}">
                    <a16:creationId xmlns:a16="http://schemas.microsoft.com/office/drawing/2014/main" id="{08E123DF-880B-54F8-CA4D-63BBF913ADD4}"/>
                  </a:ext>
                </a:extLst>
              </p:cNvPr>
              <p:cNvSpPr>
                <a:spLocks noRot="1" noChangeAspect="1" noMove="1" noResize="1" noEditPoints="1" noAdjustHandles="1" noChangeArrowheads="1" noChangeShapeType="1" noTextEdit="1"/>
              </p:cNvSpPr>
              <p:nvPr/>
            </p:nvSpPr>
            <p:spPr>
              <a:xfrm>
                <a:off x="1158677" y="4724410"/>
                <a:ext cx="4095019" cy="1595626"/>
              </a:xfrm>
              <a:prstGeom prst="roundRect">
                <a:avLst/>
              </a:prstGeom>
              <a:blipFill>
                <a:blip r:embed="rId8"/>
                <a:stretch>
                  <a:fillRect l="-1212" r="-3939"/>
                </a:stretch>
              </a:blipFill>
              <a:ln w="762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ounded Rectangle 26">
                <a:extLst>
                  <a:ext uri="{FF2B5EF4-FFF2-40B4-BE49-F238E27FC236}">
                    <a16:creationId xmlns:a16="http://schemas.microsoft.com/office/drawing/2014/main" id="{8F709D44-D01E-6F48-F61E-3999BF5D1F00}"/>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27" name="Rounded Rectangle 26">
                <a:extLst>
                  <a:ext uri="{FF2B5EF4-FFF2-40B4-BE49-F238E27FC236}">
                    <a16:creationId xmlns:a16="http://schemas.microsoft.com/office/drawing/2014/main" id="{8F709D44-D01E-6F48-F61E-3999BF5D1F00}"/>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9"/>
                <a:stretch>
                  <a:fillRect l="-1705" t="-10606" b="-303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A299E79-C934-68B8-1650-7E61BE8643B2}"/>
                  </a:ext>
                </a:extLst>
              </p:cNvPr>
              <p:cNvSpPr txBox="1">
                <a:spLocks/>
              </p:cNvSpPr>
              <p:nvPr/>
            </p:nvSpPr>
            <p:spPr>
              <a:xfrm>
                <a:off x="6303151" y="6261652"/>
                <a:ext cx="5596535" cy="596348"/>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lgn="r"/>
                <a:r>
                  <a:rPr lang="en-US" b="0" dirty="0"/>
                  <a:t>(</a:t>
                </a:r>
                <a14:m>
                  <m:oMath xmlns:m="http://schemas.openxmlformats.org/officeDocument/2006/math">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𝜀</m:t>
                        </m:r>
                      </m:e>
                      <m:sup>
                        <m:r>
                          <a:rPr lang="en-US" b="0" i="1" smtClean="0">
                            <a:latin typeface="Cambria Math" panose="02040503050406030204" pitchFamily="18" charset="0"/>
                          </a:rPr>
                          <m:t>2</m:t>
                        </m:r>
                      </m:sup>
                    </m:sSup>
                  </m:oMath>
                </a14:m>
                <a:r>
                  <a:rPr lang="en-US" b="0" dirty="0"/>
                  <a:t> times, for each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b="0" dirty="0"/>
              </a:p>
            </p:txBody>
          </p:sp>
        </mc:Choice>
        <mc:Fallback xmlns="">
          <p:sp>
            <p:nvSpPr>
              <p:cNvPr id="2" name="Title 1">
                <a:extLst>
                  <a:ext uri="{FF2B5EF4-FFF2-40B4-BE49-F238E27FC236}">
                    <a16:creationId xmlns:a16="http://schemas.microsoft.com/office/drawing/2014/main" id="{0A299E79-C934-68B8-1650-7E61BE8643B2}"/>
                  </a:ext>
                </a:extLst>
              </p:cNvPr>
              <p:cNvSpPr txBox="1">
                <a:spLocks noRot="1" noChangeAspect="1" noMove="1" noResize="1" noEditPoints="1" noAdjustHandles="1" noChangeArrowheads="1" noChangeShapeType="1" noTextEdit="1"/>
              </p:cNvSpPr>
              <p:nvPr/>
            </p:nvSpPr>
            <p:spPr>
              <a:xfrm>
                <a:off x="6303151" y="6261652"/>
                <a:ext cx="5596535" cy="596348"/>
              </a:xfrm>
              <a:prstGeom prst="rect">
                <a:avLst/>
              </a:prstGeom>
              <a:blipFill>
                <a:blip r:embed="rId10"/>
                <a:stretch>
                  <a:fillRect l="-680" t="-29167" r="-2494"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59045BFF-A6BD-94F3-9693-83FCD5A6BF3A}"/>
                  </a:ext>
                </a:extLst>
              </p:cNvPr>
              <p:cNvSpPr/>
              <p:nvPr/>
            </p:nvSpPr>
            <p:spPr>
              <a:xfrm>
                <a:off x="1164789" y="2423811"/>
                <a:ext cx="10276724" cy="1671929"/>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dirty="0">
                    <a:solidFill>
                      <a:schemeClr val="tx1"/>
                    </a:solidFill>
                    <a:latin typeface="Garamond" panose="02020404030301010803" pitchFamily="18" charset="0"/>
                  </a:rPr>
                  <a:t>We need to compute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a:solidFill>
                                  <a:srgbClr val="FF0000"/>
                                </a:solidFill>
                                <a:latin typeface="Cambria Math" panose="02040503050406030204" pitchFamily="18" charset="0"/>
                              </a:rPr>
                              <m:t>𝝍</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sup>
                        </m:sSup>
                      </m:e>
                    </m:d>
                  </m:oMath>
                </a14:m>
                <a:r>
                  <a:rPr lang="en-US" sz="4400" dirty="0">
                    <a:solidFill>
                      <a:schemeClr val="tx1"/>
                    </a:solidFill>
                    <a:latin typeface="Garamond" panose="02020404030301010803" pitchFamily="18" charset="0"/>
                  </a:rPr>
                  <a:t> implicitly, without ever materializing </a:t>
                </a:r>
                <a14:m>
                  <m:oMath xmlns:m="http://schemas.openxmlformats.org/officeDocument/2006/math">
                    <m:sSup>
                      <m:sSupPr>
                        <m:ctrlPr>
                          <a:rPr lang="en-US" sz="4400" b="1" i="1" smtClean="0">
                            <a:solidFill>
                              <a:schemeClr val="tx1"/>
                            </a:solidFill>
                            <a:latin typeface="Cambria Math" panose="02040503050406030204" pitchFamily="18" charset="0"/>
                          </a:rPr>
                        </m:ctrlPr>
                      </m:sSupPr>
                      <m:e>
                        <m:r>
                          <a:rPr lang="en-US" sz="4400" b="1" i="0" smtClean="0">
                            <a:solidFill>
                              <a:schemeClr val="tx1"/>
                            </a:solidFill>
                            <a:latin typeface="Cambria Math" panose="02040503050406030204" pitchFamily="18" charset="0"/>
                          </a:rPr>
                          <m:t>𝐓</m:t>
                        </m:r>
                      </m:e>
                      <m:sup>
                        <m:r>
                          <a:rPr lang="en-US" sz="4400" b="0" i="1" smtClean="0">
                            <a:solidFill>
                              <a:schemeClr val="tx1"/>
                            </a:solidFill>
                            <a:latin typeface="Cambria Math" panose="02040503050406030204" pitchFamily="18" charset="0"/>
                          </a:rPr>
                          <m:t>(</m:t>
                        </m:r>
                        <m:r>
                          <a:rPr lang="en-US" sz="4400" b="0" i="1" smtClean="0">
                            <a:solidFill>
                              <a:schemeClr val="tx1"/>
                            </a:solidFill>
                            <a:latin typeface="Cambria Math" panose="02040503050406030204" pitchFamily="18" charset="0"/>
                          </a:rPr>
                          <m:t>𝑟</m:t>
                        </m:r>
                        <m:r>
                          <a:rPr lang="en-US" sz="4400" b="0" i="1" smtClean="0">
                            <a:solidFill>
                              <a:schemeClr val="tx1"/>
                            </a:solidFill>
                            <a:latin typeface="Cambria Math" panose="02040503050406030204" pitchFamily="18" charset="0"/>
                          </a:rPr>
                          <m:t>)</m:t>
                        </m:r>
                      </m:sup>
                    </m:sSup>
                  </m:oMath>
                </a14:m>
                <a:r>
                  <a:rPr lang="en-US" sz="4400" dirty="0">
                    <a:solidFill>
                      <a:schemeClr val="tx1"/>
                    </a:solidFill>
                    <a:latin typeface="Garamond" panose="02020404030301010803" pitchFamily="18" charset="0"/>
                  </a:rPr>
                  <a:t> or </a:t>
                </a:r>
                <a14:m>
                  <m:oMath xmlns:m="http://schemas.openxmlformats.org/officeDocument/2006/math">
                    <m:sSup>
                      <m:sSupPr>
                        <m:ctrlPr>
                          <a:rPr lang="en-US" sz="4400" b="0" i="1" smtClean="0">
                            <a:solidFill>
                              <a:srgbClr val="FF0000"/>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b="0" i="1" smtClean="0">
                            <a:solidFill>
                              <a:schemeClr val="tx1"/>
                            </a:solidFill>
                            <a:latin typeface="Cambria Math" panose="02040503050406030204" pitchFamily="18" charset="0"/>
                          </a:rPr>
                          <m:t>⊗</m:t>
                        </m:r>
                        <m:r>
                          <a:rPr lang="en-US" sz="4400" b="0" i="1" smtClean="0">
                            <a:solidFill>
                              <a:schemeClr val="tx1"/>
                            </a:solidFill>
                            <a:latin typeface="Cambria Math" panose="02040503050406030204" pitchFamily="18" charset="0"/>
                          </a:rPr>
                          <m:t>𝑟</m:t>
                        </m:r>
                      </m:sup>
                    </m:sSup>
                  </m:oMath>
                </a14:m>
                <a:endParaRPr lang="en-US" sz="4400" b="1" dirty="0">
                  <a:solidFill>
                    <a:schemeClr val="tx1"/>
                  </a:solidFill>
                  <a:latin typeface="Garamond" panose="02020404030301010803" pitchFamily="18" charset="0"/>
                </a:endParaRPr>
              </a:p>
            </p:txBody>
          </p:sp>
        </mc:Choice>
        <mc:Fallback xmlns="">
          <p:sp>
            <p:nvSpPr>
              <p:cNvPr id="3" name="Rounded Rectangle 2">
                <a:extLst>
                  <a:ext uri="{FF2B5EF4-FFF2-40B4-BE49-F238E27FC236}">
                    <a16:creationId xmlns:a16="http://schemas.microsoft.com/office/drawing/2014/main" id="{59045BFF-A6BD-94F3-9693-83FCD5A6BF3A}"/>
                  </a:ext>
                </a:extLst>
              </p:cNvPr>
              <p:cNvSpPr>
                <a:spLocks noRot="1" noChangeAspect="1" noMove="1" noResize="1" noEditPoints="1" noAdjustHandles="1" noChangeArrowheads="1" noChangeShapeType="1" noTextEdit="1"/>
              </p:cNvSpPr>
              <p:nvPr/>
            </p:nvSpPr>
            <p:spPr>
              <a:xfrm>
                <a:off x="1164789" y="2423811"/>
                <a:ext cx="10276724" cy="1671929"/>
              </a:xfrm>
              <a:prstGeom prst="roundRect">
                <a:avLst/>
              </a:prstGeom>
              <a:blipFill>
                <a:blip r:embed="rId11"/>
                <a:stretch>
                  <a:fillRect r="-863" b="-1492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55236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6708D-06AB-A972-4D48-D2248BA82CE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C06349-4FD9-8740-E923-1F1401972BA1}"/>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solidFill>
                            <a:schemeClr val="tx1">
                              <a:alpha val="50000"/>
                            </a:schemeClr>
                          </a:solidFill>
                          <a:latin typeface="Cambria Math" panose="02040503050406030204" pitchFamily="18" charset="0"/>
                        </a:rPr>
                        <m:t>𝑓</m:t>
                      </m:r>
                      <m:d>
                        <m:dPr>
                          <m:ctrlPr>
                            <a:rPr lang="en-US" sz="4400" i="1">
                              <a:solidFill>
                                <a:schemeClr val="tx1">
                                  <a:alpha val="50000"/>
                                </a:schemeClr>
                              </a:solidFill>
                              <a:latin typeface="Cambria Math" panose="02040503050406030204" pitchFamily="18" charset="0"/>
                            </a:rPr>
                          </m:ctrlPr>
                        </m:dPr>
                        <m:e>
                          <m:r>
                            <a:rPr lang="en-US" sz="4400" b="1" i="1">
                              <a:solidFill>
                                <a:schemeClr val="tx1">
                                  <a:alpha val="50000"/>
                                </a:schemeClr>
                              </a:solidFill>
                              <a:latin typeface="Cambria Math" panose="02040503050406030204" pitchFamily="18" charset="0"/>
                            </a:rPr>
                            <m:t>𝒘</m:t>
                          </m:r>
                        </m:e>
                      </m:d>
                      <m:r>
                        <a:rPr lang="en-US" sz="4400" i="1">
                          <a:solidFill>
                            <a:schemeClr val="tx1">
                              <a:alpha val="50000"/>
                            </a:schemeClr>
                          </a:solidFill>
                          <a:latin typeface="Cambria Math" panose="02040503050406030204" pitchFamily="18" charset="0"/>
                        </a:rPr>
                        <m:t>≈</m:t>
                      </m:r>
                      <m:nary>
                        <m:naryPr>
                          <m:chr m:val="∑"/>
                          <m:ctrlPr>
                            <a:rPr lang="en-US" sz="4400" i="1">
                              <a:solidFill>
                                <a:schemeClr val="tx1">
                                  <a:alpha val="50000"/>
                                </a:schemeClr>
                              </a:solidFill>
                              <a:latin typeface="Cambria Math" panose="02040503050406030204" pitchFamily="18" charset="0"/>
                            </a:rPr>
                          </m:ctrlPr>
                        </m:naryPr>
                        <m:sub>
                          <m:r>
                            <m:rPr>
                              <m:brk m:alnAt="7"/>
                            </m:rPr>
                            <a:rPr lang="en-US" sz="4400" i="1">
                              <a:solidFill>
                                <a:schemeClr val="tx1">
                                  <a:alpha val="50000"/>
                                </a:schemeClr>
                              </a:solidFill>
                              <a:latin typeface="Cambria Math" panose="02040503050406030204" pitchFamily="18" charset="0"/>
                            </a:rPr>
                            <m:t>𝑟</m:t>
                          </m:r>
                          <m:r>
                            <a:rPr lang="en-US" sz="4400" i="1">
                              <a:solidFill>
                                <a:schemeClr val="tx1">
                                  <a:alpha val="50000"/>
                                </a:schemeClr>
                              </a:solidFill>
                              <a:latin typeface="Cambria Math" panose="02040503050406030204" pitchFamily="18" charset="0"/>
                            </a:rPr>
                            <m:t>=0</m:t>
                          </m:r>
                        </m:sub>
                        <m:sup>
                          <m:r>
                            <a:rPr lang="en-US" sz="4400" i="1">
                              <a:solidFill>
                                <a:schemeClr val="tx1">
                                  <a:alpha val="50000"/>
                                </a:schemeClr>
                              </a:solidFill>
                              <a:latin typeface="Cambria Math" panose="02040503050406030204" pitchFamily="18" charset="0"/>
                            </a:rPr>
                            <m:t>𝑠</m:t>
                          </m:r>
                        </m:sup>
                        <m:e>
                          <m:d>
                            <m:dPr>
                              <m:begChr m:val="⟨"/>
                              <m:endChr m:val="⟩"/>
                              <m:ctrlPr>
                                <a:rPr lang="en-US" sz="4400" i="1">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 </m:t>
                              </m:r>
                              <m:sSup>
                                <m:sSupPr>
                                  <m:ctrlPr>
                                    <a:rPr lang="en-US" sz="4400" i="1">
                                      <a:solidFill>
                                        <a:schemeClr val="tx1">
                                          <a:alpha val="50000"/>
                                        </a:schemeClr>
                                      </a:solidFill>
                                      <a:latin typeface="Cambria Math" panose="02040503050406030204" pitchFamily="18" charset="0"/>
                                    </a:rPr>
                                  </m:ctrlPr>
                                </m:sSupPr>
                                <m:e>
                                  <m:r>
                                    <a:rPr lang="en-US" sz="4400" b="1" i="1">
                                      <a:solidFill>
                                        <a:schemeClr val="tx1">
                                          <a:alpha val="50000"/>
                                        </a:schemeClr>
                                      </a:solidFill>
                                      <a:latin typeface="Cambria Math" panose="02040503050406030204" pitchFamily="18" charset="0"/>
                                    </a:rPr>
                                    <m:t>𝒘</m:t>
                                  </m:r>
                                </m:e>
                                <m:sup>
                                  <m:r>
                                    <a:rPr lang="en-US" sz="4400" i="1">
                                      <a:solidFill>
                                        <a:schemeClr val="tx1">
                                          <a:alpha val="50000"/>
                                        </a:schemeClr>
                                      </a:solidFill>
                                      <a:latin typeface="Cambria Math" panose="02040503050406030204" pitchFamily="18" charset="0"/>
                                    </a:rPr>
                                    <m:t>⊗</m:t>
                                  </m:r>
                                  <m:r>
                                    <a:rPr lang="en-US" sz="4400" i="1">
                                      <a:solidFill>
                                        <a:schemeClr val="tx1">
                                          <a:alpha val="50000"/>
                                        </a:schemeClr>
                                      </a:solidFill>
                                      <a:latin typeface="Cambria Math" panose="02040503050406030204" pitchFamily="18" charset="0"/>
                                    </a:rPr>
                                    <m:t>𝑟</m:t>
                                  </m:r>
                                </m:sup>
                              </m:sSup>
                            </m:e>
                          </m:d>
                        </m:e>
                      </m:nary>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F2C06349-4FD9-8740-E923-1F1401972BA1}"/>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p:sp>
        <p:nvSpPr>
          <p:cNvPr id="17" name="Left Brace 16">
            <a:extLst>
              <a:ext uri="{FF2B5EF4-FFF2-40B4-BE49-F238E27FC236}">
                <a16:creationId xmlns:a16="http://schemas.microsoft.com/office/drawing/2014/main" id="{C89C3347-FBE8-7168-7473-824B81B702F0}"/>
              </a:ext>
            </a:extLst>
          </p:cNvPr>
          <p:cNvSpPr/>
          <p:nvPr/>
        </p:nvSpPr>
        <p:spPr>
          <a:xfrm rot="16200000">
            <a:off x="4035048" y="1562516"/>
            <a:ext cx="866458" cy="2524178"/>
          </a:xfrm>
          <a:prstGeom prst="leftBrace">
            <a:avLst>
              <a:gd name="adj1" fmla="val 36581"/>
              <a:gd name="adj2" fmla="val 46778"/>
            </a:avLst>
          </a:prstGeom>
          <a:ln w="76200">
            <a:solidFill>
              <a:srgbClr val="00B050">
                <a:alpha val="50000"/>
              </a:srgb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solidFill>
                <a:schemeClr val="tx1">
                  <a:alpha val="50000"/>
                </a:schemeClr>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03ACD84-1AA9-B710-437C-AF8EAE22F947}"/>
                  </a:ext>
                </a:extLst>
              </p:cNvPr>
              <p:cNvSpPr txBox="1"/>
              <p:nvPr/>
            </p:nvSpPr>
            <p:spPr>
              <a:xfrm>
                <a:off x="798236" y="3281887"/>
                <a:ext cx="4815903" cy="866456"/>
              </a:xfrm>
              <a:prstGeom prst="rect">
                <a:avLst/>
              </a:prstGeom>
              <a:noFill/>
              <a:ln w="76200">
                <a:solidFill>
                  <a:srgbClr val="00B050">
                    <a:alpha val="50000"/>
                  </a:srgb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smtClean="0">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m:t>
                          </m:r>
                          <m:sSup>
                            <m:sSupPr>
                              <m:ctrlPr>
                                <a:rPr lang="en-US" sz="4400" b="1" i="1" smtClean="0">
                                  <a:solidFill>
                                    <a:srgbClr val="FF0000">
                                      <a:alpha val="50000"/>
                                    </a:srgbClr>
                                  </a:solidFill>
                                  <a:latin typeface="Cambria Math" panose="02040503050406030204" pitchFamily="18" charset="0"/>
                                </a:rPr>
                              </m:ctrlPr>
                            </m:sSupPr>
                            <m:e>
                              <m:r>
                                <a:rPr lang="en-US" sz="4400" b="1" i="1" smtClean="0">
                                  <a:solidFill>
                                    <a:schemeClr val="tx1">
                                      <a:alpha val="50000"/>
                                    </a:schemeClr>
                                  </a:solidFill>
                                  <a:latin typeface="Cambria Math" panose="02040503050406030204" pitchFamily="18" charset="0"/>
                                </a:rPr>
                                <m:t>𝝍</m:t>
                              </m:r>
                            </m:e>
                            <m:sup>
                              <m:r>
                                <a:rPr lang="en-US" sz="4400" i="1" smtClean="0">
                                  <a:solidFill>
                                    <a:schemeClr val="tx1">
                                      <a:alpha val="50000"/>
                                    </a:schemeClr>
                                  </a:solidFill>
                                  <a:latin typeface="Cambria Math" panose="02040503050406030204" pitchFamily="18" charset="0"/>
                                </a:rPr>
                                <m:t>⊗</m:t>
                              </m:r>
                              <m:r>
                                <a:rPr lang="en-US" sz="4400" i="1" smtClean="0">
                                  <a:solidFill>
                                    <a:schemeClr val="tx1">
                                      <a:alpha val="50000"/>
                                    </a:schemeClr>
                                  </a:solidFill>
                                  <a:latin typeface="Cambria Math" panose="02040503050406030204" pitchFamily="18" charset="0"/>
                                </a:rPr>
                                <m:t>𝑟</m:t>
                              </m:r>
                            </m:sup>
                          </m:sSup>
                        </m:e>
                      </m:d>
                      <m:r>
                        <a:rPr lang="en-US" sz="4400" b="0" i="1" smtClean="0">
                          <a:solidFill>
                            <a:schemeClr val="tx1">
                              <a:alpha val="50000"/>
                            </a:schemeClr>
                          </a:solidFill>
                          <a:latin typeface="Cambria Math" panose="02040503050406030204" pitchFamily="18" charset="0"/>
                        </a:rPr>
                        <m:t> </m:t>
                      </m:r>
                      <m:sSup>
                        <m:sSupPr>
                          <m:ctrlPr>
                            <a:rPr lang="en-US" sz="4400" b="1" i="1" smtClean="0">
                              <a:solidFill>
                                <a:schemeClr val="tx1">
                                  <a:alpha val="50000"/>
                                </a:schemeClr>
                              </a:solidFill>
                              <a:latin typeface="Cambria Math" panose="02040503050406030204" pitchFamily="18" charset="0"/>
                            </a:rPr>
                          </m:ctrlPr>
                        </m:sSupPr>
                        <m:e>
                          <m:d>
                            <m:dPr>
                              <m:begChr m:val="⟨"/>
                              <m:endChr m:val="⟩"/>
                              <m:ctrlPr>
                                <a:rPr lang="en-US" sz="4400" i="1">
                                  <a:solidFill>
                                    <a:schemeClr val="tx1">
                                      <a:alpha val="50000"/>
                                    </a:schemeClr>
                                  </a:solidFill>
                                  <a:latin typeface="Cambria Math" panose="02040503050406030204" pitchFamily="18" charset="0"/>
                                </a:rPr>
                              </m:ctrlPr>
                            </m:dPr>
                            <m:e>
                              <m:r>
                                <a:rPr lang="en-US" sz="4400" b="1" i="1" smtClean="0">
                                  <a:solidFill>
                                    <a:schemeClr val="tx1">
                                      <a:alpha val="50000"/>
                                    </a:schemeClr>
                                  </a:solidFill>
                                  <a:latin typeface="Cambria Math" panose="02040503050406030204" pitchFamily="18" charset="0"/>
                                </a:rPr>
                                <m:t>𝝍</m:t>
                              </m:r>
                              <m:r>
                                <a:rPr lang="en-US" sz="4400" i="1">
                                  <a:solidFill>
                                    <a:schemeClr val="tx1">
                                      <a:alpha val="50000"/>
                                    </a:schemeClr>
                                  </a:solidFill>
                                  <a:latin typeface="Cambria Math" panose="02040503050406030204" pitchFamily="18" charset="0"/>
                                </a:rPr>
                                <m:t>, </m:t>
                              </m:r>
                              <m:r>
                                <a:rPr lang="en-US" sz="4400" b="1" i="1" smtClean="0">
                                  <a:solidFill>
                                    <a:schemeClr val="tx1">
                                      <a:alpha val="50000"/>
                                    </a:schemeClr>
                                  </a:solidFill>
                                  <a:latin typeface="Cambria Math" panose="02040503050406030204" pitchFamily="18" charset="0"/>
                                </a:rPr>
                                <m:t>𝒘</m:t>
                              </m:r>
                            </m:e>
                          </m:d>
                        </m:e>
                        <m:sup>
                          <m:r>
                            <a:rPr lang="en-US" sz="4400" b="0" i="1" smtClean="0">
                              <a:solidFill>
                                <a:schemeClr val="tx1">
                                  <a:alpha val="50000"/>
                                </a:schemeClr>
                              </a:solidFill>
                              <a:latin typeface="Cambria Math" panose="02040503050406030204" pitchFamily="18" charset="0"/>
                            </a:rPr>
                            <m:t>𝑟</m:t>
                          </m:r>
                        </m:sup>
                      </m:sSup>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703ACD84-1AA9-B710-437C-AF8EAE22F947}"/>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4"/>
                <a:stretch>
                  <a:fillRect b="-13158"/>
                </a:stretch>
              </a:blipFill>
              <a:ln w="76200">
                <a:solidFill>
                  <a:srgbClr val="00B050">
                    <a:alpha val="50000"/>
                  </a:srgbClr>
                </a:solidFill>
              </a:ln>
            </p:spPr>
            <p:txBody>
              <a:bodyPr/>
              <a:lstStyle/>
              <a:p>
                <a:r>
                  <a:rPr lang="en-US">
                    <a:noFill/>
                  </a:rPr>
                  <a:t> </a:t>
                </a:r>
              </a:p>
            </p:txBody>
          </p:sp>
        </mc:Fallback>
      </mc:AlternateContent>
      <p:pic>
        <p:nvPicPr>
          <p:cNvPr id="2" name="Graphic 1" descr="Lightbulb with solid fill">
            <a:extLst>
              <a:ext uri="{FF2B5EF4-FFF2-40B4-BE49-F238E27FC236}">
                <a16:creationId xmlns:a16="http://schemas.microsoft.com/office/drawing/2014/main" id="{7BC764A3-B5E1-31ED-3CB1-F91B6ACE0A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1F229FC-F6A4-7192-5A9E-D5E434321801}"/>
                  </a:ext>
                </a:extLst>
              </p:cNvPr>
              <p:cNvSpPr txBox="1"/>
              <p:nvPr/>
            </p:nvSpPr>
            <p:spPr>
              <a:xfrm>
                <a:off x="6507936" y="365126"/>
                <a:ext cx="5563986" cy="1446550"/>
              </a:xfrm>
              <a:prstGeom prst="rect">
                <a:avLst/>
              </a:prstGeom>
              <a:noFill/>
            </p:spPr>
            <p:txBody>
              <a:bodyPr wrap="square" rtlCol="0">
                <a:spAutoFit/>
              </a:bodyPr>
              <a:lstStyle/>
              <a:p>
                <a:r>
                  <a:rPr lang="en-US" sz="4400" dirty="0">
                    <a:latin typeface="Garamond" panose="02020404030301010803" pitchFamily="18" charset="0"/>
                  </a:rPr>
                  <a:t>Compute </a:t>
                </a:r>
                <a14:m>
                  <m:oMath xmlns:m="http://schemas.openxmlformats.org/officeDocument/2006/math">
                    <m:r>
                      <a:rPr lang="en-US" sz="4400" b="0" i="1" smtClean="0">
                        <a:latin typeface="Cambria Math" panose="02040503050406030204" pitchFamily="18" charset="0"/>
                      </a:rPr>
                      <m:t>𝑓</m:t>
                    </m:r>
                    <m:d>
                      <m:dPr>
                        <m:ctrlPr>
                          <a:rPr lang="en-US" sz="4400" b="0" i="1" smtClean="0">
                            <a:latin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rPr>
                          <m:t>𝑧</m:t>
                        </m:r>
                        <m:r>
                          <a:rPr lang="en-US" sz="4400" b="1" i="1" smtClean="0">
                            <a:latin typeface="Cambria Math" panose="02040503050406030204" pitchFamily="18" charset="0"/>
                          </a:rPr>
                          <m:t> </m:t>
                        </m:r>
                        <m:r>
                          <a:rPr lang="en-US" sz="4400" b="1" i="1" smtClean="0">
                            <a:solidFill>
                              <a:schemeClr val="tx1"/>
                            </a:solidFill>
                            <a:latin typeface="Cambria Math" panose="02040503050406030204" pitchFamily="18" charset="0"/>
                          </a:rPr>
                          <m:t>𝝍</m:t>
                        </m:r>
                      </m:e>
                    </m:d>
                  </m:oMath>
                </a14:m>
                <a:endParaRPr lang="en-US" sz="4400" b="0" dirty="0">
                  <a:latin typeface="Garamond" panose="02020404030301010803" pitchFamily="18" charset="0"/>
                </a:endParaRPr>
              </a:p>
              <a:p>
                <a:r>
                  <a:rPr lang="en-US" sz="4400" dirty="0">
                    <a:latin typeface="Garamond" panose="02020404030301010803" pitchFamily="18" charset="0"/>
                  </a:rPr>
                  <a:t> over </a:t>
                </a:r>
                <a14:m>
                  <m:oMath xmlns:m="http://schemas.openxmlformats.org/officeDocument/2006/math">
                    <m:r>
                      <a:rPr lang="en-US" sz="4400" b="0" i="1" smtClean="0">
                        <a:latin typeface="Cambria Math" panose="02040503050406030204" pitchFamily="18" charset="0"/>
                      </a:rPr>
                      <m:t>𝑅</m:t>
                    </m:r>
                    <m:r>
                      <a:rPr lang="en-US" sz="4400" b="0" i="1" smtClean="0">
                        <a:latin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ℂ</m:t>
                    </m:r>
                    <m:d>
                      <m:dPr>
                        <m:begChr m:val="["/>
                        <m:endChr m:val="]"/>
                        <m:ctrlPr>
                          <a:rPr lang="en-US" sz="4400" b="0" i="1" smtClean="0">
                            <a:latin typeface="Cambria Math" panose="02040503050406030204" pitchFamily="18" charset="0"/>
                            <a:ea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d>
                    <m:r>
                      <a:rPr lang="en-US" sz="4400" b="0" i="1" smtClean="0">
                        <a:latin typeface="Cambria Math" panose="02040503050406030204" pitchFamily="18" charset="0"/>
                        <a:ea typeface="Cambria Math" panose="02040503050406030204" pitchFamily="18" charset="0"/>
                      </a:rPr>
                      <m:t>/</m:t>
                    </m:r>
                    <m:d>
                      <m:dPr>
                        <m:ctrlPr>
                          <a:rPr lang="en-US" sz="4400" b="0" i="1" smtClean="0">
                            <a:latin typeface="Cambria Math" panose="02040503050406030204" pitchFamily="18" charset="0"/>
                            <a:ea typeface="Cambria Math" panose="02040503050406030204" pitchFamily="18" charset="0"/>
                          </a:rPr>
                        </m:ctrlPr>
                      </m:dPr>
                      <m:e>
                        <m:sSup>
                          <m:sSupPr>
                            <m:ctrlPr>
                              <a:rPr lang="en-US" sz="4400" b="0" i="1" smtClean="0">
                                <a:latin typeface="Cambria Math" panose="02040503050406030204" pitchFamily="18" charset="0"/>
                                <a:ea typeface="Cambria Math" panose="02040503050406030204" pitchFamily="18" charset="0"/>
                              </a:rPr>
                            </m:ctrlPr>
                          </m:sSup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sup>
                            <m:r>
                              <a:rPr lang="en-US" sz="4400" b="0" i="1" smtClean="0">
                                <a:latin typeface="Cambria Math" panose="02040503050406030204" pitchFamily="18" charset="0"/>
                                <a:ea typeface="Cambria Math" panose="02040503050406030204" pitchFamily="18" charset="0"/>
                              </a:rPr>
                              <m:t>𝑠</m:t>
                            </m:r>
                            <m:r>
                              <a:rPr lang="en-US" sz="4400" b="0" i="1" smtClean="0">
                                <a:latin typeface="Cambria Math" panose="02040503050406030204" pitchFamily="18" charset="0"/>
                                <a:ea typeface="Cambria Math" panose="02040503050406030204" pitchFamily="18" charset="0"/>
                              </a:rPr>
                              <m:t>+1</m:t>
                            </m:r>
                          </m:sup>
                        </m:sSup>
                      </m:e>
                    </m:d>
                  </m:oMath>
                </a14:m>
                <a:r>
                  <a:rPr lang="en-US" sz="4400" dirty="0">
                    <a:latin typeface="Garamond" panose="02020404030301010803" pitchFamily="18" charset="0"/>
                  </a:rPr>
                  <a:t>.</a:t>
                </a:r>
              </a:p>
            </p:txBody>
          </p:sp>
        </mc:Choice>
        <mc:Fallback xmlns="">
          <p:sp>
            <p:nvSpPr>
              <p:cNvPr id="3" name="TextBox 2">
                <a:extLst>
                  <a:ext uri="{FF2B5EF4-FFF2-40B4-BE49-F238E27FC236}">
                    <a16:creationId xmlns:a16="http://schemas.microsoft.com/office/drawing/2014/main" id="{01F229FC-F6A4-7192-5A9E-D5E434321801}"/>
                  </a:ext>
                </a:extLst>
              </p:cNvPr>
              <p:cNvSpPr txBox="1">
                <a:spLocks noRot="1" noChangeAspect="1" noMove="1" noResize="1" noEditPoints="1" noAdjustHandles="1" noChangeArrowheads="1" noChangeShapeType="1" noTextEdit="1"/>
              </p:cNvSpPr>
              <p:nvPr/>
            </p:nvSpPr>
            <p:spPr>
              <a:xfrm>
                <a:off x="6507936" y="365126"/>
                <a:ext cx="5563986" cy="1446550"/>
              </a:xfrm>
              <a:prstGeom prst="rect">
                <a:avLst/>
              </a:prstGeom>
              <a:blipFill>
                <a:blip r:embed="rId6"/>
                <a:stretch>
                  <a:fillRect l="-4556" t="-7826" r="-4328" b="-2000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20E39506-EDF8-BC49-2A26-48E1EB33F61F}"/>
              </a:ext>
            </a:extLst>
          </p:cNvPr>
          <p:cNvSpPr/>
          <p:nvPr/>
        </p:nvSpPr>
        <p:spPr>
          <a:xfrm>
            <a:off x="5253696" y="1811676"/>
            <a:ext cx="7120997" cy="5286547"/>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F059147-9AFD-3F1B-334E-25788D63FFB1}"/>
                  </a:ext>
                </a:extLst>
              </p:cNvPr>
              <p:cNvSpPr txBox="1"/>
              <p:nvPr/>
            </p:nvSpPr>
            <p:spPr>
              <a:xfrm>
                <a:off x="5209381" y="4551573"/>
                <a:ext cx="6982619"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r>
                        <a:rPr lang="en-US" sz="4400" b="0" i="1" smtClean="0">
                          <a:latin typeface="Cambria Math" panose="02040503050406030204" pitchFamily="18" charset="0"/>
                        </a:rPr>
                        <m:t>(</m:t>
                      </m:r>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 </m:t>
                      </m:r>
                      <m:r>
                        <a:rPr lang="en-US" sz="4400" b="1" i="1" smtClean="0">
                          <a:solidFill>
                            <a:schemeClr val="tx1"/>
                          </a:solidFill>
                          <a:latin typeface="Cambria Math" panose="02040503050406030204" pitchFamily="18" charset="0"/>
                        </a:rPr>
                        <m:t>𝝍</m:t>
                      </m:r>
                      <m:r>
                        <a:rPr lang="en-US" sz="4400" b="0" i="1" smtClean="0">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smtClean="0">
                                      <a:solidFill>
                                        <a:schemeClr val="tx1"/>
                                      </a:solidFill>
                                      <a:latin typeface="Cambria Math" panose="02040503050406030204" pitchFamily="18" charset="0"/>
                                    </a:rPr>
                                    <m:t>𝝍</m:t>
                                  </m:r>
                                </m:e>
                                <m:sup>
                                  <m:r>
                                    <a:rPr lang="en-US" sz="4400" i="1">
                                      <a:latin typeface="Cambria Math" panose="02040503050406030204" pitchFamily="18" charset="0"/>
                                    </a:rPr>
                                    <m:t>⊗</m:t>
                                  </m:r>
                                  <m:r>
                                    <a:rPr lang="en-US" sz="4400" i="1">
                                      <a:latin typeface="Cambria Math" panose="02040503050406030204" pitchFamily="18" charset="0"/>
                                    </a:rPr>
                                    <m:t>𝑟</m:t>
                                  </m:r>
                                </m:sup>
                              </m:sSup>
                            </m:e>
                          </m:d>
                          <m:r>
                            <a:rPr lang="en-US" sz="4400" b="0" i="1" smtClean="0">
                              <a:latin typeface="Cambria Math" panose="02040503050406030204" pitchFamily="18" charset="0"/>
                            </a:rPr>
                            <m:t> </m:t>
                          </m:r>
                          <m:sSup>
                            <m:sSupPr>
                              <m:ctrlPr>
                                <a:rPr lang="en-US" sz="4400" b="0" i="1" smtClean="0">
                                  <a:latin typeface="Cambria Math" panose="02040503050406030204" pitchFamily="18" charset="0"/>
                                </a:rPr>
                              </m:ctrlPr>
                            </m:sSupPr>
                            <m:e>
                              <m:r>
                                <a:rPr lang="en-US" sz="4400" b="0" i="1" smtClean="0">
                                  <a:solidFill>
                                    <a:schemeClr val="accent5">
                                      <a:lumMod val="75000"/>
                                    </a:schemeClr>
                                  </a:solidFill>
                                  <a:latin typeface="Cambria Math" panose="02040503050406030204" pitchFamily="18" charset="0"/>
                                </a:rPr>
                                <m:t>𝑧</m:t>
                              </m:r>
                            </m:e>
                            <m:sup>
                              <m:r>
                                <a:rPr lang="en-US" sz="4400" b="0" i="1" smtClean="0">
                                  <a:latin typeface="Cambria Math" panose="02040503050406030204" pitchFamily="18" charset="0"/>
                                </a:rPr>
                                <m:t>𝑟</m:t>
                              </m:r>
                            </m:sup>
                          </m:sSup>
                        </m:e>
                      </m:nary>
                    </m:oMath>
                  </m:oMathPara>
                </a14:m>
                <a:endParaRPr lang="en-US" sz="4400" i="1" dirty="0">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1F059147-9AFD-3F1B-334E-25788D63FFB1}"/>
                  </a:ext>
                </a:extLst>
              </p:cNvPr>
              <p:cNvSpPr txBox="1">
                <a:spLocks noRot="1" noChangeAspect="1" noMove="1" noResize="1" noEditPoints="1" noAdjustHandles="1" noChangeArrowheads="1" noChangeShapeType="1" noTextEdit="1"/>
              </p:cNvSpPr>
              <p:nvPr/>
            </p:nvSpPr>
            <p:spPr>
              <a:xfrm>
                <a:off x="5209381" y="4551573"/>
                <a:ext cx="6982619" cy="1941301"/>
              </a:xfrm>
              <a:prstGeom prst="rect">
                <a:avLst/>
              </a:prstGeom>
              <a:blipFill>
                <a:blip r:embed="rId7"/>
                <a:stretch>
                  <a:fillRect l="-181"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E6679BC-EDB6-40DC-FD48-E9AC9E99DE71}"/>
                  </a:ext>
                </a:extLst>
              </p:cNvPr>
              <p:cNvSpPr txBox="1"/>
              <p:nvPr/>
            </p:nvSpPr>
            <p:spPr>
              <a:xfrm>
                <a:off x="6385488" y="1758235"/>
                <a:ext cx="5806512" cy="17359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rPr>
                        <m:t>𝑓</m:t>
                      </m:r>
                      <m:d>
                        <m:dPr>
                          <m:ctrlPr>
                            <a:rPr lang="en-US" sz="4400" i="1">
                              <a:latin typeface="Cambria Math" panose="02040503050406030204" pitchFamily="18" charset="0"/>
                            </a:rPr>
                          </m:ctrlPr>
                        </m:dPr>
                        <m:e>
                          <m:r>
                            <a:rPr lang="en-US" sz="4400" b="1" i="1" smtClean="0">
                              <a:latin typeface="Cambria Math" panose="02040503050406030204" pitchFamily="18" charset="0"/>
                            </a:rPr>
                            <m:t>𝒘</m:t>
                          </m:r>
                        </m:e>
                      </m:d>
                      <m:r>
                        <a:rPr lang="en-US" sz="4400" b="0" i="1" smtClean="0">
                          <a:latin typeface="Cambria Math" panose="02040503050406030204" pitchFamily="18" charset="0"/>
                        </a:rPr>
                        <m:t>=</m:t>
                      </m:r>
                      <m:nary>
                        <m:naryPr>
                          <m:chr m:val="∑"/>
                          <m:supHide m:val="on"/>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b="0" i="1" smtClean="0">
                              <a:latin typeface="Cambria Math" panose="02040503050406030204" pitchFamily="18" charset="0"/>
                            </a:rPr>
                            <m:t>≥</m:t>
                          </m:r>
                          <m:r>
                            <a:rPr lang="en-US" sz="4400" i="1">
                              <a:latin typeface="Cambria Math" panose="02040503050406030204" pitchFamily="18" charset="0"/>
                            </a:rPr>
                            <m:t>0</m:t>
                          </m:r>
                        </m:sub>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smtClean="0">
                                      <a:solidFill>
                                        <a:schemeClr val="tx1"/>
                                      </a:solidFill>
                                      <a:latin typeface="Cambria Math" panose="02040503050406030204" pitchFamily="18" charset="0"/>
                                    </a:rPr>
                                  </m:ctrlPr>
                                </m:sSupPr>
                                <m:e>
                                  <m:r>
                                    <a:rPr lang="en-US" sz="4400" b="1" i="1" smtClean="0">
                                      <a:solidFill>
                                        <a:schemeClr val="tx1"/>
                                      </a:solidFill>
                                      <a:latin typeface="Cambria Math" panose="02040503050406030204" pitchFamily="18" charset="0"/>
                                    </a:rPr>
                                    <m:t>𝒘</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sup>
                              </m:sSup>
                            </m:e>
                          </m:d>
                          <m:r>
                            <a:rPr lang="en-US" sz="4400" b="0" i="1" smtClean="0">
                              <a:latin typeface="Cambria Math" panose="02040503050406030204" pitchFamily="18" charset="0"/>
                            </a:rPr>
                            <m:t> </m:t>
                          </m:r>
                        </m:e>
                      </m:nary>
                    </m:oMath>
                  </m:oMathPara>
                </a14:m>
                <a:endParaRPr lang="en-US" sz="4400" i="1" dirty="0">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5E6679BC-EDB6-40DC-FD48-E9AC9E99DE71}"/>
                  </a:ext>
                </a:extLst>
              </p:cNvPr>
              <p:cNvSpPr txBox="1">
                <a:spLocks noRot="1" noChangeAspect="1" noMove="1" noResize="1" noEditPoints="1" noAdjustHandles="1" noChangeArrowheads="1" noChangeShapeType="1" noTextEdit="1"/>
              </p:cNvSpPr>
              <p:nvPr/>
            </p:nvSpPr>
            <p:spPr>
              <a:xfrm>
                <a:off x="6385488" y="1758235"/>
                <a:ext cx="5806512" cy="1735924"/>
              </a:xfrm>
              <a:prstGeom prst="rect">
                <a:avLst/>
              </a:prstGeom>
              <a:blipFill>
                <a:blip r:embed="rId8"/>
                <a:stretch>
                  <a:fillRect l="-1961" t="-137681" r="-2179" b="-189855"/>
                </a:stretch>
              </a:blipFill>
            </p:spPr>
            <p:txBody>
              <a:bodyPr/>
              <a:lstStyle/>
              <a:p>
                <a:r>
                  <a:rPr lang="en-US">
                    <a:noFill/>
                  </a:rPr>
                  <a:t> </a:t>
                </a:r>
              </a:p>
            </p:txBody>
          </p:sp>
        </mc:Fallback>
      </mc:AlternateContent>
      <p:sp>
        <p:nvSpPr>
          <p:cNvPr id="12" name="Down Arrow 11">
            <a:extLst>
              <a:ext uri="{FF2B5EF4-FFF2-40B4-BE49-F238E27FC236}">
                <a16:creationId xmlns:a16="http://schemas.microsoft.com/office/drawing/2014/main" id="{BAAC1A7B-FA65-1097-0258-CBC56EE284EB}"/>
              </a:ext>
            </a:extLst>
          </p:cNvPr>
          <p:cNvSpPr/>
          <p:nvPr/>
        </p:nvSpPr>
        <p:spPr>
          <a:xfrm>
            <a:off x="7525512" y="3494159"/>
            <a:ext cx="740664" cy="1014838"/>
          </a:xfrm>
          <a:prstGeom prst="downArrow">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46F9896A-6018-7C70-29F3-4708EB2D1057}"/>
                  </a:ext>
                </a:extLst>
              </p:cNvPr>
              <p:cNvSpPr/>
              <p:nvPr/>
            </p:nvSpPr>
            <p:spPr>
              <a:xfrm>
                <a:off x="1158677" y="4724410"/>
                <a:ext cx="4095019" cy="1595626"/>
              </a:xfrm>
              <a:prstGeom prst="roundRect">
                <a:avLst/>
              </a:prstGeom>
              <a:noFill/>
              <a:ln w="7620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600" dirty="0">
                    <a:solidFill>
                      <a:sysClr val="windowText" lastClr="000000"/>
                    </a:solidFill>
                    <a:latin typeface="Garamond" panose="02020404030301010803" pitchFamily="18" charset="0"/>
                  </a:rPr>
                  <a:t>How do we compute </a:t>
                </a:r>
                <a14:m>
                  <m:oMath xmlns:m="http://schemas.openxmlformats.org/officeDocument/2006/math">
                    <m:d>
                      <m:dPr>
                        <m:begChr m:val="⟨"/>
                        <m:endChr m:val="⟩"/>
                        <m:ctrlPr>
                          <a:rPr lang="en-US" sz="3600" i="1">
                            <a:solidFill>
                              <a:schemeClr val="tx1"/>
                            </a:solidFill>
                            <a:latin typeface="Cambria Math" panose="02040503050406030204" pitchFamily="18" charset="0"/>
                          </a:rPr>
                        </m:ctrlPr>
                      </m:dPr>
                      <m:e>
                        <m:sSup>
                          <m:sSupPr>
                            <m:ctrlPr>
                              <a:rPr lang="en-US" sz="3600" i="1">
                                <a:solidFill>
                                  <a:schemeClr val="tx1"/>
                                </a:solidFill>
                                <a:latin typeface="Cambria Math" panose="02040503050406030204" pitchFamily="18" charset="0"/>
                              </a:rPr>
                            </m:ctrlPr>
                          </m:sSupPr>
                          <m:e>
                            <m:r>
                              <a:rPr lang="en-US" sz="3600" b="1">
                                <a:solidFill>
                                  <a:schemeClr val="tx1"/>
                                </a:solidFill>
                                <a:latin typeface="Cambria Math" panose="02040503050406030204" pitchFamily="18" charset="0"/>
                              </a:rPr>
                              <m:t>𝐓</m:t>
                            </m:r>
                          </m:e>
                          <m:sup>
                            <m:d>
                              <m:dPr>
                                <m:ctrlPr>
                                  <a:rPr lang="en-US" sz="3600" i="1">
                                    <a:solidFill>
                                      <a:schemeClr val="tx1"/>
                                    </a:solidFill>
                                    <a:latin typeface="Cambria Math" panose="02040503050406030204" pitchFamily="18" charset="0"/>
                                  </a:rPr>
                                </m:ctrlPr>
                              </m:dPr>
                              <m:e>
                                <m:r>
                                  <a:rPr lang="en-US" sz="3600" i="1">
                                    <a:solidFill>
                                      <a:schemeClr val="tx1"/>
                                    </a:solidFill>
                                    <a:latin typeface="Cambria Math" panose="02040503050406030204" pitchFamily="18" charset="0"/>
                                  </a:rPr>
                                  <m:t>𝑟</m:t>
                                </m:r>
                              </m:e>
                            </m:d>
                          </m:sup>
                        </m:sSup>
                        <m:r>
                          <a:rPr lang="en-US" sz="3600" i="1">
                            <a:solidFill>
                              <a:schemeClr val="tx1"/>
                            </a:solidFill>
                            <a:latin typeface="Cambria Math" panose="02040503050406030204" pitchFamily="18" charset="0"/>
                          </a:rPr>
                          <m:t>,</m:t>
                        </m:r>
                        <m:sSup>
                          <m:sSupPr>
                            <m:ctrlPr>
                              <a:rPr lang="en-US" sz="3600" b="1" i="1" smtClean="0">
                                <a:solidFill>
                                  <a:schemeClr val="tx1"/>
                                </a:solidFill>
                                <a:latin typeface="Cambria Math" panose="02040503050406030204" pitchFamily="18" charset="0"/>
                              </a:rPr>
                            </m:ctrlPr>
                          </m:sSupPr>
                          <m:e>
                            <m:r>
                              <a:rPr lang="en-US" sz="3600" b="1" i="1" smtClean="0">
                                <a:solidFill>
                                  <a:schemeClr val="tx1"/>
                                </a:solidFill>
                                <a:latin typeface="Cambria Math" panose="02040503050406030204" pitchFamily="18" charset="0"/>
                              </a:rPr>
                              <m:t>𝝍</m:t>
                            </m:r>
                          </m:e>
                          <m:sup>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𝑟</m:t>
                            </m:r>
                          </m:sup>
                        </m:sSup>
                      </m:e>
                    </m:d>
                  </m:oMath>
                </a14:m>
                <a:r>
                  <a:rPr lang="en-US" sz="3600" dirty="0">
                    <a:solidFill>
                      <a:sysClr val="windowText" lastClr="000000"/>
                    </a:solidFill>
                    <a:latin typeface="Garamond" panose="02020404030301010803" pitchFamily="18" charset="0"/>
                  </a:rPr>
                  <a:t> ?</a:t>
                </a:r>
              </a:p>
            </p:txBody>
          </p:sp>
        </mc:Choice>
        <mc:Fallback xmlns="">
          <p:sp>
            <p:nvSpPr>
              <p:cNvPr id="13" name="Rounded Rectangle 12">
                <a:extLst>
                  <a:ext uri="{FF2B5EF4-FFF2-40B4-BE49-F238E27FC236}">
                    <a16:creationId xmlns:a16="http://schemas.microsoft.com/office/drawing/2014/main" id="{46F9896A-6018-7C70-29F3-4708EB2D1057}"/>
                  </a:ext>
                </a:extLst>
              </p:cNvPr>
              <p:cNvSpPr>
                <a:spLocks noRot="1" noChangeAspect="1" noMove="1" noResize="1" noEditPoints="1" noAdjustHandles="1" noChangeArrowheads="1" noChangeShapeType="1" noTextEdit="1"/>
              </p:cNvSpPr>
              <p:nvPr/>
            </p:nvSpPr>
            <p:spPr>
              <a:xfrm>
                <a:off x="1158677" y="4724410"/>
                <a:ext cx="4095019" cy="1595626"/>
              </a:xfrm>
              <a:prstGeom prst="roundRect">
                <a:avLst/>
              </a:prstGeom>
              <a:blipFill>
                <a:blip r:embed="rId9"/>
                <a:stretch>
                  <a:fillRect l="-1212" r="-3939"/>
                </a:stretch>
              </a:blipFill>
              <a:ln w="762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DAA964C-0DD9-649B-74D0-74B80BA3C5FC}"/>
                  </a:ext>
                </a:extLst>
              </p:cNvPr>
              <p:cNvSpPr txBox="1"/>
              <p:nvPr/>
            </p:nvSpPr>
            <p:spPr>
              <a:xfrm>
                <a:off x="8430768" y="3580517"/>
                <a:ext cx="2338832"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1" i="1">
                          <a:latin typeface="Cambria Math" panose="02040503050406030204" pitchFamily="18" charset="0"/>
                        </a:rPr>
                        <m:t>𝒘</m:t>
                      </m:r>
                      <m:r>
                        <a:rPr lang="en-US" sz="4400" i="1">
                          <a:latin typeface="Cambria Math" panose="02040503050406030204" pitchFamily="18" charset="0"/>
                        </a:rPr>
                        <m:t>←</m:t>
                      </m:r>
                      <m:r>
                        <a:rPr lang="en-US" sz="4400" i="1">
                          <a:solidFill>
                            <a:schemeClr val="accent5">
                              <a:lumMod val="75000"/>
                            </a:schemeClr>
                          </a:solidFill>
                          <a:latin typeface="Cambria Math" panose="02040503050406030204" pitchFamily="18" charset="0"/>
                        </a:rPr>
                        <m:t>𝑧</m:t>
                      </m:r>
                      <m:r>
                        <a:rPr lang="en-US" sz="4400" i="1">
                          <a:latin typeface="Cambria Math" panose="02040503050406030204" pitchFamily="18" charset="0"/>
                        </a:rPr>
                        <m:t> </m:t>
                      </m:r>
                      <m:r>
                        <a:rPr lang="en-US" sz="4400" b="1" i="1">
                          <a:latin typeface="Cambria Math" panose="02040503050406030204" pitchFamily="18" charset="0"/>
                        </a:rPr>
                        <m:t>𝝍</m:t>
                      </m:r>
                    </m:oMath>
                  </m:oMathPara>
                </a14:m>
                <a:endParaRPr lang="en-US" sz="4400" i="1" dirty="0">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4DAA964C-0DD9-649B-74D0-74B80BA3C5FC}"/>
                  </a:ext>
                </a:extLst>
              </p:cNvPr>
              <p:cNvSpPr txBox="1">
                <a:spLocks noRot="1" noChangeAspect="1" noMove="1" noResize="1" noEditPoints="1" noAdjustHandles="1" noChangeArrowheads="1" noChangeShapeType="1" noTextEdit="1"/>
              </p:cNvSpPr>
              <p:nvPr/>
            </p:nvSpPr>
            <p:spPr>
              <a:xfrm>
                <a:off x="8430768" y="3580517"/>
                <a:ext cx="2338832" cy="769441"/>
              </a:xfrm>
              <a:prstGeom prst="rect">
                <a:avLst/>
              </a:prstGeom>
              <a:blipFill>
                <a:blip r:embed="rId10"/>
                <a:stretch>
                  <a:fillRect r="-4301" b="-25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ounded Rectangle 20">
                <a:extLst>
                  <a:ext uri="{FF2B5EF4-FFF2-40B4-BE49-F238E27FC236}">
                    <a16:creationId xmlns:a16="http://schemas.microsoft.com/office/drawing/2014/main" id="{47A5F72D-5BE4-7B56-9797-3E0E69DD9A90}"/>
                  </a:ext>
                </a:extLst>
              </p:cNvPr>
              <p:cNvSpPr/>
              <p:nvPr/>
            </p:nvSpPr>
            <p:spPr>
              <a:xfrm>
                <a:off x="592274" y="192365"/>
                <a:ext cx="4454293" cy="824478"/>
              </a:xfrm>
              <a:prstGeom prst="roundRect">
                <a:avLst/>
              </a:prstGeom>
              <a:solidFill>
                <a:schemeClr val="accent6">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alpha val="50000"/>
                      </a:sysClr>
                    </a:solidFill>
                    <a:latin typeface="Garamond" panose="02020404030301010803" pitchFamily="18" charset="0"/>
                  </a:rPr>
                  <a:t>Goal:</a:t>
                </a:r>
                <a:r>
                  <a:rPr lang="en-US" sz="4400" dirty="0">
                    <a:solidFill>
                      <a:sysClr val="windowText" lastClr="000000">
                        <a:alpha val="50000"/>
                      </a:sysClr>
                    </a:solidFill>
                    <a:latin typeface="Garamond" panose="02020404030301010803" pitchFamily="18" charset="0"/>
                  </a:rPr>
                  <a:t> compress </a:t>
                </a:r>
                <a14:m>
                  <m:oMath xmlns:m="http://schemas.openxmlformats.org/officeDocument/2006/math">
                    <m:r>
                      <a:rPr lang="en-US" sz="4400" b="0" i="1" smtClean="0">
                        <a:solidFill>
                          <a:sysClr val="windowText" lastClr="000000">
                            <a:alpha val="50000"/>
                          </a:sysClr>
                        </a:solidFill>
                        <a:latin typeface="Cambria Math" panose="02040503050406030204" pitchFamily="18" charset="0"/>
                      </a:rPr>
                      <m:t>𝑓</m:t>
                    </m:r>
                  </m:oMath>
                </a14:m>
                <a:endParaRPr lang="en-US" sz="4400" dirty="0">
                  <a:solidFill>
                    <a:sysClr val="windowText" lastClr="000000">
                      <a:alpha val="50000"/>
                    </a:sysClr>
                  </a:solidFill>
                  <a:latin typeface="Garamond" panose="02020404030301010803" pitchFamily="18" charset="0"/>
                </a:endParaRPr>
              </a:p>
            </p:txBody>
          </p:sp>
        </mc:Choice>
        <mc:Fallback xmlns="">
          <p:sp>
            <p:nvSpPr>
              <p:cNvPr id="21" name="Rounded Rectangle 20">
                <a:extLst>
                  <a:ext uri="{FF2B5EF4-FFF2-40B4-BE49-F238E27FC236}">
                    <a16:creationId xmlns:a16="http://schemas.microsoft.com/office/drawing/2014/main" id="{47A5F72D-5BE4-7B56-9797-3E0E69DD9A90}"/>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11"/>
                <a:stretch>
                  <a:fillRect l="-1705" t="-10606" b="-303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53411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0" animBg="1"/>
      <p:bldP spid="5" grpId="0"/>
      <p:bldP spid="9" grpId="0"/>
      <p:bldP spid="12" grpId="0" animBg="1"/>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59CA5-52B8-5664-8C8D-B93776131C4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EBC8209-0586-A8D4-20AE-5A0AD1802886}"/>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solidFill>
                            <a:schemeClr val="tx1">
                              <a:alpha val="50000"/>
                            </a:schemeClr>
                          </a:solidFill>
                          <a:latin typeface="Cambria Math" panose="02040503050406030204" pitchFamily="18" charset="0"/>
                        </a:rPr>
                        <m:t>𝑓</m:t>
                      </m:r>
                      <m:d>
                        <m:dPr>
                          <m:ctrlPr>
                            <a:rPr lang="en-US" sz="4400" i="1">
                              <a:solidFill>
                                <a:schemeClr val="tx1">
                                  <a:alpha val="50000"/>
                                </a:schemeClr>
                              </a:solidFill>
                              <a:latin typeface="Cambria Math" panose="02040503050406030204" pitchFamily="18" charset="0"/>
                            </a:rPr>
                          </m:ctrlPr>
                        </m:dPr>
                        <m:e>
                          <m:r>
                            <a:rPr lang="en-US" sz="4400" b="1" i="1">
                              <a:solidFill>
                                <a:schemeClr val="tx1">
                                  <a:alpha val="50000"/>
                                </a:schemeClr>
                              </a:solidFill>
                              <a:latin typeface="Cambria Math" panose="02040503050406030204" pitchFamily="18" charset="0"/>
                            </a:rPr>
                            <m:t>𝒘</m:t>
                          </m:r>
                        </m:e>
                      </m:d>
                      <m:r>
                        <a:rPr lang="en-US" sz="4400" i="1">
                          <a:solidFill>
                            <a:schemeClr val="tx1">
                              <a:alpha val="50000"/>
                            </a:schemeClr>
                          </a:solidFill>
                          <a:latin typeface="Cambria Math" panose="02040503050406030204" pitchFamily="18" charset="0"/>
                        </a:rPr>
                        <m:t>≈</m:t>
                      </m:r>
                      <m:nary>
                        <m:naryPr>
                          <m:chr m:val="∑"/>
                          <m:ctrlPr>
                            <a:rPr lang="en-US" sz="4400" i="1">
                              <a:solidFill>
                                <a:schemeClr val="tx1">
                                  <a:alpha val="50000"/>
                                </a:schemeClr>
                              </a:solidFill>
                              <a:latin typeface="Cambria Math" panose="02040503050406030204" pitchFamily="18" charset="0"/>
                            </a:rPr>
                          </m:ctrlPr>
                        </m:naryPr>
                        <m:sub>
                          <m:r>
                            <m:rPr>
                              <m:brk m:alnAt="7"/>
                            </m:rPr>
                            <a:rPr lang="en-US" sz="4400" i="1">
                              <a:solidFill>
                                <a:schemeClr val="tx1">
                                  <a:alpha val="50000"/>
                                </a:schemeClr>
                              </a:solidFill>
                              <a:latin typeface="Cambria Math" panose="02040503050406030204" pitchFamily="18" charset="0"/>
                            </a:rPr>
                            <m:t>𝑟</m:t>
                          </m:r>
                          <m:r>
                            <a:rPr lang="en-US" sz="4400" i="1">
                              <a:solidFill>
                                <a:schemeClr val="tx1">
                                  <a:alpha val="50000"/>
                                </a:schemeClr>
                              </a:solidFill>
                              <a:latin typeface="Cambria Math" panose="02040503050406030204" pitchFamily="18" charset="0"/>
                            </a:rPr>
                            <m:t>=0</m:t>
                          </m:r>
                        </m:sub>
                        <m:sup>
                          <m:r>
                            <a:rPr lang="en-US" sz="4400" i="1">
                              <a:solidFill>
                                <a:schemeClr val="tx1">
                                  <a:alpha val="50000"/>
                                </a:schemeClr>
                              </a:solidFill>
                              <a:latin typeface="Cambria Math" panose="02040503050406030204" pitchFamily="18" charset="0"/>
                            </a:rPr>
                            <m:t>𝑠</m:t>
                          </m:r>
                        </m:sup>
                        <m:e>
                          <m:d>
                            <m:dPr>
                              <m:begChr m:val="⟨"/>
                              <m:endChr m:val="⟩"/>
                              <m:ctrlPr>
                                <a:rPr lang="en-US" sz="4400" i="1">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 </m:t>
                              </m:r>
                              <m:sSup>
                                <m:sSupPr>
                                  <m:ctrlPr>
                                    <a:rPr lang="en-US" sz="4400" i="1">
                                      <a:solidFill>
                                        <a:schemeClr val="tx1">
                                          <a:alpha val="50000"/>
                                        </a:schemeClr>
                                      </a:solidFill>
                                      <a:latin typeface="Cambria Math" panose="02040503050406030204" pitchFamily="18" charset="0"/>
                                    </a:rPr>
                                  </m:ctrlPr>
                                </m:sSupPr>
                                <m:e>
                                  <m:r>
                                    <a:rPr lang="en-US" sz="4400" b="1" i="1">
                                      <a:solidFill>
                                        <a:schemeClr val="tx1">
                                          <a:alpha val="50000"/>
                                        </a:schemeClr>
                                      </a:solidFill>
                                      <a:latin typeface="Cambria Math" panose="02040503050406030204" pitchFamily="18" charset="0"/>
                                    </a:rPr>
                                    <m:t>𝒘</m:t>
                                  </m:r>
                                </m:e>
                                <m:sup>
                                  <m:r>
                                    <a:rPr lang="en-US" sz="4400" i="1">
                                      <a:solidFill>
                                        <a:schemeClr val="tx1">
                                          <a:alpha val="50000"/>
                                        </a:schemeClr>
                                      </a:solidFill>
                                      <a:latin typeface="Cambria Math" panose="02040503050406030204" pitchFamily="18" charset="0"/>
                                    </a:rPr>
                                    <m:t>⊗</m:t>
                                  </m:r>
                                  <m:r>
                                    <a:rPr lang="en-US" sz="4400" i="1">
                                      <a:solidFill>
                                        <a:schemeClr val="tx1">
                                          <a:alpha val="50000"/>
                                        </a:schemeClr>
                                      </a:solidFill>
                                      <a:latin typeface="Cambria Math" panose="02040503050406030204" pitchFamily="18" charset="0"/>
                                    </a:rPr>
                                    <m:t>𝑟</m:t>
                                  </m:r>
                                </m:sup>
                              </m:sSup>
                            </m:e>
                          </m:d>
                        </m:e>
                      </m:nary>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4EBC8209-0586-A8D4-20AE-5A0AD1802886}"/>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p:sp>
        <p:nvSpPr>
          <p:cNvPr id="17" name="Left Brace 16">
            <a:extLst>
              <a:ext uri="{FF2B5EF4-FFF2-40B4-BE49-F238E27FC236}">
                <a16:creationId xmlns:a16="http://schemas.microsoft.com/office/drawing/2014/main" id="{FBC6F231-656D-951A-A7B5-22B5A38E17B1}"/>
              </a:ext>
            </a:extLst>
          </p:cNvPr>
          <p:cNvSpPr/>
          <p:nvPr/>
        </p:nvSpPr>
        <p:spPr>
          <a:xfrm rot="16200000">
            <a:off x="4035048" y="1562516"/>
            <a:ext cx="866458" cy="2524178"/>
          </a:xfrm>
          <a:prstGeom prst="leftBrace">
            <a:avLst>
              <a:gd name="adj1" fmla="val 36581"/>
              <a:gd name="adj2" fmla="val 46778"/>
            </a:avLst>
          </a:prstGeom>
          <a:ln w="76200">
            <a:solidFill>
              <a:srgbClr val="00B050">
                <a:alpha val="50000"/>
              </a:srgb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solidFill>
                <a:schemeClr val="tx1">
                  <a:alpha val="50000"/>
                </a:schemeClr>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1CB700D-F366-C354-9CC4-F6B75910F369}"/>
                  </a:ext>
                </a:extLst>
              </p:cNvPr>
              <p:cNvSpPr txBox="1"/>
              <p:nvPr/>
            </p:nvSpPr>
            <p:spPr>
              <a:xfrm>
                <a:off x="798236" y="3281887"/>
                <a:ext cx="4815903" cy="866456"/>
              </a:xfrm>
              <a:prstGeom prst="rect">
                <a:avLst/>
              </a:prstGeom>
              <a:noFill/>
              <a:ln w="76200">
                <a:solidFill>
                  <a:srgbClr val="00B050">
                    <a:alpha val="50000"/>
                  </a:srgb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smtClean="0">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m:t>
                          </m:r>
                          <m:sSup>
                            <m:sSupPr>
                              <m:ctrlPr>
                                <a:rPr lang="en-US" sz="4400" b="1" i="1" smtClean="0">
                                  <a:solidFill>
                                    <a:srgbClr val="FF0000">
                                      <a:alpha val="50000"/>
                                    </a:srgbClr>
                                  </a:solidFill>
                                  <a:latin typeface="Cambria Math" panose="02040503050406030204" pitchFamily="18" charset="0"/>
                                </a:rPr>
                              </m:ctrlPr>
                            </m:sSupPr>
                            <m:e>
                              <m:r>
                                <a:rPr lang="en-US" sz="4400" b="1" i="1" smtClean="0">
                                  <a:solidFill>
                                    <a:schemeClr val="tx1">
                                      <a:alpha val="50000"/>
                                    </a:schemeClr>
                                  </a:solidFill>
                                  <a:latin typeface="Cambria Math" panose="02040503050406030204" pitchFamily="18" charset="0"/>
                                </a:rPr>
                                <m:t>𝝍</m:t>
                              </m:r>
                            </m:e>
                            <m:sup>
                              <m:r>
                                <a:rPr lang="en-US" sz="4400" i="1" smtClean="0">
                                  <a:solidFill>
                                    <a:schemeClr val="tx1">
                                      <a:alpha val="50000"/>
                                    </a:schemeClr>
                                  </a:solidFill>
                                  <a:latin typeface="Cambria Math" panose="02040503050406030204" pitchFamily="18" charset="0"/>
                                </a:rPr>
                                <m:t>⊗</m:t>
                              </m:r>
                              <m:r>
                                <a:rPr lang="en-US" sz="4400" i="1" smtClean="0">
                                  <a:solidFill>
                                    <a:schemeClr val="tx1">
                                      <a:alpha val="50000"/>
                                    </a:schemeClr>
                                  </a:solidFill>
                                  <a:latin typeface="Cambria Math" panose="02040503050406030204" pitchFamily="18" charset="0"/>
                                </a:rPr>
                                <m:t>𝑟</m:t>
                              </m:r>
                            </m:sup>
                          </m:sSup>
                        </m:e>
                      </m:d>
                      <m:r>
                        <a:rPr lang="en-US" sz="4400" b="0" i="1" smtClean="0">
                          <a:solidFill>
                            <a:schemeClr val="tx1">
                              <a:alpha val="50000"/>
                            </a:schemeClr>
                          </a:solidFill>
                          <a:latin typeface="Cambria Math" panose="02040503050406030204" pitchFamily="18" charset="0"/>
                        </a:rPr>
                        <m:t> </m:t>
                      </m:r>
                      <m:sSup>
                        <m:sSupPr>
                          <m:ctrlPr>
                            <a:rPr lang="en-US" sz="4400" b="1" i="1" smtClean="0">
                              <a:solidFill>
                                <a:schemeClr val="tx1">
                                  <a:alpha val="50000"/>
                                </a:schemeClr>
                              </a:solidFill>
                              <a:latin typeface="Cambria Math" panose="02040503050406030204" pitchFamily="18" charset="0"/>
                            </a:rPr>
                          </m:ctrlPr>
                        </m:sSupPr>
                        <m:e>
                          <m:d>
                            <m:dPr>
                              <m:begChr m:val="⟨"/>
                              <m:endChr m:val="⟩"/>
                              <m:ctrlPr>
                                <a:rPr lang="en-US" sz="4400" i="1">
                                  <a:solidFill>
                                    <a:schemeClr val="tx1">
                                      <a:alpha val="50000"/>
                                    </a:schemeClr>
                                  </a:solidFill>
                                  <a:latin typeface="Cambria Math" panose="02040503050406030204" pitchFamily="18" charset="0"/>
                                </a:rPr>
                              </m:ctrlPr>
                            </m:dPr>
                            <m:e>
                              <m:r>
                                <a:rPr lang="en-US" sz="4400" b="1" i="1" smtClean="0">
                                  <a:solidFill>
                                    <a:schemeClr val="tx1">
                                      <a:alpha val="50000"/>
                                    </a:schemeClr>
                                  </a:solidFill>
                                  <a:latin typeface="Cambria Math" panose="02040503050406030204" pitchFamily="18" charset="0"/>
                                </a:rPr>
                                <m:t>𝝍</m:t>
                              </m:r>
                              <m:r>
                                <a:rPr lang="en-US" sz="4400" i="1">
                                  <a:solidFill>
                                    <a:schemeClr val="tx1">
                                      <a:alpha val="50000"/>
                                    </a:schemeClr>
                                  </a:solidFill>
                                  <a:latin typeface="Cambria Math" panose="02040503050406030204" pitchFamily="18" charset="0"/>
                                </a:rPr>
                                <m:t>, </m:t>
                              </m:r>
                              <m:r>
                                <a:rPr lang="en-US" sz="4400" b="1" i="1" smtClean="0">
                                  <a:solidFill>
                                    <a:schemeClr val="tx1">
                                      <a:alpha val="50000"/>
                                    </a:schemeClr>
                                  </a:solidFill>
                                  <a:latin typeface="Cambria Math" panose="02040503050406030204" pitchFamily="18" charset="0"/>
                                </a:rPr>
                                <m:t>𝒘</m:t>
                              </m:r>
                            </m:e>
                          </m:d>
                        </m:e>
                        <m:sup>
                          <m:r>
                            <a:rPr lang="en-US" sz="4400" b="0" i="1" smtClean="0">
                              <a:solidFill>
                                <a:schemeClr val="tx1">
                                  <a:alpha val="50000"/>
                                </a:schemeClr>
                              </a:solidFill>
                              <a:latin typeface="Cambria Math" panose="02040503050406030204" pitchFamily="18" charset="0"/>
                            </a:rPr>
                            <m:t>𝑟</m:t>
                          </m:r>
                        </m:sup>
                      </m:sSup>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91CB700D-F366-C354-9CC4-F6B75910F369}"/>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4"/>
                <a:stretch>
                  <a:fillRect b="-13158"/>
                </a:stretch>
              </a:blipFill>
              <a:ln w="76200">
                <a:solidFill>
                  <a:srgbClr val="00B050">
                    <a:alpha val="50000"/>
                  </a:srgbClr>
                </a:solidFill>
              </a:ln>
            </p:spPr>
            <p:txBody>
              <a:bodyPr/>
              <a:lstStyle/>
              <a:p>
                <a:r>
                  <a:rPr lang="en-US">
                    <a:noFill/>
                  </a:rPr>
                  <a:t> </a:t>
                </a:r>
              </a:p>
            </p:txBody>
          </p:sp>
        </mc:Fallback>
      </mc:AlternateContent>
      <p:pic>
        <p:nvPicPr>
          <p:cNvPr id="2" name="Graphic 1" descr="Lightbulb with solid fill">
            <a:extLst>
              <a:ext uri="{FF2B5EF4-FFF2-40B4-BE49-F238E27FC236}">
                <a16:creationId xmlns:a16="http://schemas.microsoft.com/office/drawing/2014/main" id="{7E55ACD7-7F45-40F7-5C1D-7CEBA924FE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747AE87-D2C3-AE9A-4794-43FF4125798F}"/>
                  </a:ext>
                </a:extLst>
              </p:cNvPr>
              <p:cNvSpPr txBox="1"/>
              <p:nvPr/>
            </p:nvSpPr>
            <p:spPr>
              <a:xfrm>
                <a:off x="6507936" y="365126"/>
                <a:ext cx="5563986" cy="1446550"/>
              </a:xfrm>
              <a:prstGeom prst="rect">
                <a:avLst/>
              </a:prstGeom>
              <a:noFill/>
            </p:spPr>
            <p:txBody>
              <a:bodyPr wrap="square" rtlCol="0">
                <a:spAutoFit/>
              </a:bodyPr>
              <a:lstStyle/>
              <a:p>
                <a:r>
                  <a:rPr lang="en-US" sz="4400" dirty="0">
                    <a:latin typeface="Garamond" panose="02020404030301010803" pitchFamily="18" charset="0"/>
                  </a:rPr>
                  <a:t>Compute </a:t>
                </a:r>
                <a14:m>
                  <m:oMath xmlns:m="http://schemas.openxmlformats.org/officeDocument/2006/math">
                    <m:r>
                      <a:rPr lang="en-US" sz="4400" b="0" i="1" smtClean="0">
                        <a:latin typeface="Cambria Math" panose="02040503050406030204" pitchFamily="18" charset="0"/>
                      </a:rPr>
                      <m:t>𝑓</m:t>
                    </m:r>
                    <m:d>
                      <m:dPr>
                        <m:ctrlPr>
                          <a:rPr lang="en-US" sz="4400" b="0" i="1" smtClean="0">
                            <a:latin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rPr>
                          <m:t>𝑧</m:t>
                        </m:r>
                        <m:r>
                          <a:rPr lang="en-US" sz="4400" b="1" i="1" smtClean="0">
                            <a:latin typeface="Cambria Math" panose="02040503050406030204" pitchFamily="18" charset="0"/>
                          </a:rPr>
                          <m:t> </m:t>
                        </m:r>
                        <m:r>
                          <a:rPr lang="en-US" sz="4400" b="1" i="1" smtClean="0">
                            <a:solidFill>
                              <a:schemeClr val="tx1"/>
                            </a:solidFill>
                            <a:latin typeface="Cambria Math" panose="02040503050406030204" pitchFamily="18" charset="0"/>
                          </a:rPr>
                          <m:t>𝝍</m:t>
                        </m:r>
                      </m:e>
                    </m:d>
                  </m:oMath>
                </a14:m>
                <a:endParaRPr lang="en-US" sz="4400" b="0" dirty="0">
                  <a:latin typeface="Garamond" panose="02020404030301010803" pitchFamily="18" charset="0"/>
                </a:endParaRPr>
              </a:p>
              <a:p>
                <a:r>
                  <a:rPr lang="en-US" sz="4400" dirty="0">
                    <a:latin typeface="Garamond" panose="02020404030301010803" pitchFamily="18" charset="0"/>
                  </a:rPr>
                  <a:t> over </a:t>
                </a:r>
                <a14:m>
                  <m:oMath xmlns:m="http://schemas.openxmlformats.org/officeDocument/2006/math">
                    <m:r>
                      <a:rPr lang="en-US" sz="4400" b="0" i="1" smtClean="0">
                        <a:latin typeface="Cambria Math" panose="02040503050406030204" pitchFamily="18" charset="0"/>
                      </a:rPr>
                      <m:t>𝑅</m:t>
                    </m:r>
                    <m:r>
                      <a:rPr lang="en-US" sz="4400" b="0" i="1" smtClean="0">
                        <a:latin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ℂ</m:t>
                    </m:r>
                    <m:d>
                      <m:dPr>
                        <m:begChr m:val="["/>
                        <m:endChr m:val="]"/>
                        <m:ctrlPr>
                          <a:rPr lang="en-US" sz="4400" b="0" i="1" smtClean="0">
                            <a:latin typeface="Cambria Math" panose="02040503050406030204" pitchFamily="18" charset="0"/>
                            <a:ea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d>
                    <m:r>
                      <a:rPr lang="en-US" sz="4400" b="0" i="1" smtClean="0">
                        <a:latin typeface="Cambria Math" panose="02040503050406030204" pitchFamily="18" charset="0"/>
                        <a:ea typeface="Cambria Math" panose="02040503050406030204" pitchFamily="18" charset="0"/>
                      </a:rPr>
                      <m:t>/</m:t>
                    </m:r>
                    <m:d>
                      <m:dPr>
                        <m:ctrlPr>
                          <a:rPr lang="en-US" sz="4400" b="0" i="1" smtClean="0">
                            <a:latin typeface="Cambria Math" panose="02040503050406030204" pitchFamily="18" charset="0"/>
                            <a:ea typeface="Cambria Math" panose="02040503050406030204" pitchFamily="18" charset="0"/>
                          </a:rPr>
                        </m:ctrlPr>
                      </m:dPr>
                      <m:e>
                        <m:sSup>
                          <m:sSupPr>
                            <m:ctrlPr>
                              <a:rPr lang="en-US" sz="4400" b="0" i="1" smtClean="0">
                                <a:latin typeface="Cambria Math" panose="02040503050406030204" pitchFamily="18" charset="0"/>
                                <a:ea typeface="Cambria Math" panose="02040503050406030204" pitchFamily="18" charset="0"/>
                              </a:rPr>
                            </m:ctrlPr>
                          </m:sSup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sup>
                            <m:r>
                              <a:rPr lang="en-US" sz="4400" b="0" i="1" smtClean="0">
                                <a:latin typeface="Cambria Math" panose="02040503050406030204" pitchFamily="18" charset="0"/>
                                <a:ea typeface="Cambria Math" panose="02040503050406030204" pitchFamily="18" charset="0"/>
                              </a:rPr>
                              <m:t>𝑠</m:t>
                            </m:r>
                            <m:r>
                              <a:rPr lang="en-US" sz="4400" b="0" i="1" smtClean="0">
                                <a:latin typeface="Cambria Math" panose="02040503050406030204" pitchFamily="18" charset="0"/>
                                <a:ea typeface="Cambria Math" panose="02040503050406030204" pitchFamily="18" charset="0"/>
                              </a:rPr>
                              <m:t>+1</m:t>
                            </m:r>
                          </m:sup>
                        </m:sSup>
                      </m:e>
                    </m:d>
                  </m:oMath>
                </a14:m>
                <a:r>
                  <a:rPr lang="en-US" sz="4400" dirty="0">
                    <a:latin typeface="Garamond" panose="02020404030301010803" pitchFamily="18" charset="0"/>
                  </a:rPr>
                  <a:t>.</a:t>
                </a:r>
              </a:p>
            </p:txBody>
          </p:sp>
        </mc:Choice>
        <mc:Fallback xmlns="">
          <p:sp>
            <p:nvSpPr>
              <p:cNvPr id="3" name="TextBox 2">
                <a:extLst>
                  <a:ext uri="{FF2B5EF4-FFF2-40B4-BE49-F238E27FC236}">
                    <a16:creationId xmlns:a16="http://schemas.microsoft.com/office/drawing/2014/main" id="{7747AE87-D2C3-AE9A-4794-43FF4125798F}"/>
                  </a:ext>
                </a:extLst>
              </p:cNvPr>
              <p:cNvSpPr txBox="1">
                <a:spLocks noRot="1" noChangeAspect="1" noMove="1" noResize="1" noEditPoints="1" noAdjustHandles="1" noChangeArrowheads="1" noChangeShapeType="1" noTextEdit="1"/>
              </p:cNvSpPr>
              <p:nvPr/>
            </p:nvSpPr>
            <p:spPr>
              <a:xfrm>
                <a:off x="6507936" y="365126"/>
                <a:ext cx="5563986" cy="1446550"/>
              </a:xfrm>
              <a:prstGeom prst="rect">
                <a:avLst/>
              </a:prstGeom>
              <a:blipFill>
                <a:blip r:embed="rId6"/>
                <a:stretch>
                  <a:fillRect l="-4556" t="-7826" r="-4328" b="-20000"/>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3686788B-42F9-518E-949E-087CE65C8EA1}"/>
              </a:ext>
            </a:extLst>
          </p:cNvPr>
          <p:cNvSpPr/>
          <p:nvPr/>
        </p:nvSpPr>
        <p:spPr>
          <a:xfrm>
            <a:off x="5253696" y="1811676"/>
            <a:ext cx="7120997" cy="5286547"/>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06A17B1-CC2D-F338-2078-B40F65F0CF39}"/>
                  </a:ext>
                </a:extLst>
              </p:cNvPr>
              <p:cNvSpPr txBox="1"/>
              <p:nvPr/>
            </p:nvSpPr>
            <p:spPr>
              <a:xfrm>
                <a:off x="5209381" y="4551573"/>
                <a:ext cx="6982619"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r>
                        <a:rPr lang="en-US" sz="4400" b="0" i="1" smtClean="0">
                          <a:latin typeface="Cambria Math" panose="02040503050406030204" pitchFamily="18" charset="0"/>
                        </a:rPr>
                        <m:t>(</m:t>
                      </m:r>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 </m:t>
                      </m:r>
                      <m:r>
                        <a:rPr lang="en-US" sz="4400" b="1" i="1" smtClean="0">
                          <a:solidFill>
                            <a:schemeClr val="tx1"/>
                          </a:solidFill>
                          <a:latin typeface="Cambria Math" panose="02040503050406030204" pitchFamily="18" charset="0"/>
                        </a:rPr>
                        <m:t>𝝍</m:t>
                      </m:r>
                      <m:r>
                        <a:rPr lang="en-US" sz="4400" b="0" i="1" smtClean="0">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smtClean="0">
                                  <a:solidFill>
                                    <a:srgbClr val="FF0000"/>
                                  </a:solidFill>
                                  <a:latin typeface="Cambria Math" panose="02040503050406030204" pitchFamily="18" charset="0"/>
                                </a:rPr>
                              </m:ctrlPr>
                            </m:dPr>
                            <m:e>
                              <m:sSup>
                                <m:sSupPr>
                                  <m:ctrlPr>
                                    <a:rPr lang="en-US" sz="4400" i="1">
                                      <a:solidFill>
                                        <a:srgbClr val="FF0000"/>
                                      </a:solidFill>
                                      <a:latin typeface="Cambria Math" panose="02040503050406030204" pitchFamily="18" charset="0"/>
                                    </a:rPr>
                                  </m:ctrlPr>
                                </m:sSupPr>
                                <m:e>
                                  <m:r>
                                    <a:rPr lang="en-US" sz="4400" b="1">
                                      <a:solidFill>
                                        <a:srgbClr val="FF0000"/>
                                      </a:solidFill>
                                      <a:latin typeface="Cambria Math" panose="02040503050406030204" pitchFamily="18" charset="0"/>
                                    </a:rPr>
                                    <m:t>𝐓</m:t>
                                  </m:r>
                                </m:e>
                                <m:sup>
                                  <m:d>
                                    <m:dPr>
                                      <m:ctrlPr>
                                        <a:rPr lang="en-US" sz="4400" i="1">
                                          <a:solidFill>
                                            <a:srgbClr val="FF0000"/>
                                          </a:solidFill>
                                          <a:latin typeface="Cambria Math" panose="02040503050406030204" pitchFamily="18" charset="0"/>
                                        </a:rPr>
                                      </m:ctrlPr>
                                    </m:dPr>
                                    <m:e>
                                      <m:r>
                                        <a:rPr lang="en-US" sz="4400" i="1">
                                          <a:solidFill>
                                            <a:srgbClr val="FF0000"/>
                                          </a:solidFill>
                                          <a:latin typeface="Cambria Math" panose="02040503050406030204" pitchFamily="18" charset="0"/>
                                        </a:rPr>
                                        <m:t>𝑟</m:t>
                                      </m:r>
                                    </m:e>
                                  </m:d>
                                </m:sup>
                              </m:sSup>
                              <m:r>
                                <a:rPr lang="en-US" sz="4400" i="1">
                                  <a:solidFill>
                                    <a:srgbClr val="FF0000"/>
                                  </a:solidFill>
                                  <a:latin typeface="Cambria Math" panose="02040503050406030204" pitchFamily="18" charset="0"/>
                                </a:rPr>
                                <m:t>, </m:t>
                              </m:r>
                              <m:sSup>
                                <m:sSupPr>
                                  <m:ctrlPr>
                                    <a:rPr lang="en-US" sz="4400" i="1">
                                      <a:solidFill>
                                        <a:srgbClr val="FF0000"/>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𝝍</m:t>
                                  </m:r>
                                </m:e>
                                <m:sup>
                                  <m:r>
                                    <a:rPr lang="en-US" sz="4400" i="1">
                                      <a:solidFill>
                                        <a:srgbClr val="FF0000"/>
                                      </a:solidFill>
                                      <a:latin typeface="Cambria Math" panose="02040503050406030204" pitchFamily="18" charset="0"/>
                                    </a:rPr>
                                    <m:t>⊗</m:t>
                                  </m:r>
                                  <m:r>
                                    <a:rPr lang="en-US" sz="4400" i="1">
                                      <a:solidFill>
                                        <a:srgbClr val="FF0000"/>
                                      </a:solidFill>
                                      <a:latin typeface="Cambria Math" panose="02040503050406030204" pitchFamily="18" charset="0"/>
                                    </a:rPr>
                                    <m:t>𝑟</m:t>
                                  </m:r>
                                </m:sup>
                              </m:sSup>
                            </m:e>
                          </m:d>
                          <m:r>
                            <a:rPr lang="en-US" sz="4400" b="0" i="1" smtClean="0">
                              <a:latin typeface="Cambria Math" panose="02040503050406030204" pitchFamily="18" charset="0"/>
                            </a:rPr>
                            <m:t> </m:t>
                          </m:r>
                          <m:sSup>
                            <m:sSupPr>
                              <m:ctrlPr>
                                <a:rPr lang="en-US" sz="4400" b="0" i="1" smtClean="0">
                                  <a:latin typeface="Cambria Math" panose="02040503050406030204" pitchFamily="18" charset="0"/>
                                </a:rPr>
                              </m:ctrlPr>
                            </m:sSupPr>
                            <m:e>
                              <m:r>
                                <a:rPr lang="en-US" sz="4400" b="0" i="1" smtClean="0">
                                  <a:solidFill>
                                    <a:schemeClr val="accent5">
                                      <a:lumMod val="75000"/>
                                    </a:schemeClr>
                                  </a:solidFill>
                                  <a:latin typeface="Cambria Math" panose="02040503050406030204" pitchFamily="18" charset="0"/>
                                </a:rPr>
                                <m:t>𝑧</m:t>
                              </m:r>
                            </m:e>
                            <m:sup>
                              <m:r>
                                <a:rPr lang="en-US" sz="4400" b="0" i="1" smtClean="0">
                                  <a:latin typeface="Cambria Math" panose="02040503050406030204" pitchFamily="18" charset="0"/>
                                </a:rPr>
                                <m:t>𝑟</m:t>
                              </m:r>
                            </m:sup>
                          </m:sSup>
                        </m:e>
                      </m:nary>
                    </m:oMath>
                  </m:oMathPara>
                </a14:m>
                <a:endParaRPr lang="en-US" sz="4400" i="1" dirty="0">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B06A17B1-CC2D-F338-2078-B40F65F0CF39}"/>
                  </a:ext>
                </a:extLst>
              </p:cNvPr>
              <p:cNvSpPr txBox="1">
                <a:spLocks noRot="1" noChangeAspect="1" noMove="1" noResize="1" noEditPoints="1" noAdjustHandles="1" noChangeArrowheads="1" noChangeShapeType="1" noTextEdit="1"/>
              </p:cNvSpPr>
              <p:nvPr/>
            </p:nvSpPr>
            <p:spPr>
              <a:xfrm>
                <a:off x="5209381" y="4551573"/>
                <a:ext cx="6982619" cy="1941301"/>
              </a:xfrm>
              <a:prstGeom prst="rect">
                <a:avLst/>
              </a:prstGeom>
              <a:blipFill>
                <a:blip r:embed="rId7"/>
                <a:stretch>
                  <a:fillRect l="-181"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9C43518-576A-6C38-4BFD-B1137E386D8D}"/>
                  </a:ext>
                </a:extLst>
              </p:cNvPr>
              <p:cNvSpPr txBox="1"/>
              <p:nvPr/>
            </p:nvSpPr>
            <p:spPr>
              <a:xfrm>
                <a:off x="6385488" y="1758235"/>
                <a:ext cx="5806512" cy="17359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rPr>
                        <m:t>𝑓</m:t>
                      </m:r>
                      <m:d>
                        <m:dPr>
                          <m:ctrlPr>
                            <a:rPr lang="en-US" sz="4400" i="1">
                              <a:latin typeface="Cambria Math" panose="02040503050406030204" pitchFamily="18" charset="0"/>
                            </a:rPr>
                          </m:ctrlPr>
                        </m:dPr>
                        <m:e>
                          <m:r>
                            <a:rPr lang="en-US" sz="4400" b="1" i="1" smtClean="0">
                              <a:latin typeface="Cambria Math" panose="02040503050406030204" pitchFamily="18" charset="0"/>
                            </a:rPr>
                            <m:t>𝒘</m:t>
                          </m:r>
                        </m:e>
                      </m:d>
                      <m:r>
                        <a:rPr lang="en-US" sz="4400" b="0" i="1" smtClean="0">
                          <a:latin typeface="Cambria Math" panose="02040503050406030204" pitchFamily="18" charset="0"/>
                        </a:rPr>
                        <m:t>=</m:t>
                      </m:r>
                      <m:nary>
                        <m:naryPr>
                          <m:chr m:val="∑"/>
                          <m:supHide m:val="on"/>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b="0" i="1" smtClean="0">
                              <a:latin typeface="Cambria Math" panose="02040503050406030204" pitchFamily="18" charset="0"/>
                            </a:rPr>
                            <m:t>≥</m:t>
                          </m:r>
                          <m:r>
                            <a:rPr lang="en-US" sz="4400" i="1">
                              <a:latin typeface="Cambria Math" panose="02040503050406030204" pitchFamily="18" charset="0"/>
                            </a:rPr>
                            <m:t>0</m:t>
                          </m:r>
                        </m:sub>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smtClean="0">
                                      <a:solidFill>
                                        <a:schemeClr val="tx1"/>
                                      </a:solidFill>
                                      <a:latin typeface="Cambria Math" panose="02040503050406030204" pitchFamily="18" charset="0"/>
                                    </a:rPr>
                                  </m:ctrlPr>
                                </m:sSupPr>
                                <m:e>
                                  <m:r>
                                    <a:rPr lang="en-US" sz="4400" b="1" i="1" smtClean="0">
                                      <a:solidFill>
                                        <a:schemeClr val="tx1"/>
                                      </a:solidFill>
                                      <a:latin typeface="Cambria Math" panose="02040503050406030204" pitchFamily="18" charset="0"/>
                                    </a:rPr>
                                    <m:t>𝒘</m:t>
                                  </m:r>
                                </m:e>
                                <m:sup>
                                  <m:r>
                                    <a:rPr lang="en-US" sz="4400" i="1">
                                      <a:solidFill>
                                        <a:schemeClr val="tx1"/>
                                      </a:solidFill>
                                      <a:latin typeface="Cambria Math" panose="02040503050406030204" pitchFamily="18" charset="0"/>
                                    </a:rPr>
                                    <m:t>⊗</m:t>
                                  </m:r>
                                  <m:r>
                                    <a:rPr lang="en-US" sz="4400" i="1">
                                      <a:solidFill>
                                        <a:schemeClr val="tx1"/>
                                      </a:solidFill>
                                      <a:latin typeface="Cambria Math" panose="02040503050406030204" pitchFamily="18" charset="0"/>
                                    </a:rPr>
                                    <m:t>𝑟</m:t>
                                  </m:r>
                                </m:sup>
                              </m:sSup>
                            </m:e>
                          </m:d>
                          <m:r>
                            <a:rPr lang="en-US" sz="4400" b="0" i="1" smtClean="0">
                              <a:latin typeface="Cambria Math" panose="02040503050406030204" pitchFamily="18" charset="0"/>
                            </a:rPr>
                            <m:t> </m:t>
                          </m:r>
                        </m:e>
                      </m:nary>
                    </m:oMath>
                  </m:oMathPara>
                </a14:m>
                <a:endParaRPr lang="en-US" sz="4400" i="1" dirty="0">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49C43518-576A-6C38-4BFD-B1137E386D8D}"/>
                  </a:ext>
                </a:extLst>
              </p:cNvPr>
              <p:cNvSpPr txBox="1">
                <a:spLocks noRot="1" noChangeAspect="1" noMove="1" noResize="1" noEditPoints="1" noAdjustHandles="1" noChangeArrowheads="1" noChangeShapeType="1" noTextEdit="1"/>
              </p:cNvSpPr>
              <p:nvPr/>
            </p:nvSpPr>
            <p:spPr>
              <a:xfrm>
                <a:off x="6385488" y="1758235"/>
                <a:ext cx="5806512" cy="1735924"/>
              </a:xfrm>
              <a:prstGeom prst="rect">
                <a:avLst/>
              </a:prstGeom>
              <a:blipFill>
                <a:blip r:embed="rId8"/>
                <a:stretch>
                  <a:fillRect l="-1961" t="-137681" r="-2179" b="-189855"/>
                </a:stretch>
              </a:blipFill>
            </p:spPr>
            <p:txBody>
              <a:bodyPr/>
              <a:lstStyle/>
              <a:p>
                <a:r>
                  <a:rPr lang="en-US">
                    <a:noFill/>
                  </a:rPr>
                  <a:t> </a:t>
                </a:r>
              </a:p>
            </p:txBody>
          </p:sp>
        </mc:Fallback>
      </mc:AlternateContent>
      <p:sp>
        <p:nvSpPr>
          <p:cNvPr id="12" name="Down Arrow 11">
            <a:extLst>
              <a:ext uri="{FF2B5EF4-FFF2-40B4-BE49-F238E27FC236}">
                <a16:creationId xmlns:a16="http://schemas.microsoft.com/office/drawing/2014/main" id="{A285A33B-DD91-33B7-FFFD-007852762E3A}"/>
              </a:ext>
            </a:extLst>
          </p:cNvPr>
          <p:cNvSpPr/>
          <p:nvPr/>
        </p:nvSpPr>
        <p:spPr>
          <a:xfrm>
            <a:off x="7525512" y="3494159"/>
            <a:ext cx="740664" cy="1014838"/>
          </a:xfrm>
          <a:prstGeom prst="downArrow">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FC7D3536-5F51-7BE6-508A-3E5D80885A64}"/>
                  </a:ext>
                </a:extLst>
              </p:cNvPr>
              <p:cNvSpPr/>
              <p:nvPr/>
            </p:nvSpPr>
            <p:spPr>
              <a:xfrm>
                <a:off x="1158677" y="4724410"/>
                <a:ext cx="4095019" cy="1595626"/>
              </a:xfrm>
              <a:prstGeom prst="roundRect">
                <a:avLst/>
              </a:prstGeom>
              <a:noFill/>
              <a:ln w="7620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600" dirty="0">
                    <a:solidFill>
                      <a:sysClr val="windowText" lastClr="000000"/>
                    </a:solidFill>
                    <a:latin typeface="Garamond" panose="02020404030301010803" pitchFamily="18" charset="0"/>
                  </a:rPr>
                  <a:t>How do we compute </a:t>
                </a:r>
                <a14:m>
                  <m:oMath xmlns:m="http://schemas.openxmlformats.org/officeDocument/2006/math">
                    <m:d>
                      <m:dPr>
                        <m:begChr m:val="⟨"/>
                        <m:endChr m:val="⟩"/>
                        <m:ctrlPr>
                          <a:rPr lang="en-US" sz="3600" i="1" smtClean="0">
                            <a:solidFill>
                              <a:srgbClr val="FF0000"/>
                            </a:solidFill>
                            <a:latin typeface="Cambria Math" panose="02040503050406030204" pitchFamily="18" charset="0"/>
                          </a:rPr>
                        </m:ctrlPr>
                      </m:dPr>
                      <m:e>
                        <m:sSup>
                          <m:sSupPr>
                            <m:ctrlPr>
                              <a:rPr lang="en-US" sz="3600" i="1">
                                <a:solidFill>
                                  <a:srgbClr val="FF0000"/>
                                </a:solidFill>
                                <a:latin typeface="Cambria Math" panose="02040503050406030204" pitchFamily="18" charset="0"/>
                              </a:rPr>
                            </m:ctrlPr>
                          </m:sSupPr>
                          <m:e>
                            <m:r>
                              <a:rPr lang="en-US" sz="3600" b="1">
                                <a:solidFill>
                                  <a:srgbClr val="FF0000"/>
                                </a:solidFill>
                                <a:latin typeface="Cambria Math" panose="02040503050406030204" pitchFamily="18" charset="0"/>
                              </a:rPr>
                              <m:t>𝐓</m:t>
                            </m:r>
                          </m:e>
                          <m:sup>
                            <m:d>
                              <m:dPr>
                                <m:ctrlPr>
                                  <a:rPr lang="en-US" sz="3600" i="1">
                                    <a:solidFill>
                                      <a:srgbClr val="FF0000"/>
                                    </a:solidFill>
                                    <a:latin typeface="Cambria Math" panose="02040503050406030204" pitchFamily="18" charset="0"/>
                                  </a:rPr>
                                </m:ctrlPr>
                              </m:dPr>
                              <m:e>
                                <m:r>
                                  <a:rPr lang="en-US" sz="3600" i="1">
                                    <a:solidFill>
                                      <a:srgbClr val="FF0000"/>
                                    </a:solidFill>
                                    <a:latin typeface="Cambria Math" panose="02040503050406030204" pitchFamily="18" charset="0"/>
                                  </a:rPr>
                                  <m:t>𝑟</m:t>
                                </m:r>
                              </m:e>
                            </m:d>
                          </m:sup>
                        </m:sSup>
                        <m:r>
                          <a:rPr lang="en-US" sz="3600" i="1">
                            <a:solidFill>
                              <a:srgbClr val="FF0000"/>
                            </a:solidFill>
                            <a:latin typeface="Cambria Math" panose="02040503050406030204" pitchFamily="18" charset="0"/>
                          </a:rPr>
                          <m:t>,</m:t>
                        </m:r>
                        <m:sSup>
                          <m:sSupPr>
                            <m:ctrlPr>
                              <a:rPr lang="en-US" sz="3600" b="1" i="1" smtClean="0">
                                <a:solidFill>
                                  <a:srgbClr val="FF0000"/>
                                </a:solidFill>
                                <a:latin typeface="Cambria Math" panose="02040503050406030204" pitchFamily="18" charset="0"/>
                              </a:rPr>
                            </m:ctrlPr>
                          </m:sSupPr>
                          <m:e>
                            <m:r>
                              <a:rPr lang="en-US" sz="3600" b="1" i="1" smtClean="0">
                                <a:solidFill>
                                  <a:srgbClr val="FF0000"/>
                                </a:solidFill>
                                <a:latin typeface="Cambria Math" panose="02040503050406030204" pitchFamily="18" charset="0"/>
                              </a:rPr>
                              <m:t>𝝍</m:t>
                            </m:r>
                          </m:e>
                          <m:sup>
                            <m:r>
                              <a:rPr lang="en-US" sz="3600" i="1">
                                <a:solidFill>
                                  <a:srgbClr val="FF0000"/>
                                </a:solidFill>
                                <a:latin typeface="Cambria Math" panose="02040503050406030204" pitchFamily="18" charset="0"/>
                              </a:rPr>
                              <m:t>⊗</m:t>
                            </m:r>
                            <m:r>
                              <a:rPr lang="en-US" sz="3600" i="1">
                                <a:solidFill>
                                  <a:srgbClr val="FF0000"/>
                                </a:solidFill>
                                <a:latin typeface="Cambria Math" panose="02040503050406030204" pitchFamily="18" charset="0"/>
                              </a:rPr>
                              <m:t>𝑟</m:t>
                            </m:r>
                          </m:sup>
                        </m:sSup>
                      </m:e>
                    </m:d>
                  </m:oMath>
                </a14:m>
                <a:r>
                  <a:rPr lang="en-US" sz="3600" dirty="0">
                    <a:solidFill>
                      <a:srgbClr val="FF0000"/>
                    </a:solidFill>
                    <a:latin typeface="Garamond" panose="02020404030301010803" pitchFamily="18" charset="0"/>
                  </a:rPr>
                  <a:t> </a:t>
                </a:r>
                <a:r>
                  <a:rPr lang="en-US" sz="3600" dirty="0">
                    <a:solidFill>
                      <a:sysClr val="windowText" lastClr="000000"/>
                    </a:solidFill>
                    <a:latin typeface="Garamond" panose="02020404030301010803" pitchFamily="18" charset="0"/>
                  </a:rPr>
                  <a:t>?</a:t>
                </a:r>
              </a:p>
            </p:txBody>
          </p:sp>
        </mc:Choice>
        <mc:Fallback xmlns="">
          <p:sp>
            <p:nvSpPr>
              <p:cNvPr id="13" name="Rounded Rectangle 12">
                <a:extLst>
                  <a:ext uri="{FF2B5EF4-FFF2-40B4-BE49-F238E27FC236}">
                    <a16:creationId xmlns:a16="http://schemas.microsoft.com/office/drawing/2014/main" id="{FC7D3536-5F51-7BE6-508A-3E5D80885A64}"/>
                  </a:ext>
                </a:extLst>
              </p:cNvPr>
              <p:cNvSpPr>
                <a:spLocks noRot="1" noChangeAspect="1" noMove="1" noResize="1" noEditPoints="1" noAdjustHandles="1" noChangeArrowheads="1" noChangeShapeType="1" noTextEdit="1"/>
              </p:cNvSpPr>
              <p:nvPr/>
            </p:nvSpPr>
            <p:spPr>
              <a:xfrm>
                <a:off x="1158677" y="4724410"/>
                <a:ext cx="4095019" cy="1595626"/>
              </a:xfrm>
              <a:prstGeom prst="roundRect">
                <a:avLst/>
              </a:prstGeom>
              <a:blipFill>
                <a:blip r:embed="rId9"/>
                <a:stretch>
                  <a:fillRect l="-1212" r="-3939"/>
                </a:stretch>
              </a:blipFill>
              <a:ln w="762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59804CD-9FEE-D164-81EB-0D675DABA06B}"/>
                  </a:ext>
                </a:extLst>
              </p:cNvPr>
              <p:cNvSpPr txBox="1"/>
              <p:nvPr/>
            </p:nvSpPr>
            <p:spPr>
              <a:xfrm>
                <a:off x="8430768" y="3580517"/>
                <a:ext cx="2338832"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1" i="1">
                          <a:latin typeface="Cambria Math" panose="02040503050406030204" pitchFamily="18" charset="0"/>
                        </a:rPr>
                        <m:t>𝒘</m:t>
                      </m:r>
                      <m:r>
                        <a:rPr lang="en-US" sz="4400" i="1">
                          <a:latin typeface="Cambria Math" panose="02040503050406030204" pitchFamily="18" charset="0"/>
                        </a:rPr>
                        <m:t>←</m:t>
                      </m:r>
                      <m:r>
                        <a:rPr lang="en-US" sz="4400" i="1">
                          <a:solidFill>
                            <a:schemeClr val="accent5">
                              <a:lumMod val="75000"/>
                            </a:schemeClr>
                          </a:solidFill>
                          <a:latin typeface="Cambria Math" panose="02040503050406030204" pitchFamily="18" charset="0"/>
                        </a:rPr>
                        <m:t>𝑧</m:t>
                      </m:r>
                      <m:r>
                        <a:rPr lang="en-US" sz="4400" i="1">
                          <a:latin typeface="Cambria Math" panose="02040503050406030204" pitchFamily="18" charset="0"/>
                        </a:rPr>
                        <m:t> </m:t>
                      </m:r>
                      <m:r>
                        <a:rPr lang="en-US" sz="4400" b="1" i="1">
                          <a:latin typeface="Cambria Math" panose="02040503050406030204" pitchFamily="18" charset="0"/>
                        </a:rPr>
                        <m:t>𝝍</m:t>
                      </m:r>
                    </m:oMath>
                  </m:oMathPara>
                </a14:m>
                <a:endParaRPr lang="en-US" sz="4400" i="1" dirty="0">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559804CD-9FEE-D164-81EB-0D675DABA06B}"/>
                  </a:ext>
                </a:extLst>
              </p:cNvPr>
              <p:cNvSpPr txBox="1">
                <a:spLocks noRot="1" noChangeAspect="1" noMove="1" noResize="1" noEditPoints="1" noAdjustHandles="1" noChangeArrowheads="1" noChangeShapeType="1" noTextEdit="1"/>
              </p:cNvSpPr>
              <p:nvPr/>
            </p:nvSpPr>
            <p:spPr>
              <a:xfrm>
                <a:off x="8430768" y="3580517"/>
                <a:ext cx="2338832" cy="769441"/>
              </a:xfrm>
              <a:prstGeom prst="rect">
                <a:avLst/>
              </a:prstGeom>
              <a:blipFill>
                <a:blip r:embed="rId10"/>
                <a:stretch>
                  <a:fillRect r="-4301" b="-25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6002B8B3-105D-3D56-EB87-7C7841AC52F0}"/>
                  </a:ext>
                </a:extLst>
              </p:cNvPr>
              <p:cNvSpPr/>
              <p:nvPr/>
            </p:nvSpPr>
            <p:spPr>
              <a:xfrm>
                <a:off x="592274" y="192365"/>
                <a:ext cx="4454293" cy="824478"/>
              </a:xfrm>
              <a:prstGeom prst="roundRect">
                <a:avLst/>
              </a:prstGeom>
              <a:solidFill>
                <a:schemeClr val="accent6">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alpha val="50000"/>
                      </a:sysClr>
                    </a:solidFill>
                    <a:latin typeface="Garamond" panose="02020404030301010803" pitchFamily="18" charset="0"/>
                  </a:rPr>
                  <a:t>Goal:</a:t>
                </a:r>
                <a:r>
                  <a:rPr lang="en-US" sz="4400" dirty="0">
                    <a:solidFill>
                      <a:sysClr val="windowText" lastClr="000000">
                        <a:alpha val="50000"/>
                      </a:sysClr>
                    </a:solidFill>
                    <a:latin typeface="Garamond" panose="02020404030301010803" pitchFamily="18" charset="0"/>
                  </a:rPr>
                  <a:t> compress </a:t>
                </a:r>
                <a14:m>
                  <m:oMath xmlns:m="http://schemas.openxmlformats.org/officeDocument/2006/math">
                    <m:r>
                      <a:rPr lang="en-US" sz="4400" b="0" i="1" smtClean="0">
                        <a:solidFill>
                          <a:sysClr val="windowText" lastClr="000000">
                            <a:alpha val="50000"/>
                          </a:sysClr>
                        </a:solidFill>
                        <a:latin typeface="Cambria Math" panose="02040503050406030204" pitchFamily="18" charset="0"/>
                      </a:rPr>
                      <m:t>𝑓</m:t>
                    </m:r>
                  </m:oMath>
                </a14:m>
                <a:endParaRPr lang="en-US" sz="4400" dirty="0">
                  <a:solidFill>
                    <a:sysClr val="windowText" lastClr="000000">
                      <a:alpha val="50000"/>
                    </a:sysClr>
                  </a:solidFill>
                  <a:latin typeface="Garamond" panose="02020404030301010803" pitchFamily="18" charset="0"/>
                </a:endParaRPr>
              </a:p>
            </p:txBody>
          </p:sp>
        </mc:Choice>
        <mc:Fallback xmlns="">
          <p:sp>
            <p:nvSpPr>
              <p:cNvPr id="10" name="Rounded Rectangle 9">
                <a:extLst>
                  <a:ext uri="{FF2B5EF4-FFF2-40B4-BE49-F238E27FC236}">
                    <a16:creationId xmlns:a16="http://schemas.microsoft.com/office/drawing/2014/main" id="{6002B8B3-105D-3D56-EB87-7C7841AC52F0}"/>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11"/>
                <a:stretch>
                  <a:fillRect l="-1705" t="-10606" b="-30303"/>
                </a:stretch>
              </a:blipFill>
              <a:ln>
                <a:noFill/>
              </a:ln>
            </p:spPr>
            <p:txBody>
              <a:bodyPr/>
              <a:lstStyle/>
              <a:p>
                <a:r>
                  <a:rPr lang="en-US">
                    <a:noFill/>
                  </a:rPr>
                  <a:t> </a:t>
                </a:r>
              </a:p>
            </p:txBody>
          </p:sp>
        </mc:Fallback>
      </mc:AlternateContent>
      <p:sp>
        <p:nvSpPr>
          <p:cNvPr id="15" name="Rounded Rectangle 14">
            <a:extLst>
              <a:ext uri="{FF2B5EF4-FFF2-40B4-BE49-F238E27FC236}">
                <a16:creationId xmlns:a16="http://schemas.microsoft.com/office/drawing/2014/main" id="{541BF32D-D56D-3BCD-52EC-88EA8B3CF4D3}"/>
              </a:ext>
            </a:extLst>
          </p:cNvPr>
          <p:cNvSpPr/>
          <p:nvPr/>
        </p:nvSpPr>
        <p:spPr>
          <a:xfrm>
            <a:off x="1580471" y="3190243"/>
            <a:ext cx="9854930" cy="964799"/>
          </a:xfrm>
          <a:prstGeom prst="roundRect">
            <a:avLst/>
          </a:prstGeom>
          <a:solidFill>
            <a:srgbClr val="FFC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t"/>
          <a:lstStyle/>
          <a:p>
            <a:pPr algn="ctr"/>
            <a:r>
              <a:rPr lang="en-US" sz="4400" dirty="0">
                <a:solidFill>
                  <a:schemeClr val="tx1"/>
                </a:solidFill>
                <a:latin typeface="Garamond" panose="02020404030301010803" pitchFamily="18" charset="0"/>
              </a:rPr>
              <a:t>The coefficients encode the projections!</a:t>
            </a:r>
          </a:p>
        </p:txBody>
      </p:sp>
    </p:spTree>
    <p:extLst>
      <p:ext uri="{BB962C8B-B14F-4D97-AF65-F5344CB8AC3E}">
        <p14:creationId xmlns:p14="http://schemas.microsoft.com/office/powerpoint/2010/main" val="60733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76ADB-0BE6-A33D-FCA7-622D69A79715}"/>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91438CEC-2A45-A766-D4E9-95B758BE6304}"/>
              </a:ext>
            </a:extLst>
          </p:cNvPr>
          <p:cNvSpPr/>
          <p:nvPr/>
        </p:nvSpPr>
        <p:spPr>
          <a:xfrm>
            <a:off x="5253696" y="1811676"/>
            <a:ext cx="7120997" cy="5286547"/>
          </a:xfrm>
          <a:prstGeom prst="rect">
            <a:avLst/>
          </a:prstGeom>
          <a:solidFill>
            <a:schemeClr val="bg1"/>
          </a:solidFill>
          <a:ln w="7620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Lightbulb with solid fill">
            <a:extLst>
              <a:ext uri="{FF2B5EF4-FFF2-40B4-BE49-F238E27FC236}">
                <a16:creationId xmlns:a16="http://schemas.microsoft.com/office/drawing/2014/main" id="{0F9B0570-ACB3-5FB6-4BF0-624DB757A0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D8D9586-3735-A990-3729-67BE22EAA789}"/>
                  </a:ext>
                </a:extLst>
              </p:cNvPr>
              <p:cNvSpPr txBox="1"/>
              <p:nvPr/>
            </p:nvSpPr>
            <p:spPr>
              <a:xfrm>
                <a:off x="6507936" y="365126"/>
                <a:ext cx="5563986" cy="1446550"/>
              </a:xfrm>
              <a:prstGeom prst="rect">
                <a:avLst/>
              </a:prstGeom>
              <a:noFill/>
            </p:spPr>
            <p:txBody>
              <a:bodyPr wrap="square" rtlCol="0">
                <a:spAutoFit/>
              </a:bodyPr>
              <a:lstStyle/>
              <a:p>
                <a:r>
                  <a:rPr lang="en-US" sz="4400" dirty="0">
                    <a:solidFill>
                      <a:srgbClr val="000000">
                        <a:alpha val="50000"/>
                      </a:srgbClr>
                    </a:solidFill>
                    <a:latin typeface="Garamond" panose="02020404030301010803" pitchFamily="18" charset="0"/>
                  </a:rPr>
                  <a:t>Compute </a:t>
                </a:r>
                <a14:m>
                  <m:oMath xmlns:m="http://schemas.openxmlformats.org/officeDocument/2006/math">
                    <m:r>
                      <a:rPr lang="en-US" sz="4400" b="0" i="1" smtClean="0">
                        <a:solidFill>
                          <a:srgbClr val="000000">
                            <a:alpha val="50000"/>
                          </a:srgbClr>
                        </a:solidFill>
                        <a:latin typeface="Cambria Math" panose="02040503050406030204" pitchFamily="18" charset="0"/>
                      </a:rPr>
                      <m:t>𝑓</m:t>
                    </m:r>
                    <m:d>
                      <m:dPr>
                        <m:ctrlPr>
                          <a:rPr lang="en-US" sz="4400" b="0" i="1" smtClean="0">
                            <a:solidFill>
                              <a:srgbClr val="000000">
                                <a:alpha val="50000"/>
                              </a:srgbClr>
                            </a:solidFill>
                            <a:latin typeface="Cambria Math" panose="02040503050406030204" pitchFamily="18" charset="0"/>
                          </a:rPr>
                        </m:ctrlPr>
                      </m:dPr>
                      <m:e>
                        <m:r>
                          <a:rPr lang="en-US" sz="4400" b="0" i="1" smtClean="0">
                            <a:solidFill>
                              <a:schemeClr val="accent5">
                                <a:lumMod val="75000"/>
                                <a:alpha val="50000"/>
                              </a:schemeClr>
                            </a:solidFill>
                            <a:latin typeface="Cambria Math" panose="02040503050406030204" pitchFamily="18" charset="0"/>
                          </a:rPr>
                          <m:t>𝑧</m:t>
                        </m:r>
                        <m:r>
                          <a:rPr lang="en-US" sz="4400" b="1" i="1" smtClean="0">
                            <a:solidFill>
                              <a:srgbClr val="000000">
                                <a:alpha val="50000"/>
                              </a:srgbClr>
                            </a:solidFill>
                            <a:latin typeface="Cambria Math" panose="02040503050406030204" pitchFamily="18" charset="0"/>
                          </a:rPr>
                          <m:t> </m:t>
                        </m:r>
                        <m:r>
                          <a:rPr lang="en-US" sz="4400" b="1" i="1" smtClean="0">
                            <a:solidFill>
                              <a:srgbClr val="000000">
                                <a:alpha val="50000"/>
                              </a:srgbClr>
                            </a:solidFill>
                            <a:latin typeface="Cambria Math" panose="02040503050406030204" pitchFamily="18" charset="0"/>
                          </a:rPr>
                          <m:t>𝝍</m:t>
                        </m:r>
                      </m:e>
                    </m:d>
                  </m:oMath>
                </a14:m>
                <a:endParaRPr lang="en-US" sz="4400" b="0" dirty="0">
                  <a:solidFill>
                    <a:srgbClr val="000000">
                      <a:alpha val="50000"/>
                    </a:srgbClr>
                  </a:solidFill>
                  <a:latin typeface="Garamond" panose="02020404030301010803" pitchFamily="18" charset="0"/>
                </a:endParaRPr>
              </a:p>
              <a:p>
                <a:r>
                  <a:rPr lang="en-US" sz="4400" dirty="0">
                    <a:solidFill>
                      <a:srgbClr val="000000">
                        <a:alpha val="50000"/>
                      </a:srgbClr>
                    </a:solidFill>
                    <a:latin typeface="Garamond" panose="02020404030301010803" pitchFamily="18" charset="0"/>
                  </a:rPr>
                  <a:t> over </a:t>
                </a:r>
                <a14:m>
                  <m:oMath xmlns:m="http://schemas.openxmlformats.org/officeDocument/2006/math">
                    <m:r>
                      <a:rPr lang="en-US" sz="4400" b="0" i="1" smtClean="0">
                        <a:solidFill>
                          <a:srgbClr val="000000">
                            <a:alpha val="50000"/>
                          </a:srgbClr>
                        </a:solidFill>
                        <a:latin typeface="Cambria Math" panose="02040503050406030204" pitchFamily="18" charset="0"/>
                      </a:rPr>
                      <m:t>𝑅</m:t>
                    </m:r>
                    <m:r>
                      <a:rPr lang="en-US" sz="4400" b="0" i="1" smtClean="0">
                        <a:solidFill>
                          <a:srgbClr val="000000">
                            <a:alpha val="50000"/>
                          </a:srgbClr>
                        </a:solidFill>
                        <a:latin typeface="Cambria Math" panose="02040503050406030204" pitchFamily="18" charset="0"/>
                      </a:rPr>
                      <m:t>≔</m:t>
                    </m:r>
                    <m:r>
                      <a:rPr lang="en-US" sz="4400" b="0" i="1" smtClean="0">
                        <a:solidFill>
                          <a:srgbClr val="000000">
                            <a:alpha val="50000"/>
                          </a:srgbClr>
                        </a:solidFill>
                        <a:latin typeface="Cambria Math" panose="02040503050406030204" pitchFamily="18" charset="0"/>
                        <a:ea typeface="Cambria Math" panose="02040503050406030204" pitchFamily="18" charset="0"/>
                      </a:rPr>
                      <m:t>ℂ</m:t>
                    </m:r>
                    <m:d>
                      <m:dPr>
                        <m:begChr m:val="["/>
                        <m:endChr m:val="]"/>
                        <m:ctrlPr>
                          <a:rPr lang="en-US" sz="4400" b="0" i="1" smtClean="0">
                            <a:solidFill>
                              <a:srgbClr val="000000">
                                <a:alpha val="50000"/>
                              </a:srgbClr>
                            </a:solidFill>
                            <a:latin typeface="Cambria Math" panose="02040503050406030204" pitchFamily="18" charset="0"/>
                            <a:ea typeface="Cambria Math" panose="02040503050406030204" pitchFamily="18" charset="0"/>
                          </a:rPr>
                        </m:ctrlPr>
                      </m:dPr>
                      <m:e>
                        <m:r>
                          <a:rPr lang="en-US" sz="4400" b="0" i="1" smtClean="0">
                            <a:solidFill>
                              <a:schemeClr val="accent5">
                                <a:lumMod val="75000"/>
                                <a:alpha val="50000"/>
                              </a:schemeClr>
                            </a:solidFill>
                            <a:latin typeface="Cambria Math" panose="02040503050406030204" pitchFamily="18" charset="0"/>
                            <a:ea typeface="Cambria Math" panose="02040503050406030204" pitchFamily="18" charset="0"/>
                          </a:rPr>
                          <m:t>𝑧</m:t>
                        </m:r>
                      </m:e>
                    </m:d>
                    <m:r>
                      <a:rPr lang="en-US" sz="4400" b="0" i="1" smtClean="0">
                        <a:solidFill>
                          <a:srgbClr val="000000">
                            <a:alpha val="50000"/>
                          </a:srgbClr>
                        </a:solidFill>
                        <a:latin typeface="Cambria Math" panose="02040503050406030204" pitchFamily="18" charset="0"/>
                        <a:ea typeface="Cambria Math" panose="02040503050406030204" pitchFamily="18" charset="0"/>
                      </a:rPr>
                      <m:t>/</m:t>
                    </m:r>
                    <m:d>
                      <m:dPr>
                        <m:ctrlPr>
                          <a:rPr lang="en-US" sz="4400" b="0" i="1" smtClean="0">
                            <a:solidFill>
                              <a:srgbClr val="000000">
                                <a:alpha val="50000"/>
                              </a:srgbClr>
                            </a:solidFill>
                            <a:latin typeface="Cambria Math" panose="02040503050406030204" pitchFamily="18" charset="0"/>
                            <a:ea typeface="Cambria Math" panose="02040503050406030204" pitchFamily="18" charset="0"/>
                          </a:rPr>
                        </m:ctrlPr>
                      </m:dPr>
                      <m:e>
                        <m:sSup>
                          <m:sSupPr>
                            <m:ctrlPr>
                              <a:rPr lang="en-US" sz="4400" b="0" i="1" smtClean="0">
                                <a:solidFill>
                                  <a:srgbClr val="000000">
                                    <a:alpha val="50000"/>
                                  </a:srgbClr>
                                </a:solidFill>
                                <a:latin typeface="Cambria Math" panose="02040503050406030204" pitchFamily="18" charset="0"/>
                                <a:ea typeface="Cambria Math" panose="02040503050406030204" pitchFamily="18" charset="0"/>
                              </a:rPr>
                            </m:ctrlPr>
                          </m:sSupPr>
                          <m:e>
                            <m:r>
                              <a:rPr lang="en-US" sz="4400" b="0" i="1" smtClean="0">
                                <a:solidFill>
                                  <a:schemeClr val="accent5">
                                    <a:lumMod val="75000"/>
                                    <a:alpha val="50000"/>
                                  </a:schemeClr>
                                </a:solidFill>
                                <a:latin typeface="Cambria Math" panose="02040503050406030204" pitchFamily="18" charset="0"/>
                                <a:ea typeface="Cambria Math" panose="02040503050406030204" pitchFamily="18" charset="0"/>
                              </a:rPr>
                              <m:t>𝑧</m:t>
                            </m:r>
                          </m:e>
                          <m:sup>
                            <m:r>
                              <a:rPr lang="en-US" sz="4400" b="0" i="1" smtClean="0">
                                <a:solidFill>
                                  <a:srgbClr val="000000">
                                    <a:alpha val="50000"/>
                                  </a:srgbClr>
                                </a:solidFill>
                                <a:latin typeface="Cambria Math" panose="02040503050406030204" pitchFamily="18" charset="0"/>
                                <a:ea typeface="Cambria Math" panose="02040503050406030204" pitchFamily="18" charset="0"/>
                              </a:rPr>
                              <m:t>𝑠</m:t>
                            </m:r>
                            <m:r>
                              <a:rPr lang="en-US" sz="4400" b="0" i="1" smtClean="0">
                                <a:solidFill>
                                  <a:srgbClr val="000000">
                                    <a:alpha val="50000"/>
                                  </a:srgbClr>
                                </a:solidFill>
                                <a:latin typeface="Cambria Math" panose="02040503050406030204" pitchFamily="18" charset="0"/>
                                <a:ea typeface="Cambria Math" panose="02040503050406030204" pitchFamily="18" charset="0"/>
                              </a:rPr>
                              <m:t>+1</m:t>
                            </m:r>
                          </m:sup>
                        </m:sSup>
                      </m:e>
                    </m:d>
                  </m:oMath>
                </a14:m>
                <a:r>
                  <a:rPr lang="en-US" sz="4400" dirty="0">
                    <a:solidFill>
                      <a:srgbClr val="000000">
                        <a:alpha val="50000"/>
                      </a:srgbClr>
                    </a:solidFill>
                    <a:latin typeface="Garamond" panose="02020404030301010803" pitchFamily="18" charset="0"/>
                  </a:rPr>
                  <a:t>.</a:t>
                </a:r>
              </a:p>
            </p:txBody>
          </p:sp>
        </mc:Choice>
        <mc:Fallback xmlns="">
          <p:sp>
            <p:nvSpPr>
              <p:cNvPr id="3" name="TextBox 2">
                <a:extLst>
                  <a:ext uri="{FF2B5EF4-FFF2-40B4-BE49-F238E27FC236}">
                    <a16:creationId xmlns:a16="http://schemas.microsoft.com/office/drawing/2014/main" id="{7D8D9586-3735-A990-3729-67BE22EAA789}"/>
                  </a:ext>
                </a:extLst>
              </p:cNvPr>
              <p:cNvSpPr txBox="1">
                <a:spLocks noRot="1" noChangeAspect="1" noMove="1" noResize="1" noEditPoints="1" noAdjustHandles="1" noChangeArrowheads="1" noChangeShapeType="1" noTextEdit="1"/>
              </p:cNvSpPr>
              <p:nvPr/>
            </p:nvSpPr>
            <p:spPr>
              <a:xfrm>
                <a:off x="6507936" y="365126"/>
                <a:ext cx="5563986" cy="1446550"/>
              </a:xfrm>
              <a:prstGeom prst="rect">
                <a:avLst/>
              </a:prstGeom>
              <a:blipFill>
                <a:blip r:embed="rId4"/>
                <a:stretch>
                  <a:fillRect l="-4556" t="-7826" r="-4328"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4FF18B-8CCD-E2AE-C208-801BF899CD37}"/>
                  </a:ext>
                </a:extLst>
              </p:cNvPr>
              <p:cNvSpPr txBox="1"/>
              <p:nvPr/>
            </p:nvSpPr>
            <p:spPr>
              <a:xfrm>
                <a:off x="5209381" y="4551573"/>
                <a:ext cx="6982619"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tx1">
                              <a:alpha val="50000"/>
                            </a:schemeClr>
                          </a:solidFill>
                          <a:latin typeface="Cambria Math" panose="02040503050406030204" pitchFamily="18" charset="0"/>
                        </a:rPr>
                        <m:t>𝑓</m:t>
                      </m:r>
                      <m:r>
                        <a:rPr lang="en-US" sz="4400" b="0" i="1" smtClean="0">
                          <a:solidFill>
                            <a:schemeClr val="tx1">
                              <a:alpha val="50000"/>
                            </a:schemeClr>
                          </a:solidFill>
                          <a:latin typeface="Cambria Math" panose="02040503050406030204" pitchFamily="18" charset="0"/>
                        </a:rPr>
                        <m:t>(</m:t>
                      </m:r>
                      <m:r>
                        <a:rPr lang="en-US" sz="4400" b="0" i="1" smtClean="0">
                          <a:solidFill>
                            <a:schemeClr val="accent5">
                              <a:lumMod val="75000"/>
                              <a:alpha val="50000"/>
                            </a:schemeClr>
                          </a:solidFill>
                          <a:latin typeface="Cambria Math" panose="02040503050406030204" pitchFamily="18" charset="0"/>
                        </a:rPr>
                        <m:t>𝑧</m:t>
                      </m:r>
                      <m:r>
                        <a:rPr lang="en-US" sz="4400" b="0" i="1" smtClean="0">
                          <a:solidFill>
                            <a:schemeClr val="tx1">
                              <a:alpha val="50000"/>
                            </a:schemeClr>
                          </a:solidFill>
                          <a:latin typeface="Cambria Math" panose="02040503050406030204" pitchFamily="18" charset="0"/>
                        </a:rPr>
                        <m:t> </m:t>
                      </m:r>
                      <m:r>
                        <a:rPr lang="en-US" sz="4400" b="1" i="1" smtClean="0">
                          <a:solidFill>
                            <a:schemeClr val="tx1">
                              <a:alpha val="50000"/>
                            </a:schemeClr>
                          </a:solidFill>
                          <a:latin typeface="Cambria Math" panose="02040503050406030204" pitchFamily="18" charset="0"/>
                        </a:rPr>
                        <m:t>𝝍</m:t>
                      </m:r>
                      <m:r>
                        <a:rPr lang="en-US" sz="4400" b="0" i="1" smtClean="0">
                          <a:solidFill>
                            <a:schemeClr val="tx1">
                              <a:alpha val="50000"/>
                            </a:schemeClr>
                          </a:solidFill>
                          <a:latin typeface="Cambria Math" panose="02040503050406030204" pitchFamily="18" charset="0"/>
                        </a:rPr>
                        <m:t>)=</m:t>
                      </m:r>
                      <m:nary>
                        <m:naryPr>
                          <m:chr m:val="∑"/>
                          <m:ctrlPr>
                            <a:rPr lang="en-US" sz="4400" i="1">
                              <a:solidFill>
                                <a:schemeClr val="tx1">
                                  <a:alpha val="50000"/>
                                </a:schemeClr>
                              </a:solidFill>
                              <a:latin typeface="Cambria Math" panose="02040503050406030204" pitchFamily="18" charset="0"/>
                            </a:rPr>
                          </m:ctrlPr>
                        </m:naryPr>
                        <m:sub>
                          <m:r>
                            <m:rPr>
                              <m:brk m:alnAt="7"/>
                            </m:rPr>
                            <a:rPr lang="en-US" sz="4400" i="1">
                              <a:solidFill>
                                <a:schemeClr val="tx1">
                                  <a:alpha val="50000"/>
                                </a:schemeClr>
                              </a:solidFill>
                              <a:latin typeface="Cambria Math" panose="02040503050406030204" pitchFamily="18" charset="0"/>
                            </a:rPr>
                            <m:t>𝑟</m:t>
                          </m:r>
                          <m:r>
                            <a:rPr lang="en-US" sz="4400" i="1">
                              <a:solidFill>
                                <a:schemeClr val="tx1">
                                  <a:alpha val="50000"/>
                                </a:schemeClr>
                              </a:solidFill>
                              <a:latin typeface="Cambria Math" panose="02040503050406030204" pitchFamily="18" charset="0"/>
                            </a:rPr>
                            <m:t>=0</m:t>
                          </m:r>
                        </m:sub>
                        <m:sup>
                          <m:r>
                            <a:rPr lang="en-US" sz="4400" i="1">
                              <a:solidFill>
                                <a:schemeClr val="tx1">
                                  <a:alpha val="50000"/>
                                </a:schemeClr>
                              </a:solidFill>
                              <a:latin typeface="Cambria Math" panose="02040503050406030204" pitchFamily="18" charset="0"/>
                            </a:rPr>
                            <m:t>𝑠</m:t>
                          </m:r>
                        </m:sup>
                        <m:e>
                          <m:d>
                            <m:dPr>
                              <m:begChr m:val="⟨"/>
                              <m:endChr m:val="⟩"/>
                              <m:ctrlPr>
                                <a:rPr lang="en-US" sz="4400" i="1" smtClean="0">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 </m:t>
                              </m:r>
                              <m:sSup>
                                <m:sSupPr>
                                  <m:ctrlPr>
                                    <a:rPr lang="en-US" sz="4400" i="1">
                                      <a:solidFill>
                                        <a:schemeClr val="tx1">
                                          <a:alpha val="50000"/>
                                        </a:schemeClr>
                                      </a:solidFill>
                                      <a:latin typeface="Cambria Math" panose="02040503050406030204" pitchFamily="18" charset="0"/>
                                    </a:rPr>
                                  </m:ctrlPr>
                                </m:sSupPr>
                                <m:e>
                                  <m:r>
                                    <a:rPr lang="en-US" sz="4400" b="1" i="1" smtClean="0">
                                      <a:solidFill>
                                        <a:schemeClr val="tx1">
                                          <a:alpha val="50000"/>
                                        </a:schemeClr>
                                      </a:solidFill>
                                      <a:latin typeface="Cambria Math" panose="02040503050406030204" pitchFamily="18" charset="0"/>
                                    </a:rPr>
                                    <m:t>𝝍</m:t>
                                  </m:r>
                                </m:e>
                                <m:sup>
                                  <m:r>
                                    <a:rPr lang="en-US" sz="4400" i="1">
                                      <a:solidFill>
                                        <a:schemeClr val="tx1">
                                          <a:alpha val="50000"/>
                                        </a:schemeClr>
                                      </a:solidFill>
                                      <a:latin typeface="Cambria Math" panose="02040503050406030204" pitchFamily="18" charset="0"/>
                                    </a:rPr>
                                    <m:t>⊗</m:t>
                                  </m:r>
                                  <m:r>
                                    <a:rPr lang="en-US" sz="4400" i="1">
                                      <a:solidFill>
                                        <a:schemeClr val="tx1">
                                          <a:alpha val="50000"/>
                                        </a:schemeClr>
                                      </a:solidFill>
                                      <a:latin typeface="Cambria Math" panose="02040503050406030204" pitchFamily="18" charset="0"/>
                                    </a:rPr>
                                    <m:t>𝑟</m:t>
                                  </m:r>
                                </m:sup>
                              </m:sSup>
                            </m:e>
                          </m:d>
                          <m:r>
                            <a:rPr lang="en-US" sz="4400" b="0" i="1" smtClean="0">
                              <a:solidFill>
                                <a:schemeClr val="tx1">
                                  <a:alpha val="50000"/>
                                </a:schemeClr>
                              </a:solidFill>
                              <a:latin typeface="Cambria Math" panose="02040503050406030204" pitchFamily="18" charset="0"/>
                            </a:rPr>
                            <m:t> </m:t>
                          </m:r>
                          <m:sSup>
                            <m:sSupPr>
                              <m:ctrlPr>
                                <a:rPr lang="en-US" sz="4400" b="0" i="1" smtClean="0">
                                  <a:solidFill>
                                    <a:schemeClr val="tx1">
                                      <a:alpha val="50000"/>
                                    </a:schemeClr>
                                  </a:solidFill>
                                  <a:latin typeface="Cambria Math" panose="02040503050406030204" pitchFamily="18" charset="0"/>
                                </a:rPr>
                              </m:ctrlPr>
                            </m:sSupPr>
                            <m:e>
                              <m:r>
                                <a:rPr lang="en-US" sz="4400" b="0" i="1" smtClean="0">
                                  <a:solidFill>
                                    <a:schemeClr val="accent5">
                                      <a:lumMod val="75000"/>
                                      <a:alpha val="50000"/>
                                    </a:schemeClr>
                                  </a:solidFill>
                                  <a:latin typeface="Cambria Math" panose="02040503050406030204" pitchFamily="18" charset="0"/>
                                </a:rPr>
                                <m:t>𝑧</m:t>
                              </m:r>
                            </m:e>
                            <m:sup>
                              <m:r>
                                <a:rPr lang="en-US" sz="4400" b="0" i="1" smtClean="0">
                                  <a:solidFill>
                                    <a:schemeClr val="tx1">
                                      <a:alpha val="50000"/>
                                    </a:schemeClr>
                                  </a:solidFill>
                                  <a:latin typeface="Cambria Math" panose="02040503050406030204" pitchFamily="18" charset="0"/>
                                </a:rPr>
                                <m:t>𝑟</m:t>
                              </m:r>
                            </m:sup>
                          </m:sSup>
                        </m:e>
                      </m:nary>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384FF18B-8CCD-E2AE-C208-801BF899CD37}"/>
                  </a:ext>
                </a:extLst>
              </p:cNvPr>
              <p:cNvSpPr txBox="1">
                <a:spLocks noRot="1" noChangeAspect="1" noMove="1" noResize="1" noEditPoints="1" noAdjustHandles="1" noChangeArrowheads="1" noChangeShapeType="1" noTextEdit="1"/>
              </p:cNvSpPr>
              <p:nvPr/>
            </p:nvSpPr>
            <p:spPr>
              <a:xfrm>
                <a:off x="5209381" y="4551573"/>
                <a:ext cx="6982619" cy="1941301"/>
              </a:xfrm>
              <a:prstGeom prst="rect">
                <a:avLst/>
              </a:prstGeom>
              <a:blipFill>
                <a:blip r:embed="rId5"/>
                <a:stretch>
                  <a:fillRect l="-181"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A4D82B-CAEC-7FC3-709E-0EE118FA84AF}"/>
                  </a:ext>
                </a:extLst>
              </p:cNvPr>
              <p:cNvSpPr txBox="1"/>
              <p:nvPr/>
            </p:nvSpPr>
            <p:spPr>
              <a:xfrm>
                <a:off x="6385488" y="1758235"/>
                <a:ext cx="5806512" cy="17359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solidFill>
                            <a:srgbClr val="000000">
                              <a:alpha val="50000"/>
                            </a:srgbClr>
                          </a:solidFill>
                          <a:latin typeface="Cambria Math" panose="02040503050406030204" pitchFamily="18" charset="0"/>
                        </a:rPr>
                        <m:t>𝑓</m:t>
                      </m:r>
                      <m:d>
                        <m:dPr>
                          <m:ctrlPr>
                            <a:rPr lang="en-US" sz="4400" i="1">
                              <a:solidFill>
                                <a:srgbClr val="000000">
                                  <a:alpha val="50000"/>
                                </a:srgbClr>
                              </a:solidFill>
                              <a:latin typeface="Cambria Math" panose="02040503050406030204" pitchFamily="18" charset="0"/>
                            </a:rPr>
                          </m:ctrlPr>
                        </m:dPr>
                        <m:e>
                          <m:r>
                            <a:rPr lang="en-US" sz="4400" b="1" i="1" smtClean="0">
                              <a:solidFill>
                                <a:srgbClr val="000000">
                                  <a:alpha val="50000"/>
                                </a:srgbClr>
                              </a:solidFill>
                              <a:latin typeface="Cambria Math" panose="02040503050406030204" pitchFamily="18" charset="0"/>
                            </a:rPr>
                            <m:t>𝒘</m:t>
                          </m:r>
                        </m:e>
                      </m:d>
                      <m:r>
                        <a:rPr lang="en-US" sz="4400" b="0" i="1" smtClean="0">
                          <a:solidFill>
                            <a:srgbClr val="000000">
                              <a:alpha val="50000"/>
                            </a:srgbClr>
                          </a:solidFill>
                          <a:latin typeface="Cambria Math" panose="02040503050406030204" pitchFamily="18" charset="0"/>
                        </a:rPr>
                        <m:t>=</m:t>
                      </m:r>
                      <m:nary>
                        <m:naryPr>
                          <m:chr m:val="∑"/>
                          <m:supHide m:val="on"/>
                          <m:ctrlPr>
                            <a:rPr lang="en-US" sz="4400" i="1">
                              <a:solidFill>
                                <a:srgbClr val="000000">
                                  <a:alpha val="50000"/>
                                </a:srgbClr>
                              </a:solidFill>
                              <a:latin typeface="Cambria Math" panose="02040503050406030204" pitchFamily="18" charset="0"/>
                            </a:rPr>
                          </m:ctrlPr>
                        </m:naryPr>
                        <m:sub>
                          <m:r>
                            <m:rPr>
                              <m:brk m:alnAt="7"/>
                            </m:rPr>
                            <a:rPr lang="en-US" sz="4400" i="1">
                              <a:solidFill>
                                <a:srgbClr val="000000">
                                  <a:alpha val="50000"/>
                                </a:srgbClr>
                              </a:solidFill>
                              <a:latin typeface="Cambria Math" panose="02040503050406030204" pitchFamily="18" charset="0"/>
                            </a:rPr>
                            <m:t>𝑟</m:t>
                          </m:r>
                          <m:r>
                            <a:rPr lang="en-US" sz="4400" b="0" i="1" smtClean="0">
                              <a:solidFill>
                                <a:srgbClr val="000000">
                                  <a:alpha val="50000"/>
                                </a:srgbClr>
                              </a:solidFill>
                              <a:latin typeface="Cambria Math" panose="02040503050406030204" pitchFamily="18" charset="0"/>
                            </a:rPr>
                            <m:t>≥</m:t>
                          </m:r>
                          <m:r>
                            <a:rPr lang="en-US" sz="4400" i="1">
                              <a:solidFill>
                                <a:srgbClr val="000000">
                                  <a:alpha val="50000"/>
                                </a:srgbClr>
                              </a:solidFill>
                              <a:latin typeface="Cambria Math" panose="02040503050406030204" pitchFamily="18" charset="0"/>
                            </a:rPr>
                            <m:t>0</m:t>
                          </m:r>
                        </m:sub>
                        <m:sup/>
                        <m:e>
                          <m:d>
                            <m:dPr>
                              <m:begChr m:val="⟨"/>
                              <m:endChr m:val="⟩"/>
                              <m:ctrlPr>
                                <a:rPr lang="en-US" sz="4400" i="1">
                                  <a:solidFill>
                                    <a:srgbClr val="000000">
                                      <a:alpha val="50000"/>
                                    </a:srgbClr>
                                  </a:solidFill>
                                  <a:latin typeface="Cambria Math" panose="02040503050406030204" pitchFamily="18" charset="0"/>
                                </a:rPr>
                              </m:ctrlPr>
                            </m:dPr>
                            <m:e>
                              <m:sSup>
                                <m:sSupPr>
                                  <m:ctrlPr>
                                    <a:rPr lang="en-US" sz="4400" i="1">
                                      <a:solidFill>
                                        <a:srgbClr val="000000">
                                          <a:alpha val="50000"/>
                                        </a:srgbClr>
                                      </a:solidFill>
                                      <a:latin typeface="Cambria Math" panose="02040503050406030204" pitchFamily="18" charset="0"/>
                                    </a:rPr>
                                  </m:ctrlPr>
                                </m:sSupPr>
                                <m:e>
                                  <m:r>
                                    <a:rPr lang="en-US" sz="4400" b="1">
                                      <a:solidFill>
                                        <a:srgbClr val="000000">
                                          <a:alpha val="50000"/>
                                        </a:srgbClr>
                                      </a:solidFill>
                                      <a:latin typeface="Cambria Math" panose="02040503050406030204" pitchFamily="18" charset="0"/>
                                    </a:rPr>
                                    <m:t>𝐓</m:t>
                                  </m:r>
                                </m:e>
                                <m:sup>
                                  <m:d>
                                    <m:dPr>
                                      <m:ctrlPr>
                                        <a:rPr lang="en-US" sz="4400" i="1">
                                          <a:solidFill>
                                            <a:srgbClr val="000000">
                                              <a:alpha val="50000"/>
                                            </a:srgbClr>
                                          </a:solidFill>
                                          <a:latin typeface="Cambria Math" panose="02040503050406030204" pitchFamily="18" charset="0"/>
                                        </a:rPr>
                                      </m:ctrlPr>
                                    </m:dPr>
                                    <m:e>
                                      <m:r>
                                        <a:rPr lang="en-US" sz="4400" i="1">
                                          <a:solidFill>
                                            <a:srgbClr val="000000">
                                              <a:alpha val="50000"/>
                                            </a:srgbClr>
                                          </a:solidFill>
                                          <a:latin typeface="Cambria Math" panose="02040503050406030204" pitchFamily="18" charset="0"/>
                                        </a:rPr>
                                        <m:t>𝑟</m:t>
                                      </m:r>
                                    </m:e>
                                  </m:d>
                                </m:sup>
                              </m:sSup>
                              <m:r>
                                <a:rPr lang="en-US" sz="4400" i="1">
                                  <a:solidFill>
                                    <a:srgbClr val="000000">
                                      <a:alpha val="50000"/>
                                    </a:srgbClr>
                                  </a:solidFill>
                                  <a:latin typeface="Cambria Math" panose="02040503050406030204" pitchFamily="18" charset="0"/>
                                </a:rPr>
                                <m:t>, </m:t>
                              </m:r>
                              <m:sSup>
                                <m:sSupPr>
                                  <m:ctrlPr>
                                    <a:rPr lang="en-US" sz="4400" i="1" smtClean="0">
                                      <a:solidFill>
                                        <a:srgbClr val="000000">
                                          <a:alpha val="50000"/>
                                        </a:srgbClr>
                                      </a:solidFill>
                                      <a:latin typeface="Cambria Math" panose="02040503050406030204" pitchFamily="18" charset="0"/>
                                    </a:rPr>
                                  </m:ctrlPr>
                                </m:sSupPr>
                                <m:e>
                                  <m:r>
                                    <a:rPr lang="en-US" sz="4400" b="1" i="1" smtClean="0">
                                      <a:solidFill>
                                        <a:srgbClr val="000000">
                                          <a:alpha val="50000"/>
                                        </a:srgbClr>
                                      </a:solidFill>
                                      <a:latin typeface="Cambria Math" panose="02040503050406030204" pitchFamily="18" charset="0"/>
                                    </a:rPr>
                                    <m:t>𝒘</m:t>
                                  </m:r>
                                </m:e>
                                <m:sup>
                                  <m:r>
                                    <a:rPr lang="en-US" sz="4400" i="1">
                                      <a:solidFill>
                                        <a:srgbClr val="000000">
                                          <a:alpha val="50000"/>
                                        </a:srgbClr>
                                      </a:solidFill>
                                      <a:latin typeface="Cambria Math" panose="02040503050406030204" pitchFamily="18" charset="0"/>
                                    </a:rPr>
                                    <m:t>⊗</m:t>
                                  </m:r>
                                  <m:r>
                                    <a:rPr lang="en-US" sz="4400" i="1">
                                      <a:solidFill>
                                        <a:srgbClr val="000000">
                                          <a:alpha val="50000"/>
                                        </a:srgbClr>
                                      </a:solidFill>
                                      <a:latin typeface="Cambria Math" panose="02040503050406030204" pitchFamily="18" charset="0"/>
                                    </a:rPr>
                                    <m:t>𝑟</m:t>
                                  </m:r>
                                </m:sup>
                              </m:sSup>
                            </m:e>
                          </m:d>
                          <m:r>
                            <a:rPr lang="en-US" sz="4400" b="0" i="1" smtClean="0">
                              <a:solidFill>
                                <a:srgbClr val="000000">
                                  <a:alpha val="50000"/>
                                </a:srgbClr>
                              </a:solidFill>
                              <a:latin typeface="Cambria Math" panose="02040503050406030204" pitchFamily="18" charset="0"/>
                            </a:rPr>
                            <m:t> </m:t>
                          </m:r>
                        </m:e>
                      </m:nary>
                    </m:oMath>
                  </m:oMathPara>
                </a14:m>
                <a:endParaRPr lang="en-US" sz="4400" i="1" dirty="0">
                  <a:solidFill>
                    <a:srgbClr val="000000">
                      <a:alpha val="50000"/>
                    </a:srgbClr>
                  </a:solidFill>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1AA4D82B-CAEC-7FC3-709E-0EE118FA84AF}"/>
                  </a:ext>
                </a:extLst>
              </p:cNvPr>
              <p:cNvSpPr txBox="1">
                <a:spLocks noRot="1" noChangeAspect="1" noMove="1" noResize="1" noEditPoints="1" noAdjustHandles="1" noChangeArrowheads="1" noChangeShapeType="1" noTextEdit="1"/>
              </p:cNvSpPr>
              <p:nvPr/>
            </p:nvSpPr>
            <p:spPr>
              <a:xfrm>
                <a:off x="6385488" y="1758235"/>
                <a:ext cx="5806512" cy="1735924"/>
              </a:xfrm>
              <a:prstGeom prst="rect">
                <a:avLst/>
              </a:prstGeom>
              <a:blipFill>
                <a:blip r:embed="rId6"/>
                <a:stretch>
                  <a:fillRect l="-1961" t="-137681" r="-2179" b="-189855"/>
                </a:stretch>
              </a:blipFill>
            </p:spPr>
            <p:txBody>
              <a:bodyPr/>
              <a:lstStyle/>
              <a:p>
                <a:r>
                  <a:rPr lang="en-US">
                    <a:noFill/>
                  </a:rPr>
                  <a:t> </a:t>
                </a:r>
              </a:p>
            </p:txBody>
          </p:sp>
        </mc:Fallback>
      </mc:AlternateContent>
      <p:sp>
        <p:nvSpPr>
          <p:cNvPr id="12" name="Down Arrow 11">
            <a:extLst>
              <a:ext uri="{FF2B5EF4-FFF2-40B4-BE49-F238E27FC236}">
                <a16:creationId xmlns:a16="http://schemas.microsoft.com/office/drawing/2014/main" id="{8CD330D1-15B2-2523-C589-289CD69F3474}"/>
              </a:ext>
            </a:extLst>
          </p:cNvPr>
          <p:cNvSpPr/>
          <p:nvPr/>
        </p:nvSpPr>
        <p:spPr>
          <a:xfrm>
            <a:off x="7525512" y="3494159"/>
            <a:ext cx="740664" cy="1014838"/>
          </a:xfrm>
          <a:prstGeom prst="downArrow">
            <a:avLst/>
          </a:prstGeom>
          <a:solidFill>
            <a:schemeClr val="dk1">
              <a:alpha val="5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000000">
                  <a:alpha val="50000"/>
                </a:srgbClr>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1709777-0547-3DBE-C298-9C6BB5A3F70B}"/>
                  </a:ext>
                </a:extLst>
              </p:cNvPr>
              <p:cNvSpPr txBox="1"/>
              <p:nvPr/>
            </p:nvSpPr>
            <p:spPr>
              <a:xfrm>
                <a:off x="8430768" y="3580517"/>
                <a:ext cx="2338832"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0000">
                              <a:alpha val="50000"/>
                            </a:srgbClr>
                          </a:solidFill>
                          <a:latin typeface="Cambria Math" panose="02040503050406030204" pitchFamily="18" charset="0"/>
                        </a:rPr>
                        <m:t>𝒘</m:t>
                      </m:r>
                      <m:r>
                        <a:rPr lang="en-US" sz="4400" i="1">
                          <a:solidFill>
                            <a:srgbClr val="000000">
                              <a:alpha val="50000"/>
                            </a:srgbClr>
                          </a:solidFill>
                          <a:latin typeface="Cambria Math" panose="02040503050406030204" pitchFamily="18" charset="0"/>
                        </a:rPr>
                        <m:t>←</m:t>
                      </m:r>
                      <m:r>
                        <a:rPr lang="en-US" sz="4400" i="1" smtClean="0">
                          <a:solidFill>
                            <a:schemeClr val="accent5">
                              <a:lumMod val="75000"/>
                              <a:alpha val="50000"/>
                            </a:schemeClr>
                          </a:solidFill>
                          <a:latin typeface="Cambria Math" panose="02040503050406030204" pitchFamily="18" charset="0"/>
                        </a:rPr>
                        <m:t>𝑧</m:t>
                      </m:r>
                      <m:r>
                        <a:rPr lang="en-US" sz="4400" i="1">
                          <a:solidFill>
                            <a:srgbClr val="000000">
                              <a:alpha val="50000"/>
                            </a:srgbClr>
                          </a:solidFill>
                          <a:latin typeface="Cambria Math" panose="02040503050406030204" pitchFamily="18" charset="0"/>
                        </a:rPr>
                        <m:t> </m:t>
                      </m:r>
                      <m:r>
                        <a:rPr lang="en-US" sz="4400" b="1" i="1">
                          <a:solidFill>
                            <a:srgbClr val="000000">
                              <a:alpha val="50000"/>
                            </a:srgbClr>
                          </a:solidFill>
                          <a:latin typeface="Cambria Math" panose="02040503050406030204" pitchFamily="18" charset="0"/>
                        </a:rPr>
                        <m:t>𝝍</m:t>
                      </m:r>
                    </m:oMath>
                  </m:oMathPara>
                </a14:m>
                <a:endParaRPr lang="en-US" sz="4400" i="1" dirty="0">
                  <a:solidFill>
                    <a:srgbClr val="000000">
                      <a:alpha val="50000"/>
                    </a:srgbClr>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51709777-0547-3DBE-C298-9C6BB5A3F70B}"/>
                  </a:ext>
                </a:extLst>
              </p:cNvPr>
              <p:cNvSpPr txBox="1">
                <a:spLocks noRot="1" noChangeAspect="1" noMove="1" noResize="1" noEditPoints="1" noAdjustHandles="1" noChangeArrowheads="1" noChangeShapeType="1" noTextEdit="1"/>
              </p:cNvSpPr>
              <p:nvPr/>
            </p:nvSpPr>
            <p:spPr>
              <a:xfrm>
                <a:off x="8430768" y="3580517"/>
                <a:ext cx="2338832" cy="769441"/>
              </a:xfrm>
              <a:prstGeom prst="rect">
                <a:avLst/>
              </a:prstGeom>
              <a:blipFill>
                <a:blip r:embed="rId7"/>
                <a:stretch>
                  <a:fillRect r="-4301" b="-25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7EFAD457-00F5-7414-C0C1-09A5A792EE4E}"/>
                  </a:ext>
                </a:extLst>
              </p:cNvPr>
              <p:cNvSpPr txBox="1">
                <a:spLocks/>
              </p:cNvSpPr>
              <p:nvPr/>
            </p:nvSpPr>
            <p:spPr>
              <a:xfrm>
                <a:off x="561372" y="282969"/>
                <a:ext cx="4330700" cy="142211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dirty="0"/>
                  <a:t>Recall:</a:t>
                </a:r>
                <a:r>
                  <a:rPr lang="en-US" b="0" dirty="0"/>
                  <a:t> </a:t>
                </a:r>
                <a14:m>
                  <m:oMath xmlns:m="http://schemas.openxmlformats.org/officeDocument/2006/math">
                    <m:r>
                      <a:rPr lang="en-US" b="0" i="1" smtClean="0">
                        <a:latin typeface="Cambria Math" panose="02040503050406030204" pitchFamily="18" charset="0"/>
                      </a:rPr>
                      <m:t>𝑓</m:t>
                    </m:r>
                  </m:oMath>
                </a14:m>
                <a:r>
                  <a:rPr lang="en-US" b="0" dirty="0"/>
                  <a:t> is just an arithmetic circuit</a:t>
                </a:r>
              </a:p>
            </p:txBody>
          </p:sp>
        </mc:Choice>
        <mc:Fallback xmlns="">
          <p:sp>
            <p:nvSpPr>
              <p:cNvPr id="8" name="Title 1">
                <a:extLst>
                  <a:ext uri="{FF2B5EF4-FFF2-40B4-BE49-F238E27FC236}">
                    <a16:creationId xmlns:a16="http://schemas.microsoft.com/office/drawing/2014/main" id="{7EFAD457-00F5-7414-C0C1-09A5A792EE4E}"/>
                  </a:ext>
                </a:extLst>
              </p:cNvPr>
              <p:cNvSpPr txBox="1">
                <a:spLocks noRot="1" noChangeAspect="1" noMove="1" noResize="1" noEditPoints="1" noAdjustHandles="1" noChangeArrowheads="1" noChangeShapeType="1" noTextEdit="1"/>
              </p:cNvSpPr>
              <p:nvPr/>
            </p:nvSpPr>
            <p:spPr>
              <a:xfrm>
                <a:off x="561372" y="282969"/>
                <a:ext cx="4330700" cy="1422110"/>
              </a:xfrm>
              <a:prstGeom prst="rect">
                <a:avLst/>
              </a:prstGeom>
              <a:blipFill>
                <a:blip r:embed="rId8"/>
                <a:stretch>
                  <a:fillRect l="-5848" t="-12389" r="-7895" b="-115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BBED9EB-60F3-D335-D665-EDA8131E5022}"/>
                  </a:ext>
                </a:extLst>
              </p:cNvPr>
              <p:cNvSpPr txBox="1"/>
              <p:nvPr/>
            </p:nvSpPr>
            <p:spPr>
              <a:xfrm>
                <a:off x="725765" y="6036684"/>
                <a:ext cx="4527931" cy="769441"/>
              </a:xfrm>
              <a:prstGeom prst="rect">
                <a:avLst/>
              </a:prstGeom>
              <a:noFill/>
            </p:spPr>
            <p:txBody>
              <a:bodyPr wrap="square" rtlCol="0">
                <a:spAutoFit/>
              </a:bodyPr>
              <a:lstStyle/>
              <a:p>
                <a14:m>
                  <m:oMath xmlns:m="http://schemas.openxmlformats.org/officeDocument/2006/math">
                    <m:r>
                      <a:rPr lang="en-US" sz="4400" b="0" i="1" smtClean="0">
                        <a:latin typeface="Cambria Math" panose="02040503050406030204" pitchFamily="18" charset="0"/>
                      </a:rPr>
                      <m:t>𝑅</m:t>
                    </m:r>
                    <m:r>
                      <a:rPr lang="en-US" sz="4400" b="0" i="1" smtClean="0">
                        <a:latin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ℂ</m:t>
                    </m:r>
                    <m:d>
                      <m:dPr>
                        <m:begChr m:val="["/>
                        <m:endChr m:val="]"/>
                        <m:ctrlPr>
                          <a:rPr lang="en-US" sz="4400" b="0" i="1" smtClean="0">
                            <a:latin typeface="Cambria Math" panose="02040503050406030204" pitchFamily="18" charset="0"/>
                            <a:ea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d>
                    <m:r>
                      <a:rPr lang="en-US" sz="4400" b="0" i="1" smtClean="0">
                        <a:latin typeface="Cambria Math" panose="02040503050406030204" pitchFamily="18" charset="0"/>
                        <a:ea typeface="Cambria Math" panose="02040503050406030204" pitchFamily="18" charset="0"/>
                      </a:rPr>
                      <m:t>/</m:t>
                    </m:r>
                    <m:d>
                      <m:dPr>
                        <m:ctrlPr>
                          <a:rPr lang="en-US" sz="4400" b="0" i="1" smtClean="0">
                            <a:latin typeface="Cambria Math" panose="02040503050406030204" pitchFamily="18" charset="0"/>
                            <a:ea typeface="Cambria Math" panose="02040503050406030204" pitchFamily="18" charset="0"/>
                          </a:rPr>
                        </m:ctrlPr>
                      </m:dPr>
                      <m:e>
                        <m:sSup>
                          <m:sSupPr>
                            <m:ctrlPr>
                              <a:rPr lang="en-US" sz="4400" b="0" i="1" smtClean="0">
                                <a:latin typeface="Cambria Math" panose="02040503050406030204" pitchFamily="18" charset="0"/>
                                <a:ea typeface="Cambria Math" panose="02040503050406030204" pitchFamily="18" charset="0"/>
                              </a:rPr>
                            </m:ctrlPr>
                          </m:sSup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sup>
                            <m:r>
                              <a:rPr lang="en-US" sz="4400" b="0" i="1" smtClean="0">
                                <a:latin typeface="Cambria Math" panose="02040503050406030204" pitchFamily="18" charset="0"/>
                                <a:ea typeface="Cambria Math" panose="02040503050406030204" pitchFamily="18" charset="0"/>
                              </a:rPr>
                              <m:t>2</m:t>
                            </m:r>
                          </m:sup>
                        </m:sSup>
                      </m:e>
                    </m:d>
                  </m:oMath>
                </a14:m>
                <a:r>
                  <a:rPr lang="en-US" sz="4400" dirty="0">
                    <a:latin typeface="Garamond" panose="02020404030301010803" pitchFamily="18" charset="0"/>
                  </a:rPr>
                  <a:t>.</a:t>
                </a:r>
              </a:p>
            </p:txBody>
          </p:sp>
        </mc:Choice>
        <mc:Fallback xmlns="">
          <p:sp>
            <p:nvSpPr>
              <p:cNvPr id="28" name="TextBox 27">
                <a:extLst>
                  <a:ext uri="{FF2B5EF4-FFF2-40B4-BE49-F238E27FC236}">
                    <a16:creationId xmlns:a16="http://schemas.microsoft.com/office/drawing/2014/main" id="{5BBED9EB-60F3-D335-D665-EDA8131E5022}"/>
                  </a:ext>
                </a:extLst>
              </p:cNvPr>
              <p:cNvSpPr txBox="1">
                <a:spLocks noRot="1" noChangeAspect="1" noMove="1" noResize="1" noEditPoints="1" noAdjustHandles="1" noChangeArrowheads="1" noChangeShapeType="1" noTextEdit="1"/>
              </p:cNvSpPr>
              <p:nvPr/>
            </p:nvSpPr>
            <p:spPr>
              <a:xfrm>
                <a:off x="725765" y="6036684"/>
                <a:ext cx="4527931" cy="769441"/>
              </a:xfrm>
              <a:prstGeom prst="rect">
                <a:avLst/>
              </a:prstGeom>
              <a:blipFill>
                <a:blip r:embed="rId9"/>
                <a:stretch>
                  <a:fillRect l="-2241" t="-14754" b="-377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0B302D0-2567-C4F9-2F63-F3B6DCCC8A29}"/>
                  </a:ext>
                </a:extLst>
              </p:cNvPr>
              <p:cNvSpPr txBox="1"/>
              <p:nvPr/>
            </p:nvSpPr>
            <p:spPr>
              <a:xfrm>
                <a:off x="2051151" y="2991732"/>
                <a:ext cx="548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i="1" dirty="0">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50B302D0-2567-C4F9-2F63-F3B6DCCC8A29}"/>
                  </a:ext>
                </a:extLst>
              </p:cNvPr>
              <p:cNvSpPr txBox="1">
                <a:spLocks noRot="1" noChangeAspect="1" noMove="1" noResize="1" noEditPoints="1" noAdjustHandles="1" noChangeArrowheads="1" noChangeShapeType="1" noTextEdit="1"/>
              </p:cNvSpPr>
              <p:nvPr/>
            </p:nvSpPr>
            <p:spPr>
              <a:xfrm>
                <a:off x="2051151" y="2991732"/>
                <a:ext cx="548330"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1FB7409-C424-3DD1-052C-666BD030EFF8}"/>
                  </a:ext>
                </a:extLst>
              </p:cNvPr>
              <p:cNvSpPr txBox="1"/>
              <p:nvPr/>
            </p:nvSpPr>
            <p:spPr>
              <a:xfrm>
                <a:off x="2524250" y="3903641"/>
                <a:ext cx="548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i="1" dirty="0">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71FB7409-C424-3DD1-052C-666BD030EFF8}"/>
                  </a:ext>
                </a:extLst>
              </p:cNvPr>
              <p:cNvSpPr txBox="1">
                <a:spLocks noRot="1" noChangeAspect="1" noMove="1" noResize="1" noEditPoints="1" noAdjustHandles="1" noChangeArrowheads="1" noChangeShapeType="1" noTextEdit="1"/>
              </p:cNvSpPr>
              <p:nvPr/>
            </p:nvSpPr>
            <p:spPr>
              <a:xfrm>
                <a:off x="2524250" y="3903641"/>
                <a:ext cx="548330" cy="523220"/>
              </a:xfrm>
              <a:prstGeom prst="rect">
                <a:avLst/>
              </a:prstGeom>
              <a:blipFill>
                <a:blip r:embed="rId11"/>
                <a:stretch>
                  <a:fillRect/>
                </a:stretch>
              </a:blipFill>
            </p:spPr>
            <p:txBody>
              <a:bodyPr/>
              <a:lstStyle/>
              <a:p>
                <a:r>
                  <a:rPr lang="en-US">
                    <a:noFill/>
                  </a:rPr>
                  <a:t> </a:t>
                </a:r>
              </a:p>
            </p:txBody>
          </p:sp>
        </mc:Fallback>
      </mc:AlternateContent>
      <p:sp>
        <p:nvSpPr>
          <p:cNvPr id="34" name="Oval 33">
            <a:extLst>
              <a:ext uri="{FF2B5EF4-FFF2-40B4-BE49-F238E27FC236}">
                <a16:creationId xmlns:a16="http://schemas.microsoft.com/office/drawing/2014/main" id="{8E486BAB-B01B-93FD-A541-28EB02B3AEDA}"/>
              </a:ext>
            </a:extLst>
          </p:cNvPr>
          <p:cNvSpPr/>
          <p:nvPr/>
        </p:nvSpPr>
        <p:spPr>
          <a:xfrm>
            <a:off x="2121374" y="3076407"/>
            <a:ext cx="394636" cy="39463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29FC04BE-95E4-53CD-B033-919224E530FE}"/>
              </a:ext>
            </a:extLst>
          </p:cNvPr>
          <p:cNvSpPr/>
          <p:nvPr/>
        </p:nvSpPr>
        <p:spPr>
          <a:xfrm>
            <a:off x="2601097" y="3976408"/>
            <a:ext cx="394636" cy="39463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Arrow Connector 35">
            <a:extLst>
              <a:ext uri="{FF2B5EF4-FFF2-40B4-BE49-F238E27FC236}">
                <a16:creationId xmlns:a16="http://schemas.microsoft.com/office/drawing/2014/main" id="{66136FFE-20E1-2D2B-518C-AF6CD6C05814}"/>
              </a:ext>
            </a:extLst>
          </p:cNvPr>
          <p:cNvCxnSpPr>
            <a:cxnSpLocks/>
            <a:stCxn id="34" idx="4"/>
            <a:endCxn id="35" idx="1"/>
          </p:cNvCxnSpPr>
          <p:nvPr/>
        </p:nvCxnSpPr>
        <p:spPr>
          <a:xfrm>
            <a:off x="2318692" y="3471043"/>
            <a:ext cx="340198" cy="56315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219400B9-EEB8-7B37-60A8-EA32E945EC0D}"/>
              </a:ext>
            </a:extLst>
          </p:cNvPr>
          <p:cNvCxnSpPr>
            <a:cxnSpLocks/>
            <a:stCxn id="41" idx="2"/>
            <a:endCxn id="34" idx="1"/>
          </p:cNvCxnSpPr>
          <p:nvPr/>
        </p:nvCxnSpPr>
        <p:spPr>
          <a:xfrm>
            <a:off x="1674145" y="2439815"/>
            <a:ext cx="505022" cy="694385"/>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8" name="Straight Arrow Connector 37">
            <a:extLst>
              <a:ext uri="{FF2B5EF4-FFF2-40B4-BE49-F238E27FC236}">
                <a16:creationId xmlns:a16="http://schemas.microsoft.com/office/drawing/2014/main" id="{43D299DF-AD20-79D7-1CB6-94B0D38912CE}"/>
              </a:ext>
            </a:extLst>
          </p:cNvPr>
          <p:cNvCxnSpPr>
            <a:cxnSpLocks/>
            <a:stCxn id="42" idx="2"/>
            <a:endCxn id="34" idx="7"/>
          </p:cNvCxnSpPr>
          <p:nvPr/>
        </p:nvCxnSpPr>
        <p:spPr>
          <a:xfrm flipH="1">
            <a:off x="2458217" y="2439648"/>
            <a:ext cx="420797" cy="69455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0D6D99FD-B50C-307F-FF34-C89AC4EFFFA6}"/>
              </a:ext>
            </a:extLst>
          </p:cNvPr>
          <p:cNvCxnSpPr>
            <a:cxnSpLocks/>
            <a:stCxn id="43" idx="2"/>
            <a:endCxn id="35" idx="7"/>
          </p:cNvCxnSpPr>
          <p:nvPr/>
        </p:nvCxnSpPr>
        <p:spPr>
          <a:xfrm flipH="1">
            <a:off x="2937940" y="2439648"/>
            <a:ext cx="1470944" cy="1594553"/>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Straight Arrow Connector 39">
            <a:extLst>
              <a:ext uri="{FF2B5EF4-FFF2-40B4-BE49-F238E27FC236}">
                <a16:creationId xmlns:a16="http://schemas.microsoft.com/office/drawing/2014/main" id="{AA796E55-2CC8-D739-78F6-31A0F4391A9B}"/>
              </a:ext>
            </a:extLst>
          </p:cNvPr>
          <p:cNvCxnSpPr>
            <a:cxnSpLocks/>
            <a:stCxn id="35" idx="4"/>
            <a:endCxn id="44" idx="0"/>
          </p:cNvCxnSpPr>
          <p:nvPr/>
        </p:nvCxnSpPr>
        <p:spPr>
          <a:xfrm>
            <a:off x="2798415" y="4371044"/>
            <a:ext cx="0" cy="54860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45981A9-538C-BF20-5B5B-89EC5B1FB251}"/>
                  </a:ext>
                </a:extLst>
              </p:cNvPr>
              <p:cNvSpPr txBox="1"/>
              <p:nvPr/>
            </p:nvSpPr>
            <p:spPr>
              <a:xfrm>
                <a:off x="1297139" y="1670374"/>
                <a:ext cx="754012"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accent5">
                              <a:lumMod val="75000"/>
                            </a:schemeClr>
                          </a:solidFill>
                          <a:latin typeface="Cambria Math" panose="02040503050406030204" pitchFamily="18" charset="0"/>
                        </a:rPr>
                        <m:t>𝑧</m:t>
                      </m:r>
                    </m:oMath>
                  </m:oMathPara>
                </a14:m>
                <a:endParaRPr lang="en-US" sz="4400" i="1" dirty="0">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D45981A9-538C-BF20-5B5B-89EC5B1FB251}"/>
                  </a:ext>
                </a:extLst>
              </p:cNvPr>
              <p:cNvSpPr txBox="1">
                <a:spLocks noRot="1" noChangeAspect="1" noMove="1" noResize="1" noEditPoints="1" noAdjustHandles="1" noChangeArrowheads="1" noChangeShapeType="1" noTextEdit="1"/>
              </p:cNvSpPr>
              <p:nvPr/>
            </p:nvSpPr>
            <p:spPr>
              <a:xfrm>
                <a:off x="1297139" y="1670374"/>
                <a:ext cx="754012" cy="769441"/>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4984EA1-3206-58C8-6A4A-4AA1B0316BE5}"/>
                  </a:ext>
                </a:extLst>
              </p:cNvPr>
              <p:cNvSpPr txBox="1"/>
              <p:nvPr/>
            </p:nvSpPr>
            <p:spPr>
              <a:xfrm>
                <a:off x="2458217" y="1670207"/>
                <a:ext cx="841594"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2</m:t>
                      </m:r>
                    </m:oMath>
                  </m:oMathPara>
                </a14:m>
                <a:endParaRPr lang="en-US" sz="4400" i="1" dirty="0">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D4984EA1-3206-58C8-6A4A-4AA1B0316BE5}"/>
                  </a:ext>
                </a:extLst>
              </p:cNvPr>
              <p:cNvSpPr txBox="1">
                <a:spLocks noRot="1" noChangeAspect="1" noMove="1" noResize="1" noEditPoints="1" noAdjustHandles="1" noChangeArrowheads="1" noChangeShapeType="1" noTextEdit="1"/>
              </p:cNvSpPr>
              <p:nvPr/>
            </p:nvSpPr>
            <p:spPr>
              <a:xfrm>
                <a:off x="2458217" y="1670207"/>
                <a:ext cx="841594" cy="76944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48F7C49-16D9-B4ED-801D-B804AFC76BEA}"/>
                  </a:ext>
                </a:extLst>
              </p:cNvPr>
              <p:cNvSpPr txBox="1"/>
              <p:nvPr/>
            </p:nvSpPr>
            <p:spPr>
              <a:xfrm>
                <a:off x="3613740" y="1670207"/>
                <a:ext cx="1590287"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+1 </m:t>
                      </m:r>
                    </m:oMath>
                  </m:oMathPara>
                </a14:m>
                <a:endParaRPr lang="en-US" sz="4400" i="1" dirty="0">
                  <a:latin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448F7C49-16D9-B4ED-801D-B804AFC76BEA}"/>
                  </a:ext>
                </a:extLst>
              </p:cNvPr>
              <p:cNvSpPr txBox="1">
                <a:spLocks noRot="1" noChangeAspect="1" noMove="1" noResize="1" noEditPoints="1" noAdjustHandles="1" noChangeArrowheads="1" noChangeShapeType="1" noTextEdit="1"/>
              </p:cNvSpPr>
              <p:nvPr/>
            </p:nvSpPr>
            <p:spPr>
              <a:xfrm>
                <a:off x="3613740" y="1670207"/>
                <a:ext cx="1590287" cy="769441"/>
              </a:xfrm>
              <a:prstGeom prst="rect">
                <a:avLst/>
              </a:prstGeom>
              <a:blipFill>
                <a:blip r:embed="rId14"/>
                <a:stretch>
                  <a:fillRect l="-1587" t="-1639" r="-11111"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5E3C81A-A454-634F-C58B-0BCCF883D34B}"/>
                  </a:ext>
                </a:extLst>
              </p:cNvPr>
              <p:cNvSpPr txBox="1"/>
              <p:nvPr/>
            </p:nvSpPr>
            <p:spPr>
              <a:xfrm>
                <a:off x="831173" y="4919651"/>
                <a:ext cx="3934483"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4400" b="0" i="1" smtClean="0">
                              <a:latin typeface="Cambria Math" panose="02040503050406030204" pitchFamily="18" charset="0"/>
                            </a:rPr>
                          </m:ctrlPr>
                        </m:sSupPr>
                        <m:e>
                          <m:r>
                            <a:rPr lang="en-US" sz="4400" b="0" i="1" smtClean="0">
                              <a:solidFill>
                                <a:schemeClr val="accent5">
                                  <a:lumMod val="75000"/>
                                </a:schemeClr>
                              </a:solidFill>
                              <a:latin typeface="Cambria Math" panose="02040503050406030204" pitchFamily="18" charset="0"/>
                            </a:rPr>
                            <m:t>𝑧</m:t>
                          </m:r>
                        </m:e>
                        <m:sup>
                          <m:r>
                            <a:rPr lang="en-US" sz="4400" b="0" i="1" smtClean="0">
                              <a:latin typeface="Cambria Math" panose="02040503050406030204" pitchFamily="18" charset="0"/>
                            </a:rPr>
                            <m:t>2</m:t>
                          </m:r>
                        </m:sup>
                      </m:sSup>
                      <m:r>
                        <a:rPr lang="en-US" sz="4400" b="0" i="1" smtClean="0">
                          <a:latin typeface="Cambria Math" panose="02040503050406030204" pitchFamily="18" charset="0"/>
                        </a:rPr>
                        <m:t>+3</m:t>
                      </m:r>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+2</m:t>
                      </m:r>
                    </m:oMath>
                  </m:oMathPara>
                </a14:m>
                <a:endParaRPr lang="en-US" sz="4400" i="1" dirty="0">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D5E3C81A-A454-634F-C58B-0BCCF883D34B}"/>
                  </a:ext>
                </a:extLst>
              </p:cNvPr>
              <p:cNvSpPr txBox="1">
                <a:spLocks noRot="1" noChangeAspect="1" noMove="1" noResize="1" noEditPoints="1" noAdjustHandles="1" noChangeArrowheads="1" noChangeShapeType="1" noTextEdit="1"/>
              </p:cNvSpPr>
              <p:nvPr/>
            </p:nvSpPr>
            <p:spPr>
              <a:xfrm>
                <a:off x="831173" y="4919651"/>
                <a:ext cx="3934483" cy="769441"/>
              </a:xfrm>
              <a:prstGeom prst="rect">
                <a:avLst/>
              </a:prstGeom>
              <a:blipFill>
                <a:blip r:embed="rId15"/>
                <a:stretch>
                  <a:fillRect/>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A9E12F02-3EB5-0868-6387-7C7B82B72D28}"/>
              </a:ext>
            </a:extLst>
          </p:cNvPr>
          <p:cNvSpPr/>
          <p:nvPr/>
        </p:nvSpPr>
        <p:spPr>
          <a:xfrm>
            <a:off x="120078" y="1553140"/>
            <a:ext cx="5013540" cy="5252985"/>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49482F0-497C-DCDD-63F9-D27598CDA038}"/>
                  </a:ext>
                </a:extLst>
              </p:cNvPr>
              <p:cNvSpPr txBox="1"/>
              <p:nvPr/>
            </p:nvSpPr>
            <p:spPr>
              <a:xfrm>
                <a:off x="689026" y="3352803"/>
                <a:ext cx="1695699"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+2</m:t>
                      </m:r>
                    </m:oMath>
                  </m:oMathPara>
                </a14:m>
                <a:endParaRPr lang="en-US" sz="4400" i="1" dirty="0">
                  <a:latin typeface="Cambria Math" panose="02040503050406030204" pitchFamily="18" charset="0"/>
                </a:endParaRPr>
              </a:p>
            </p:txBody>
          </p:sp>
        </mc:Choice>
        <mc:Fallback xmlns="">
          <p:sp>
            <p:nvSpPr>
              <p:cNvPr id="53" name="TextBox 52">
                <a:extLst>
                  <a:ext uri="{FF2B5EF4-FFF2-40B4-BE49-F238E27FC236}">
                    <a16:creationId xmlns:a16="http://schemas.microsoft.com/office/drawing/2014/main" id="{E49482F0-497C-DCDD-63F9-D27598CDA038}"/>
                  </a:ext>
                </a:extLst>
              </p:cNvPr>
              <p:cNvSpPr txBox="1">
                <a:spLocks noRot="1" noChangeAspect="1" noMove="1" noResize="1" noEditPoints="1" noAdjustHandles="1" noChangeArrowheads="1" noChangeShapeType="1" noTextEdit="1"/>
              </p:cNvSpPr>
              <p:nvPr/>
            </p:nvSpPr>
            <p:spPr>
              <a:xfrm>
                <a:off x="689026" y="3352803"/>
                <a:ext cx="1695699" cy="769441"/>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9802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1" grpId="0"/>
      <p:bldP spid="42" grpId="0"/>
      <p:bldP spid="43" grpId="0"/>
      <p:bldP spid="44" grpId="0"/>
      <p:bldP spid="5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F073-0915-4F81-B825-EFE67E0A60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8D2E39-67CF-1D42-6E22-555124A207F7}"/>
              </a:ext>
            </a:extLst>
          </p:cNvPr>
          <p:cNvSpPr/>
          <p:nvPr/>
        </p:nvSpPr>
        <p:spPr>
          <a:xfrm>
            <a:off x="5253696" y="1811676"/>
            <a:ext cx="7120997" cy="5286547"/>
          </a:xfrm>
          <a:prstGeom prst="rect">
            <a:avLst/>
          </a:prstGeom>
          <a:solidFill>
            <a:schemeClr val="bg1"/>
          </a:solidFill>
          <a:ln w="7620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Lightbulb with solid fill">
            <a:extLst>
              <a:ext uri="{FF2B5EF4-FFF2-40B4-BE49-F238E27FC236}">
                <a16:creationId xmlns:a16="http://schemas.microsoft.com/office/drawing/2014/main" id="{F61D9355-B27E-7EC6-C47A-7DCADAEDA7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84065" y="282969"/>
            <a:ext cx="914400" cy="9144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D418937-8A71-5864-AD98-82D9CF85FB8B}"/>
                  </a:ext>
                </a:extLst>
              </p:cNvPr>
              <p:cNvSpPr txBox="1"/>
              <p:nvPr/>
            </p:nvSpPr>
            <p:spPr>
              <a:xfrm>
                <a:off x="6507936" y="365126"/>
                <a:ext cx="5563986" cy="1446550"/>
              </a:xfrm>
              <a:prstGeom prst="rect">
                <a:avLst/>
              </a:prstGeom>
              <a:noFill/>
            </p:spPr>
            <p:txBody>
              <a:bodyPr wrap="square" rtlCol="0">
                <a:spAutoFit/>
              </a:bodyPr>
              <a:lstStyle/>
              <a:p>
                <a:r>
                  <a:rPr lang="en-US" sz="4400" dirty="0">
                    <a:solidFill>
                      <a:srgbClr val="000000">
                        <a:alpha val="50000"/>
                      </a:srgbClr>
                    </a:solidFill>
                    <a:latin typeface="Garamond" panose="02020404030301010803" pitchFamily="18" charset="0"/>
                  </a:rPr>
                  <a:t>Compute </a:t>
                </a:r>
                <a14:m>
                  <m:oMath xmlns:m="http://schemas.openxmlformats.org/officeDocument/2006/math">
                    <m:r>
                      <a:rPr lang="en-US" sz="4400" b="0" i="1" smtClean="0">
                        <a:solidFill>
                          <a:srgbClr val="000000">
                            <a:alpha val="50000"/>
                          </a:srgbClr>
                        </a:solidFill>
                        <a:latin typeface="Cambria Math" panose="02040503050406030204" pitchFamily="18" charset="0"/>
                      </a:rPr>
                      <m:t>𝑓</m:t>
                    </m:r>
                    <m:d>
                      <m:dPr>
                        <m:ctrlPr>
                          <a:rPr lang="en-US" sz="4400" b="0" i="1" smtClean="0">
                            <a:solidFill>
                              <a:srgbClr val="000000">
                                <a:alpha val="50000"/>
                              </a:srgbClr>
                            </a:solidFill>
                            <a:latin typeface="Cambria Math" panose="02040503050406030204" pitchFamily="18" charset="0"/>
                          </a:rPr>
                        </m:ctrlPr>
                      </m:dPr>
                      <m:e>
                        <m:r>
                          <a:rPr lang="en-US" sz="4400" b="0" i="1" smtClean="0">
                            <a:solidFill>
                              <a:schemeClr val="accent5">
                                <a:lumMod val="75000"/>
                                <a:alpha val="50000"/>
                              </a:schemeClr>
                            </a:solidFill>
                            <a:latin typeface="Cambria Math" panose="02040503050406030204" pitchFamily="18" charset="0"/>
                          </a:rPr>
                          <m:t>𝑧</m:t>
                        </m:r>
                        <m:r>
                          <a:rPr lang="en-US" sz="4400" b="1" i="1" smtClean="0">
                            <a:solidFill>
                              <a:srgbClr val="000000">
                                <a:alpha val="50000"/>
                              </a:srgbClr>
                            </a:solidFill>
                            <a:latin typeface="Cambria Math" panose="02040503050406030204" pitchFamily="18" charset="0"/>
                          </a:rPr>
                          <m:t> </m:t>
                        </m:r>
                        <m:r>
                          <a:rPr lang="en-US" sz="4400" b="1" i="1" smtClean="0">
                            <a:solidFill>
                              <a:srgbClr val="000000">
                                <a:alpha val="50000"/>
                              </a:srgbClr>
                            </a:solidFill>
                            <a:latin typeface="Cambria Math" panose="02040503050406030204" pitchFamily="18" charset="0"/>
                          </a:rPr>
                          <m:t>𝝍</m:t>
                        </m:r>
                      </m:e>
                    </m:d>
                  </m:oMath>
                </a14:m>
                <a:endParaRPr lang="en-US" sz="4400" b="0" dirty="0">
                  <a:solidFill>
                    <a:srgbClr val="000000">
                      <a:alpha val="50000"/>
                    </a:srgbClr>
                  </a:solidFill>
                  <a:latin typeface="Garamond" panose="02020404030301010803" pitchFamily="18" charset="0"/>
                </a:endParaRPr>
              </a:p>
              <a:p>
                <a:r>
                  <a:rPr lang="en-US" sz="4400" dirty="0">
                    <a:solidFill>
                      <a:srgbClr val="000000">
                        <a:alpha val="50000"/>
                      </a:srgbClr>
                    </a:solidFill>
                    <a:latin typeface="Garamond" panose="02020404030301010803" pitchFamily="18" charset="0"/>
                  </a:rPr>
                  <a:t> over </a:t>
                </a:r>
                <a14:m>
                  <m:oMath xmlns:m="http://schemas.openxmlformats.org/officeDocument/2006/math">
                    <m:r>
                      <a:rPr lang="en-US" sz="4400" b="0" i="1" smtClean="0">
                        <a:solidFill>
                          <a:srgbClr val="000000">
                            <a:alpha val="50000"/>
                          </a:srgbClr>
                        </a:solidFill>
                        <a:latin typeface="Cambria Math" panose="02040503050406030204" pitchFamily="18" charset="0"/>
                      </a:rPr>
                      <m:t>𝑅</m:t>
                    </m:r>
                    <m:r>
                      <a:rPr lang="en-US" sz="4400" b="0" i="1" smtClean="0">
                        <a:solidFill>
                          <a:srgbClr val="000000">
                            <a:alpha val="50000"/>
                          </a:srgbClr>
                        </a:solidFill>
                        <a:latin typeface="Cambria Math" panose="02040503050406030204" pitchFamily="18" charset="0"/>
                      </a:rPr>
                      <m:t>≔</m:t>
                    </m:r>
                    <m:r>
                      <a:rPr lang="en-US" sz="4400" b="0" i="1" smtClean="0">
                        <a:solidFill>
                          <a:srgbClr val="000000">
                            <a:alpha val="50000"/>
                          </a:srgbClr>
                        </a:solidFill>
                        <a:latin typeface="Cambria Math" panose="02040503050406030204" pitchFamily="18" charset="0"/>
                        <a:ea typeface="Cambria Math" panose="02040503050406030204" pitchFamily="18" charset="0"/>
                      </a:rPr>
                      <m:t>ℂ</m:t>
                    </m:r>
                    <m:d>
                      <m:dPr>
                        <m:begChr m:val="["/>
                        <m:endChr m:val="]"/>
                        <m:ctrlPr>
                          <a:rPr lang="en-US" sz="4400" b="0" i="1" smtClean="0">
                            <a:solidFill>
                              <a:srgbClr val="000000">
                                <a:alpha val="50000"/>
                              </a:srgbClr>
                            </a:solidFill>
                            <a:latin typeface="Cambria Math" panose="02040503050406030204" pitchFamily="18" charset="0"/>
                            <a:ea typeface="Cambria Math" panose="02040503050406030204" pitchFamily="18" charset="0"/>
                          </a:rPr>
                        </m:ctrlPr>
                      </m:dPr>
                      <m:e>
                        <m:r>
                          <a:rPr lang="en-US" sz="4400" b="0" i="1" smtClean="0">
                            <a:solidFill>
                              <a:schemeClr val="accent5">
                                <a:lumMod val="75000"/>
                                <a:alpha val="50000"/>
                              </a:schemeClr>
                            </a:solidFill>
                            <a:latin typeface="Cambria Math" panose="02040503050406030204" pitchFamily="18" charset="0"/>
                            <a:ea typeface="Cambria Math" panose="02040503050406030204" pitchFamily="18" charset="0"/>
                          </a:rPr>
                          <m:t>𝑧</m:t>
                        </m:r>
                      </m:e>
                    </m:d>
                    <m:r>
                      <a:rPr lang="en-US" sz="4400" b="0" i="1" smtClean="0">
                        <a:solidFill>
                          <a:srgbClr val="000000">
                            <a:alpha val="50000"/>
                          </a:srgbClr>
                        </a:solidFill>
                        <a:latin typeface="Cambria Math" panose="02040503050406030204" pitchFamily="18" charset="0"/>
                        <a:ea typeface="Cambria Math" panose="02040503050406030204" pitchFamily="18" charset="0"/>
                      </a:rPr>
                      <m:t>/</m:t>
                    </m:r>
                    <m:d>
                      <m:dPr>
                        <m:ctrlPr>
                          <a:rPr lang="en-US" sz="4400" b="0" i="1" smtClean="0">
                            <a:solidFill>
                              <a:srgbClr val="000000">
                                <a:alpha val="50000"/>
                              </a:srgbClr>
                            </a:solidFill>
                            <a:latin typeface="Cambria Math" panose="02040503050406030204" pitchFamily="18" charset="0"/>
                            <a:ea typeface="Cambria Math" panose="02040503050406030204" pitchFamily="18" charset="0"/>
                          </a:rPr>
                        </m:ctrlPr>
                      </m:dPr>
                      <m:e>
                        <m:sSup>
                          <m:sSupPr>
                            <m:ctrlPr>
                              <a:rPr lang="en-US" sz="4400" b="0" i="1" smtClean="0">
                                <a:solidFill>
                                  <a:srgbClr val="000000">
                                    <a:alpha val="50000"/>
                                  </a:srgbClr>
                                </a:solidFill>
                                <a:latin typeface="Cambria Math" panose="02040503050406030204" pitchFamily="18" charset="0"/>
                                <a:ea typeface="Cambria Math" panose="02040503050406030204" pitchFamily="18" charset="0"/>
                              </a:rPr>
                            </m:ctrlPr>
                          </m:sSupPr>
                          <m:e>
                            <m:r>
                              <a:rPr lang="en-US" sz="4400" b="0" i="1" smtClean="0">
                                <a:solidFill>
                                  <a:schemeClr val="accent5">
                                    <a:lumMod val="75000"/>
                                    <a:alpha val="50000"/>
                                  </a:schemeClr>
                                </a:solidFill>
                                <a:latin typeface="Cambria Math" panose="02040503050406030204" pitchFamily="18" charset="0"/>
                                <a:ea typeface="Cambria Math" panose="02040503050406030204" pitchFamily="18" charset="0"/>
                              </a:rPr>
                              <m:t>𝑧</m:t>
                            </m:r>
                          </m:e>
                          <m:sup>
                            <m:r>
                              <a:rPr lang="en-US" sz="4400" b="0" i="1" smtClean="0">
                                <a:solidFill>
                                  <a:srgbClr val="000000">
                                    <a:alpha val="50000"/>
                                  </a:srgbClr>
                                </a:solidFill>
                                <a:latin typeface="Cambria Math" panose="02040503050406030204" pitchFamily="18" charset="0"/>
                                <a:ea typeface="Cambria Math" panose="02040503050406030204" pitchFamily="18" charset="0"/>
                              </a:rPr>
                              <m:t>𝑠</m:t>
                            </m:r>
                            <m:r>
                              <a:rPr lang="en-US" sz="4400" b="0" i="1" smtClean="0">
                                <a:solidFill>
                                  <a:srgbClr val="000000">
                                    <a:alpha val="50000"/>
                                  </a:srgbClr>
                                </a:solidFill>
                                <a:latin typeface="Cambria Math" panose="02040503050406030204" pitchFamily="18" charset="0"/>
                                <a:ea typeface="Cambria Math" panose="02040503050406030204" pitchFamily="18" charset="0"/>
                              </a:rPr>
                              <m:t>+1</m:t>
                            </m:r>
                          </m:sup>
                        </m:sSup>
                      </m:e>
                    </m:d>
                  </m:oMath>
                </a14:m>
                <a:r>
                  <a:rPr lang="en-US" sz="4400" dirty="0">
                    <a:solidFill>
                      <a:srgbClr val="000000">
                        <a:alpha val="50000"/>
                      </a:srgbClr>
                    </a:solidFill>
                    <a:latin typeface="Garamond" panose="02020404030301010803" pitchFamily="18" charset="0"/>
                  </a:rPr>
                  <a:t>.</a:t>
                </a:r>
              </a:p>
            </p:txBody>
          </p:sp>
        </mc:Choice>
        <mc:Fallback xmlns="">
          <p:sp>
            <p:nvSpPr>
              <p:cNvPr id="3" name="TextBox 2">
                <a:extLst>
                  <a:ext uri="{FF2B5EF4-FFF2-40B4-BE49-F238E27FC236}">
                    <a16:creationId xmlns:a16="http://schemas.microsoft.com/office/drawing/2014/main" id="{AD418937-8A71-5864-AD98-82D9CF85FB8B}"/>
                  </a:ext>
                </a:extLst>
              </p:cNvPr>
              <p:cNvSpPr txBox="1">
                <a:spLocks noRot="1" noChangeAspect="1" noMove="1" noResize="1" noEditPoints="1" noAdjustHandles="1" noChangeArrowheads="1" noChangeShapeType="1" noTextEdit="1"/>
              </p:cNvSpPr>
              <p:nvPr/>
            </p:nvSpPr>
            <p:spPr>
              <a:xfrm>
                <a:off x="6507936" y="365126"/>
                <a:ext cx="5563986" cy="1446550"/>
              </a:xfrm>
              <a:prstGeom prst="rect">
                <a:avLst/>
              </a:prstGeom>
              <a:blipFill>
                <a:blip r:embed="rId4"/>
                <a:stretch>
                  <a:fillRect l="-4556" t="-7826" r="-4328"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CAFB346-BF79-EBA5-929A-D82F5E235407}"/>
                  </a:ext>
                </a:extLst>
              </p:cNvPr>
              <p:cNvSpPr txBox="1"/>
              <p:nvPr/>
            </p:nvSpPr>
            <p:spPr>
              <a:xfrm>
                <a:off x="5209381" y="4551573"/>
                <a:ext cx="6982619"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tx1">
                              <a:alpha val="50000"/>
                            </a:schemeClr>
                          </a:solidFill>
                          <a:latin typeface="Cambria Math" panose="02040503050406030204" pitchFamily="18" charset="0"/>
                        </a:rPr>
                        <m:t>𝑓</m:t>
                      </m:r>
                      <m:r>
                        <a:rPr lang="en-US" sz="4400" b="0" i="1" smtClean="0">
                          <a:solidFill>
                            <a:schemeClr val="tx1">
                              <a:alpha val="50000"/>
                            </a:schemeClr>
                          </a:solidFill>
                          <a:latin typeface="Cambria Math" panose="02040503050406030204" pitchFamily="18" charset="0"/>
                        </a:rPr>
                        <m:t>(</m:t>
                      </m:r>
                      <m:r>
                        <a:rPr lang="en-US" sz="4400" b="0" i="1" smtClean="0">
                          <a:solidFill>
                            <a:schemeClr val="accent5">
                              <a:lumMod val="75000"/>
                              <a:alpha val="50000"/>
                            </a:schemeClr>
                          </a:solidFill>
                          <a:latin typeface="Cambria Math" panose="02040503050406030204" pitchFamily="18" charset="0"/>
                        </a:rPr>
                        <m:t>𝑧</m:t>
                      </m:r>
                      <m:r>
                        <a:rPr lang="en-US" sz="4400" b="0" i="1" smtClean="0">
                          <a:solidFill>
                            <a:schemeClr val="tx1">
                              <a:alpha val="50000"/>
                            </a:schemeClr>
                          </a:solidFill>
                          <a:latin typeface="Cambria Math" panose="02040503050406030204" pitchFamily="18" charset="0"/>
                        </a:rPr>
                        <m:t> </m:t>
                      </m:r>
                      <m:r>
                        <a:rPr lang="en-US" sz="4400" b="1" i="1" smtClean="0">
                          <a:solidFill>
                            <a:schemeClr val="tx1">
                              <a:alpha val="50000"/>
                            </a:schemeClr>
                          </a:solidFill>
                          <a:latin typeface="Cambria Math" panose="02040503050406030204" pitchFamily="18" charset="0"/>
                        </a:rPr>
                        <m:t>𝝍</m:t>
                      </m:r>
                      <m:r>
                        <a:rPr lang="en-US" sz="4400" b="0" i="1" smtClean="0">
                          <a:solidFill>
                            <a:schemeClr val="tx1">
                              <a:alpha val="50000"/>
                            </a:schemeClr>
                          </a:solidFill>
                          <a:latin typeface="Cambria Math" panose="02040503050406030204" pitchFamily="18" charset="0"/>
                        </a:rPr>
                        <m:t>)=</m:t>
                      </m:r>
                      <m:nary>
                        <m:naryPr>
                          <m:chr m:val="∑"/>
                          <m:ctrlPr>
                            <a:rPr lang="en-US" sz="4400" i="1">
                              <a:solidFill>
                                <a:schemeClr val="tx1">
                                  <a:alpha val="50000"/>
                                </a:schemeClr>
                              </a:solidFill>
                              <a:latin typeface="Cambria Math" panose="02040503050406030204" pitchFamily="18" charset="0"/>
                            </a:rPr>
                          </m:ctrlPr>
                        </m:naryPr>
                        <m:sub>
                          <m:r>
                            <m:rPr>
                              <m:brk m:alnAt="7"/>
                            </m:rPr>
                            <a:rPr lang="en-US" sz="4400" i="1">
                              <a:solidFill>
                                <a:schemeClr val="tx1">
                                  <a:alpha val="50000"/>
                                </a:schemeClr>
                              </a:solidFill>
                              <a:latin typeface="Cambria Math" panose="02040503050406030204" pitchFamily="18" charset="0"/>
                            </a:rPr>
                            <m:t>𝑟</m:t>
                          </m:r>
                          <m:r>
                            <a:rPr lang="en-US" sz="4400" i="1">
                              <a:solidFill>
                                <a:schemeClr val="tx1">
                                  <a:alpha val="50000"/>
                                </a:schemeClr>
                              </a:solidFill>
                              <a:latin typeface="Cambria Math" panose="02040503050406030204" pitchFamily="18" charset="0"/>
                            </a:rPr>
                            <m:t>=0</m:t>
                          </m:r>
                        </m:sub>
                        <m:sup>
                          <m:r>
                            <a:rPr lang="en-US" sz="4400" i="1">
                              <a:solidFill>
                                <a:schemeClr val="tx1">
                                  <a:alpha val="50000"/>
                                </a:schemeClr>
                              </a:solidFill>
                              <a:latin typeface="Cambria Math" panose="02040503050406030204" pitchFamily="18" charset="0"/>
                            </a:rPr>
                            <m:t>𝑠</m:t>
                          </m:r>
                        </m:sup>
                        <m:e>
                          <m:d>
                            <m:dPr>
                              <m:begChr m:val="⟨"/>
                              <m:endChr m:val="⟩"/>
                              <m:ctrlPr>
                                <a:rPr lang="en-US" sz="4400" i="1" smtClean="0">
                                  <a:solidFill>
                                    <a:schemeClr val="tx1">
                                      <a:alpha val="50000"/>
                                    </a:schemeClr>
                                  </a:solidFill>
                                  <a:latin typeface="Cambria Math" panose="02040503050406030204" pitchFamily="18" charset="0"/>
                                </a:rPr>
                              </m:ctrlPr>
                            </m:dPr>
                            <m:e>
                              <m:sSup>
                                <m:sSupPr>
                                  <m:ctrlPr>
                                    <a:rPr lang="en-US" sz="4400" i="1">
                                      <a:solidFill>
                                        <a:schemeClr val="tx1">
                                          <a:alpha val="50000"/>
                                        </a:schemeClr>
                                      </a:solidFill>
                                      <a:latin typeface="Cambria Math" panose="02040503050406030204" pitchFamily="18" charset="0"/>
                                    </a:rPr>
                                  </m:ctrlPr>
                                </m:sSupPr>
                                <m:e>
                                  <m:r>
                                    <a:rPr lang="en-US" sz="4400" b="1">
                                      <a:solidFill>
                                        <a:schemeClr val="tx1">
                                          <a:alpha val="50000"/>
                                        </a:schemeClr>
                                      </a:solidFill>
                                      <a:latin typeface="Cambria Math" panose="02040503050406030204" pitchFamily="18" charset="0"/>
                                    </a:rPr>
                                    <m:t>𝐓</m:t>
                                  </m:r>
                                </m:e>
                                <m:sup>
                                  <m:d>
                                    <m:dPr>
                                      <m:ctrlPr>
                                        <a:rPr lang="en-US" sz="4400" i="1">
                                          <a:solidFill>
                                            <a:schemeClr val="tx1">
                                              <a:alpha val="50000"/>
                                            </a:schemeClr>
                                          </a:solidFill>
                                          <a:latin typeface="Cambria Math" panose="02040503050406030204" pitchFamily="18" charset="0"/>
                                        </a:rPr>
                                      </m:ctrlPr>
                                    </m:dPr>
                                    <m:e>
                                      <m:r>
                                        <a:rPr lang="en-US" sz="4400" i="1">
                                          <a:solidFill>
                                            <a:schemeClr val="tx1">
                                              <a:alpha val="50000"/>
                                            </a:schemeClr>
                                          </a:solidFill>
                                          <a:latin typeface="Cambria Math" panose="02040503050406030204" pitchFamily="18" charset="0"/>
                                        </a:rPr>
                                        <m:t>𝑟</m:t>
                                      </m:r>
                                    </m:e>
                                  </m:d>
                                </m:sup>
                              </m:sSup>
                              <m:r>
                                <a:rPr lang="en-US" sz="4400" i="1">
                                  <a:solidFill>
                                    <a:schemeClr val="tx1">
                                      <a:alpha val="50000"/>
                                    </a:schemeClr>
                                  </a:solidFill>
                                  <a:latin typeface="Cambria Math" panose="02040503050406030204" pitchFamily="18" charset="0"/>
                                </a:rPr>
                                <m:t>, </m:t>
                              </m:r>
                              <m:sSup>
                                <m:sSupPr>
                                  <m:ctrlPr>
                                    <a:rPr lang="en-US" sz="4400" i="1">
                                      <a:solidFill>
                                        <a:schemeClr val="tx1">
                                          <a:alpha val="50000"/>
                                        </a:schemeClr>
                                      </a:solidFill>
                                      <a:latin typeface="Cambria Math" panose="02040503050406030204" pitchFamily="18" charset="0"/>
                                    </a:rPr>
                                  </m:ctrlPr>
                                </m:sSupPr>
                                <m:e>
                                  <m:r>
                                    <a:rPr lang="en-US" sz="4400" b="1" i="1" smtClean="0">
                                      <a:solidFill>
                                        <a:schemeClr val="tx1">
                                          <a:alpha val="50000"/>
                                        </a:schemeClr>
                                      </a:solidFill>
                                      <a:latin typeface="Cambria Math" panose="02040503050406030204" pitchFamily="18" charset="0"/>
                                    </a:rPr>
                                    <m:t>𝝍</m:t>
                                  </m:r>
                                </m:e>
                                <m:sup>
                                  <m:r>
                                    <a:rPr lang="en-US" sz="4400" i="1">
                                      <a:solidFill>
                                        <a:schemeClr val="tx1">
                                          <a:alpha val="50000"/>
                                        </a:schemeClr>
                                      </a:solidFill>
                                      <a:latin typeface="Cambria Math" panose="02040503050406030204" pitchFamily="18" charset="0"/>
                                    </a:rPr>
                                    <m:t>⊗</m:t>
                                  </m:r>
                                  <m:r>
                                    <a:rPr lang="en-US" sz="4400" i="1">
                                      <a:solidFill>
                                        <a:schemeClr val="tx1">
                                          <a:alpha val="50000"/>
                                        </a:schemeClr>
                                      </a:solidFill>
                                      <a:latin typeface="Cambria Math" panose="02040503050406030204" pitchFamily="18" charset="0"/>
                                    </a:rPr>
                                    <m:t>𝑟</m:t>
                                  </m:r>
                                </m:sup>
                              </m:sSup>
                            </m:e>
                          </m:d>
                          <m:r>
                            <a:rPr lang="en-US" sz="4400" b="0" i="1" smtClean="0">
                              <a:solidFill>
                                <a:schemeClr val="tx1">
                                  <a:alpha val="50000"/>
                                </a:schemeClr>
                              </a:solidFill>
                              <a:latin typeface="Cambria Math" panose="02040503050406030204" pitchFamily="18" charset="0"/>
                            </a:rPr>
                            <m:t> </m:t>
                          </m:r>
                          <m:sSup>
                            <m:sSupPr>
                              <m:ctrlPr>
                                <a:rPr lang="en-US" sz="4400" b="0" i="1" smtClean="0">
                                  <a:solidFill>
                                    <a:schemeClr val="tx1">
                                      <a:alpha val="50000"/>
                                    </a:schemeClr>
                                  </a:solidFill>
                                  <a:latin typeface="Cambria Math" panose="02040503050406030204" pitchFamily="18" charset="0"/>
                                </a:rPr>
                              </m:ctrlPr>
                            </m:sSupPr>
                            <m:e>
                              <m:r>
                                <a:rPr lang="en-US" sz="4400" b="0" i="1" smtClean="0">
                                  <a:solidFill>
                                    <a:schemeClr val="accent5">
                                      <a:lumMod val="75000"/>
                                      <a:alpha val="50000"/>
                                    </a:schemeClr>
                                  </a:solidFill>
                                  <a:latin typeface="Cambria Math" panose="02040503050406030204" pitchFamily="18" charset="0"/>
                                </a:rPr>
                                <m:t>𝑧</m:t>
                              </m:r>
                            </m:e>
                            <m:sup>
                              <m:r>
                                <a:rPr lang="en-US" sz="4400" b="0" i="1" smtClean="0">
                                  <a:solidFill>
                                    <a:schemeClr val="tx1">
                                      <a:alpha val="50000"/>
                                    </a:schemeClr>
                                  </a:solidFill>
                                  <a:latin typeface="Cambria Math" panose="02040503050406030204" pitchFamily="18" charset="0"/>
                                </a:rPr>
                                <m:t>𝑟</m:t>
                              </m:r>
                            </m:sup>
                          </m:sSup>
                        </m:e>
                      </m:nary>
                    </m:oMath>
                  </m:oMathPara>
                </a14:m>
                <a:endParaRPr lang="en-US" sz="4400" i="1" dirty="0">
                  <a:solidFill>
                    <a:schemeClr val="tx1">
                      <a:alpha val="50000"/>
                    </a:schemeClr>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FCAFB346-BF79-EBA5-929A-D82F5E235407}"/>
                  </a:ext>
                </a:extLst>
              </p:cNvPr>
              <p:cNvSpPr txBox="1">
                <a:spLocks noRot="1" noChangeAspect="1" noMove="1" noResize="1" noEditPoints="1" noAdjustHandles="1" noChangeArrowheads="1" noChangeShapeType="1" noTextEdit="1"/>
              </p:cNvSpPr>
              <p:nvPr/>
            </p:nvSpPr>
            <p:spPr>
              <a:xfrm>
                <a:off x="5209381" y="4551573"/>
                <a:ext cx="6982619" cy="1941301"/>
              </a:xfrm>
              <a:prstGeom prst="rect">
                <a:avLst/>
              </a:prstGeom>
              <a:blipFill>
                <a:blip r:embed="rId5"/>
                <a:stretch>
                  <a:fillRect l="-181" t="-112987" b="-170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FACC066-AA27-A963-2144-B5EB74C51F48}"/>
                  </a:ext>
                </a:extLst>
              </p:cNvPr>
              <p:cNvSpPr txBox="1"/>
              <p:nvPr/>
            </p:nvSpPr>
            <p:spPr>
              <a:xfrm>
                <a:off x="6385488" y="1758235"/>
                <a:ext cx="5806512" cy="17359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smtClean="0">
                          <a:solidFill>
                            <a:srgbClr val="000000">
                              <a:alpha val="50000"/>
                            </a:srgbClr>
                          </a:solidFill>
                          <a:latin typeface="Cambria Math" panose="02040503050406030204" pitchFamily="18" charset="0"/>
                        </a:rPr>
                        <m:t>𝑓</m:t>
                      </m:r>
                      <m:d>
                        <m:dPr>
                          <m:ctrlPr>
                            <a:rPr lang="en-US" sz="4400" i="1">
                              <a:solidFill>
                                <a:srgbClr val="000000">
                                  <a:alpha val="50000"/>
                                </a:srgbClr>
                              </a:solidFill>
                              <a:latin typeface="Cambria Math" panose="02040503050406030204" pitchFamily="18" charset="0"/>
                            </a:rPr>
                          </m:ctrlPr>
                        </m:dPr>
                        <m:e>
                          <m:r>
                            <a:rPr lang="en-US" sz="4400" b="1" i="1" smtClean="0">
                              <a:solidFill>
                                <a:srgbClr val="000000">
                                  <a:alpha val="50000"/>
                                </a:srgbClr>
                              </a:solidFill>
                              <a:latin typeface="Cambria Math" panose="02040503050406030204" pitchFamily="18" charset="0"/>
                            </a:rPr>
                            <m:t>𝒘</m:t>
                          </m:r>
                        </m:e>
                      </m:d>
                      <m:r>
                        <a:rPr lang="en-US" sz="4400" b="0" i="1" smtClean="0">
                          <a:solidFill>
                            <a:srgbClr val="000000">
                              <a:alpha val="50000"/>
                            </a:srgbClr>
                          </a:solidFill>
                          <a:latin typeface="Cambria Math" panose="02040503050406030204" pitchFamily="18" charset="0"/>
                        </a:rPr>
                        <m:t>=</m:t>
                      </m:r>
                      <m:nary>
                        <m:naryPr>
                          <m:chr m:val="∑"/>
                          <m:supHide m:val="on"/>
                          <m:ctrlPr>
                            <a:rPr lang="en-US" sz="4400" i="1">
                              <a:solidFill>
                                <a:srgbClr val="000000">
                                  <a:alpha val="50000"/>
                                </a:srgbClr>
                              </a:solidFill>
                              <a:latin typeface="Cambria Math" panose="02040503050406030204" pitchFamily="18" charset="0"/>
                            </a:rPr>
                          </m:ctrlPr>
                        </m:naryPr>
                        <m:sub>
                          <m:r>
                            <m:rPr>
                              <m:brk m:alnAt="7"/>
                            </m:rPr>
                            <a:rPr lang="en-US" sz="4400" i="1">
                              <a:solidFill>
                                <a:srgbClr val="000000">
                                  <a:alpha val="50000"/>
                                </a:srgbClr>
                              </a:solidFill>
                              <a:latin typeface="Cambria Math" panose="02040503050406030204" pitchFamily="18" charset="0"/>
                            </a:rPr>
                            <m:t>𝑟</m:t>
                          </m:r>
                          <m:r>
                            <a:rPr lang="en-US" sz="4400" b="0" i="1" smtClean="0">
                              <a:solidFill>
                                <a:srgbClr val="000000">
                                  <a:alpha val="50000"/>
                                </a:srgbClr>
                              </a:solidFill>
                              <a:latin typeface="Cambria Math" panose="02040503050406030204" pitchFamily="18" charset="0"/>
                            </a:rPr>
                            <m:t>≥</m:t>
                          </m:r>
                          <m:r>
                            <a:rPr lang="en-US" sz="4400" i="1">
                              <a:solidFill>
                                <a:srgbClr val="000000">
                                  <a:alpha val="50000"/>
                                </a:srgbClr>
                              </a:solidFill>
                              <a:latin typeface="Cambria Math" panose="02040503050406030204" pitchFamily="18" charset="0"/>
                            </a:rPr>
                            <m:t>0</m:t>
                          </m:r>
                        </m:sub>
                        <m:sup/>
                        <m:e>
                          <m:d>
                            <m:dPr>
                              <m:begChr m:val="⟨"/>
                              <m:endChr m:val="⟩"/>
                              <m:ctrlPr>
                                <a:rPr lang="en-US" sz="4400" i="1">
                                  <a:solidFill>
                                    <a:srgbClr val="000000">
                                      <a:alpha val="50000"/>
                                    </a:srgbClr>
                                  </a:solidFill>
                                  <a:latin typeface="Cambria Math" panose="02040503050406030204" pitchFamily="18" charset="0"/>
                                </a:rPr>
                              </m:ctrlPr>
                            </m:dPr>
                            <m:e>
                              <m:sSup>
                                <m:sSupPr>
                                  <m:ctrlPr>
                                    <a:rPr lang="en-US" sz="4400" i="1">
                                      <a:solidFill>
                                        <a:srgbClr val="000000">
                                          <a:alpha val="50000"/>
                                        </a:srgbClr>
                                      </a:solidFill>
                                      <a:latin typeface="Cambria Math" panose="02040503050406030204" pitchFamily="18" charset="0"/>
                                    </a:rPr>
                                  </m:ctrlPr>
                                </m:sSupPr>
                                <m:e>
                                  <m:r>
                                    <a:rPr lang="en-US" sz="4400" b="1">
                                      <a:solidFill>
                                        <a:srgbClr val="000000">
                                          <a:alpha val="50000"/>
                                        </a:srgbClr>
                                      </a:solidFill>
                                      <a:latin typeface="Cambria Math" panose="02040503050406030204" pitchFamily="18" charset="0"/>
                                    </a:rPr>
                                    <m:t>𝐓</m:t>
                                  </m:r>
                                </m:e>
                                <m:sup>
                                  <m:d>
                                    <m:dPr>
                                      <m:ctrlPr>
                                        <a:rPr lang="en-US" sz="4400" i="1">
                                          <a:solidFill>
                                            <a:srgbClr val="000000">
                                              <a:alpha val="50000"/>
                                            </a:srgbClr>
                                          </a:solidFill>
                                          <a:latin typeface="Cambria Math" panose="02040503050406030204" pitchFamily="18" charset="0"/>
                                        </a:rPr>
                                      </m:ctrlPr>
                                    </m:dPr>
                                    <m:e>
                                      <m:r>
                                        <a:rPr lang="en-US" sz="4400" i="1">
                                          <a:solidFill>
                                            <a:srgbClr val="000000">
                                              <a:alpha val="50000"/>
                                            </a:srgbClr>
                                          </a:solidFill>
                                          <a:latin typeface="Cambria Math" panose="02040503050406030204" pitchFamily="18" charset="0"/>
                                        </a:rPr>
                                        <m:t>𝑟</m:t>
                                      </m:r>
                                    </m:e>
                                  </m:d>
                                </m:sup>
                              </m:sSup>
                              <m:r>
                                <a:rPr lang="en-US" sz="4400" i="1">
                                  <a:solidFill>
                                    <a:srgbClr val="000000">
                                      <a:alpha val="50000"/>
                                    </a:srgbClr>
                                  </a:solidFill>
                                  <a:latin typeface="Cambria Math" panose="02040503050406030204" pitchFamily="18" charset="0"/>
                                </a:rPr>
                                <m:t>, </m:t>
                              </m:r>
                              <m:sSup>
                                <m:sSupPr>
                                  <m:ctrlPr>
                                    <a:rPr lang="en-US" sz="4400" i="1" smtClean="0">
                                      <a:solidFill>
                                        <a:srgbClr val="000000">
                                          <a:alpha val="50000"/>
                                        </a:srgbClr>
                                      </a:solidFill>
                                      <a:latin typeface="Cambria Math" panose="02040503050406030204" pitchFamily="18" charset="0"/>
                                    </a:rPr>
                                  </m:ctrlPr>
                                </m:sSupPr>
                                <m:e>
                                  <m:r>
                                    <a:rPr lang="en-US" sz="4400" b="1" i="1" smtClean="0">
                                      <a:solidFill>
                                        <a:srgbClr val="000000">
                                          <a:alpha val="50000"/>
                                        </a:srgbClr>
                                      </a:solidFill>
                                      <a:latin typeface="Cambria Math" panose="02040503050406030204" pitchFamily="18" charset="0"/>
                                    </a:rPr>
                                    <m:t>𝒘</m:t>
                                  </m:r>
                                </m:e>
                                <m:sup>
                                  <m:r>
                                    <a:rPr lang="en-US" sz="4400" i="1">
                                      <a:solidFill>
                                        <a:srgbClr val="000000">
                                          <a:alpha val="50000"/>
                                        </a:srgbClr>
                                      </a:solidFill>
                                      <a:latin typeface="Cambria Math" panose="02040503050406030204" pitchFamily="18" charset="0"/>
                                    </a:rPr>
                                    <m:t>⊗</m:t>
                                  </m:r>
                                  <m:r>
                                    <a:rPr lang="en-US" sz="4400" i="1">
                                      <a:solidFill>
                                        <a:srgbClr val="000000">
                                          <a:alpha val="50000"/>
                                        </a:srgbClr>
                                      </a:solidFill>
                                      <a:latin typeface="Cambria Math" panose="02040503050406030204" pitchFamily="18" charset="0"/>
                                    </a:rPr>
                                    <m:t>𝑟</m:t>
                                  </m:r>
                                </m:sup>
                              </m:sSup>
                            </m:e>
                          </m:d>
                          <m:r>
                            <a:rPr lang="en-US" sz="4400" b="0" i="1" smtClean="0">
                              <a:solidFill>
                                <a:srgbClr val="000000">
                                  <a:alpha val="50000"/>
                                </a:srgbClr>
                              </a:solidFill>
                              <a:latin typeface="Cambria Math" panose="02040503050406030204" pitchFamily="18" charset="0"/>
                            </a:rPr>
                            <m:t> </m:t>
                          </m:r>
                        </m:e>
                      </m:nary>
                    </m:oMath>
                  </m:oMathPara>
                </a14:m>
                <a:endParaRPr lang="en-US" sz="4400" i="1" dirty="0">
                  <a:solidFill>
                    <a:srgbClr val="000000">
                      <a:alpha val="50000"/>
                    </a:srgbClr>
                  </a:solidFill>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0FACC066-AA27-A963-2144-B5EB74C51F48}"/>
                  </a:ext>
                </a:extLst>
              </p:cNvPr>
              <p:cNvSpPr txBox="1">
                <a:spLocks noRot="1" noChangeAspect="1" noMove="1" noResize="1" noEditPoints="1" noAdjustHandles="1" noChangeArrowheads="1" noChangeShapeType="1" noTextEdit="1"/>
              </p:cNvSpPr>
              <p:nvPr/>
            </p:nvSpPr>
            <p:spPr>
              <a:xfrm>
                <a:off x="6385488" y="1758235"/>
                <a:ext cx="5806512" cy="1735924"/>
              </a:xfrm>
              <a:prstGeom prst="rect">
                <a:avLst/>
              </a:prstGeom>
              <a:blipFill>
                <a:blip r:embed="rId6"/>
                <a:stretch>
                  <a:fillRect l="-1961" t="-137681" r="-2179" b="-189855"/>
                </a:stretch>
              </a:blipFill>
            </p:spPr>
            <p:txBody>
              <a:bodyPr/>
              <a:lstStyle/>
              <a:p>
                <a:r>
                  <a:rPr lang="en-US">
                    <a:noFill/>
                  </a:rPr>
                  <a:t> </a:t>
                </a:r>
              </a:p>
            </p:txBody>
          </p:sp>
        </mc:Fallback>
      </mc:AlternateContent>
      <p:sp>
        <p:nvSpPr>
          <p:cNvPr id="12" name="Down Arrow 11">
            <a:extLst>
              <a:ext uri="{FF2B5EF4-FFF2-40B4-BE49-F238E27FC236}">
                <a16:creationId xmlns:a16="http://schemas.microsoft.com/office/drawing/2014/main" id="{648CEB02-62FD-8D4D-938A-FA2E45CCFE9C}"/>
              </a:ext>
            </a:extLst>
          </p:cNvPr>
          <p:cNvSpPr/>
          <p:nvPr/>
        </p:nvSpPr>
        <p:spPr>
          <a:xfrm>
            <a:off x="7525512" y="3494159"/>
            <a:ext cx="740664" cy="1014838"/>
          </a:xfrm>
          <a:prstGeom prst="downArrow">
            <a:avLst/>
          </a:prstGeom>
          <a:solidFill>
            <a:schemeClr val="dk1">
              <a:alpha val="5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000000">
                  <a:alpha val="50000"/>
                </a:srgbClr>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DC4CE45-3699-EFCF-01DA-C938B4C5875C}"/>
                  </a:ext>
                </a:extLst>
              </p:cNvPr>
              <p:cNvSpPr txBox="1"/>
              <p:nvPr/>
            </p:nvSpPr>
            <p:spPr>
              <a:xfrm>
                <a:off x="8430768" y="3580517"/>
                <a:ext cx="2338832"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0000">
                              <a:alpha val="50000"/>
                            </a:srgbClr>
                          </a:solidFill>
                          <a:latin typeface="Cambria Math" panose="02040503050406030204" pitchFamily="18" charset="0"/>
                        </a:rPr>
                        <m:t>𝒘</m:t>
                      </m:r>
                      <m:r>
                        <a:rPr lang="en-US" sz="4400" i="1">
                          <a:solidFill>
                            <a:srgbClr val="000000">
                              <a:alpha val="50000"/>
                            </a:srgbClr>
                          </a:solidFill>
                          <a:latin typeface="Cambria Math" panose="02040503050406030204" pitchFamily="18" charset="0"/>
                        </a:rPr>
                        <m:t>←</m:t>
                      </m:r>
                      <m:r>
                        <a:rPr lang="en-US" sz="4400" i="1" smtClean="0">
                          <a:solidFill>
                            <a:schemeClr val="accent5">
                              <a:lumMod val="75000"/>
                              <a:alpha val="50000"/>
                            </a:schemeClr>
                          </a:solidFill>
                          <a:latin typeface="Cambria Math" panose="02040503050406030204" pitchFamily="18" charset="0"/>
                        </a:rPr>
                        <m:t>𝑧</m:t>
                      </m:r>
                      <m:r>
                        <a:rPr lang="en-US" sz="4400" i="1">
                          <a:solidFill>
                            <a:srgbClr val="000000">
                              <a:alpha val="50000"/>
                            </a:srgbClr>
                          </a:solidFill>
                          <a:latin typeface="Cambria Math" panose="02040503050406030204" pitchFamily="18" charset="0"/>
                        </a:rPr>
                        <m:t> </m:t>
                      </m:r>
                      <m:r>
                        <a:rPr lang="en-US" sz="4400" b="1" i="1">
                          <a:solidFill>
                            <a:srgbClr val="000000">
                              <a:alpha val="50000"/>
                            </a:srgbClr>
                          </a:solidFill>
                          <a:latin typeface="Cambria Math" panose="02040503050406030204" pitchFamily="18" charset="0"/>
                        </a:rPr>
                        <m:t>𝝍</m:t>
                      </m:r>
                    </m:oMath>
                  </m:oMathPara>
                </a14:m>
                <a:endParaRPr lang="en-US" sz="4400" i="1" dirty="0">
                  <a:solidFill>
                    <a:srgbClr val="000000">
                      <a:alpha val="50000"/>
                    </a:srgbClr>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BDC4CE45-3699-EFCF-01DA-C938B4C5875C}"/>
                  </a:ext>
                </a:extLst>
              </p:cNvPr>
              <p:cNvSpPr txBox="1">
                <a:spLocks noRot="1" noChangeAspect="1" noMove="1" noResize="1" noEditPoints="1" noAdjustHandles="1" noChangeArrowheads="1" noChangeShapeType="1" noTextEdit="1"/>
              </p:cNvSpPr>
              <p:nvPr/>
            </p:nvSpPr>
            <p:spPr>
              <a:xfrm>
                <a:off x="8430768" y="3580517"/>
                <a:ext cx="2338832" cy="769441"/>
              </a:xfrm>
              <a:prstGeom prst="rect">
                <a:avLst/>
              </a:prstGeom>
              <a:blipFill>
                <a:blip r:embed="rId7"/>
                <a:stretch>
                  <a:fillRect r="-4301" b="-25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07C260E8-5495-820C-0056-50EA36D877C6}"/>
                  </a:ext>
                </a:extLst>
              </p:cNvPr>
              <p:cNvSpPr txBox="1">
                <a:spLocks/>
              </p:cNvSpPr>
              <p:nvPr/>
            </p:nvSpPr>
            <p:spPr>
              <a:xfrm>
                <a:off x="561372" y="282969"/>
                <a:ext cx="4330700" cy="142211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dirty="0"/>
                  <a:t>Recall:</a:t>
                </a:r>
                <a:r>
                  <a:rPr lang="en-US" b="0" dirty="0"/>
                  <a:t> </a:t>
                </a:r>
                <a14:m>
                  <m:oMath xmlns:m="http://schemas.openxmlformats.org/officeDocument/2006/math">
                    <m:r>
                      <a:rPr lang="en-US" b="0" i="1" smtClean="0">
                        <a:latin typeface="Cambria Math" panose="02040503050406030204" pitchFamily="18" charset="0"/>
                      </a:rPr>
                      <m:t>𝑓</m:t>
                    </m:r>
                  </m:oMath>
                </a14:m>
                <a:r>
                  <a:rPr lang="en-US" b="0" dirty="0"/>
                  <a:t> is just an arithmetic circuit</a:t>
                </a:r>
              </a:p>
            </p:txBody>
          </p:sp>
        </mc:Choice>
        <mc:Fallback xmlns="">
          <p:sp>
            <p:nvSpPr>
              <p:cNvPr id="8" name="Title 1">
                <a:extLst>
                  <a:ext uri="{FF2B5EF4-FFF2-40B4-BE49-F238E27FC236}">
                    <a16:creationId xmlns:a16="http://schemas.microsoft.com/office/drawing/2014/main" id="{07C260E8-5495-820C-0056-50EA36D877C6}"/>
                  </a:ext>
                </a:extLst>
              </p:cNvPr>
              <p:cNvSpPr txBox="1">
                <a:spLocks noRot="1" noChangeAspect="1" noMove="1" noResize="1" noEditPoints="1" noAdjustHandles="1" noChangeArrowheads="1" noChangeShapeType="1" noTextEdit="1"/>
              </p:cNvSpPr>
              <p:nvPr/>
            </p:nvSpPr>
            <p:spPr>
              <a:xfrm>
                <a:off x="561372" y="282969"/>
                <a:ext cx="4330700" cy="1422110"/>
              </a:xfrm>
              <a:prstGeom prst="rect">
                <a:avLst/>
              </a:prstGeom>
              <a:blipFill>
                <a:blip r:embed="rId8"/>
                <a:stretch>
                  <a:fillRect l="-5848" t="-12389" r="-7895" b="-115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C534FF4-1D30-C5B3-37BA-6A2DF859312D}"/>
                  </a:ext>
                </a:extLst>
              </p:cNvPr>
              <p:cNvSpPr txBox="1"/>
              <p:nvPr/>
            </p:nvSpPr>
            <p:spPr>
              <a:xfrm>
                <a:off x="725765" y="6036684"/>
                <a:ext cx="4527931" cy="769441"/>
              </a:xfrm>
              <a:prstGeom prst="rect">
                <a:avLst/>
              </a:prstGeom>
              <a:noFill/>
            </p:spPr>
            <p:txBody>
              <a:bodyPr wrap="square" rtlCol="0">
                <a:spAutoFit/>
              </a:bodyPr>
              <a:lstStyle/>
              <a:p>
                <a14:m>
                  <m:oMath xmlns:m="http://schemas.openxmlformats.org/officeDocument/2006/math">
                    <m:r>
                      <a:rPr lang="en-US" sz="4400" b="0" i="1" smtClean="0">
                        <a:latin typeface="Cambria Math" panose="02040503050406030204" pitchFamily="18" charset="0"/>
                      </a:rPr>
                      <m:t>𝑅</m:t>
                    </m:r>
                    <m:r>
                      <a:rPr lang="en-US" sz="4400" b="0" i="1" smtClean="0">
                        <a:latin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ℂ</m:t>
                    </m:r>
                    <m:d>
                      <m:dPr>
                        <m:begChr m:val="["/>
                        <m:endChr m:val="]"/>
                        <m:ctrlPr>
                          <a:rPr lang="en-US" sz="4400" b="0" i="1" smtClean="0">
                            <a:latin typeface="Cambria Math" panose="02040503050406030204" pitchFamily="18" charset="0"/>
                            <a:ea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d>
                    <m:r>
                      <a:rPr lang="en-US" sz="4400" b="0" i="1" smtClean="0">
                        <a:latin typeface="Cambria Math" panose="02040503050406030204" pitchFamily="18" charset="0"/>
                        <a:ea typeface="Cambria Math" panose="02040503050406030204" pitchFamily="18" charset="0"/>
                      </a:rPr>
                      <m:t>/</m:t>
                    </m:r>
                    <m:d>
                      <m:dPr>
                        <m:ctrlPr>
                          <a:rPr lang="en-US" sz="4400" b="0" i="1" smtClean="0">
                            <a:latin typeface="Cambria Math" panose="02040503050406030204" pitchFamily="18" charset="0"/>
                            <a:ea typeface="Cambria Math" panose="02040503050406030204" pitchFamily="18" charset="0"/>
                          </a:rPr>
                        </m:ctrlPr>
                      </m:dPr>
                      <m:e>
                        <m:sSup>
                          <m:sSupPr>
                            <m:ctrlPr>
                              <a:rPr lang="en-US" sz="4400" b="0" i="1" smtClean="0">
                                <a:latin typeface="Cambria Math" panose="02040503050406030204" pitchFamily="18" charset="0"/>
                                <a:ea typeface="Cambria Math" panose="02040503050406030204" pitchFamily="18" charset="0"/>
                              </a:rPr>
                            </m:ctrlPr>
                          </m:sSupPr>
                          <m:e>
                            <m:r>
                              <a:rPr lang="en-US" sz="4400" b="0" i="1" smtClean="0">
                                <a:solidFill>
                                  <a:schemeClr val="accent5">
                                    <a:lumMod val="75000"/>
                                  </a:schemeClr>
                                </a:solidFill>
                                <a:latin typeface="Cambria Math" panose="02040503050406030204" pitchFamily="18" charset="0"/>
                                <a:ea typeface="Cambria Math" panose="02040503050406030204" pitchFamily="18" charset="0"/>
                              </a:rPr>
                              <m:t>𝑧</m:t>
                            </m:r>
                          </m:e>
                          <m:sup>
                            <m:r>
                              <a:rPr lang="en-US" sz="4400" b="0" i="1" smtClean="0">
                                <a:latin typeface="Cambria Math" panose="02040503050406030204" pitchFamily="18" charset="0"/>
                                <a:ea typeface="Cambria Math" panose="02040503050406030204" pitchFamily="18" charset="0"/>
                              </a:rPr>
                              <m:t>2</m:t>
                            </m:r>
                          </m:sup>
                        </m:sSup>
                      </m:e>
                    </m:d>
                  </m:oMath>
                </a14:m>
                <a:r>
                  <a:rPr lang="en-US" sz="4400" dirty="0">
                    <a:latin typeface="Garamond" panose="02020404030301010803" pitchFamily="18" charset="0"/>
                  </a:rPr>
                  <a:t>.</a:t>
                </a:r>
              </a:p>
            </p:txBody>
          </p:sp>
        </mc:Choice>
        <mc:Fallback xmlns="">
          <p:sp>
            <p:nvSpPr>
              <p:cNvPr id="6" name="TextBox 5">
                <a:extLst>
                  <a:ext uri="{FF2B5EF4-FFF2-40B4-BE49-F238E27FC236}">
                    <a16:creationId xmlns:a16="http://schemas.microsoft.com/office/drawing/2014/main" id="{DC534FF4-1D30-C5B3-37BA-6A2DF859312D}"/>
                  </a:ext>
                </a:extLst>
              </p:cNvPr>
              <p:cNvSpPr txBox="1">
                <a:spLocks noRot="1" noChangeAspect="1" noMove="1" noResize="1" noEditPoints="1" noAdjustHandles="1" noChangeArrowheads="1" noChangeShapeType="1" noTextEdit="1"/>
              </p:cNvSpPr>
              <p:nvPr/>
            </p:nvSpPr>
            <p:spPr>
              <a:xfrm>
                <a:off x="725765" y="6036684"/>
                <a:ext cx="4527931" cy="769441"/>
              </a:xfrm>
              <a:prstGeom prst="rect">
                <a:avLst/>
              </a:prstGeom>
              <a:blipFill>
                <a:blip r:embed="rId9"/>
                <a:stretch>
                  <a:fillRect l="-2241" t="-14754" b="-377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D345A91-30A4-E9A5-802E-8BC89D8E8CC9}"/>
                  </a:ext>
                </a:extLst>
              </p:cNvPr>
              <p:cNvSpPr txBox="1"/>
              <p:nvPr/>
            </p:nvSpPr>
            <p:spPr>
              <a:xfrm>
                <a:off x="2051151" y="2991732"/>
                <a:ext cx="548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i="1" dirty="0">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ED345A91-30A4-E9A5-802E-8BC89D8E8CC9}"/>
                  </a:ext>
                </a:extLst>
              </p:cNvPr>
              <p:cNvSpPr txBox="1">
                <a:spLocks noRot="1" noChangeAspect="1" noMove="1" noResize="1" noEditPoints="1" noAdjustHandles="1" noChangeArrowheads="1" noChangeShapeType="1" noTextEdit="1"/>
              </p:cNvSpPr>
              <p:nvPr/>
            </p:nvSpPr>
            <p:spPr>
              <a:xfrm>
                <a:off x="2051151" y="2991732"/>
                <a:ext cx="548330"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9169569-A80A-447C-1C66-CA906F2439E2}"/>
                  </a:ext>
                </a:extLst>
              </p:cNvPr>
              <p:cNvSpPr txBox="1"/>
              <p:nvPr/>
            </p:nvSpPr>
            <p:spPr>
              <a:xfrm>
                <a:off x="2524250" y="3903641"/>
                <a:ext cx="548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en-US" sz="2800" i="1" dirty="0">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C9169569-A80A-447C-1C66-CA906F2439E2}"/>
                  </a:ext>
                </a:extLst>
              </p:cNvPr>
              <p:cNvSpPr txBox="1">
                <a:spLocks noRot="1" noChangeAspect="1" noMove="1" noResize="1" noEditPoints="1" noAdjustHandles="1" noChangeArrowheads="1" noChangeShapeType="1" noTextEdit="1"/>
              </p:cNvSpPr>
              <p:nvPr/>
            </p:nvSpPr>
            <p:spPr>
              <a:xfrm>
                <a:off x="2524250" y="3903641"/>
                <a:ext cx="548330" cy="523220"/>
              </a:xfrm>
              <a:prstGeom prst="rect">
                <a:avLst/>
              </a:prstGeom>
              <a:blipFill>
                <a:blip r:embed="rId11"/>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E40FDC6A-7038-3BD9-BF79-72AC6D32DAA3}"/>
              </a:ext>
            </a:extLst>
          </p:cNvPr>
          <p:cNvSpPr/>
          <p:nvPr/>
        </p:nvSpPr>
        <p:spPr>
          <a:xfrm>
            <a:off x="2121374" y="3076407"/>
            <a:ext cx="394636" cy="39463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DFDDB4F2-BD2D-D6FC-5E84-256C86C6051F}"/>
              </a:ext>
            </a:extLst>
          </p:cNvPr>
          <p:cNvSpPr/>
          <p:nvPr/>
        </p:nvSpPr>
        <p:spPr>
          <a:xfrm>
            <a:off x="2601097" y="3976408"/>
            <a:ext cx="394636" cy="39463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Arrow Connector 17">
            <a:extLst>
              <a:ext uri="{FF2B5EF4-FFF2-40B4-BE49-F238E27FC236}">
                <a16:creationId xmlns:a16="http://schemas.microsoft.com/office/drawing/2014/main" id="{F62745C7-9E8F-9140-E355-FBC3DDD4BE53}"/>
              </a:ext>
            </a:extLst>
          </p:cNvPr>
          <p:cNvCxnSpPr>
            <a:cxnSpLocks/>
            <a:stCxn id="16" idx="4"/>
            <a:endCxn id="17" idx="1"/>
          </p:cNvCxnSpPr>
          <p:nvPr/>
        </p:nvCxnSpPr>
        <p:spPr>
          <a:xfrm>
            <a:off x="2318692" y="3471043"/>
            <a:ext cx="340198" cy="56315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15B8BC3D-95FC-B313-02A0-58A2E24B298D}"/>
              </a:ext>
            </a:extLst>
          </p:cNvPr>
          <p:cNvCxnSpPr>
            <a:cxnSpLocks/>
            <a:stCxn id="35" idx="2"/>
            <a:endCxn id="16" idx="1"/>
          </p:cNvCxnSpPr>
          <p:nvPr/>
        </p:nvCxnSpPr>
        <p:spPr>
          <a:xfrm>
            <a:off x="1674145" y="2439815"/>
            <a:ext cx="505022" cy="694385"/>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865C00B1-19A9-CF7B-EDF6-A7D7116E9D01}"/>
              </a:ext>
            </a:extLst>
          </p:cNvPr>
          <p:cNvCxnSpPr>
            <a:cxnSpLocks/>
            <a:stCxn id="36" idx="2"/>
            <a:endCxn id="16" idx="7"/>
          </p:cNvCxnSpPr>
          <p:nvPr/>
        </p:nvCxnSpPr>
        <p:spPr>
          <a:xfrm flipH="1">
            <a:off x="2458217" y="2439648"/>
            <a:ext cx="420797" cy="69455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528BD4AF-8EB1-D809-1842-52E3478DC96C}"/>
              </a:ext>
            </a:extLst>
          </p:cNvPr>
          <p:cNvCxnSpPr>
            <a:cxnSpLocks/>
            <a:stCxn id="37" idx="2"/>
            <a:endCxn id="17" idx="7"/>
          </p:cNvCxnSpPr>
          <p:nvPr/>
        </p:nvCxnSpPr>
        <p:spPr>
          <a:xfrm flipH="1">
            <a:off x="2937940" y="2439648"/>
            <a:ext cx="1470944" cy="1594553"/>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789E093F-720B-58B5-71A6-09092D59BFA7}"/>
              </a:ext>
            </a:extLst>
          </p:cNvPr>
          <p:cNvCxnSpPr>
            <a:cxnSpLocks/>
            <a:stCxn id="17" idx="4"/>
            <a:endCxn id="38" idx="0"/>
          </p:cNvCxnSpPr>
          <p:nvPr/>
        </p:nvCxnSpPr>
        <p:spPr>
          <a:xfrm>
            <a:off x="2798415" y="4371044"/>
            <a:ext cx="0" cy="54860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A72A111-5D12-4CD6-2A60-199E37652285}"/>
                  </a:ext>
                </a:extLst>
              </p:cNvPr>
              <p:cNvSpPr txBox="1"/>
              <p:nvPr/>
            </p:nvSpPr>
            <p:spPr>
              <a:xfrm>
                <a:off x="1297139" y="1670374"/>
                <a:ext cx="754012"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accent5">
                              <a:lumMod val="75000"/>
                            </a:schemeClr>
                          </a:solidFill>
                          <a:latin typeface="Cambria Math" panose="02040503050406030204" pitchFamily="18" charset="0"/>
                        </a:rPr>
                        <m:t>𝑧</m:t>
                      </m:r>
                    </m:oMath>
                  </m:oMathPara>
                </a14:m>
                <a:endParaRPr lang="en-US" sz="4400" i="1" dirty="0">
                  <a:solidFill>
                    <a:schemeClr val="accent5">
                      <a:lumMod val="75000"/>
                    </a:schemeClr>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DA72A111-5D12-4CD6-2A60-199E37652285}"/>
                  </a:ext>
                </a:extLst>
              </p:cNvPr>
              <p:cNvSpPr txBox="1">
                <a:spLocks noRot="1" noChangeAspect="1" noMove="1" noResize="1" noEditPoints="1" noAdjustHandles="1" noChangeArrowheads="1" noChangeShapeType="1" noTextEdit="1"/>
              </p:cNvSpPr>
              <p:nvPr/>
            </p:nvSpPr>
            <p:spPr>
              <a:xfrm>
                <a:off x="1297139" y="1670374"/>
                <a:ext cx="754012" cy="769441"/>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C3E06A7-6C91-277C-66C2-BA4B30C60C64}"/>
                  </a:ext>
                </a:extLst>
              </p:cNvPr>
              <p:cNvSpPr txBox="1"/>
              <p:nvPr/>
            </p:nvSpPr>
            <p:spPr>
              <a:xfrm>
                <a:off x="2458217" y="1670207"/>
                <a:ext cx="841594"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2</m:t>
                      </m:r>
                    </m:oMath>
                  </m:oMathPara>
                </a14:m>
                <a:endParaRPr lang="en-US" sz="4400" i="1" dirty="0">
                  <a:latin typeface="Cambria Math" panose="02040503050406030204" pitchFamily="18" charset="0"/>
                </a:endParaRPr>
              </a:p>
            </p:txBody>
          </p:sp>
        </mc:Choice>
        <mc:Fallback xmlns="">
          <p:sp>
            <p:nvSpPr>
              <p:cNvPr id="36" name="TextBox 35">
                <a:extLst>
                  <a:ext uri="{FF2B5EF4-FFF2-40B4-BE49-F238E27FC236}">
                    <a16:creationId xmlns:a16="http://schemas.microsoft.com/office/drawing/2014/main" id="{2C3E06A7-6C91-277C-66C2-BA4B30C60C64}"/>
                  </a:ext>
                </a:extLst>
              </p:cNvPr>
              <p:cNvSpPr txBox="1">
                <a:spLocks noRot="1" noChangeAspect="1" noMove="1" noResize="1" noEditPoints="1" noAdjustHandles="1" noChangeArrowheads="1" noChangeShapeType="1" noTextEdit="1"/>
              </p:cNvSpPr>
              <p:nvPr/>
            </p:nvSpPr>
            <p:spPr>
              <a:xfrm>
                <a:off x="2458217" y="1670207"/>
                <a:ext cx="841594" cy="76944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D033322-59E9-A4F6-8D52-E6B8FC667BCF}"/>
                  </a:ext>
                </a:extLst>
              </p:cNvPr>
              <p:cNvSpPr txBox="1"/>
              <p:nvPr/>
            </p:nvSpPr>
            <p:spPr>
              <a:xfrm>
                <a:off x="3613740" y="1670207"/>
                <a:ext cx="1590287"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+1 </m:t>
                      </m:r>
                    </m:oMath>
                  </m:oMathPara>
                </a14:m>
                <a:endParaRPr lang="en-US" sz="4400" i="1" dirty="0">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2D033322-59E9-A4F6-8D52-E6B8FC667BCF}"/>
                  </a:ext>
                </a:extLst>
              </p:cNvPr>
              <p:cNvSpPr txBox="1">
                <a:spLocks noRot="1" noChangeAspect="1" noMove="1" noResize="1" noEditPoints="1" noAdjustHandles="1" noChangeArrowheads="1" noChangeShapeType="1" noTextEdit="1"/>
              </p:cNvSpPr>
              <p:nvPr/>
            </p:nvSpPr>
            <p:spPr>
              <a:xfrm>
                <a:off x="3613740" y="1670207"/>
                <a:ext cx="1590287" cy="769441"/>
              </a:xfrm>
              <a:prstGeom prst="rect">
                <a:avLst/>
              </a:prstGeom>
              <a:blipFill>
                <a:blip r:embed="rId14"/>
                <a:stretch>
                  <a:fillRect l="-1587" t="-1639" r="-11111"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B42F87A-9397-89FF-C728-02FD1071578C}"/>
                  </a:ext>
                </a:extLst>
              </p:cNvPr>
              <p:cNvSpPr txBox="1"/>
              <p:nvPr/>
            </p:nvSpPr>
            <p:spPr>
              <a:xfrm>
                <a:off x="831173" y="4919651"/>
                <a:ext cx="3934483"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3</m:t>
                      </m:r>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+2</m:t>
                      </m:r>
                    </m:oMath>
                  </m:oMathPara>
                </a14:m>
                <a:endParaRPr lang="en-US" sz="4400" i="1" dirty="0">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AB42F87A-9397-89FF-C728-02FD1071578C}"/>
                  </a:ext>
                </a:extLst>
              </p:cNvPr>
              <p:cNvSpPr txBox="1">
                <a:spLocks noRot="1" noChangeAspect="1" noMove="1" noResize="1" noEditPoints="1" noAdjustHandles="1" noChangeArrowheads="1" noChangeShapeType="1" noTextEdit="1"/>
              </p:cNvSpPr>
              <p:nvPr/>
            </p:nvSpPr>
            <p:spPr>
              <a:xfrm>
                <a:off x="831173" y="4919651"/>
                <a:ext cx="3934483" cy="769441"/>
              </a:xfrm>
              <a:prstGeom prst="rect">
                <a:avLst/>
              </a:prstGeom>
              <a:blipFill>
                <a:blip r:embed="rId15"/>
                <a:stretch>
                  <a:fillRect/>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DB1A827E-43F7-9D13-9F0F-5A264F932A3D}"/>
              </a:ext>
            </a:extLst>
          </p:cNvPr>
          <p:cNvSpPr/>
          <p:nvPr/>
        </p:nvSpPr>
        <p:spPr>
          <a:xfrm>
            <a:off x="120078" y="1553140"/>
            <a:ext cx="5013540" cy="5252985"/>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4430ABB-43B4-B31A-91F4-98643CFD8DCC}"/>
                  </a:ext>
                </a:extLst>
              </p:cNvPr>
              <p:cNvSpPr txBox="1"/>
              <p:nvPr/>
            </p:nvSpPr>
            <p:spPr>
              <a:xfrm>
                <a:off x="689026" y="3352803"/>
                <a:ext cx="1695699"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b="0" i="1" smtClean="0">
                          <a:solidFill>
                            <a:schemeClr val="accent5">
                              <a:lumMod val="75000"/>
                            </a:schemeClr>
                          </a:solidFill>
                          <a:latin typeface="Cambria Math" panose="02040503050406030204" pitchFamily="18" charset="0"/>
                        </a:rPr>
                        <m:t>𝑧</m:t>
                      </m:r>
                      <m:r>
                        <a:rPr lang="en-US" sz="4400" b="0" i="1" smtClean="0">
                          <a:latin typeface="Cambria Math" panose="02040503050406030204" pitchFamily="18" charset="0"/>
                        </a:rPr>
                        <m:t>+2</m:t>
                      </m:r>
                    </m:oMath>
                  </m:oMathPara>
                </a14:m>
                <a:endParaRPr lang="en-US" sz="4400" i="1" dirty="0">
                  <a:latin typeface="Cambria Math" panose="02040503050406030204" pitchFamily="18" charset="0"/>
                </a:endParaRPr>
              </a:p>
            </p:txBody>
          </p:sp>
        </mc:Choice>
        <mc:Fallback xmlns="">
          <p:sp>
            <p:nvSpPr>
              <p:cNvPr id="40" name="TextBox 39">
                <a:extLst>
                  <a:ext uri="{FF2B5EF4-FFF2-40B4-BE49-F238E27FC236}">
                    <a16:creationId xmlns:a16="http://schemas.microsoft.com/office/drawing/2014/main" id="{64430ABB-43B4-B31A-91F4-98643CFD8DCC}"/>
                  </a:ext>
                </a:extLst>
              </p:cNvPr>
              <p:cNvSpPr txBox="1">
                <a:spLocks noRot="1" noChangeAspect="1" noMove="1" noResize="1" noEditPoints="1" noAdjustHandles="1" noChangeArrowheads="1" noChangeShapeType="1" noTextEdit="1"/>
              </p:cNvSpPr>
              <p:nvPr/>
            </p:nvSpPr>
            <p:spPr>
              <a:xfrm>
                <a:off x="689026" y="3352803"/>
                <a:ext cx="1695699" cy="769441"/>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78641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59665-6BBA-F39D-7DAF-9B35D647A066}"/>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F303BC2-642D-9F38-B436-018019078D8A}"/>
              </a:ext>
            </a:extLst>
          </p:cNvPr>
          <p:cNvSpPr txBox="1">
            <a:spLocks/>
          </p:cNvSpPr>
          <p:nvPr/>
        </p:nvSpPr>
        <p:spPr>
          <a:xfrm>
            <a:off x="7486188" y="365126"/>
            <a:ext cx="3315625" cy="9085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r>
              <a:rPr lang="en-US" u="sng" dirty="0"/>
              <a:t>The scheme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C541B3-6B4F-7B67-A84A-99E21EF05B75}"/>
                  </a:ext>
                </a:extLst>
              </p:cNvPr>
              <p:cNvSpPr txBox="1"/>
              <p:nvPr/>
            </p:nvSpPr>
            <p:spPr>
              <a:xfrm>
                <a:off x="120078" y="1069470"/>
                <a:ext cx="5975922" cy="1941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400" i="1">
                          <a:latin typeface="Cambria Math" panose="02040503050406030204" pitchFamily="18" charset="0"/>
                        </a:rPr>
                        <m:t>𝑓</m:t>
                      </m:r>
                      <m:d>
                        <m:dPr>
                          <m:ctrlPr>
                            <a:rPr lang="en-US" sz="4400" i="1">
                              <a:latin typeface="Cambria Math" panose="02040503050406030204" pitchFamily="18" charset="0"/>
                            </a:rPr>
                          </m:ctrlPr>
                        </m:dPr>
                        <m:e>
                          <m:r>
                            <a:rPr lang="en-US" sz="4400" b="1" i="1">
                              <a:latin typeface="Cambria Math" panose="02040503050406030204" pitchFamily="18" charset="0"/>
                            </a:rPr>
                            <m:t>𝒘</m:t>
                          </m:r>
                        </m:e>
                      </m:d>
                      <m:r>
                        <a:rPr lang="en-US" sz="4400" i="1">
                          <a:latin typeface="Cambria Math" panose="02040503050406030204" pitchFamily="18" charset="0"/>
                        </a:rPr>
                        <m:t>≈</m:t>
                      </m:r>
                      <m:nary>
                        <m:naryPr>
                          <m:chr m:val="∑"/>
                          <m:ctrlPr>
                            <a:rPr lang="en-US" sz="4400" i="1">
                              <a:latin typeface="Cambria Math" panose="02040503050406030204" pitchFamily="18" charset="0"/>
                            </a:rPr>
                          </m:ctrlPr>
                        </m:naryPr>
                        <m:sub>
                          <m:r>
                            <m:rPr>
                              <m:brk m:alnAt="7"/>
                            </m:rPr>
                            <a:rPr lang="en-US" sz="4400" i="1">
                              <a:latin typeface="Cambria Math" panose="02040503050406030204" pitchFamily="18" charset="0"/>
                            </a:rPr>
                            <m:t>𝑟</m:t>
                          </m:r>
                          <m:r>
                            <a:rPr lang="en-US" sz="4400" i="1">
                              <a:latin typeface="Cambria Math" panose="02040503050406030204" pitchFamily="18" charset="0"/>
                            </a:rPr>
                            <m:t>=0</m:t>
                          </m:r>
                        </m:sub>
                        <m:sup>
                          <m:r>
                            <a:rPr lang="en-US" sz="4400" i="1">
                              <a:latin typeface="Cambria Math" panose="02040503050406030204" pitchFamily="18" charset="0"/>
                            </a:rPr>
                            <m:t>𝑠</m:t>
                          </m:r>
                        </m:sup>
                        <m:e>
                          <m:d>
                            <m:dPr>
                              <m:begChr m:val="⟨"/>
                              <m:endChr m:val="⟩"/>
                              <m:ctrlPr>
                                <a:rPr lang="en-US" sz="4400" i="1">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 </m:t>
                              </m:r>
                              <m:sSup>
                                <m:sSupPr>
                                  <m:ctrlPr>
                                    <a:rPr lang="en-US" sz="4400" i="1">
                                      <a:latin typeface="Cambria Math" panose="02040503050406030204" pitchFamily="18" charset="0"/>
                                    </a:rPr>
                                  </m:ctrlPr>
                                </m:sSupPr>
                                <m:e>
                                  <m:r>
                                    <a:rPr lang="en-US" sz="4400" b="1" i="1">
                                      <a:latin typeface="Cambria Math" panose="02040503050406030204" pitchFamily="18" charset="0"/>
                                    </a:rPr>
                                    <m:t>𝒘</m:t>
                                  </m:r>
                                </m:e>
                                <m:sup>
                                  <m:r>
                                    <a:rPr lang="en-US" sz="4400" i="1">
                                      <a:latin typeface="Cambria Math" panose="02040503050406030204" pitchFamily="18" charset="0"/>
                                    </a:rPr>
                                    <m:t>⊗</m:t>
                                  </m:r>
                                  <m:r>
                                    <a:rPr lang="en-US" sz="4400" i="1">
                                      <a:latin typeface="Cambria Math" panose="02040503050406030204" pitchFamily="18" charset="0"/>
                                    </a:rPr>
                                    <m:t>𝑟</m:t>
                                  </m:r>
                                </m:sup>
                              </m:sSup>
                            </m:e>
                          </m:d>
                        </m:e>
                      </m:nary>
                    </m:oMath>
                  </m:oMathPara>
                </a14:m>
                <a:endParaRPr lang="en-US" sz="4400" i="1" dirty="0">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9CC541B3-6B4F-7B67-A84A-99E21EF05B75}"/>
                  </a:ext>
                </a:extLst>
              </p:cNvPr>
              <p:cNvSpPr txBox="1">
                <a:spLocks noRot="1" noChangeAspect="1" noMove="1" noResize="1" noEditPoints="1" noAdjustHandles="1" noChangeArrowheads="1" noChangeShapeType="1" noTextEdit="1"/>
              </p:cNvSpPr>
              <p:nvPr/>
            </p:nvSpPr>
            <p:spPr>
              <a:xfrm>
                <a:off x="120078" y="1069470"/>
                <a:ext cx="5975922" cy="1941301"/>
              </a:xfrm>
              <a:prstGeom prst="rect">
                <a:avLst/>
              </a:prstGeom>
              <a:blipFill>
                <a:blip r:embed="rId3"/>
                <a:stretch>
                  <a:fillRect t="-112987" b="-170130"/>
                </a:stretch>
              </a:blipFill>
            </p:spPr>
            <p:txBody>
              <a:bodyPr/>
              <a:lstStyle/>
              <a:p>
                <a:r>
                  <a:rPr lang="en-US">
                    <a:noFill/>
                  </a:rPr>
                  <a:t> </a:t>
                </a:r>
              </a:p>
            </p:txBody>
          </p:sp>
        </mc:Fallback>
      </mc:AlternateContent>
      <p:sp>
        <p:nvSpPr>
          <p:cNvPr id="14" name="Left Brace 13">
            <a:extLst>
              <a:ext uri="{FF2B5EF4-FFF2-40B4-BE49-F238E27FC236}">
                <a16:creationId xmlns:a16="http://schemas.microsoft.com/office/drawing/2014/main" id="{E20A5E72-ECBF-CF29-BEAA-A774E96ECC60}"/>
              </a:ext>
            </a:extLst>
          </p:cNvPr>
          <p:cNvSpPr/>
          <p:nvPr/>
        </p:nvSpPr>
        <p:spPr>
          <a:xfrm rot="16200000">
            <a:off x="4035048" y="1562516"/>
            <a:ext cx="866458" cy="2524178"/>
          </a:xfrm>
          <a:prstGeom prst="leftBrace">
            <a:avLst>
              <a:gd name="adj1" fmla="val 36581"/>
              <a:gd name="adj2" fmla="val 46778"/>
            </a:avLst>
          </a:prstGeom>
          <a:ln w="76200">
            <a:solidFill>
              <a:srgbClr val="00B05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E234FF9B-F8DC-7611-1143-485E98F3242D}"/>
                  </a:ext>
                </a:extLst>
              </p:cNvPr>
              <p:cNvSpPr/>
              <p:nvPr/>
            </p:nvSpPr>
            <p:spPr>
              <a:xfrm>
                <a:off x="6189044" y="1273630"/>
                <a:ext cx="5681532" cy="1637142"/>
              </a:xfrm>
              <a:prstGeom prst="roundRect">
                <a:avLst/>
              </a:prstGeom>
              <a:solidFill>
                <a:schemeClr val="accent1">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Precomputation:</a:t>
                </a:r>
              </a:p>
              <a:p>
                <a:r>
                  <a:rPr lang="en-US" sz="4400" dirty="0">
                    <a:solidFill>
                      <a:schemeClr val="tx1"/>
                    </a:solidFill>
                    <a:latin typeface="Garamond" panose="02020404030301010803" pitchFamily="18" charset="0"/>
                  </a:rPr>
                  <a:t>Store </a:t>
                </a:r>
                <a14:m>
                  <m:oMath xmlns:m="http://schemas.openxmlformats.org/officeDocument/2006/math">
                    <m:r>
                      <a:rPr lang="en-US" sz="4400" b="1" i="1" smtClean="0">
                        <a:solidFill>
                          <a:srgbClr val="FF0000"/>
                        </a:solidFill>
                        <a:latin typeface="Cambria Math" panose="02040503050406030204" pitchFamily="18" charset="0"/>
                      </a:rPr>
                      <m:t>𝝍</m:t>
                    </m:r>
                  </m:oMath>
                </a14:m>
                <a:r>
                  <a:rPr lang="en-US" sz="4400" dirty="0">
                    <a:solidFill>
                      <a:schemeClr val="tx1"/>
                    </a:solidFill>
                    <a:latin typeface="Garamond" panose="02020404030301010803" pitchFamily="18" charset="0"/>
                  </a:rPr>
                  <a:t> and </a:t>
                </a:r>
                <a14:m>
                  <m:oMath xmlns:m="http://schemas.openxmlformats.org/officeDocument/2006/math">
                    <m:r>
                      <a:rPr lang="en-US" sz="4400" b="0" i="1" smtClean="0">
                        <a:solidFill>
                          <a:schemeClr val="tx1"/>
                        </a:solidFill>
                        <a:latin typeface="Cambria Math" panose="02040503050406030204" pitchFamily="18" charset="0"/>
                      </a:rPr>
                      <m:t>𝑓</m:t>
                    </m:r>
                    <m:r>
                      <a:rPr lang="en-US" sz="4400" b="0" i="1" smtClean="0">
                        <a:solidFill>
                          <a:schemeClr val="tx1"/>
                        </a:solidFill>
                        <a:latin typeface="Cambria Math" panose="02040503050406030204" pitchFamily="18" charset="0"/>
                      </a:rPr>
                      <m:t>(</m:t>
                    </m:r>
                    <m:r>
                      <a:rPr lang="en-US" sz="4400" b="0" i="1" smtClean="0">
                        <a:solidFill>
                          <a:schemeClr val="accent5">
                            <a:lumMod val="75000"/>
                          </a:schemeClr>
                        </a:solidFill>
                        <a:latin typeface="Cambria Math" panose="02040503050406030204" pitchFamily="18" charset="0"/>
                      </a:rPr>
                      <m:t>𝑧</m:t>
                    </m:r>
                    <m:r>
                      <a:rPr lang="en-US" sz="4400" b="0" i="1" smtClean="0">
                        <a:solidFill>
                          <a:schemeClr val="tx1"/>
                        </a:solidFill>
                        <a:latin typeface="Cambria Math" panose="02040503050406030204" pitchFamily="18" charset="0"/>
                      </a:rPr>
                      <m:t> </m:t>
                    </m:r>
                    <m:r>
                      <a:rPr lang="en-US" sz="4400" b="1" i="1" smtClean="0">
                        <a:solidFill>
                          <a:srgbClr val="FF0000"/>
                        </a:solidFill>
                        <a:latin typeface="Cambria Math" panose="02040503050406030204" pitchFamily="18" charset="0"/>
                      </a:rPr>
                      <m:t>𝝍</m:t>
                    </m:r>
                    <m:r>
                      <a:rPr lang="en-US" sz="4400" b="0" i="1" smtClean="0">
                        <a:solidFill>
                          <a:schemeClr val="tx1"/>
                        </a:solidFill>
                        <a:latin typeface="Cambria Math" panose="02040503050406030204" pitchFamily="18" charset="0"/>
                      </a:rPr>
                      <m:t>)</m:t>
                    </m:r>
                  </m:oMath>
                </a14:m>
                <a:r>
                  <a:rPr lang="en-US" sz="4400" dirty="0">
                    <a:solidFill>
                      <a:schemeClr val="tx1"/>
                    </a:solidFill>
                    <a:latin typeface="Garamond" panose="02020404030301010803" pitchFamily="18" charset="0"/>
                  </a:rPr>
                  <a:t>.</a:t>
                </a:r>
              </a:p>
            </p:txBody>
          </p:sp>
        </mc:Choice>
        <mc:Fallback xmlns="">
          <p:sp>
            <p:nvSpPr>
              <p:cNvPr id="23" name="Rounded Rectangle 22">
                <a:extLst>
                  <a:ext uri="{FF2B5EF4-FFF2-40B4-BE49-F238E27FC236}">
                    <a16:creationId xmlns:a16="http://schemas.microsoft.com/office/drawing/2014/main" id="{E234FF9B-F8DC-7611-1143-485E98F3242D}"/>
                  </a:ext>
                </a:extLst>
              </p:cNvPr>
              <p:cNvSpPr>
                <a:spLocks noRot="1" noChangeAspect="1" noMove="1" noResize="1" noEditPoints="1" noAdjustHandles="1" noChangeArrowheads="1" noChangeShapeType="1" noTextEdit="1"/>
              </p:cNvSpPr>
              <p:nvPr/>
            </p:nvSpPr>
            <p:spPr>
              <a:xfrm>
                <a:off x="6189044" y="1273630"/>
                <a:ext cx="5681532" cy="1637142"/>
              </a:xfrm>
              <a:prstGeom prst="roundRect">
                <a:avLst/>
              </a:prstGeom>
              <a:blipFill>
                <a:blip r:embed="rId4"/>
                <a:stretch>
                  <a:fillRect l="-2902" t="-1550" b="-124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ounded Rectangle 23">
                <a:extLst>
                  <a:ext uri="{FF2B5EF4-FFF2-40B4-BE49-F238E27FC236}">
                    <a16:creationId xmlns:a16="http://schemas.microsoft.com/office/drawing/2014/main" id="{59B72769-7C55-8ED5-ADF5-D7C8254E622B}"/>
                  </a:ext>
                </a:extLst>
              </p:cNvPr>
              <p:cNvSpPr/>
              <p:nvPr/>
            </p:nvSpPr>
            <p:spPr>
              <a:xfrm>
                <a:off x="5894654" y="3207692"/>
                <a:ext cx="5975922" cy="2376678"/>
              </a:xfrm>
              <a:prstGeom prst="roundRect">
                <a:avLst/>
              </a:prstGeom>
              <a:solidFill>
                <a:schemeClr val="accent2">
                  <a:lumMod val="60000"/>
                  <a:lumOff val="40000"/>
                  <a:alpha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chemeClr val="tx1"/>
                    </a:solidFill>
                    <a:latin typeface="Garamond" panose="02020404030301010803" pitchFamily="18" charset="0"/>
                  </a:rPr>
                  <a:t>Prediction (delete </a:t>
                </a:r>
                <a14:m>
                  <m:oMath xmlns:m="http://schemas.openxmlformats.org/officeDocument/2006/math">
                    <m:r>
                      <a:rPr lang="en-US" sz="4400" i="1">
                        <a:solidFill>
                          <a:schemeClr val="tx1"/>
                        </a:solidFill>
                        <a:latin typeface="Cambria Math" panose="02040503050406030204" pitchFamily="18" charset="0"/>
                      </a:rPr>
                      <m:t>𝑋</m:t>
                    </m:r>
                  </m:oMath>
                </a14:m>
                <a:r>
                  <a:rPr lang="en-US" sz="4400" b="1" dirty="0">
                    <a:solidFill>
                      <a:schemeClr val="tx1"/>
                    </a:solidFill>
                    <a:latin typeface="Garamond" panose="02020404030301010803" pitchFamily="18" charset="0"/>
                  </a:rPr>
                  <a:t>):</a:t>
                </a:r>
              </a:p>
              <a:p>
                <a:r>
                  <a:rPr lang="en-US" sz="4400" dirty="0">
                    <a:solidFill>
                      <a:schemeClr val="tx1"/>
                    </a:solidFill>
                    <a:latin typeface="Garamond" panose="02020404030301010803" pitchFamily="18" charset="0"/>
                  </a:rPr>
                  <a:t>For each </a:t>
                </a:r>
                <a14:m>
                  <m:oMath xmlns:m="http://schemas.openxmlformats.org/officeDocument/2006/math">
                    <m:r>
                      <a:rPr lang="en-US" sz="4400" b="0" i="1" smtClean="0">
                        <a:solidFill>
                          <a:schemeClr val="tx1"/>
                        </a:solidFill>
                        <a:latin typeface="Cambria Math" panose="02040503050406030204" pitchFamily="18" charset="0"/>
                      </a:rPr>
                      <m:t>𝑟</m:t>
                    </m:r>
                    <m:r>
                      <a:rPr lang="en-US" sz="4400" b="0" i="1" smtClean="0">
                        <a:solidFill>
                          <a:schemeClr val="tx1"/>
                        </a:solidFill>
                        <a:latin typeface="Cambria Math" panose="02040503050406030204" pitchFamily="18" charset="0"/>
                      </a:rPr>
                      <m:t>≤</m:t>
                    </m:r>
                    <m:r>
                      <a:rPr lang="en-US" sz="4400" b="0" i="1" smtClean="0">
                        <a:solidFill>
                          <a:schemeClr val="tx1"/>
                        </a:solidFill>
                        <a:latin typeface="Cambria Math" panose="02040503050406030204" pitchFamily="18" charset="0"/>
                      </a:rPr>
                      <m:t>𝑠</m:t>
                    </m:r>
                  </m:oMath>
                </a14:m>
                <a:r>
                  <a:rPr lang="en-US" sz="4400" dirty="0">
                    <a:solidFill>
                      <a:schemeClr val="tx1"/>
                    </a:solidFill>
                    <a:latin typeface="Garamond" panose="02020404030301010803" pitchFamily="18" charset="0"/>
                  </a:rPr>
                  <a:t>, compute </a:t>
                </a:r>
                <a14:m>
                  <m:oMath xmlns:m="http://schemas.openxmlformats.org/officeDocument/2006/math">
                    <m:d>
                      <m:dPr>
                        <m:begChr m:val="⟨"/>
                        <m:endChr m:val="⟩"/>
                        <m:ctrlPr>
                          <a:rPr lang="en-US" sz="4400" i="1">
                            <a:solidFill>
                              <a:schemeClr val="tx1"/>
                            </a:solidFill>
                            <a:latin typeface="Cambria Math" panose="02040503050406030204" pitchFamily="18" charset="0"/>
                          </a:rPr>
                        </m:ctrlPr>
                      </m:dPr>
                      <m:e>
                        <m:sSup>
                          <m:sSupPr>
                            <m:ctrlPr>
                              <a:rPr lang="en-US" sz="4400" i="1">
                                <a:solidFill>
                                  <a:schemeClr val="tx1"/>
                                </a:solidFill>
                                <a:latin typeface="Cambria Math" panose="02040503050406030204" pitchFamily="18" charset="0"/>
                              </a:rPr>
                            </m:ctrlPr>
                          </m:sSupPr>
                          <m:e>
                            <m:r>
                              <a:rPr lang="en-US" sz="4400" b="1">
                                <a:solidFill>
                                  <a:schemeClr val="tx1"/>
                                </a:solidFill>
                                <a:latin typeface="Cambria Math" panose="02040503050406030204" pitchFamily="18" charset="0"/>
                              </a:rPr>
                              <m:t>𝐓</m:t>
                            </m:r>
                          </m:e>
                          <m:sup>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𝑟</m:t>
                                </m:r>
                              </m:e>
                            </m:d>
                          </m:sup>
                        </m:sSup>
                        <m:r>
                          <a:rPr lang="en-US" sz="4400" i="1">
                            <a:solidFill>
                              <a:schemeClr val="tx1"/>
                            </a:solidFill>
                            <a:latin typeface="Cambria Math" panose="02040503050406030204" pitchFamily="18" charset="0"/>
                          </a:rPr>
                          <m:t>,</m:t>
                        </m:r>
                        <m:sSup>
                          <m:sSupPr>
                            <m:ctrlPr>
                              <a:rPr lang="en-US" sz="4400" b="1" i="1">
                                <a:solidFill>
                                  <a:srgbClr val="FF0000"/>
                                </a:solidFill>
                                <a:latin typeface="Cambria Math" panose="02040503050406030204" pitchFamily="18" charset="0"/>
                              </a:rPr>
                            </m:ctrlPr>
                          </m:sSupPr>
                          <m:e>
                            <m:r>
                              <a:rPr lang="en-US" sz="4400" b="1" i="1">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i="1">
                        <a:solidFill>
                          <a:schemeClr val="tx1"/>
                        </a:solidFill>
                        <a:latin typeface="Cambria Math" panose="02040503050406030204" pitchFamily="18" charset="0"/>
                      </a:rPr>
                      <m:t> </m:t>
                    </m:r>
                    <m:sSup>
                      <m:sSupPr>
                        <m:ctrlPr>
                          <a:rPr lang="en-US" sz="4400" b="1" i="1">
                            <a:solidFill>
                              <a:schemeClr val="tx1"/>
                            </a:solidFill>
                            <a:latin typeface="Cambria Math" panose="02040503050406030204" pitchFamily="18" charset="0"/>
                          </a:rPr>
                        </m:ctrlPr>
                      </m:sSupPr>
                      <m:e>
                        <m:d>
                          <m:dPr>
                            <m:begChr m:val="⟨"/>
                            <m:endChr m:val="⟩"/>
                            <m:ctrlPr>
                              <a:rPr lang="en-US" sz="4400" i="1">
                                <a:solidFill>
                                  <a:schemeClr val="tx1"/>
                                </a:solidFill>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solidFill>
                                  <a:schemeClr val="tx1"/>
                                </a:solidFill>
                                <a:latin typeface="Cambria Math" panose="02040503050406030204" pitchFamily="18" charset="0"/>
                              </a:rPr>
                              <m:t>, </m:t>
                            </m:r>
                            <m:sSub>
                              <m:sSubPr>
                                <m:ctrlPr>
                                  <a:rPr lang="en-US" sz="4400" i="1">
                                    <a:solidFill>
                                      <a:schemeClr val="tx1"/>
                                    </a:solidFill>
                                    <a:latin typeface="Cambria Math" panose="02040503050406030204" pitchFamily="18" charset="0"/>
                                  </a:rPr>
                                </m:ctrlPr>
                              </m:sSubPr>
                              <m:e>
                                <m:r>
                                  <a:rPr lang="en-US" sz="4400" b="1" i="1">
                                    <a:solidFill>
                                      <a:schemeClr val="tx1"/>
                                    </a:solidFill>
                                    <a:latin typeface="Cambria Math" panose="02040503050406030204" pitchFamily="18" charset="0"/>
                                  </a:rPr>
                                  <m:t>𝒆</m:t>
                                </m:r>
                              </m:e>
                              <m:sub>
                                <m:r>
                                  <a:rPr lang="en-US" sz="4400" i="1">
                                    <a:solidFill>
                                      <a:schemeClr val="tx1"/>
                                    </a:solidFill>
                                    <a:latin typeface="Cambria Math" panose="02040503050406030204" pitchFamily="18" charset="0"/>
                                  </a:rPr>
                                  <m:t>𝑋</m:t>
                                </m:r>
                              </m:sub>
                            </m:sSub>
                          </m:e>
                        </m:d>
                      </m:e>
                      <m:sup>
                        <m:r>
                          <a:rPr lang="en-US" sz="4400" i="1">
                            <a:solidFill>
                              <a:schemeClr val="tx1"/>
                            </a:solidFill>
                            <a:latin typeface="Cambria Math" panose="02040503050406030204" pitchFamily="18" charset="0"/>
                          </a:rPr>
                          <m:t>𝑟</m:t>
                        </m:r>
                      </m:sup>
                    </m:sSup>
                  </m:oMath>
                </a14:m>
                <a:r>
                  <a:rPr lang="en-US" sz="4400" dirty="0">
                    <a:solidFill>
                      <a:schemeClr val="tx1"/>
                    </a:solidFill>
                    <a:latin typeface="Garamond" panose="02020404030301010803" pitchFamily="18" charset="0"/>
                  </a:rPr>
                  <a:t>.</a:t>
                </a:r>
              </a:p>
            </p:txBody>
          </p:sp>
        </mc:Choice>
        <mc:Fallback xmlns="">
          <p:sp>
            <p:nvSpPr>
              <p:cNvPr id="24" name="Rounded Rectangle 23">
                <a:extLst>
                  <a:ext uri="{FF2B5EF4-FFF2-40B4-BE49-F238E27FC236}">
                    <a16:creationId xmlns:a16="http://schemas.microsoft.com/office/drawing/2014/main" id="{59B72769-7C55-8ED5-ADF5-D7C8254E622B}"/>
                  </a:ext>
                </a:extLst>
              </p:cNvPr>
              <p:cNvSpPr>
                <a:spLocks noRot="1" noChangeAspect="1" noMove="1" noResize="1" noEditPoints="1" noAdjustHandles="1" noChangeArrowheads="1" noChangeShapeType="1" noTextEdit="1"/>
              </p:cNvSpPr>
              <p:nvPr/>
            </p:nvSpPr>
            <p:spPr>
              <a:xfrm>
                <a:off x="5894654" y="3207692"/>
                <a:ext cx="5975922" cy="2376678"/>
              </a:xfrm>
              <a:prstGeom prst="roundRect">
                <a:avLst/>
              </a:prstGeom>
              <a:blipFill>
                <a:blip r:embed="rId5"/>
                <a:stretch>
                  <a:fillRect l="-2335" t="-1064" r="-2972" b="-797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F279210-5659-62E2-E625-F1EE9E500292}"/>
                  </a:ext>
                </a:extLst>
              </p:cNvPr>
              <p:cNvSpPr txBox="1"/>
              <p:nvPr/>
            </p:nvSpPr>
            <p:spPr>
              <a:xfrm>
                <a:off x="798236" y="3281887"/>
                <a:ext cx="4815903" cy="866456"/>
              </a:xfrm>
              <a:prstGeom prst="rect">
                <a:avLst/>
              </a:prstGeom>
              <a:noFill/>
              <a:ln w="76200">
                <a:solidFill>
                  <a:srgbClr val="00B05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i="1" smtClean="0">
                              <a:latin typeface="Cambria Math" panose="02040503050406030204" pitchFamily="18" charset="0"/>
                            </a:rPr>
                          </m:ctrlPr>
                        </m:dPr>
                        <m:e>
                          <m:sSup>
                            <m:sSupPr>
                              <m:ctrlPr>
                                <a:rPr lang="en-US" sz="4400" i="1">
                                  <a:latin typeface="Cambria Math" panose="02040503050406030204" pitchFamily="18" charset="0"/>
                                </a:rPr>
                              </m:ctrlPr>
                            </m:sSupPr>
                            <m:e>
                              <m:r>
                                <a:rPr lang="en-US" sz="4400" b="1">
                                  <a:latin typeface="Cambria Math" panose="02040503050406030204" pitchFamily="18" charset="0"/>
                                </a:rPr>
                                <m:t>𝐓</m:t>
                              </m:r>
                            </m:e>
                            <m:sup>
                              <m:d>
                                <m:dPr>
                                  <m:ctrlPr>
                                    <a:rPr lang="en-US" sz="4400" i="1">
                                      <a:latin typeface="Cambria Math" panose="02040503050406030204" pitchFamily="18" charset="0"/>
                                    </a:rPr>
                                  </m:ctrlPr>
                                </m:dPr>
                                <m:e>
                                  <m:r>
                                    <a:rPr lang="en-US" sz="4400" i="1">
                                      <a:latin typeface="Cambria Math" panose="02040503050406030204" pitchFamily="18" charset="0"/>
                                    </a:rPr>
                                    <m:t>𝑟</m:t>
                                  </m:r>
                                </m:e>
                              </m:d>
                            </m:sup>
                          </m:sSup>
                          <m:r>
                            <a:rPr lang="en-US" sz="4400" i="1">
                              <a:latin typeface="Cambria Math" panose="02040503050406030204" pitchFamily="18" charset="0"/>
                            </a:rPr>
                            <m:t>,</m:t>
                          </m:r>
                          <m:sSup>
                            <m:sSupPr>
                              <m:ctrlPr>
                                <a:rPr lang="en-US" sz="4400" b="1" i="1" smtClean="0">
                                  <a:solidFill>
                                    <a:srgbClr val="FF0000"/>
                                  </a:solidFill>
                                  <a:latin typeface="Cambria Math" panose="02040503050406030204" pitchFamily="18" charset="0"/>
                                </a:rPr>
                              </m:ctrlPr>
                            </m:sSupPr>
                            <m:e>
                              <m:r>
                                <a:rPr lang="en-US" sz="4400" b="1" i="1">
                                  <a:solidFill>
                                    <a:srgbClr val="FF0000"/>
                                  </a:solidFill>
                                  <a:latin typeface="Cambria Math" panose="02040503050406030204" pitchFamily="18" charset="0"/>
                                </a:rPr>
                                <m:t>𝝍</m:t>
                              </m:r>
                            </m:e>
                            <m:sup>
                              <m:r>
                                <a:rPr lang="en-US" sz="4400" i="1" smtClean="0">
                                  <a:solidFill>
                                    <a:schemeClr val="tx1"/>
                                  </a:solidFill>
                                  <a:latin typeface="Cambria Math" panose="02040503050406030204" pitchFamily="18" charset="0"/>
                                </a:rPr>
                                <m:t>⊗</m:t>
                              </m:r>
                              <m:r>
                                <a:rPr lang="en-US" sz="4400" i="1" smtClean="0">
                                  <a:solidFill>
                                    <a:schemeClr val="tx1"/>
                                  </a:solidFill>
                                  <a:latin typeface="Cambria Math" panose="02040503050406030204" pitchFamily="18" charset="0"/>
                                </a:rPr>
                                <m:t>𝑟</m:t>
                              </m:r>
                            </m:sup>
                          </m:sSup>
                        </m:e>
                      </m:d>
                      <m:r>
                        <a:rPr lang="en-US" sz="4400" b="0" i="1" smtClean="0">
                          <a:latin typeface="Cambria Math" panose="02040503050406030204" pitchFamily="18" charset="0"/>
                        </a:rPr>
                        <m:t> </m:t>
                      </m:r>
                      <m:sSup>
                        <m:sSupPr>
                          <m:ctrlPr>
                            <a:rPr lang="en-US" sz="4400" b="1" i="1" smtClean="0">
                              <a:latin typeface="Cambria Math" panose="02040503050406030204" pitchFamily="18" charset="0"/>
                            </a:rPr>
                          </m:ctrlPr>
                        </m:sSupPr>
                        <m:e>
                          <m:d>
                            <m:dPr>
                              <m:begChr m:val="⟨"/>
                              <m:endChr m:val="⟩"/>
                              <m:ctrlPr>
                                <a:rPr lang="en-US" sz="4400" i="1">
                                  <a:latin typeface="Cambria Math" panose="02040503050406030204" pitchFamily="18" charset="0"/>
                                </a:rPr>
                              </m:ctrlPr>
                            </m:dPr>
                            <m:e>
                              <m:r>
                                <a:rPr lang="en-US" sz="4400" b="1" i="1" smtClean="0">
                                  <a:solidFill>
                                    <a:srgbClr val="FF0000"/>
                                  </a:solidFill>
                                  <a:latin typeface="Cambria Math" panose="02040503050406030204" pitchFamily="18" charset="0"/>
                                </a:rPr>
                                <m:t>𝝍</m:t>
                              </m:r>
                              <m:r>
                                <a:rPr lang="en-US" sz="4400" i="1">
                                  <a:latin typeface="Cambria Math" panose="02040503050406030204" pitchFamily="18" charset="0"/>
                                </a:rPr>
                                <m:t>, </m:t>
                              </m:r>
                              <m:r>
                                <a:rPr lang="en-US" sz="4400" b="1" i="1" smtClean="0">
                                  <a:latin typeface="Cambria Math" panose="02040503050406030204" pitchFamily="18" charset="0"/>
                                </a:rPr>
                                <m:t>𝒘</m:t>
                              </m:r>
                            </m:e>
                          </m:d>
                        </m:e>
                        <m:sup>
                          <m:r>
                            <a:rPr lang="en-US" sz="4400" b="0" i="1" smtClean="0">
                              <a:latin typeface="Cambria Math" panose="02040503050406030204" pitchFamily="18" charset="0"/>
                            </a:rPr>
                            <m:t>𝑟</m:t>
                          </m:r>
                        </m:sup>
                      </m:sSup>
                    </m:oMath>
                  </m:oMathPara>
                </a14:m>
                <a:endParaRPr lang="en-US" sz="4400" i="1" dirty="0">
                  <a:latin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7F279210-5659-62E2-E625-F1EE9E500292}"/>
                  </a:ext>
                </a:extLst>
              </p:cNvPr>
              <p:cNvSpPr txBox="1">
                <a:spLocks noRot="1" noChangeAspect="1" noMove="1" noResize="1" noEditPoints="1" noAdjustHandles="1" noChangeArrowheads="1" noChangeShapeType="1" noTextEdit="1"/>
              </p:cNvSpPr>
              <p:nvPr/>
            </p:nvSpPr>
            <p:spPr>
              <a:xfrm>
                <a:off x="798236" y="3281887"/>
                <a:ext cx="4815903" cy="866456"/>
              </a:xfrm>
              <a:prstGeom prst="rect">
                <a:avLst/>
              </a:prstGeom>
              <a:blipFill>
                <a:blip r:embed="rId6"/>
                <a:stretch>
                  <a:fillRect b="-13158"/>
                </a:stretch>
              </a:blipFill>
              <a:ln w="76200">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ounded Rectangle 28">
                <a:extLst>
                  <a:ext uri="{FF2B5EF4-FFF2-40B4-BE49-F238E27FC236}">
                    <a16:creationId xmlns:a16="http://schemas.microsoft.com/office/drawing/2014/main" id="{B98A88CF-F509-1075-3F94-5D3EBCBDA1C7}"/>
                  </a:ext>
                </a:extLst>
              </p:cNvPr>
              <p:cNvSpPr/>
              <p:nvPr/>
            </p:nvSpPr>
            <p:spPr>
              <a:xfrm>
                <a:off x="592274" y="192365"/>
                <a:ext cx="4454293" cy="824478"/>
              </a:xfrm>
              <a:prstGeom prst="roundRect">
                <a:avLst/>
              </a:prstGeom>
              <a:solidFill>
                <a:schemeClr val="accent6">
                  <a:alpha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400" b="1" dirty="0">
                    <a:solidFill>
                      <a:sysClr val="windowText" lastClr="000000"/>
                    </a:solidFill>
                    <a:latin typeface="Garamond" panose="02020404030301010803" pitchFamily="18" charset="0"/>
                  </a:rPr>
                  <a:t>Goal:</a:t>
                </a:r>
                <a:r>
                  <a:rPr lang="en-US" sz="4400" dirty="0">
                    <a:solidFill>
                      <a:sysClr val="windowText" lastClr="000000"/>
                    </a:solidFill>
                    <a:latin typeface="Garamond" panose="02020404030301010803" pitchFamily="18" charset="0"/>
                  </a:rPr>
                  <a:t> compress </a:t>
                </a:r>
                <a14:m>
                  <m:oMath xmlns:m="http://schemas.openxmlformats.org/officeDocument/2006/math">
                    <m:r>
                      <a:rPr lang="en-US" sz="4400" b="0" i="1" smtClean="0">
                        <a:solidFill>
                          <a:sysClr val="windowText" lastClr="000000"/>
                        </a:solidFill>
                        <a:latin typeface="Cambria Math" panose="02040503050406030204" pitchFamily="18" charset="0"/>
                      </a:rPr>
                      <m:t>𝑓</m:t>
                    </m:r>
                  </m:oMath>
                </a14:m>
                <a:endParaRPr lang="en-US" sz="4400" dirty="0">
                  <a:solidFill>
                    <a:sysClr val="windowText" lastClr="000000"/>
                  </a:solidFill>
                  <a:latin typeface="Garamond" panose="02020404030301010803" pitchFamily="18" charset="0"/>
                </a:endParaRPr>
              </a:p>
            </p:txBody>
          </p:sp>
        </mc:Choice>
        <mc:Fallback xmlns="">
          <p:sp>
            <p:nvSpPr>
              <p:cNvPr id="29" name="Rounded Rectangle 28">
                <a:extLst>
                  <a:ext uri="{FF2B5EF4-FFF2-40B4-BE49-F238E27FC236}">
                    <a16:creationId xmlns:a16="http://schemas.microsoft.com/office/drawing/2014/main" id="{B98A88CF-F509-1075-3F94-5D3EBCBDA1C7}"/>
                  </a:ext>
                </a:extLst>
              </p:cNvPr>
              <p:cNvSpPr>
                <a:spLocks noRot="1" noChangeAspect="1" noMove="1" noResize="1" noEditPoints="1" noAdjustHandles="1" noChangeArrowheads="1" noChangeShapeType="1" noTextEdit="1"/>
              </p:cNvSpPr>
              <p:nvPr/>
            </p:nvSpPr>
            <p:spPr>
              <a:xfrm>
                <a:off x="592274" y="192365"/>
                <a:ext cx="4454293" cy="824478"/>
              </a:xfrm>
              <a:prstGeom prst="roundRect">
                <a:avLst/>
              </a:prstGeom>
              <a:blipFill>
                <a:blip r:embed="rId7"/>
                <a:stretch>
                  <a:fillRect l="-1705" t="-10606" b="-303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itle 1">
                <a:extLst>
                  <a:ext uri="{FF2B5EF4-FFF2-40B4-BE49-F238E27FC236}">
                    <a16:creationId xmlns:a16="http://schemas.microsoft.com/office/drawing/2014/main" id="{74F90725-FB54-C14F-ECAC-5F3A6EF73B52}"/>
                  </a:ext>
                </a:extLst>
              </p:cNvPr>
              <p:cNvSpPr txBox="1">
                <a:spLocks/>
              </p:cNvSpPr>
              <p:nvPr/>
            </p:nvSpPr>
            <p:spPr>
              <a:xfrm>
                <a:off x="8877993" y="5881290"/>
                <a:ext cx="2992583" cy="596348"/>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lgn="r"/>
                <a:r>
                  <a:rPr lang="en-US" b="0" dirty="0"/>
                  <a:t>(</a:t>
                </a:r>
                <a14:m>
                  <m:oMath xmlns:m="http://schemas.openxmlformats.org/officeDocument/2006/math">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𝜀</m:t>
                        </m:r>
                      </m:e>
                      <m:sup>
                        <m:r>
                          <a:rPr lang="en-US" b="0" i="1" smtClean="0">
                            <a:latin typeface="Cambria Math" panose="02040503050406030204" pitchFamily="18" charset="0"/>
                          </a:rPr>
                          <m:t>2</m:t>
                        </m:r>
                      </m:sup>
                    </m:sSup>
                  </m:oMath>
                </a14:m>
                <a:r>
                  <a:rPr lang="en-US" b="0" dirty="0"/>
                  <a:t> times)</a:t>
                </a:r>
              </a:p>
            </p:txBody>
          </p:sp>
        </mc:Choice>
        <mc:Fallback xmlns="">
          <p:sp>
            <p:nvSpPr>
              <p:cNvPr id="30" name="Title 1">
                <a:extLst>
                  <a:ext uri="{FF2B5EF4-FFF2-40B4-BE49-F238E27FC236}">
                    <a16:creationId xmlns:a16="http://schemas.microsoft.com/office/drawing/2014/main" id="{74F90725-FB54-C14F-ECAC-5F3A6EF73B52}"/>
                  </a:ext>
                </a:extLst>
              </p:cNvPr>
              <p:cNvSpPr txBox="1">
                <a:spLocks noRot="1" noChangeAspect="1" noMove="1" noResize="1" noEditPoints="1" noAdjustHandles="1" noChangeArrowheads="1" noChangeShapeType="1" noTextEdit="1"/>
              </p:cNvSpPr>
              <p:nvPr/>
            </p:nvSpPr>
            <p:spPr>
              <a:xfrm>
                <a:off x="8877993" y="5881290"/>
                <a:ext cx="2992583" cy="596348"/>
              </a:xfrm>
              <a:prstGeom prst="rect">
                <a:avLst/>
              </a:prstGeom>
              <a:blipFill>
                <a:blip r:embed="rId8"/>
                <a:stretch>
                  <a:fillRect t="-43750" r="-7595" b="-39583"/>
                </a:stretch>
              </a:blipFill>
            </p:spPr>
            <p:txBody>
              <a:bodyPr/>
              <a:lstStyle/>
              <a:p>
                <a:r>
                  <a:rPr lang="en-US">
                    <a:noFill/>
                  </a:rPr>
                  <a:t> </a:t>
                </a:r>
              </a:p>
            </p:txBody>
          </p:sp>
        </mc:Fallback>
      </mc:AlternateContent>
    </p:spTree>
    <p:extLst>
      <p:ext uri="{BB962C8B-B14F-4D97-AF65-F5344CB8AC3E}">
        <p14:creationId xmlns:p14="http://schemas.microsoft.com/office/powerpoint/2010/main" val="72588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3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519D757-FE4A-FFC1-E5AC-32638796909D}"/>
              </a:ext>
            </a:extLst>
          </p:cNvPr>
          <p:cNvPicPr>
            <a:picLocks noChangeAspect="1"/>
          </p:cNvPicPr>
          <p:nvPr/>
        </p:nvPicPr>
        <p:blipFill>
          <a:blip r:embed="rId3"/>
          <a:srcRect l="6553" t="10753" r="8569" b="5645"/>
          <a:stretch>
            <a:fillRect/>
          </a:stretch>
        </p:blipFill>
        <p:spPr>
          <a:xfrm>
            <a:off x="4194313" y="68903"/>
            <a:ext cx="7997688" cy="5908032"/>
          </a:xfrm>
          <a:prstGeom prst="rect">
            <a:avLst/>
          </a:prstGeom>
        </p:spPr>
      </p:pic>
      <p:sp>
        <p:nvSpPr>
          <p:cNvPr id="2" name="Title 1">
            <a:extLst>
              <a:ext uri="{FF2B5EF4-FFF2-40B4-BE49-F238E27FC236}">
                <a16:creationId xmlns:a16="http://schemas.microsoft.com/office/drawing/2014/main" id="{F6D704FB-2ACB-5CBA-9ED3-CF7F465CDF91}"/>
              </a:ext>
            </a:extLst>
          </p:cNvPr>
          <p:cNvSpPr>
            <a:spLocks noGrp="1"/>
          </p:cNvSpPr>
          <p:nvPr>
            <p:ph type="title"/>
          </p:nvPr>
        </p:nvSpPr>
        <p:spPr>
          <a:xfrm>
            <a:off x="348005" y="328467"/>
            <a:ext cx="3151909" cy="1580053"/>
          </a:xfrm>
        </p:spPr>
        <p:txBody>
          <a:bodyPr anchor="t">
            <a:normAutofit/>
          </a:bodyPr>
          <a:lstStyle/>
          <a:p>
            <a:r>
              <a:rPr lang="en-US" dirty="0"/>
              <a:t>It works!</a:t>
            </a:r>
            <a:br>
              <a:rPr lang="en-US" dirty="0"/>
            </a:br>
            <a:r>
              <a:rPr lang="en-US" sz="3200" b="0" dirty="0"/>
              <a:t>(very preliminary)</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A9A2FA54-DD2A-6397-BAD4-AEB12E6FCBFF}"/>
                  </a:ext>
                </a:extLst>
              </p:cNvPr>
              <p:cNvSpPr txBox="1">
                <a:spLocks/>
              </p:cNvSpPr>
              <p:nvPr/>
            </p:nvSpPr>
            <p:spPr>
              <a:xfrm>
                <a:off x="1574208" y="2168084"/>
                <a:ext cx="27001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𝑓</m:t>
                      </m:r>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1" i="1" dirty="0" smtClean="0">
                              <a:latin typeface="Cambria Math" panose="02040503050406030204" pitchFamily="18" charset="0"/>
                            </a:rPr>
                            <m:t>𝒆</m:t>
                          </m:r>
                        </m:e>
                        <m:sub>
                          <m:r>
                            <a:rPr lang="en-US" b="0" i="1" dirty="0" smtClean="0">
                              <a:latin typeface="Cambria Math" panose="02040503050406030204" pitchFamily="18" charset="0"/>
                            </a:rPr>
                            <m:t>𝑋</m:t>
                          </m:r>
                        </m:sub>
                      </m:sSub>
                      <m:r>
                        <a:rPr lang="en-US" b="0" i="1" dirty="0" smtClean="0">
                          <a:latin typeface="Cambria Math" panose="02040503050406030204" pitchFamily="18" charset="0"/>
                        </a:rPr>
                        <m:t>)</m:t>
                      </m:r>
                    </m:oMath>
                  </m:oMathPara>
                </a14:m>
                <a:endParaRPr dirty="0"/>
              </a:p>
            </p:txBody>
          </p:sp>
        </mc:Choice>
        <mc:Fallback xmlns="">
          <p:sp>
            <p:nvSpPr>
              <p:cNvPr id="7" name="Title 1">
                <a:extLst>
                  <a:ext uri="{FF2B5EF4-FFF2-40B4-BE49-F238E27FC236}">
                    <a16:creationId xmlns:a16="http://schemas.microsoft.com/office/drawing/2014/main" id="{A9A2FA54-DD2A-6397-BAD4-AEB12E6FCBFF}"/>
                  </a:ext>
                </a:extLst>
              </p:cNvPr>
              <p:cNvSpPr txBox="1">
                <a:spLocks noRot="1" noChangeAspect="1" noMove="1" noResize="1" noEditPoints="1" noAdjustHandles="1" noChangeArrowheads="1" noChangeShapeType="1" noTextEdit="1"/>
              </p:cNvSpPr>
              <p:nvPr/>
            </p:nvSpPr>
            <p:spPr>
              <a:xfrm>
                <a:off x="1574208" y="2168084"/>
                <a:ext cx="2700130" cy="132556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C644F858-03A0-62D8-8588-0C7B78FD08CC}"/>
                  </a:ext>
                </a:extLst>
              </p:cNvPr>
              <p:cNvSpPr txBox="1">
                <a:spLocks/>
              </p:cNvSpPr>
              <p:nvPr/>
            </p:nvSpPr>
            <p:spPr>
              <a:xfrm>
                <a:off x="6014301" y="5983109"/>
                <a:ext cx="5712643" cy="6993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14:m>
                  <m:oMath xmlns:m="http://schemas.openxmlformats.org/officeDocument/2006/math">
                    <m:r>
                      <a:rPr lang="en-US" b="0" i="1" dirty="0" smtClean="0">
                        <a:latin typeface="Cambria Math" panose="02040503050406030204" pitchFamily="18" charset="0"/>
                      </a:rPr>
                      <m:t>𝑣</m:t>
                    </m:r>
                    <m:r>
                      <a:rPr lang="en-US" b="0" i="1" dirty="0" smtClean="0">
                        <a:latin typeface="Cambria Math" panose="02040503050406030204" pitchFamily="18" charset="0"/>
                      </a:rPr>
                      <m:t>=</m:t>
                    </m:r>
                  </m:oMath>
                </a14:m>
                <a:r>
                  <a:rPr lang="en-US" b="0" dirty="0"/>
                  <a:t> </a:t>
                </a:r>
                <a:r>
                  <a:rPr lang="en-US" sz="3600" b="0" dirty="0"/>
                  <a:t>“how much to delete </a:t>
                </a:r>
                <a14:m>
                  <m:oMath xmlns:m="http://schemas.openxmlformats.org/officeDocument/2006/math">
                    <m:r>
                      <a:rPr lang="en-US" sz="3600" b="0" i="1" smtClean="0">
                        <a:latin typeface="Cambria Math" panose="02040503050406030204" pitchFamily="18" charset="0"/>
                      </a:rPr>
                      <m:t>𝑋</m:t>
                    </m:r>
                  </m:oMath>
                </a14:m>
                <a:r>
                  <a:rPr lang="en-US" sz="3600" b="0" dirty="0"/>
                  <a:t>”</a:t>
                </a:r>
                <a:endParaRPr sz="3600" b="0" dirty="0"/>
              </a:p>
            </p:txBody>
          </p:sp>
        </mc:Choice>
        <mc:Fallback xmlns="">
          <p:sp>
            <p:nvSpPr>
              <p:cNvPr id="8" name="Title 1">
                <a:extLst>
                  <a:ext uri="{FF2B5EF4-FFF2-40B4-BE49-F238E27FC236}">
                    <a16:creationId xmlns:a16="http://schemas.microsoft.com/office/drawing/2014/main" id="{C644F858-03A0-62D8-8588-0C7B78FD08CC}"/>
                  </a:ext>
                </a:extLst>
              </p:cNvPr>
              <p:cNvSpPr txBox="1">
                <a:spLocks noRot="1" noChangeAspect="1" noMove="1" noResize="1" noEditPoints="1" noAdjustHandles="1" noChangeArrowheads="1" noChangeShapeType="1" noTextEdit="1"/>
              </p:cNvSpPr>
              <p:nvPr/>
            </p:nvSpPr>
            <p:spPr>
              <a:xfrm>
                <a:off x="6014301" y="5983109"/>
                <a:ext cx="5712643" cy="699383"/>
              </a:xfrm>
              <a:prstGeom prst="rect">
                <a:avLst/>
              </a:prstGeom>
              <a:blipFill>
                <a:blip r:embed="rId5"/>
                <a:stretch>
                  <a:fillRect l="-887" t="-5263" r="-222" b="-2807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2FA3BD2-1127-80CC-72A7-A3FE683FB705}"/>
              </a:ext>
            </a:extLst>
          </p:cNvPr>
          <p:cNvSpPr txBox="1"/>
          <p:nvPr/>
        </p:nvSpPr>
        <p:spPr>
          <a:xfrm>
            <a:off x="465056" y="4313779"/>
            <a:ext cx="2395179" cy="1815882"/>
          </a:xfrm>
          <a:prstGeom prst="rect">
            <a:avLst/>
          </a:prstGeom>
          <a:noFill/>
        </p:spPr>
        <p:txBody>
          <a:bodyPr wrap="square" rtlCol="0">
            <a:spAutoFit/>
          </a:bodyPr>
          <a:lstStyle/>
          <a:p>
            <a:r>
              <a:rPr lang="en-US" sz="2800" dirty="0">
                <a:latin typeface="Garamond" panose="02020404030301010803" pitchFamily="18" charset="0"/>
              </a:rPr>
              <a:t>From ongoing work with Andrew Ilyas and Nathan Ju</a:t>
            </a:r>
          </a:p>
        </p:txBody>
      </p:sp>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62AF02E6-E967-7E48-F6B1-7FD6B10A1E16}"/>
                  </a:ext>
                </a:extLst>
              </p:cNvPr>
              <p:cNvSpPr txBox="1">
                <a:spLocks/>
              </p:cNvSpPr>
              <p:nvPr/>
            </p:nvSpPr>
            <p:spPr>
              <a:xfrm>
                <a:off x="8227951" y="3493647"/>
                <a:ext cx="3819505" cy="16402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chemeClr val="tx1"/>
                    </a:solidFill>
                    <a:latin typeface="Garamond" panose="02020404030301010803" pitchFamily="18" charset="0"/>
                    <a:ea typeface="+mj-ea"/>
                    <a:cs typeface="+mj-cs"/>
                  </a:defRPr>
                </a:lvl1pPr>
              </a:lstStyle>
              <a:p>
                <a:pPr>
                  <a:lnSpc>
                    <a:spcPct val="120000"/>
                  </a:lnSpc>
                </a:pPr>
                <a:r>
                  <a:rPr lang="en-US" sz="3600" b="0" dirty="0"/>
                  <a:t>Fix </a:t>
                </a:r>
                <a14:m>
                  <m:oMath xmlns:m="http://schemas.openxmlformats.org/officeDocument/2006/math">
                    <m:r>
                      <a:rPr lang="en-US" sz="3600" b="0" i="1" smtClean="0">
                        <a:latin typeface="Cambria Math" panose="02040503050406030204" pitchFamily="18" charset="0"/>
                      </a:rPr>
                      <m:t>𝑋</m:t>
                    </m:r>
                  </m:oMath>
                </a14:m>
                <a:r>
                  <a:rPr lang="en-US" sz="3600" b="0" dirty="0"/>
                  <a:t>, vary the weight on all </a:t>
                </a:r>
                <a14:m>
                  <m:oMath xmlns:m="http://schemas.openxmlformats.org/officeDocument/2006/math">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𝑋</m:t>
                    </m:r>
                  </m:oMath>
                </a14:m>
                <a:r>
                  <a:rPr lang="en-US" sz="3600" b="0" dirty="0"/>
                  <a:t>.</a:t>
                </a:r>
                <a:endParaRPr sz="3600" b="0" dirty="0"/>
              </a:p>
            </p:txBody>
          </p:sp>
        </mc:Choice>
        <mc:Fallback xmlns="">
          <p:sp>
            <p:nvSpPr>
              <p:cNvPr id="4" name="Title 1">
                <a:extLst>
                  <a:ext uri="{FF2B5EF4-FFF2-40B4-BE49-F238E27FC236}">
                    <a16:creationId xmlns:a16="http://schemas.microsoft.com/office/drawing/2014/main" id="{62AF02E6-E967-7E48-F6B1-7FD6B10A1E16}"/>
                  </a:ext>
                </a:extLst>
              </p:cNvPr>
              <p:cNvSpPr txBox="1">
                <a:spLocks noRot="1" noChangeAspect="1" noMove="1" noResize="1" noEditPoints="1" noAdjustHandles="1" noChangeArrowheads="1" noChangeShapeType="1" noTextEdit="1"/>
              </p:cNvSpPr>
              <p:nvPr/>
            </p:nvSpPr>
            <p:spPr>
              <a:xfrm>
                <a:off x="8227951" y="3493647"/>
                <a:ext cx="3819505" cy="1640264"/>
              </a:xfrm>
              <a:prstGeom prst="rect">
                <a:avLst/>
              </a:prstGeom>
              <a:blipFill>
                <a:blip r:embed="rId6"/>
                <a:stretch>
                  <a:fillRect l="-4983" r="-664" b="-6154"/>
                </a:stretch>
              </a:blipFill>
            </p:spPr>
            <p:txBody>
              <a:bodyPr/>
              <a:lstStyle/>
              <a:p>
                <a:r>
                  <a:rPr lang="en-US">
                    <a:noFill/>
                  </a:rPr>
                  <a:t> </a:t>
                </a:r>
              </a:p>
            </p:txBody>
          </p:sp>
        </mc:Fallback>
      </mc:AlternateContent>
    </p:spTree>
    <p:extLst>
      <p:ext uri="{BB962C8B-B14F-4D97-AF65-F5344CB8AC3E}">
        <p14:creationId xmlns:p14="http://schemas.microsoft.com/office/powerpoint/2010/main" val="27827942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666B2-B6EB-0A61-CA8C-3DC810D8FE73}"/>
              </a:ext>
            </a:extLst>
          </p:cNvPr>
          <p:cNvSpPr>
            <a:spLocks noGrp="1"/>
          </p:cNvSpPr>
          <p:nvPr>
            <p:ph type="title"/>
          </p:nvPr>
        </p:nvSpPr>
        <p:spPr/>
        <p:txBody>
          <a:bodyPr/>
          <a:lstStyle/>
          <a:p>
            <a:r>
              <a:rPr lang="en-US"/>
              <a:t>Thanks!</a:t>
            </a:r>
            <a:endParaRPr lang="en-US" dirty="0"/>
          </a:p>
        </p:txBody>
      </p:sp>
      <p:pic>
        <p:nvPicPr>
          <p:cNvPr id="4" name="Picture 3">
            <a:extLst>
              <a:ext uri="{FF2B5EF4-FFF2-40B4-BE49-F238E27FC236}">
                <a16:creationId xmlns:a16="http://schemas.microsoft.com/office/drawing/2014/main" id="{73F18F27-7EB1-3937-504A-C597DC27322F}"/>
              </a:ext>
            </a:extLst>
          </p:cNvPr>
          <p:cNvPicPr>
            <a:picLocks noChangeAspect="1"/>
          </p:cNvPicPr>
          <p:nvPr/>
        </p:nvPicPr>
        <p:blipFill>
          <a:blip r:embed="rId2"/>
          <a:stretch>
            <a:fillRect/>
          </a:stretch>
        </p:blipFill>
        <p:spPr>
          <a:xfrm>
            <a:off x="4959676" y="1116902"/>
            <a:ext cx="2272645" cy="2272645"/>
          </a:xfrm>
          <a:prstGeom prst="rect">
            <a:avLst/>
          </a:prstGeom>
        </p:spPr>
      </p:pic>
      <p:sp>
        <p:nvSpPr>
          <p:cNvPr id="5" name="TextBox 4">
            <a:extLst>
              <a:ext uri="{FF2B5EF4-FFF2-40B4-BE49-F238E27FC236}">
                <a16:creationId xmlns:a16="http://schemas.microsoft.com/office/drawing/2014/main" id="{0E7EED10-6EBA-BCA6-3E47-82E62F902085}"/>
              </a:ext>
            </a:extLst>
          </p:cNvPr>
          <p:cNvSpPr txBox="1"/>
          <p:nvPr/>
        </p:nvSpPr>
        <p:spPr>
          <a:xfrm>
            <a:off x="4631067" y="3242377"/>
            <a:ext cx="2934838" cy="523220"/>
          </a:xfrm>
          <a:prstGeom prst="rect">
            <a:avLst/>
          </a:prstGeom>
          <a:noFill/>
        </p:spPr>
        <p:txBody>
          <a:bodyPr wrap="square">
            <a:spAutoFit/>
          </a:bodyPr>
          <a:lstStyle/>
          <a:p>
            <a:r>
              <a:rPr lang="en-US" sz="2800" dirty="0"/>
              <a:t>arXiv: </a:t>
            </a:r>
            <a:r>
              <a:rPr lang="en-US" sz="2800" dirty="0">
                <a:hlinkClick r:id="rId3"/>
              </a:rPr>
              <a:t>2604.07328</a:t>
            </a:r>
            <a:endParaRPr lang="en-US" sz="2800" dirty="0"/>
          </a:p>
        </p:txBody>
      </p:sp>
      <p:sp>
        <p:nvSpPr>
          <p:cNvPr id="6" name="TextBox 5">
            <a:extLst>
              <a:ext uri="{FF2B5EF4-FFF2-40B4-BE49-F238E27FC236}">
                <a16:creationId xmlns:a16="http://schemas.microsoft.com/office/drawing/2014/main" id="{7C098AC7-2D43-3BF5-B686-05E69B9157E6}"/>
              </a:ext>
            </a:extLst>
          </p:cNvPr>
          <p:cNvSpPr txBox="1"/>
          <p:nvPr/>
        </p:nvSpPr>
        <p:spPr>
          <a:xfrm>
            <a:off x="412954" y="3815219"/>
            <a:ext cx="11366090" cy="2677656"/>
          </a:xfrm>
          <a:prstGeom prst="rect">
            <a:avLst/>
          </a:prstGeom>
          <a:noFill/>
        </p:spPr>
        <p:txBody>
          <a:bodyPr wrap="square">
            <a:spAutoFit/>
          </a:bodyPr>
          <a:lstStyle/>
          <a:p>
            <a:r>
              <a:rPr lang="en-US" sz="2800" b="1" dirty="0">
                <a:latin typeface="Garamond" panose="02020404030301010803" pitchFamily="18" charset="0"/>
              </a:rPr>
              <a:t>Bibliography</a:t>
            </a:r>
          </a:p>
          <a:p>
            <a:pPr marL="457200" indent="-457200">
              <a:buFont typeface="Arial" panose="020B0604020202020204" pitchFamily="34" charset="0"/>
              <a:buChar char="•"/>
            </a:pPr>
            <a:r>
              <a:rPr lang="en-US" sz="2800" dirty="0">
                <a:latin typeface="Garamond" panose="02020404030301010803" pitchFamily="18" charset="0"/>
              </a:rPr>
              <a:t>Andrew Ilyas, Sung Min Park, Logan Engstrom, Guillaume Leclerc, and Aleksander Madry. “Datamodels: Predicting Predictions from Training Data.” </a:t>
            </a:r>
            <a:r>
              <a:rPr lang="en-US" sz="2800" i="1" dirty="0">
                <a:latin typeface="Garamond" panose="02020404030301010803" pitchFamily="18" charset="0"/>
              </a:rPr>
              <a:t>ICML 2022</a:t>
            </a:r>
            <a:r>
              <a:rPr lang="en-US" sz="2800" dirty="0">
                <a:latin typeface="Garamond" panose="02020404030301010803" pitchFamily="18" charset="0"/>
              </a:rPr>
              <a:t>.</a:t>
            </a:r>
          </a:p>
          <a:p>
            <a:pPr marL="457200" indent="-457200">
              <a:buFont typeface="Arial" panose="020B0604020202020204" pitchFamily="34" charset="0"/>
              <a:buChar char="•"/>
            </a:pPr>
            <a:r>
              <a:rPr lang="en-US" sz="2800" dirty="0">
                <a:latin typeface="Garamond" panose="02020404030301010803" pitchFamily="18" charset="0"/>
              </a:rPr>
              <a:t>Andrew Ilyas and Logan Engstrom. “MAGIC: Near-optimal data attribution for deep learning.” </a:t>
            </a:r>
            <a:r>
              <a:rPr lang="en-US" sz="2800" i="1" dirty="0">
                <a:latin typeface="Garamond" panose="02020404030301010803" pitchFamily="18" charset="0"/>
              </a:rPr>
              <a:t>arXiv 2025</a:t>
            </a:r>
            <a:r>
              <a:rPr lang="en-US" sz="2800" dirty="0">
                <a:latin typeface="Garamond" panose="02020404030301010803" pitchFamily="18" charset="0"/>
              </a:rPr>
              <a:t>.</a:t>
            </a:r>
          </a:p>
        </p:txBody>
      </p:sp>
    </p:spTree>
    <p:extLst>
      <p:ext uri="{BB962C8B-B14F-4D97-AF65-F5344CB8AC3E}">
        <p14:creationId xmlns:p14="http://schemas.microsoft.com/office/powerpoint/2010/main" val="4052387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11081</TotalTime>
  <Words>2193</Words>
  <Application>Microsoft Macintosh PowerPoint</Application>
  <PresentationFormat>Widescreen</PresentationFormat>
  <Paragraphs>543</Paragraphs>
  <Slides>52</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Aptos</vt:lpstr>
      <vt:lpstr>Arial</vt:lpstr>
      <vt:lpstr>Cambria Math</vt:lpstr>
      <vt:lpstr>Garamond</vt:lpstr>
      <vt:lpstr>Office Theme</vt:lpstr>
      <vt:lpstr>How to sketch a learning algorithm</vt:lpstr>
      <vt:lpstr>The AI workflow</vt:lpstr>
      <vt:lpstr>The AI workflow</vt:lpstr>
      <vt:lpstr>The AI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deletion: Quickly delete training data</vt:lpstr>
      <vt:lpstr>Data deletion: Correctness</vt:lpstr>
      <vt:lpstr>This work: You give me training + inference algorithms, I’ll give you precomputation + prediction algorithms such that…</vt:lpstr>
      <vt:lpstr>Data deletion: Quickly delete training data</vt:lpstr>
      <vt:lpstr>Outline for the rest of this talk</vt:lpstr>
      <vt:lpstr>How to think about the data deletion problem</vt:lpstr>
      <vt:lpstr>Modeling assumptions:</vt:lpstr>
      <vt:lpstr>Modeling assumptions:</vt:lpstr>
      <vt:lpstr>Datamodels</vt:lpstr>
      <vt:lpstr>Datamodels</vt:lpstr>
      <vt:lpstr>Datamodels</vt:lpstr>
      <vt:lpstr>Datamodels</vt:lpstr>
      <vt:lpstr>Datamodels</vt:lpstr>
      <vt:lpstr>f is an arithmetic circuit</vt:lpstr>
      <vt:lpstr>PowerPoint Presentation</vt:lpstr>
      <vt:lpstr>The assumption: “Stability”</vt:lpstr>
      <vt:lpstr>Taylor series (univariate case)</vt:lpstr>
      <vt:lpstr>Taylor series</vt:lpstr>
      <vt:lpstr>Taylor series</vt:lpstr>
      <vt:lpstr>How does ‖T^((r)) ‖ scale with r?</vt:lpstr>
      <vt:lpstr>PowerPoint Presentation</vt:lpstr>
      <vt:lpstr>The ideas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works! (very preliminary)</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Gunn</dc:creator>
  <cp:lastModifiedBy>Samuel Gunn</cp:lastModifiedBy>
  <cp:revision>453</cp:revision>
  <dcterms:created xsi:type="dcterms:W3CDTF">2026-04-20T19:29:43Z</dcterms:created>
  <dcterms:modified xsi:type="dcterms:W3CDTF">2026-05-05T17:18:16Z</dcterms:modified>
</cp:coreProperties>
</file>